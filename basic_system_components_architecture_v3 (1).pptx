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41248"/>
            <a:ext cx="11420856" cy="0"/>
          </a:xfrm>
          <a:prstGeom prst="line">
            <a:avLst/>
          </a:prstGeom>
          <a:noFill/>
          <a:ln w="10160">
            <a:solidFill>
              <a:srgbClr val="D0D7E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7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7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基本システム構成図｜AI開発・AIレビュー基盤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02336" y="5669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構成管理・バックアップ等の保守系は省略。クライアント側は基本要素のみ記載。線は通信・処理の関係が分かるものだけに限定。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2788920" cy="5285232"/>
          </a:xfrm>
          <a:prstGeom prst="roundRect">
            <a:avLst>
              <a:gd name="adj" fmla="val 2623"/>
            </a:avLst>
          </a:prstGeom>
          <a:solidFill>
            <a:srgbClr val="FEFAFA">
              <a:alpha val="92000"/>
            </a:srgbClr>
          </a:solidFill>
          <a:ln w="13970">
            <a:solidFill>
              <a:srgbClr val="D9A3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15568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F7EAEA"/>
          </a:solidFill>
          <a:ln w="6350">
            <a:solidFill>
              <a:srgbClr val="F7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188720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行内環境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337560" y="1024128"/>
            <a:ext cx="1417320" cy="5285232"/>
          </a:xfrm>
          <a:prstGeom prst="roundRect">
            <a:avLst>
              <a:gd name="adj" fmla="val 5161"/>
            </a:avLst>
          </a:prstGeom>
          <a:solidFill>
            <a:srgbClr val="FAFAFB">
              <a:alpha val="92000"/>
            </a:srgbClr>
          </a:solidFill>
          <a:ln w="13970">
            <a:solidFill>
              <a:srgbClr val="BDC7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11556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18872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接続境界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919472" y="1024128"/>
            <a:ext cx="6885432" cy="5285232"/>
          </a:xfrm>
          <a:prstGeom prst="roundRect">
            <a:avLst>
              <a:gd name="adj" fmla="val 1384"/>
            </a:avLst>
          </a:prstGeom>
          <a:solidFill>
            <a:srgbClr val="F5F9FD">
              <a:alpha val="92000"/>
            </a:srgbClr>
          </a:solidFill>
          <a:ln w="13970">
            <a:solidFill>
              <a:srgbClr val="9FB6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1115568"/>
            <a:ext cx="6702552" cy="310896"/>
          </a:xfrm>
          <a:prstGeom prst="roundRect">
            <a:avLst>
              <a:gd name="adj" fmla="val 17647"/>
            </a:avLst>
          </a:prstGeom>
          <a:solidFill>
            <a:srgbClr val="EAF2FA"/>
          </a:solidFill>
          <a:ln w="6350">
            <a:solidFill>
              <a:srgbClr val="EAF2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188720"/>
            <a:ext cx="6483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東京リージョン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8368" y="2212848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860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構内GitLab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" y="26060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 / MR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設計資料 / CI定義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1938528" y="1536192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6093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開発者端末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029968" y="192938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IDE / Git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1938528" y="3054096"/>
            <a:ext cx="960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31272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専用Runner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029968" y="3447288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2段階AIレビュー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隔離実行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658368" y="4315968"/>
            <a:ext cx="1417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389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MR投稿・人承認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49808" y="4709160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投稿専用権限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Mergeは人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231136" y="4315968"/>
            <a:ext cx="768096" cy="694944"/>
          </a:xfrm>
          <a:prstGeom prst="roundRect">
            <a:avLst>
              <a:gd name="adj" fmla="val 10526"/>
            </a:avLst>
          </a:prstGeom>
          <a:solidFill>
            <a:srgbClr val="FFF6E8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4379976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7A4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7A4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承認/マージ権限なし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1938528" y="1865376"/>
            <a:ext cx="-91440" cy="667512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719072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Git/MR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1252728" y="2962656"/>
            <a:ext cx="685800" cy="493776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376172" y="30998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 Job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1938528" y="3648456"/>
            <a:ext cx="137160" cy="667512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842516" y="38724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2075688" y="4663440"/>
            <a:ext cx="-228600" cy="0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687068" y="45537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MRコメント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3493008" y="1426464"/>
            <a:ext cx="10789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818B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149961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既存FW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84448" y="1819656"/>
            <a:ext cx="896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AWS向け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許可通信のみ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93008" y="2761488"/>
            <a:ext cx="10789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818B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28346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 / VPN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84448" y="3154680"/>
            <a:ext cx="896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閉域・制御通信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バックアップ経路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493008" y="4096512"/>
            <a:ext cx="10789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818B9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4448" y="416966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DNS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84448" y="4489704"/>
            <a:ext cx="896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Gateway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接続先固定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032504" y="2414016"/>
            <a:ext cx="0" cy="347472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032504" y="3749040"/>
            <a:ext cx="0" cy="347472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98648" y="1865376"/>
            <a:ext cx="594360" cy="0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921508" y="17556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推論要求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2898648" y="3456432"/>
            <a:ext cx="594360" cy="0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2852928" y="3346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レビュー推論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5175504" y="4096512"/>
            <a:ext cx="98755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6A89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944" y="41696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Internal ALB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66944" y="448970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HTTPS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Health Check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355080" y="3529584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6027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LiteLLM Proxy OSS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46520" y="3922776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Gateway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認証/案件識別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Budget / Rate Limit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6355080" y="489204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9FB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9651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46520" y="5285232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Policy / Usage / Budget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7882128" y="3529584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73568" y="36027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DLP / Policy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973568" y="392277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秘密情報検査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案件→Workspace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検査順序制御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9253728" y="2084832"/>
            <a:ext cx="1078992" cy="841248"/>
          </a:xfrm>
          <a:prstGeom prst="roundRect">
            <a:avLst>
              <a:gd name="adj" fmla="val 8696"/>
            </a:avLst>
          </a:prstGeom>
          <a:solidFill>
            <a:srgbClr val="EAF6E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45168" y="21579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Runtime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9345168" y="247802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ApplyGuardrail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 / OUTPUT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9253728" y="3913632"/>
            <a:ext cx="1078992" cy="841248"/>
          </a:xfrm>
          <a:prstGeom prst="roundRect">
            <a:avLst>
              <a:gd name="adj" fmla="val 8696"/>
            </a:avLst>
          </a:prstGeom>
          <a:solidFill>
            <a:srgbClr val="F1EDF8"/>
          </a:solidFill>
          <a:ln w="13970">
            <a:solidFill>
              <a:srgbClr val="563D7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45168" y="39867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 Workspace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9345168" y="430682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案件・チーム単位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Cost Tags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10625328" y="3913632"/>
            <a:ext cx="896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563D7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16768" y="39867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Model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10716768" y="4306824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承認済み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モデルのみ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882128" y="5431536"/>
            <a:ext cx="363931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7A879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73568" y="550468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監視・ログ・通知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73568" y="5824728"/>
            <a:ext cx="34564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CloudWatch / CloudTrail / 監査S3 / SNS / CUR / Cost Explorer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4572000" y="4590288"/>
            <a:ext cx="603504" cy="-146304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4489704" y="44074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HTTPS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6163056" y="4443984"/>
            <a:ext cx="192024" cy="-402336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653528" y="4014216"/>
            <a:ext cx="228600" cy="0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7594092" y="3904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検査へ</a:t>
            </a:r>
            <a:endParaRPr lang="en-US" sz="630" dirty="0"/>
          </a:p>
        </p:txBody>
      </p:sp>
      <p:sp>
        <p:nvSpPr>
          <p:cNvPr id="79" name="Shape 77"/>
          <p:cNvSpPr/>
          <p:nvPr/>
        </p:nvSpPr>
        <p:spPr>
          <a:xfrm>
            <a:off x="7004304" y="4489704"/>
            <a:ext cx="0" cy="402336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triangle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6729984" y="45811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予算/実績</a:t>
            </a:r>
            <a:endParaRPr lang="en-US" sz="630" dirty="0"/>
          </a:p>
        </p:txBody>
      </p:sp>
      <p:sp>
        <p:nvSpPr>
          <p:cNvPr id="81" name="Shape 79"/>
          <p:cNvSpPr/>
          <p:nvPr/>
        </p:nvSpPr>
        <p:spPr>
          <a:xfrm>
            <a:off x="9025128" y="3776472"/>
            <a:ext cx="228600" cy="-1271016"/>
          </a:xfrm>
          <a:prstGeom prst="line">
            <a:avLst/>
          </a:prstGeom>
          <a:noFill/>
          <a:ln w="16510">
            <a:solidFill>
              <a:srgbClr val="2E6B4E"/>
            </a:solidFill>
            <a:prstDash val="solid"/>
            <a:headEnd type="none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8837676" y="303123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2E6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Guardrails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9025128" y="4224528"/>
            <a:ext cx="228600" cy="109728"/>
          </a:xfrm>
          <a:prstGeom prst="line">
            <a:avLst/>
          </a:prstGeom>
          <a:noFill/>
          <a:ln w="16510">
            <a:solidFill>
              <a:srgbClr val="563D7C"/>
            </a:solidFill>
            <a:prstDash val="solid"/>
            <a:headEnd type="none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8983980" y="416966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563D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</a:t>
            </a:r>
            <a:endParaRPr lang="en-US" sz="630" dirty="0"/>
          </a:p>
        </p:txBody>
      </p:sp>
      <p:sp>
        <p:nvSpPr>
          <p:cNvPr id="85" name="Shape 83"/>
          <p:cNvSpPr/>
          <p:nvPr/>
        </p:nvSpPr>
        <p:spPr>
          <a:xfrm>
            <a:off x="10332720" y="4334256"/>
            <a:ext cx="292608" cy="0"/>
          </a:xfrm>
          <a:prstGeom prst="line">
            <a:avLst/>
          </a:prstGeom>
          <a:noFill/>
          <a:ln w="16510">
            <a:solidFill>
              <a:srgbClr val="563D7C"/>
            </a:solidFill>
            <a:prstDash val="solid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004304" y="4489704"/>
            <a:ext cx="1280160" cy="941832"/>
          </a:xfrm>
          <a:prstGeom prst="line">
            <a:avLst/>
          </a:prstGeom>
          <a:noFill/>
          <a:ln w="1651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87" name="Text 85"/>
          <p:cNvSpPr/>
          <p:nvPr/>
        </p:nvSpPr>
        <p:spPr>
          <a:xfrm>
            <a:off x="7470648" y="48508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7A87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</a:t>
            </a:r>
            <a:endParaRPr lang="en-US" sz="630" dirty="0"/>
          </a:p>
        </p:txBody>
      </p:sp>
      <p:sp>
        <p:nvSpPr>
          <p:cNvPr id="88" name="Shape 86"/>
          <p:cNvSpPr/>
          <p:nvPr/>
        </p:nvSpPr>
        <p:spPr>
          <a:xfrm>
            <a:off x="9784080" y="4754880"/>
            <a:ext cx="0" cy="676656"/>
          </a:xfrm>
          <a:prstGeom prst="line">
            <a:avLst/>
          </a:prstGeom>
          <a:noFill/>
          <a:ln w="1651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9532620" y="4983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7A87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メトリクス</a:t>
            </a:r>
            <a:endParaRPr lang="en-US" sz="630" dirty="0"/>
          </a:p>
        </p:txBody>
      </p:sp>
      <p:sp>
        <p:nvSpPr>
          <p:cNvPr id="90" name="Shape 88"/>
          <p:cNvSpPr/>
          <p:nvPr/>
        </p:nvSpPr>
        <p:spPr>
          <a:xfrm>
            <a:off x="11073384" y="4754880"/>
            <a:ext cx="0" cy="676656"/>
          </a:xfrm>
          <a:prstGeom prst="line">
            <a:avLst/>
          </a:prstGeom>
          <a:noFill/>
          <a:ln w="1651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10881360" y="49834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7A87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利用額</a:t>
            </a:r>
            <a:endParaRPr lang="en-US" sz="630" dirty="0"/>
          </a:p>
        </p:txBody>
      </p:sp>
      <p:sp>
        <p:nvSpPr>
          <p:cNvPr id="92" name="Shape 90"/>
          <p:cNvSpPr/>
          <p:nvPr/>
        </p:nvSpPr>
        <p:spPr>
          <a:xfrm>
            <a:off x="5157216" y="5980176"/>
            <a:ext cx="6492240" cy="292608"/>
          </a:xfrm>
          <a:prstGeom prst="roundRect">
            <a:avLst>
              <a:gd name="adj" fmla="val 25000"/>
            </a:avLst>
          </a:prstGeom>
          <a:solidFill>
            <a:srgbClr val="EEF3F8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30368" y="6044184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4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補足：行内に専用送信ゲートは置かず、AWS側LiteLLMをAI Gatewayとして扱う。Workspace IDはGateway側で付与し、クライアント指定値は採用しない。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7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推論・検査フロー｜Guardrails と Mantle の位置づけ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02336" y="5669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入力検査・推論・出力検査の順序を固定。未検査出力は返却しない。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2FA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認証・案件判定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JWT検証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User/Team/Project判定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203911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1284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2FA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予算予約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028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Team/Project/User/Job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呼出前に予約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368503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5876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9476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E6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DLP検査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8620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秘密情報・PII・API Key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BLOCK時は推論しない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533095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4068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E6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Guardrail INPUT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212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Runtime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ApplyGuardrail(INPUT)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697687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5060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8660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1EDF8"/>
          </a:solidFill>
          <a:ln w="13970">
            <a:solidFill>
              <a:srgbClr val="563D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63D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Mantle推論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7804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Workspace ID付与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Claudeへ推論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862279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9652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9652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73252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6E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E6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Guardrail OUTPUT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82396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Runtime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ApplyGuardrail(OUTPUT)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10268712" y="2322576"/>
            <a:ext cx="109728" cy="0"/>
          </a:xfrm>
          <a:prstGeom prst="line">
            <a:avLst/>
          </a:prstGeom>
          <a:noFill/>
          <a:ln w="1397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442448" y="1920240"/>
            <a:ext cx="256032" cy="256032"/>
          </a:xfrm>
          <a:prstGeom prst="ellipse">
            <a:avLst/>
          </a:prstGeom>
          <a:solidFill>
            <a:srgbClr val="C7242F"/>
          </a:solidFill>
          <a:ln w="12700">
            <a:solidFill>
              <a:srgbClr val="C724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42448" y="19613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378440" y="1828800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EAF2FA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69880" y="1901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精算・監査・返却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469880" y="2221992"/>
            <a:ext cx="1353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Token/見込額精算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検査済み出力のみ返却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1874520" y="3794760"/>
            <a:ext cx="19933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65960" y="386791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 / 予算DB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65960" y="4187952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Virtual Key / Usage / Budget / Policy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681728" y="3794760"/>
            <a:ext cx="2212848" cy="804672"/>
          </a:xfrm>
          <a:prstGeom prst="roundRect">
            <a:avLst>
              <a:gd name="adj" fmla="val 9091"/>
            </a:avLst>
          </a:prstGeom>
          <a:solidFill>
            <a:srgbClr val="EAF6EF"/>
          </a:solidFill>
          <a:ln w="13970">
            <a:solidFill>
              <a:srgbClr val="2E6B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Runtime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3168" y="4187952"/>
            <a:ext cx="2029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Guardrails検査APIとして利用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Mantle推論の前後で呼出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589520" y="3794760"/>
            <a:ext cx="2212848" cy="804672"/>
          </a:xfrm>
          <a:prstGeom prst="roundRect">
            <a:avLst>
              <a:gd name="adj" fmla="val 9091"/>
            </a:avLst>
          </a:prstGeom>
          <a:solidFill>
            <a:srgbClr val="F1EDF8"/>
          </a:solidFill>
          <a:ln w="13970">
            <a:solidFill>
              <a:srgbClr val="563D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38679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 Workspace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80960" y="4187952"/>
            <a:ext cx="2029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案件・チーム単位の論理境界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推論はClaude承認モデルへ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40080" y="5303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1F1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5367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Fail Closed：DLP/Guardrails/予算確認/監査記録のいずれかが失敗した場合は、推論未実行または未完了として返す。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4343400" y="5303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6E8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5367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7A4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Streaming：初期構成では未検査の応答をクライアントへ流さない。検査済み応答のみ返却する。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8046720" y="5303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19872" y="5367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4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Workspace：クライアント指定値は破棄し、Gatewayが案件情報から付与する。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2651760" y="2816352"/>
            <a:ext cx="91440" cy="978408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2414016" y="31958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参照/更新</a:t>
            </a:r>
            <a:endParaRPr lang="en-US" sz="630" dirty="0"/>
          </a:p>
        </p:txBody>
      </p:sp>
      <p:sp>
        <p:nvSpPr>
          <p:cNvPr id="62" name="Shape 60"/>
          <p:cNvSpPr/>
          <p:nvPr/>
        </p:nvSpPr>
        <p:spPr>
          <a:xfrm>
            <a:off x="5760720" y="2816352"/>
            <a:ext cx="0" cy="978408"/>
          </a:xfrm>
          <a:prstGeom prst="line">
            <a:avLst/>
          </a:prstGeom>
          <a:noFill/>
          <a:ln w="16510">
            <a:solidFill>
              <a:srgbClr val="2E6B4E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477256" y="31958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2E6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Guardrails</a:t>
            </a:r>
            <a:endParaRPr lang="en-US" sz="630" dirty="0"/>
          </a:p>
        </p:txBody>
      </p:sp>
      <p:sp>
        <p:nvSpPr>
          <p:cNvPr id="64" name="Shape 62"/>
          <p:cNvSpPr/>
          <p:nvPr/>
        </p:nvSpPr>
        <p:spPr>
          <a:xfrm>
            <a:off x="8275320" y="2816352"/>
            <a:ext cx="182880" cy="978408"/>
          </a:xfrm>
          <a:prstGeom prst="line">
            <a:avLst/>
          </a:prstGeom>
          <a:noFill/>
          <a:ln w="16510">
            <a:solidFill>
              <a:srgbClr val="563D7C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8202168" y="31958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563D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7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監視・ログ・通知｜基本構成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02336" y="5669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推論内容そのものを恒久保存するのではなく、監査メタデータ・設定変更・メトリクスを保存して追跡可能にする。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2194560" cy="5074920"/>
          </a:xfrm>
          <a:prstGeom prst="roundRect">
            <a:avLst>
              <a:gd name="adj" fmla="val 3333"/>
            </a:avLst>
          </a:prstGeom>
          <a:solidFill>
            <a:srgbClr val="FCFCFD">
              <a:alpha val="92000"/>
            </a:srgbClr>
          </a:solidFill>
          <a:ln w="13970">
            <a:solidFill>
              <a:srgbClr val="C8D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8016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監視対象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834640" y="1115568"/>
            <a:ext cx="2880360" cy="5074920"/>
          </a:xfrm>
          <a:prstGeom prst="roundRect">
            <a:avLst>
              <a:gd name="adj" fmla="val 2540"/>
            </a:avLst>
          </a:prstGeom>
          <a:solidFill>
            <a:srgbClr val="F5F9FD">
              <a:alpha val="92000"/>
            </a:srgbClr>
          </a:solidFill>
          <a:ln w="13970">
            <a:solidFill>
              <a:srgbClr val="C8D2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20700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EAF2FA"/>
          </a:solidFill>
          <a:ln w="6350">
            <a:solidFill>
              <a:srgbClr val="EAF2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280160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収集・保管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89320" y="1115568"/>
            <a:ext cx="2788920" cy="5074920"/>
          </a:xfrm>
          <a:prstGeom prst="roundRect">
            <a:avLst>
              <a:gd name="adj" fmla="val 2623"/>
            </a:avLst>
          </a:prstGeom>
          <a:solidFill>
            <a:srgbClr val="FEFAFA">
              <a:alpha val="92000"/>
            </a:srgbClr>
          </a:solidFill>
          <a:ln w="13970">
            <a:solidFill>
              <a:srgbClr val="C8D2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207008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F7EAEA"/>
          </a:solidFill>
          <a:ln w="6350">
            <a:solidFill>
              <a:srgbClr val="F7E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280160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判定・通知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052560" y="1115568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CF5">
              <a:alpha val="92000"/>
            </a:srgbClr>
          </a:solidFill>
          <a:ln w="13970">
            <a:solidFill>
              <a:srgbClr val="C8D2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1207008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F5F0E5"/>
          </a:solidFill>
          <a:ln w="6350">
            <a:solidFill>
              <a:srgbClr val="F5F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28016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A4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利用量・費用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76656" y="1719072"/>
            <a:ext cx="16642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7D89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17922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Gateway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8096" y="2112264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LiteLLM / ALB / ECS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76656" y="2560320"/>
            <a:ext cx="16642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7D89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6334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検査・推論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8096" y="295351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DLP / Guardrails / Mantle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76656" y="3401568"/>
            <a:ext cx="16642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7D89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4747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利用管理DB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8096" y="3794760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 / 予算DB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76656" y="4242816"/>
            <a:ext cx="16642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7D89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3159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GitLab / Runner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8096" y="4636008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レビュー結果・Job状態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090672" y="1627632"/>
            <a:ext cx="19385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170078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CloudWatch Metrics / Logs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82112" y="2020824"/>
            <a:ext cx="1755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Latency / Error / Block / Resource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3090672" y="2441448"/>
            <a:ext cx="19385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251460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BedrockMantle Metrics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82112" y="2834640"/>
            <a:ext cx="1755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Project / Model / Tokens / Errors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3090672" y="3255264"/>
            <a:ext cx="19385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82112" y="33284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 / VPC Flow Logs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82112" y="3648456"/>
            <a:ext cx="1755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API操作 / 設定変更 / 通信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3090672" y="4069080"/>
            <a:ext cx="19385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174A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414223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監査S3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82112" y="4462272"/>
            <a:ext cx="1755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 / 長期保管 / 改ざん対策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3090672" y="4974336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8890">
            <a:solidFill>
              <a:srgbClr val="E2D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3824" y="503834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4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保存対象はメタデータ中心：User/Team/Project/MR/Commit/Model/Token/結果。本文は原則保存しない。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6245352" y="1828800"/>
            <a:ext cx="19933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190195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CloudWatch Alarm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36792" y="2221992"/>
            <a:ext cx="1810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Error / Budget / Block急増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ログ欠落 / DB異常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6245352" y="2852928"/>
            <a:ext cx="19933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292608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EventBridge / SNS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36792" y="3246120"/>
            <a:ext cx="1810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通知ルーティング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6245352" y="3877056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A85D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39502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通知先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36792" y="4270248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既存運用監視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 / SIEM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案件責任者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9308592" y="1719072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B08D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00032" y="179222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LiteLLM見込額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400032" y="211226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リアルタイム制御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Hard Stop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9308592" y="2615184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B08D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00032" y="26883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 Workspace Tags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400032" y="3008376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/ Project / CostCenter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9308592" y="3511296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B08D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00032" y="35844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 / Cost Explorer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400032" y="3904488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AWS正式実績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9308592" y="4407408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B08D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00032" y="448056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日次突合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400032" y="480060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361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見込額と正式請求を照合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2340864" y="2039112"/>
            <a:ext cx="749808" cy="-100584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2350008" y="18790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ログ/メトリクス</a:t>
            </a:r>
            <a:endParaRPr lang="en-US" sz="630" dirty="0"/>
          </a:p>
        </p:txBody>
      </p:sp>
      <p:sp>
        <p:nvSpPr>
          <p:cNvPr id="65" name="Shape 63"/>
          <p:cNvSpPr/>
          <p:nvPr/>
        </p:nvSpPr>
        <p:spPr>
          <a:xfrm>
            <a:off x="2340864" y="2880360"/>
            <a:ext cx="749808" cy="-155448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2505456" y="26929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Mantle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2340864" y="3721608"/>
            <a:ext cx="749808" cy="-155448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2459736" y="35341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Trail/Flow</a:t>
            </a:r>
            <a:endParaRPr lang="en-US" sz="630" dirty="0"/>
          </a:p>
        </p:txBody>
      </p:sp>
      <p:sp>
        <p:nvSpPr>
          <p:cNvPr id="69" name="Shape 67"/>
          <p:cNvSpPr/>
          <p:nvPr/>
        </p:nvSpPr>
        <p:spPr>
          <a:xfrm>
            <a:off x="2340864" y="4562856"/>
            <a:ext cx="749808" cy="-173736"/>
          </a:xfrm>
          <a:prstGeom prst="line">
            <a:avLst/>
          </a:prstGeom>
          <a:noFill/>
          <a:ln w="16510">
            <a:solidFill>
              <a:srgbClr val="174A7C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2555748" y="43662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74A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</a:t>
            </a:r>
            <a:endParaRPr lang="en-US" sz="630" dirty="0"/>
          </a:p>
        </p:txBody>
      </p:sp>
      <p:sp>
        <p:nvSpPr>
          <p:cNvPr id="71" name="Shape 69"/>
          <p:cNvSpPr/>
          <p:nvPr/>
        </p:nvSpPr>
        <p:spPr>
          <a:xfrm>
            <a:off x="5029200" y="1938528"/>
            <a:ext cx="1216152" cy="246888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5445252" y="19522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B1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Alarm</a:t>
            </a:r>
            <a:endParaRPr lang="en-US" sz="630" dirty="0"/>
          </a:p>
        </p:txBody>
      </p:sp>
      <p:sp>
        <p:nvSpPr>
          <p:cNvPr id="73" name="Shape 71"/>
          <p:cNvSpPr/>
          <p:nvPr/>
        </p:nvSpPr>
        <p:spPr>
          <a:xfrm>
            <a:off x="5029200" y="2724912"/>
            <a:ext cx="1216152" cy="-539496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029200" y="3566160"/>
            <a:ext cx="1216152" cy="-1380744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238744" y="2542032"/>
            <a:ext cx="0" cy="310896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238744" y="3566160"/>
            <a:ext cx="0" cy="310896"/>
          </a:xfrm>
          <a:prstGeom prst="line">
            <a:avLst/>
          </a:prstGeom>
          <a:noFill/>
          <a:ln w="16510">
            <a:solidFill>
              <a:srgbClr val="8B1E24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8778240" y="2185416"/>
            <a:ext cx="530352" cy="-146304"/>
          </a:xfrm>
          <a:prstGeom prst="line">
            <a:avLst/>
          </a:prstGeom>
          <a:noFill/>
          <a:ln w="16510">
            <a:solidFill>
              <a:srgbClr val="7A4B00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8791956" y="20025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7A4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予算閾値</a:t>
            </a:r>
            <a:endParaRPr lang="en-US" sz="630" dirty="0"/>
          </a:p>
        </p:txBody>
      </p:sp>
      <p:sp>
        <p:nvSpPr>
          <p:cNvPr id="79" name="Shape 77"/>
          <p:cNvSpPr/>
          <p:nvPr/>
        </p:nvSpPr>
        <p:spPr>
          <a:xfrm>
            <a:off x="9308592" y="2048256"/>
            <a:ext cx="0" cy="2359152"/>
          </a:xfrm>
          <a:prstGeom prst="line">
            <a:avLst/>
          </a:prstGeom>
          <a:noFill/>
          <a:ln w="16510">
            <a:solidFill>
              <a:srgbClr val="7A4B00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10259568" y="3273552"/>
            <a:ext cx="0" cy="237744"/>
          </a:xfrm>
          <a:prstGeom prst="line">
            <a:avLst/>
          </a:prstGeom>
          <a:noFill/>
          <a:ln w="16510">
            <a:solidFill>
              <a:srgbClr val="7A4B00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259568" y="4169664"/>
            <a:ext cx="0" cy="237744"/>
          </a:xfrm>
          <a:prstGeom prst="line">
            <a:avLst/>
          </a:prstGeom>
          <a:noFill/>
          <a:ln w="16510">
            <a:solidFill>
              <a:srgbClr val="7A4B00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7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基本システム構成図</dc:title>
  <dc:subject>金融機関向け AI開発・レビュー基盤 基本システム構成図</dc:subject>
  <dc:creator>OpenAI</dc:creator>
  <cp:lastModifiedBy>OpenAI</cp:lastModifiedBy>
  <cp:revision>1</cp:revision>
  <dcterms:created xsi:type="dcterms:W3CDTF">2026-09-22T07:45:43Z</dcterms:created>
  <dcterms:modified xsi:type="dcterms:W3CDTF">2026-09-22T07:45:43Z</dcterms:modified>
</cp:coreProperties>
</file>