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の位置づけ：導入時はサービス選定・利用範囲決定・契約・設計・構築・設定・導入承認に伴うリスク。導入後は利用者、AI、基盤運用、変更、外部障害から生じるリスク。同じR-IDで原因と運用上の事故を追跡するが、説明文と対策の時点を分ける。
ページの読み方：p.2はリスク位置対応図、p.3–14導入時、p.15–26導入後、p.27開始判定、p.28敵対的レビュー、p.29–30根拠。
[F1] FISC 安全対策基準・解説書 第14版 公表案内
https://www.fisc.or.jp/topics/007222.php
公表・改訂内容を確認。基準本文の逐条照合は未実施。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意事項：開発エージェントは開発者端末から移さない。レビューは構内専用Runner、①が無指摘でも②を実行し、人が最終承認・マージ。AWSは主に推論・検査。DLPはAWS配置を維持する。BedrockがGitLabへ取得しに行く構成ではない。
未決事項：Gateway配置、採用製品/API、閉域/公開接続、IdP/OIDCと短期認証主体、各モデルと検査の国内処理、画像検査、設計書正本、Executor。E5はAWS側配置案として示したもので構内配置案を否定しない。運用ログは行内の記録もE7と全体の相関管理に結合する。VPCとBedrock管理境界は同一視しない。
変更提案：行外持出し禁止情報がある場合の行内参照・送信前制御（R01）は追加承認事項。
対象外：AIによる本番自動操作、自動承認/マージ、顧客への自動回答/与信判断、独自追加学習。拡大時は追加審査。
[A1] AWS Bedrock VPCエンドポイント
https://docs.aws.amazon.com/bedrock/latest/userguide/vpc-interface-endpoints.html
PrivateLinkは私設接続。Gateway経由の強制は認可・通信設計で別途実現。
[A2] AWS Bedrock クロスリージョン推論
https://docs.aws.amazon.com/bedrock/latest/userguide/cross-region-inference.html
転送先は推論プロファイルに依存。国内条件はモデル・転送先で確認。
[G1] GitLab AWS OIDC
https://docs.gitlab.com/ci/cloud_services/aws/
非公開GitLabの発行者・署名鍵の到達性と保護、信頼条件が必要。
[G2] GitLab Runner Security
https://docs.gitlab.com/runner/security/
任意コード実行・共有ホスト・特権・資格情報のリスク。
[G3] GitLab MR pipelines
https://docs.gitlab.com/ci/pipelines/merge_request_pipelines/
起動条件・審査対象と制御の区別・保護資源利用条件を確認。
[C1] Claude Code on Amazon Bedrock
https://code.claude.com/docs/en/amazon-bedrock
採用版・モデル・プロキシ経路の同時成立を実機で確認する。
[C2] Codex Configuration Reference
https://developers.openai.com/codex/config-reference
採用モデル・APIと統制経路の結合試験が必要。経路は本資料で確定しない。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章：導入時（基盤の整備・決定・設定）／構成要素・境界
対象：E1 開発者端末・AIエージェント　E3 専用Runner　B1 参照・実行
対応ページ：p.15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R03 案件間の状態を分離しない
発生箇所：E1 端末／E3 Runner
シナリオ：作業領域・履歴・キャッシュを共用し、別案件の情報を参照できる設定にする。
技術：利用者・案件・ジョブごとに作業領域を分離し、終了時に破棄する。
契約：保守先の一時保存・バックアップ・再利用・削除条件を確認する。
運用：案件切替、異動、失敗・中断時の消去と失効手順を定める。
確認事項：権限の異なる2案件を連続実行し、相互の情報が出ないこと。
責任者候補：基盤担当／情報管理
検証状況：実機・個別契約・銀行内部規程の確認は未実施。下記は受入試験の提案であり合格結果ではない。
旧61件の対応：L07 許可リポジトリ以外の情報を読み込む／L25 記憶・サブエージェントに不正指示が残る／L30 共有ホスト・成果物経由で分離を越える／L44 共有キャッシュ・成果物に案件情報が残る／L60 終了時の消去・返却・証跡保全が両立しない
参考・詳細な統制案と受入試験：
**発生箇所：** 端末・Runner・Gateway・一時領域  
**時点：** 導入・運用 ／ **優先度：** A ／ **現行資料：** 未記載
**起こり得る事故：** 他案件のセッション、作業ディレクトリ、変換物、共有キャッシュ、復元後の履歴が次の利用者へ混入する。
| 統制 | 対応案 |
|---|---|
| 技術 | 利用者・プロジェクト・ジョブ・情報区分で状態を分離する。再利用キャッシュは原則同一権限範囲に限定し、作業領域を破棄する。 |
| 契約 | 保守事業者の一時保存・再利用・バックアップ・終了時削除の条件を確認する。 |
| 運用 | 退職・異動、ジョブ失敗、途中停止、復元を含む消去・失効を点検する。 |
**確認試験・必要な証跡：** 権限の異なる模擬2案件を連続実行し、履歴・キャッシュ・成果物に相手の情報が出ないことを確認する。  
**担当の候補：** 基盤担当／情報管理  
**参照観点／製品仕様：** [F3][A6][A7][G2]
R10 参照データを指示として信用する
発生箇所：B1 資料・ツール→Agent
シナリオ：コード・設計書・ツール応答に含む命令を区別せず、実行範囲を変更できる設計にする。
技術：指示と参照情報を分離。ファイル・ツール・通信権限で被害を限定する。
契約：製品の安全機能・脆弱性通知・修正支援の範囲を確認する。
運用：誘導文を含む模擬資料で試験。危険操作は実行前承認にする。
確認事項：資料内の命令で、許可外の参照・送信・書込みが成立しないこと。
責任者候補：Agent担当／セキュリティ
検証状況：実機・個別契約・銀行内部規程の確認は未実施。下記は受入試験の提案であり合格結果ではない。
旧61件の対応：L21 文書内の命令で目的を乗っ取られる／L25 記憶・サブエージェントに不正指示が残る
参考・詳細な統制案と受入試験：
**発生箇所：** コード・設計書・検索結果→Agent  
**時点：** 導入・運用 ／ **優先度：** A ／ **現行資料：** 対策の過信
**起こり得る事故：** コメントや資料、リポジトリの指示ファイル、ツール応答に含まれる命令を優先し、探索範囲や送信・実行先を変更する。
| 統制 | 対応案 |
|---|---|
| 技術 | 信頼する指示と参照データを分離し、OS・ファイル・ツール・通信の権限で被害を限定する。モデル判定のみを境界にしない。 |
| 契約 | エージェント製品の安全機能、脆弱性通知、サポート責任を確認する。契約のみで攻撃を防げるとは扱わない。 |
| 運用 | 実資料を模した誘導テストを更新し、危険操作は実行前承認を求める。 |
**確認試験・必要な証跡：** 模擬誘導文があっても権限外ファイル参照、通信、書込みが成立せず、拒否が記録されることを確認する。  
**担当の候補：** Agent担当／セキュリティ  
**参照観点／製品仕様：** [F2][F3][G2]
R11 隔離環境に本番権限を残す
発生箇所：E1／E3→実行環境・API
シナリオ：許可したビルド・テストの内部から、ホスト管理口や本番APIへ到達できる設定にする。
技術：非特権実行、本番秘密なし。不要マウント・ホスト管理口・更新APIを遮断。
契約：構築・保守先の作業範囲と、本番操作を認める承認条件を限定する。
運用：本番自動反映は対象外。設定生成と実際の反映権限を区別する。
確認事項：ビルド内部からの本番更新・ホスト操作が拒否されること。
責任者候補：開発基盤／本番管理
検証状況：実機・個別契約・銀行内部規程の確認は未実施。下記は受入試験の提案であり合格結果ではない。
旧61件の対応：L22 許可コマンドの内側から制約を越える／L23 更新APIや本番コマンドを誤実行する／L38 Runner・ホスト・コンテナの欠陥で隔離を破られる
参考・詳細な統制案と受入試験：
**発生箇所：** 端末・Runnerのツール実行  
**時点：** 導入・運用 ／ **優先度：** A ／ **現行資料：** 具体化不足
**起こり得る事故：** 許可されたビルド・テストがスクリプトを実行し、本番接続設定、ホスト管理口、ソケット等に到達して削除・更新を行う。
| 統制 | 対応案 |
|---|---|
| 技術 | 本番資格情報を持たせず、対象環境を認可する。非特権の使い捨て実行環境でホスト管理接続・不要なマウント・更新系APIを遮断する。 |
| 契約 | 構築・保守の実行可能範囲と本番作業の承認条件を契約で明確化する。 |
| 運用 | 導入支援は手順・設定生成を基本とし、未承認の本番自動反映へ拡張しない。 |
**確認試験・必要な証跡：** 模擬更新コマンド・本番宛通信・ホスト管理操作が拒否され、許可した検証環境内のビルドだけが動くことを確認する。  
**担当の候補：** 開発基盤／本番管理  
**参照観点／製品仕様：** [G2][F3]
[F3] 金融庁 金融分野のサイバーセキュリティガイドライン
https://www.fsa.go.jp/common/law/cybersecurity_guideline.pdf
2.1〜2.6の態勢、資産・境界、権限、防御、検知、対応・復旧、委託を参照。
[A6] AWS Bedrock データ保護
https://docs.aws.amazon.com/bedrock/latest/userguide/data-protection.html
責任共有、資格情報・ログ・メタデータの保護。
[A7] AWS Bedrock データ保持
https://docs.aws.amazon.com/bedrock/latest/userguide/data-retention.html
保持はモデル・API・設定を個別確認。学習不使用とは区別。
[G2] GitLab Runner Security
https://docs.gitlab.com/runner/security/
任意コード実行・共有ホスト・特権・資格情報のリスク。
[F2] FISC AI安全対策の観点からの考察（2024-09-24）
https://www.fisc.or.jp/document/public/file/ai_opinion_20240924.pdf
pp.4–8の仕様・設定、情報保護、出力妥当性、態勢・教育を参照。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章：導入時（基盤の整備・決定・設定）／構成要素・境界
対象：E1・E3 ソフトウェア　E4 コード・設計資料　B1 参照・取得
対応ページ：p.16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R12 未確認のソフト・依存物を導入
発生箇所：E1／E3／E4 ソフト供給元
シナリオ：CLI・拡張・外部ツール・変換器・イメージの出所や脆弱性を確認せず採用する。
技術：配布元と版を限定。署名・依存物を確認し、変換器も隔離して実行する。
契約：脆弱性通知・修正支援・保守終了・OSS条件を調達時に確認する。
運用：部品一覧と更新手順を作り、外部取得は承認済み経路に限る。
確認事項：未承認パッケージ・自動更新を拒否し、異常ファイルを隔離できること。
責任者候補：開発基盤／脆弱性管理
検証状況：実機・個別契約・銀行内部規程の確認は未実施。下記は受入試験の提案であり合格結果ではない。
旧61件の対応：L36 Agent・拡張・MCPの更新で悪性機能が入る／L37 依存パッケージや取得先から悪性コードを導入する／L38 Runner・ホスト・コンテナの欠陥で隔離を破られる／L39 設計書の変換処理自体から侵害される
参考・詳細な統制案と受入試験：
**発生箇所：** Agent・MCP・依存パッケージ・変換器  
**時点：** 導入・運用 ／ **優先度：** A ／ **現行資料：** 未記載
**起こり得る事故：** 依存パッケージ、プラグイン、イメージ、変換ライブラリや自動更新に悪性処理・脆弱性が入り、隔離先や成果物が汚染される。
| 統制 | 対応案 |
|---|---|
| 技術 | 承認済み配布元・版固定・署名／整合性確認・依存物検査を行う。変換器を非特権・通信制限・資源制限下で実行する。 |
| 契約 | 脆弱性通知・修正支援、配布物の由来、OSS利用条件、終了時サポートを調達時に確認する。 |
| 運用 | 部品表と更新台帳を維持し、緊急パッチも試験・承認・ロールバック対象にする。 |
**確認試験・必要な証跡：** 未承認依存物と更新を拒否でき、既知の安全な異常ファイルで変換失敗が隔離範囲に留まることを確認する。  
**担当の候補：** 開発基盤／脆弱性管理  
**参照観点／製品仕様：** [F3][G2]
R16 正本・版・参照権限を決めない
発生箇所：E4 資料／B1 参照範囲
シナリオ：コードと合わない設計書や権限外資料を取得し、正しい仕様として使う設計にする。
技術：正本と取得範囲を限定。コードSHA・資料版・ハッシュの対応表を作る。
契約：資料の提供版・更新責任・利用許諾を提供者との条件で確認する。
運用：文書更新責任者を定め、資料不足時は未確認として扱う。
確認事項：旧版・欠落版・別案件資料を拒否または未確認として識別できること。
責任者候補：設計責任者／文書管理
検証状況：実機・個別契約・銀行内部規程の確認は未実施。下記は受入試験の提案であり合格結果ではない。
旧61件の対応：L07 許可リポジトリ以外の情報を読み込む
参考・詳細な統制案と受入試験：
**発生箇所：** 正本資料→取得・検索・参照  
**時点：** 導入・運用 ／ **優先度：** A ／ **現行資料：** 正本・範囲が未確定
**起こり得る事故：** コードSHAと合わない設計書や別案件資料を参照し、誤った仕様や変更影響を正しいものとして報告する。
| 統制 | 対応案 |
|---|---|
| 技術 | 正本、取得権限、版マニフェスト、対象ハッシュを固定し、資料不足を明示する。全文取得ではなく許可範囲を限定する。 |
| 契約 | 文書の取扱権限、提供版、更新責任、第三者資料の利用許諾を確認する。 |
| 運用 | 設計資料の更新責任者を定め、コード変更と文書改訂の対応を点検する。 |
**確認試験・必要な証跡：** 古い版・欠落版・他案件資料を混ぜても拒否又は未確認として残り、正本と原本位置を追跡できることを確認する。  
**担当の候補：** 設計責任者／文書管理  
**参照観点／製品仕様：** [F2][F3]
R17 変換・置換の意味欠落を見逃す
発生箇所：E4 資料変換／E5 加工
シナリオ：Excelの数式・図・注記の欠落やマスク衝突を評価せず、レビュー入力として採用する。
技術：原本位置と変換物を対応づけ、抽出漏れ・置換衝突を検出する。
契約：変換・検査製品の対応範囲と精度の限界を検収条件で確認する。
運用：重要図表・数値条件は原本照合。解析不能な箇所をレビュー済みにしない。
確認事項：代表Excelとマスク後コードで、意味と原本への追跡が保たれること。
責任者候補：文書変換／設計責任者
検証状況：実機・個別契約・銀行内部規程の確認は未実施。下記は受入試験の提案であり合格結果ではない。
旧61件の対応：L32 資料変換・検索の欠落で仕様を取り違える／L39 設計書の変換処理自体から侵害される／L61 DLPの置換・誤検知でレビュー対象の意味が変わる
参考・詳細な統制案と受入試験：
**発生箇所：** Excel変換・画像抽出・入力加工  
**時点：** 導入・運用 ／ **優先度：** B ／ **現行資料：** 変換精度の具体化不足
**起こり得る事故：** 結合セル、式、図、注釈の欠落や識別子の過剰置換により、認可条件・数値・依存関係の意味が変わる。
| 統制 | 対応案 |
|---|---|
| 技術 | 原本と抽出物の対応を保存し、変換不能部分・欠落を検出する。マスクの衝突を防ぎ、解析対象の意味が保持されることを検証する。 |
| 契約 | 変換・検査製品の精度保証範囲と非対応形式を明示し、全形式対応を前提にしない。 |
| 運用 | 重要図表・計算条件は人が原本で確認し、変換器変更時に代表資料を再評価する。 |
**確認試験・必要な証跡：** 代表Excelの式・図表・非表示領域・注記について抽出範囲と意味を原本照合する。未読部分をレビュー済みとしない。  
**担当の候補：** 文書変換／設計責任者  
**参照観点／製品仕様：** [F2][F4]
[F3] 金融庁 金融分野のサイバーセキュリティガイドライン
https://www.fsa.go.jp/common/law/cybersecurity_guideline.pdf
2.1〜2.6の態勢、資産・境界、権限、防御、検知、対応・復旧、委託を参照。
[G2] GitLab Runner Security
https://docs.gitlab.com/runner/security/
任意コード実行・共有ホスト・特権・資格情報のリスク。
[F2] FISC AI安全対策の観点からの考察（2024-09-24）
https://www.fisc.or.jp/document/public/file/ai_opinion_20240924.pdf
pp.4–8の仕様・設定、情報保護、出力妥当性、態勢・教育を参照。
[F4] 金融庁 AIディスカッションペーパー 第1.1版
https://www.fsa.go.jp/news/r7/sonota/20260303/aidp_version1.1.pdf
AIの品質・人の関与・人材・法務等の論点を参照。一律の新規義務ではない。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章：導入時（基盤の整備・決定・設定）／構成要素・境界
対象：E2 GitLab　E3 専用Runner　B5 レビュー結果→投稿・承認
対応ページ：p.17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R13 審査対象からレビューを変更できる
発生箇所：E2 GitLab／E3 CI制御
シナリオ：MR内のCI・指示文・実行スクリプトで、自身の検査を省略・改変できる設計にする。
技術：審査対象と保護された制御を分離。CI・指示・実行イメージの版を固定。
契約：CI変更の承認者・実装者・検収責任を構築保守の条件に含める。
運用：MR種別と起動経路を定義し、起動不具合を権限緩和で救済しない。
確認事項：MR側の制御ファイルを書き換えても、保護版のレビューが実行されること。
責任者候補：GitLab管理／開発品質
検証状況：実機・個別契約・銀行内部規程の確認は未実施。下記は受入試験の提案であり合格結果ではない。
旧61件の対応：L26 MRの変更でレビュー用制御を改ざんする
参考・詳細な統制案と受入試験：
**発生箇所：** MR→CI定義・指示文・起動条件  
**時点：** 導入・運用 ／ **優先度：** A ／ **現行資料：** 保護対象の不足
**起こり得る事故：** 対象MRからCI定義、レビュー指示、呼出スクリプトを変更し、検査を削除・省略したり秘密を出力したりする。
| 統制 | 対応案 |
|---|---|
| 技術 | 信頼する制御側と審査対象を分け、CI・指示・実行イメージを保護して版固定する。起動する対象とパイプライン種別も検証する。 |
| 契約 | CI変更の責任・承認・レビュー主体の独立を構築保守契約に反映する。 |
| 運用 | 保護CIに接続できないMRを安易な権限緩和で救済しない。専用起動経路を定義する。 |
**確認試験・必要な証跡：** MRから制御ファイルを改変しても保護版が使われ、審査対象側が秘密を取得できないことを確認する。  
**担当の候補：** GitLab管理／開発品質  
**参照観点／製品仕様：** [G2][G3][F3]
R14 対象版と合格結果を結合しない
発生箇所：B5 レビュー→投稿・マージ
シナリオ：レビュー後の再Pushや設計書更新でも、以前の成功結果を使える仕組みにする。
技術：MR・HEAD・比較SHA・資料版と結果を結合。更新時に失効し直前にも照合。
契約：レビュー対象と再実施条件を、委託成果物の受入条件として明記する。
運用：再レビュー対象・緊急変更時の別承認・結果保存を定める。
確認事項：レビュー中・投稿前・承認後に更新すると、古い結果が無効になること。
責任者候補：GitLab管理／品質責任者
検証状況：実機・個別契約・銀行内部規程の確認は未実施。下記は受入試験の提案であり合格結果ではない。
旧61件の対応：L27 確認した版とマージする版が違う
参考・詳細な統制案と受入試験：
**発生箇所：** Runner→結果投稿→マージ  
**時点：** 導入・運用 ／ **優先度：** A ／ **現行資料：** 対象版固定だけでは不足
**起こり得る事故：** レビュー後にMRのHEAD・比較対象・設計資料が更新されても、以前の成功コメントで承認・マージする。
| 統制 | 対応案 |
|---|---|
| 技術 | プロジェクト・MR・HEAD・比較対象SHA・資料版・指示版を結果へ結合し、更新時は失効する。投稿時とマージ前に一致を再確認する。 |
| 契約 | レビュー成果物の対象・受入条件・再実施が必要な変更を委託品質条件として定める。 |
| 運用 | 再レビュー対象を明確化し、緊急変更の例外も別承認と証跡を残す。 |
**確認試験・必要な証跡：** レビュー中・投稿直前・承認後に模擬更新し、古い結果でマージ条件を満たさないことを確認する。  
**担当の候補：** GitLab管理／品質責任者  
**参照観点／製品仕様：** [G3][F3]
R15 指摘なしを完了と取り違える
発生箇所：E3 二段階レビュー判定
シナリオ：②の未実行・資料不足・解析失敗でも、空の指摘や終了コードだけで合格にする。
技術：両段階の完了・対象範囲を検証。「未完了」「失効」と合格を分ける。
契約：二段階の完了定義・失敗通知・再実行責任を検収条件に含める。
運用：①無指摘でも②を必須化。未完了時の手動代替承認を定める。
確認事項：②停止・応答破損・資料欠落・投稿失敗が合格にならないこと。
責任者候補：CI実装／品質責任者
検証状況：実機・個別契約・銀行内部規程の確認は未実施。下記は受入試験の提案であり合格結果ではない。
旧61件の対応：L28 ②未実行・途中終了を指摘なしとして扱う
参考・詳細な統制案と受入試験：
**発生箇所：** 二段階レビュー→完了判定  
**時点：** 導入・運用 ／ **優先度：** A ／ **現行資料：** 判定条件の不足
**起こり得る事故：** 第2段階の省略、タイムアウト、入力不足、パース失敗、投稿失敗を、終了コードや空の指摘だけで合格にする。
| 統制 | 対応案 |
|---|---|
| 技術 | 二段階それぞれの実行・確認範囲・完了状態を機械検証する。指摘なし／指摘あり／未完了／対象版失効を分ける。 |
| 契約 | 二段階の完了定義と失敗時通知、再実行・代替の責任を検収条件に含める。 |
| 運用 | 第1段階が指摘なしでも第2段階を実行する。障害時は未完了として人の別承認ルートへ送る。 |
**確認試験・必要な証跡：** 第2段階停止、壊れた応答、資料欠落、投稿失敗を故意に発生させ、成功扱いされないことを確認する。  
**担当の候補：** CI実装／品質責任者  
**参照観点／製品仕様：** [G3][F3][F4]
[G2] GitLab Runner Security
https://docs.gitlab.com/runner/security/
任意コード実行・共有ホスト・特権・資格情報のリスク。
[G3] GitLab MR pipelines
https://docs.gitlab.com/ci/pipelines/merge_request_pipelines/
起動条件・審査対象と制御の区別・保護資源利用条件を確認。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章：導入時（基盤の整備・決定・設定）／構成要素・境界
対象：B2 IdP・GitLab→AWS認証　B5 レビュー処理→投稿処理
対応ページ：p.18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R07 短期認証の成立条件を誤る
発生箇所：B2 社内IdP／GitLab→AWS
シナリオ：非公開GitLabの署名鍵をAWSが取得できず、広い信頼設定や長期共有キーで補う。
技術：OIDC採用時は発行者・公開鍵の到達性と、対象ジョブの信頼条件を検証。
契約：IdP・GitLab・公開メタデータの管理者と鍵更新責任を定める。
運用：採用認証方式を確定し、鍵更新・期限切れ・障害時の手順を試験する。
確認事項：正規ジョブだけが認証でき、別案件・別用途のトークンは拒否されること。
責任者候補：認証基盤／GitLab管理
検証状況：実機・個別契約・銀行内部規程の確認は未実施。下記は受入試験の提案であり合格結果ではない。
旧61件の対応：L16 短期認証でも利用主体や対象を取り違える／L17 非公開GitLabのOIDCが成立しない／鍵情報が改ざんされる／L18 失効したはずの資格情報を継続利用できる
参考・詳細な統制案と受入試験：
**発生箇所：** 構内GitLab→AWS STS  
**時点：** 導入・変更 ／ **優先度：** A ／ **現行資料：** 実現性の未検証
**起こり得る事故：** 非公開GitLabのIssuer情報・署名鍵をSTSが取得できない。対処のためにGitLab全体を公開したり、信頼条件を広げたりする。
| 統制 | 対応案 |
|---|---|
| 技術 | 採用方式のIssuer/JWKS到達性を実証する。公開が必要な情報だけを保全して提供する方式又は承認済み代替認証を設計し、aud・sub等を厳格化する。 |
| 契約 | IdP・GitLab・AWS・公開メタデータの管理者と鍵更新・障害時責任を明確にする。 |
| 運用 | 署名鍵更新、期限切れ、メタデータ停止を訓練し、長期共有キーへの恒久的退避を避ける。 |
**確認試験・必要な証跡：** 非公開構成で正規ジョブのみ認証でき、別プロジェクト・ref・audienceのトークンが拒否されることを確認する。  
**担当の候補：** 認証基盤／GitLab管理  
**参照観点／製品仕様：** [G1][F3]
R08 別ジョブだけで分離したとする
発生箇所：E3 Runner／B5 投稿分離
シナリオ：ホスト・ボリューム・環境変数を共有し、レビュー実行から投稿・管理用秘密を読める。
技術：実行環境と秘密の到達性を分離。レビュー環境へ投稿・管理秘密を渡さない。
契約：運用委託先の管理権限と、秘密情報の取得・持出し範囲を限定する。
運用：秘密の所在・読取主体を棚卸しし、更新と失効の手順を用意する。
確認事項：レビュー環境から投稿秘密・別ジョブ領域・ホスト管理口へ到達できないこと。
責任者候補：CI基盤／秘密管理
検証状況：実機・個別契約・銀行内部規程の確認は未実施。下記は受入試験の提案であり合格結果ではない。
旧61件の対応：L18 失効したはずの資格情報を継続利用できる／L30 共有ホスト・成果物経由で分離を越える
参考・詳細な統制案と受入試験：
**発生箇所：** レビューRunner↔投稿ジョブ  
**時点：** 導入・運用 ／ **優先度：** A ／ **現行資料：** 分離粒度の不足
**起こり得る事故：** 別ジョブでも同じホストのプロセス・ボリューム・キャッシュ・環境変数が共有され、レビュー中の任意コードが投稿や管理用の秘密を読む。
| 統制 | 対応案 |
|---|---|
| 技術 | プロセス／実行環境と秘密の到達性まで分離し、非信頼コードの実行先へ投稿・管理資格情報を置かない。 |
| 契約 | Runner運用の管理権限、秘密へのアクセス、保守時の取得禁止を委託範囲に反映する。 |
| 運用 | 秘密の所在と読取主体を棚卸し、漏えい時の失効・交換を実施する。 |
**確認試験・必要な証跡：** レビュー環境から投稿秘密・ホスト管理・別ジョブ領域を読めないことを、採用Executorで確認する。  
**担当の候補：** CI基盤／秘密管理  
**参照観点／製品仕様：** [G2][G3][F3]
R09 投稿専用の権限を確認しない
発生箇所：B5 結果投稿→GitLab
シナリオ：トークン名だけで安全と判断し、他MR更新や承認・マージまで可能な権限を残す。
技術：ロール・スコープを実測。投稿処理で宛先・API・本文・特殊構文を制限。
契約：委託時は許可操作・禁止操作・投稿失敗の扱いを検収条件にする。
運用：投稿失敗とレビュー完了を分け、トークンの期限と失効を管理する。
確認事項：別MRへの投稿、承認・マージ、特殊コマンドの実行を拒否すること。
責任者候補：GitLab管理／投稿実装担当
検証状況：実機・個別契約・銀行内部規程の確認は未実施。下記は受入試験の提案であり合格結果ではない。
旧61件の対応：L29 投稿ジョブがAI出力を信用しすぎる
参考・詳細な統制案と受入試験：
**発生箇所：** 投稿処理→GitLab API  
**時点：** 導入・運用 ／ **優先度：** A ／ **現行資料：** 仕様の未確認
**起こり得る事故：** 投稿トークンがコメント以外の更新も可能で、AI生成の投稿内容・宛先・特殊構文を通じて別MRやプロジェクト状態を変更する。
| 統制 | 対応案 |
|---|---|
| 技術 | 採用版のロール・スコープ・APIを確認し、投稿実装で宛先・メソッド・本文形式を固定検証する。特殊コマンド・外部参照等を無害化する。 |
| 契約 | 投稿機能の許可操作と禁止操作を検収条件にし、保守の特権利用を限定する。 |
| 運用 | 専用トークンの期限・利用先・失効を管理し、投稿失敗をレビュー成功扱いしない。 |
**確認試験・必要な証跡：** 別MR宛先、マージ・承認等の禁止操作、危険な投稿構文が拒否され、正規コメントだけが残ることを確認する。  
**担当の候補：** GitLab管理／投稿実装担当  
**参照観点／製品仕様：** [G4][G3][F3]
[G1] GitLab AWS OIDC
https://docs.gitlab.com/ci/cloud_services/aws/
非公開GitLabの発行者・署名鍵の到達性と保護、信頼条件が必要。
[F3] 金融庁 金融分野のサイバーセキュリティガイドライン
https://www.fsa.go.jp/common/law/cybersecurity_guideline.pdf
2.1〜2.6の態勢、資産・境界、権限、防御、検知、対応・復旧、委託を参照。
[G2] GitLab Runner Security
https://docs.gitlab.com/runner/security/
任意コード実行・共有ホスト・特権・資格情報のリスク。
[G3] GitLab MR pipelines
https://docs.gitlab.com/ci/pipelines/merge_request_pipelines/
起動条件・審査対象と制御の区別・保護資源利用条件を確認。
[G4] GitLab Project access tokens
https://docs.gitlab.com/user/project/settings/project_access_tokens/
トークン権限はロール・スコープ・版に依存。名称は制限ではない。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章：導入時（基盤の整備・決定・設定）／構成要素・境界
対象：E1 端末・E3 Runner→E5 Gateway　B3 行内→AWS
対応ページ：p.19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R01 行外送信の許可範囲を誤る
発生箇所：B3 行内→AWS
シナリオ：AWS側DLPで止めればよいと判断し、行外持出し禁止情報まで検査環境へ送る設計にする。
技術：送信対象を行内で限定。行外持出し禁止情報はAWS到達前に遮断する。
契約：AWSでの検査処理自体を含め、委託可能な情報範囲を確認する。
運用：「行外持出し禁止」と「モデル投入禁止」を分けて承認する。
確認事項：模擬禁止情報がAWSに届かないこと。行内対策の追加は別途承認。
責任者候補：情報管理責任者／基盤担当
検証状況：実機・個別契約・銀行内部規程の確認は未実施。下記は受入試験の提案であり合格結果ではない。
旧61件の対応：L06 AWS側DLPより手前で行外送信が成立する
参考・詳細な統制案と受入試験：
**発生箇所：** 行内→AWS DLP  
**時点：** 導入・運用 ／ **優先度：** A ／ **現行資料：** 前提の修正
**起こり得る事故：** 行外送信自体が禁止された秘密鍵・顧客情報をAWS側DLPへ送り、モデルには渡さなくても禁止境界を越える。
| 統制 | 対応案 |
|---|---|
| 技術 | 行外持出し禁止とモデル投入禁止を分ける。AWS DLPは維持し、前者は行内の参照制限・許可ファイル選別・必要な事前遮断で止める。 |
| 契約 | 銀行と委託先の取扱許容範囲、検査のためのAWS処理の可否を契約・データ取扱条件に反映する。 |
| 運用 | 情報区分ごとに境界越えの可否と例外承認者を決める。行内検査の追加は構成変更として明示する。 |
**確認試験・必要な証跡：** 模擬禁止情報がAWS受信ログへ到達しないことを確認する。DLPのブロック表示だけを合格証跡にしない。  
**担当の候補：** 情報管理責任者／基盤担当  
**参照観点／製品仕様：** [F2][F3][A6][P1]
R04 推論以外の外送経路を残す
発生箇所：B3 外部通信
シナリオ：Web取得・外部ツール・更新・診断通信を見落とし、未検査の持出し経路を残す。
技術：用途別に宛先・通信主体を許可。DNS・プロキシ・TLS検証も管理する。
契約：製品の外部通信・診断送信・保守提出物の取扱条件を確認する。
運用：モデル通信だけでなく、全外部通信を一覧化して承認する。
確認事項：個人キー・別API・外部ツールを使った迂回送信が成立しないこと。
責任者候補：ネットワーク／端末管理
検証状況：実機・個別契約・銀行内部規程の確認は未実施。下記は受入試験の提案であり合格結果ではない。
旧61件の対応：L10 初回プロンプト以外が検査・制御を迂回する／L13 閉域でも通信の真正性・出口制御が不足する
参考・詳細な統制案と受入試験：
**発生箇所：** 端末／Runner→外部サービス  
**時点：** 導入・運用 ／ **優先度：** A ／ **現行資料：** 対策の強制力不足
**起こり得る事故：** LLM以外のMCP、Web検索、URL取得、更新・診断通信、別APIや個人の資格情報を使い、同じ端末から未検査で送信する。
| 統制 | 対応案 |
|---|---|
| 技術 | 推論・ツール・更新・診断・DNS等の通信を棚卸し、宛先と主体を許可する。TLS検証を維持し、未承認の迂回をネットワーク側でも遮断する。 |
| 契約 | 製品の通信先・テレメトリ・サポート取得情報・更新通知を確認し、無断外部転送を許さない。 |
| 運用 | 許可通信一覧を継続更新する。誤検知対策として無制限通信を認めない。 |
**確認試験・必要な証跡：** 承認経路以外の模擬送信が拒否されること、承認経路でも許可範囲のAPIだけ使えることを確認する。  
**担当の候補：** ネットワーク／端末管理  
**参照観点／製品仕様：** [F3][A1][C1][C2]
R05 直接呼出し権限を残す
発生箇所：B3 認可→モデル
シナリオ：端末・RunnerへBedrockの直接実行権限を与え、Gatewayの検査・予算管理を迂回できる。
技術：クライアントと推論実行の権限を分離。IAMと通信の両側で経路を強制。
契約：構築委託時は、直接実行・権限昇格の拒否を検収条件に含める。
運用：実際に付与する権限を確認し、例外付与には期限・承認を設ける。
確認事項：端末・Runnerの実資格情報では直接推論が拒否されること。
責任者候補：IAM管理／基盤担当
検証状況：実機・個別契約・銀行内部規程の確認は未実施。下記は受入試験の提案であり合格結果ではない。
旧61件の対応：L11 Gatewayを通さず推論APIを直接呼べる
参考・詳細な統制案と受入試験：
**発生箇所：** 端末／RunnerのIAM→Bedrock  
**時点：** 導入・運用 ／ **優先度：** A ／ **現行資料：** 設計記述不足
**起こり得る事故：** 端末・Runnerにモデルの直接実行権限が残り、Gatewayを通さない呼出しや未承認モデルへの切替が成立する。
| 統制 | 対応案 |
|---|---|
| 技術 | クライアントはGateway利用だけを許可し、モデル呼出し主体を分離する。IAM・エンドポイント方針・適用可能な組織統制で不許可経路を拒否する。 |
| 契約 | 構築・運用委託の検収条件に、直接実行と権限昇格の否定試験を含める。 |
| 運用 | 権限変更・例外付与を審査し、短期資格情報であっても権限内容を棚卸しする。 |
**確認試験・必要な証跡：** 端末／Runnerの実際の資格情報から直接モデルを呼ぶ模擬試験が拒否され、承認Gatewayのみ成功することを確認する。  
**担当の候補：** IAM管理／基盤担当  
**参照観点／製品仕様：** [F3][A1][A5][G1]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[A6] AWS Bedrock データ保護
https://docs.aws.amazon.com/bedrock/latest/userguide/data-protection.html
責任共有、資格情報・ログ・メタデータの保護。
[P1] 個人情報保護委員会 クラウド取扱い Q7-53
https://www.ppc.go.jp/all_faq_index/faq1-q7-53/
第三者提供・委託等は契約と取扱いの実態で個別判断。
[A1] AWS Bedrock VPCエンドポイント
https://docs.aws.amazon.com/bedrock/latest/userguide/vpc-interface-endpoints.html
PrivateLinkは私設接続。Gateway経由の強制は認可・通信設計で別途実現。
[C1] Claude Code on Amazon Bedrock
https://code.claude.com/docs/en/amazon-bedrock
採用版・モデル・プロキシ経路の同時成立を実機で確認する。
[C2] Codex Configuration Reference
https://developers.openai.com/codex/config-reference
採用モデル・APIと統制経路の結合試験が必要。経路は本資料で確定しない。
[A5] AWS GuardrailのIAM強制
https://docs.aws.amazon.com/bedrock/latest/userguide/guardrails-permissions-id.html
適用可能なAPI・条件に限り採用可否を確認。全APIへの自動適用としない。
[G1] GitLab AWS OIDC
https://docs.gitlab.com/ci/cloud_services/aws/
非公開GitLabの発行者・署名鍵の到達性と保護、信頼条件が必要。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章：導入時（基盤の整備・決定・設定）／構成要素・境界
対象：E5 Gateway・DLP・判定機能　B3 受付　B4 モデル投入
対応ページ：p.20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R02 未対応形式を検査済みにする
発生箇所：E5 検査／B4 推論境界
シナリオ：画像、非表示セル、圧縮・分割入力などの検査範囲を確認せず送信を許可する。
技術：型・サイズ・抽出範囲を定義。解析不能や上限超過は送信を拒否する。
契約：対応形式・上限・非対応時の動作を製品仕様と検収条件で確認する。
運用：実資料を模した試験で許可形式を決める。画像未対応なら送信しない。
確認事項：画像・隠しシート・長大入力・分割情報の未検査通過を否定する。
責任者候補：情報管理／DLP担当
検証状況：実機・個別契約・銀行内部規程の確認は未実施。下記は受入試験の提案であり合格結果ではない。
旧61件の対応：L09 画像・Excel・圧縮内容が未検査で通過する
参考・詳細な統制案と受入試験：
**発生箇所：** 文書変換→Gateway→DLP  
**時点：** 導入・運用 ／ **優先度：** A ／ **現行資料：** 具体化不足
**起こり得る事故：** 画像、非表示セル、圧縮・暗号化ファイル、長大入力や分割データの一部が未検査なのに、全体を検査済みとして送信する。
| 統制 | 対応案 |
|---|---|
| 技術 | 型・サイズ・抽出範囲を明示し、全転送対象を検査する。解析不能・上限超過は原則拒否し、画像未対応時は画像送信を許可しない。 |
| 契約 | DLP・変換製品の対応形式、上限、非対応ケース、障害時動作を調達仕様・検収条件に含める。 |
| 運用 | 実資料由来の匿名化・模擬データで漏れと誤検知を検証し、許可形式を版管理する。 |
**確認試験・必要な証跡：** 画像内模擬情報、隠しシート、分割された模擬キー、サイズ超過で未検査通過しないことを確認する。  
**担当の候補：** 情報管理／DLP担当  
**参照観点／製品仕様：** [F2][F3][A4]
R06 自己申告IDで権限を決める
発生箇所：E5 Gateway／B2 本人性
シナリオ：要求中のチーム・案件IDを信用し、他部署の権限や予算を使える仕組みにする。
技術：認証済み主体と信頼する所属・ジョブ情報から権限・課金先を決める。
契約：委託実装では、属性の信頼元と越権拒否を受入条件にする。
運用：兼務・異動・共有利用の扱いと、認可情報の更新責任を決める。
確認事項：別チーム・別ジョブのIDへ差し替えた要求が拒否されること。
責任者候補：認証基盤／費用管理
検証状況：実機・個別契約・銀行内部規程の確認は未実施。下記は受入試験の提案であり合格結果ではない。
旧61件の対応：L16 短期認証でも利用主体や対象を取り違える／L19 利用者・案件の自己申告を認可や課金に使う／L54 AWS請求を個人・チーム・ジョブへ正しく配賦できない
参考・詳細な統制案と受入試験：
**発生箇所：** Gatewayの認証・認可・課金識別  
**時点：** 導入・運用 ／ **優先度：** A ／ **現行資料：** 未記載
**起こり得る事故：** 利用者がリクエスト中のチームID・ジョブID・リポジトリ名を書き換え、別案件の権限や予算を借用する。
| 統制 | 対応案 |
|---|---|
| 技術 | 認証済み主体と権威ある所属・ジョブ情報から認可と課金先を決める。クライアント申告値をそのまま権限・予算キーにしない。 |
| 契約 | 受託実装の仕様に主体と権限の対応、属性の信頼元、責任分担を明記する。 |
| 運用 | 異動・兼務・共有アカウントの扱いを定義し、利用記録と権限台帳を突合する。 |
**確認試験・必要な証跡：** 別チーム・別ジョブのIDへ置換した模擬リクエストが拒否され、元の本人性が監査記録に残ることを確認する。  
**担当の候補：** 認証基盤／費用管理  
**参照観点／製品仕様：** [F3][A9][G1]
R22 検査の失敗を許可に読み替える
発生箇所：E5 Gateway・DLP・判定
シナリオ：タイムアウト、判定不能、検査API不具合の際に、無検査で推論へ流す実装にする。
技術：失敗時は拒否。検査完了と入力全体を結合し、抜けた検査を検出する。
契約：検査の異常時動作、障害通知、修正支援を検収・保守条件に含める。
運用：拒否が増えた場合の代替を決め、検査を外す例外を常態化させない。
確認事項：検査停止・壊れた応答・部分失敗でも、モデルへ送信されないこと。
責任者候補：Gateway実装／セキュリティ
検証状況：実機・個別契約・銀行内部規程の確認は未実施。下記は受入試験の提案であり合格結果ではない。
旧61件の対応：L40 独自Gatewayの不具合で検査や認可が欠落する
参考・詳細な統制案と受入試験：
**発生箇所：** Gateway→DLP／Guardrails  
**時点：** 導入・運用 ／ **優先度：** A ／ **現行資料：** 失敗時動作の不足
**起こり得る事故：** DLP・判定AIの停止、スキーマ不一致、タイムアウト、空の判定を無問題と解釈し、モデルへ送る。
| 統制 | 対応案 |
|---|---|
| 技術 | 許可を明示確認できる場合だけ転送する。未知・失敗・対象外を区別して原則停止し、迂回フォールバックを禁止する。 |
| 契約 | 障害時仕様、変更通知、修正支援、検収時の異常系試験を合意する。 |
| 運用 | 検査失敗を監視し、手動代替は別承認する。業務継続のための黙示的なバイパスを認めない。 |
**確認試験・必要な証跡：** 検査サービスの停止・遅延・壊れた応答・新スキーマで、未検査のモデル要求が発生しないことを確認する。  
**担当の候補：** Gateway実装／セキュリティ  
**参照観点／製品仕様：** [A5][F3]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[A4] AWS Guardrails ストリーミング
https://docs.aws.amazon.com/bedrock/latest/userguide/guardrails-streaming.html
非同期モードは検査前の返却があり、機微情報マスキング非対応。
[A9] AWS Bedrock モデル呼出しログ
https://docs.aws.amazon.com/bedrock/latest/userguide/model-invocation-logging.html
記録されるAPI・内容・保存先を採用方式ごとに確認。
[G1] GitLab AWS OIDC
https://docs.gitlab.com/ci/cloud_services/aws/
非公開GitLabの発行者・署名鍵の到達性と保護、信頼条件が必要。
[A5] AWS GuardrailのIAM強制
https://docs.aws.amazon.com/bedrock/latest/userguide/guardrails-permissions-id.html
適用可能なAPI・条件に限り採用可否を確認。全APIへの自動適用としない。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章：導入時（基盤の整備・決定・設定）／構成要素・境界
対象：E3 文脈準備　E5 応答検査　E6 推論　B4 応答→ツール
対応ページ：p.21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R18 全体設計レビューの範囲を決めない
発生箇所：B4 文脈→設計レビュー
シナリオ：文脈上限や検索漏れを考慮せず、重要な呼出先を読まなくても全体確認済みと表示する。
技術：変更影響から参照計画を作り、取得・実読・未確認範囲を記録する。
契約：変更と全体設計の整合確認を対象とし、総点検と混同しない条件を定める。
運用：高リスク変更の必須観点と、人が補完する条件を決める。
確認事項：長大資料の重要仕様が欠けたとき、確認済みと誤表示しないこと。
責任者候補：設計責任者／レビュー実装
検証状況：実機・個別契約・銀行内部規程の確認は未実施。下記は受入試験の提案であり合格結果ではない。
旧61件の対応：L32 資料変換・検索の欠落で仕様を取り違える
参考・詳細な統制案と受入試験：
**発生箇所：** 資料選別→モデル文脈→設計レビュー  
**時点：** 導入・運用 ／ **優先度：** B ／ **現行資料：** 確認範囲の定義不足
**起こり得る事故：** 検索漏れやコンテキスト上限で呼出先・認証・障害時仕様が落ちても、「全体設計確認済み」と表示する。
| 統制 | 対応案 |
|---|---|
| 技術 | 依存関係と確認観点から参照計画を作り、確認したファイル・根拠・未確認を記録する。欠落時は範囲限定の結果とする。 |
| 契約 | 全システム既存問題の総点検ではなく変更影響の確認であること、対象範囲と成果物を合意する。 |
| 運用 | 高リスク変更は専門者が未確認範囲を補い、調査不足を無指摘と解釈しない。 |
**確認試験・必要な証跡：** 参照すべき重要仕様を長大資料の後半等に置き、検索・取得・実読の証跡と未確認表示を評価する。  
**担当の候補：** 設計責任者／レビュー実装  
**参照観点／製品仕様：** [F2][F4]
R23 出力検査より先に実行させる
発生箇所：B4 応答→B1 ツール実行
シナリオ：ストリーミング断片や壊れたツール引数が、検査前に表示・実行される順序にする。
技術：検査済み出力だけ後段へ渡す。ツール引数・対象・権限を実行前に検証。
契約：採用APIの検査順序・非対応機能・障害時動作を確認する。
運用：危険操作の事後確認で済ませず、実行前の承認条件を定める。
確認事項：危険な断片・引数が、検査前に表示・ツール実行されないこと。
責任者候補：Gateway／Agent実装
検証状況：実機・個別契約・銀行内部規程の確認は未実施。下記は受入試験の提案であり合格結果ではない。
旧61件の対応：L23 更新APIや本番コマンドを誤実行する／L24 検査前の出力や壊れたツール引数を実行する
参考・詳細な統制案と受入試験：
**発生箇所：** Bedrock応答→出力検査→Agent  
**時点：** 導入・運用 ／ **優先度：** A ／ **現行資料：** 検査順序の不足
**起こり得る事故：** ストリーミング出力を先に渡し、後から危険と判定する。ツール呼出しの引数や一部チャンクが検査対象から抜ける。
| 統制 | 対応案 |
|---|---|
| 技術 | 表示・投稿・ツール実行前に検査する。同期又は必要範囲をバッファし、ツール名・引数・対象への認可を別に実施する。 |
| 契約 | 製品のストリーミング／ツール呼出し検査の対応範囲と限界を確認する。 |
| 運用 | 速度優先で非同期へ変える設定変更を審査し、危険操作は実行前に人が確認する。 |
**確認試験・必要な証跡：** 模擬機密・危険ツール引数が到着しても、検査完了まで表示・投稿・実行されないことを確認する。  
**担当の候補：** Gateway／Agent実装  
**参照観点／製品仕様：** [A4][F3]
R24 接続成功だけで製品を採用する
発生箇所：E1／E3→E5→E6 API接続
シナリオ：Claude Code／CodexやAPIの差で、画像・ストリーム・検査・利用量記録が一部欠落する。
技術：エージェント・モデル・APIの組合せを固定し、統制を含む結合試験を行う。
契約：API互換性と必須機能、更新・保守範囲を調達・受入条件で確認する。
運用：未確認の接続経路は許可せず、接続表と採用版を承認する。
確認事項：推論成功だけでなく、検査・応答・使用量・記録の一貫性を確認する。
責任者候補：基盤アーキテクト／QA
検証状況：実機・個別契約・銀行内部規程の確認は未実施。下記は受入試験の提案であり合格結果ではない。
旧61件の対応：L10 初回プロンプト以外が検査・制御を迂回する／L12 エージェント/APIの違いで統制が外れる／L40 独自Gatewayの不具合で検査や認可が欠落する
参考・詳細な統制案と受入試験：
**発生箇所：** Claude Code／Codex→API→Bedrock  
**時点：** 導入・変更 ／ **優先度：** A ／ **現行資料：** 互換性の未検証
**起こり得る事故：** API互換性、認証方式、streaming、tool call、ログやGuardrails適用の差により、通常会話だけ成功し本番統制が動かない。
| 統制 | 対応案 |
|---|---|
| 技術 | エージェント版×モデル×API×リージョン×Gateway×検査×ログをセットで検証し、合格した組合せのみ公開する。 |
| 契約 | 対応API・機能・不具合修正・変更時通知を確認する。未保証事項は契約成立済みと書かない。 |
| 運用 | 更新は検証環境で再認定し、接続不能時に個人アカウントや未承認APIへ切り替えない。 |
**確認試験・必要な証跡：** tool call・長文・streaming・認証更新・制限到達を含め、検査・記録・費用計測が同時に機能することを確認する。  
**担当の候補：** 基盤アーキテクト／QA  
**参照観点／製品仕様：** [C1][C2][A5][A9]
[F2] FISC AI安全対策の観点からの考察（2024-09-24）
https://www.fisc.or.jp/document/public/file/ai_opinion_20240924.pdf
pp.4–8の仕様・設定、情報保護、出力妥当性、態勢・教育を参照。
[F4] 金融庁 AIディスカッションペーパー 第1.1版
https://www.fsa.go.jp/news/r7/sonota/20260303/aidp_version1.1.pdf
AIの品質・人の関与・人材・法務等の論点を参照。一律の新規義務ではない。
[A4] AWS Guardrails ストリーミング
https://docs.aws.amazon.com/bedrock/latest/userguide/guardrails-streaming.html
非同期モードは検査前の返却があり、機微情報マスキング非対応。
[F3] 金融庁 金融分野のサイバーセキュリティガイドライン
https://www.fsa.go.jp/common/law/cybersecurity_guideline.pdf
2.1〜2.6の態勢、資産・境界、権限、防御、検知、対応・復旧、委託を参照。
[C1] Claude Code on Amazon Bedrock
https://code.claude.com/docs/en/amazon-bedrock
採用版・モデル・プロキシ経路の同時成立を実機で確認する。
[C2] Codex Configuration Reference
https://developers.openai.com/codex/config-reference
採用モデル・APIと統制経路の結合試験が必要。経路は本資料で確定しない。
[A5] AWS GuardrailのIAM強制
https://docs.aws.amazon.com/bedrock/latest/userguide/guardrails-permissions-id.html
適用可能なAPI・条件に限り採用可否を確認。全APIへの自動適用としない。
[A9] AWS Bedrock モデル呼出しログ
https://docs.aws.amazon.com/bedrock/latest/userguide/model-invocation-logging.html
記録されるAPI・内容・保存先を採用方式ごとに確認。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章：導入時（基盤の整備・決定・設定）／構成要素・境界
対象：E5 検査　E6 Bedrock　E7 ログ・一時保管　B4 処理・保持
対応ページ：p.22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R19 東京接続だけで国内処理と判断
発生箇所：E5／E6／B4 処理地域
シナリオ：推論・Guardrails・判定AI・保存・障害時切替の実転送先を調べず採用する。
技術：モデル・API・検査・転送先・保存先の許可組合せを固定し、逸脱を拒否。
契約：処理・保持地域、管理アクセス、再委託、変更条件を個別確認する。
運用：国内と東京限定を区別し、代替先を含めた地域一覧を承認する。
確認事項：正常時・障害時とも、モデル以外の検査・保存を含む地域が許可内であること。
責任者候補：クラウド基盤／情報管理
検証状況：実機・個別契約・銀行内部規程の確認は未実施。下記は受入試験の提案であり合格結果ではない。
旧61件の対応：L14 東京接続でも推論・保存が国外へ流れる／L15 補助AI・DLP・サポート経路だけ国外処理になる／L47 障害時の代替運用が未審査で安全条件を壊す
参考・詳細な統制案と受入試験：
**発生箇所：** Bedrock・Guardrails・判定用AI  
**時点：** 導入・変更・運用 ／ **優先度：** A ／ **現行資料：** 東京接続だけでは不足
**起こり得る事故：** 東京の接続先でも、モデル・Guardrails・判定AIの転送設定やフォールバックにより未承認地域で処理・保存される。
| 統制 | 対応案 |
|---|---|
| 技術 | モデルID、API、推論プロファイル、全転送先、検査サービス、保存先を許可表へ固定し、未承認先への切替を拒否する。 |
| 契約 | 処理・保持地域、再委託・管理アクセス、条件変更を採用サービスごとに確認する。 |
| 運用 | 国内処理と東京限定を区別し、国内の別地域を使う場合も明示承認する。モデル追加・変更時に再審査する。 |
**確認試験・必要な証跡：** 正常時と障害・上限時のルートを確認し、モデルだけでなくGuardrails等の評価先も国内条件を満たすことを証拠化する。  
**担当の候補：** クラウド基盤／情報管理  
**参照観点／製品仕様：** [A2][A3][A8][F3]
R20 学習不使用を無保存と読み替える
発生箇所：E6 モデル／保存条件
シナリオ：モデル・API・機能ごとの保持や人手レビュー条件を確認せず、機密入力を許可する。
技術：モデル・機能・保持設定を許可表にし、条件外の組合せを拒否する。
契約：学習利用・保持・閲覧・削除・例外を分け、実際の適用条件を確認する。
運用：Webの一般説明だけで承認せず、モデル別条件と設定証跡を保存する。
確認事項：採用モデルの適用契約・実設定と、銀行の情報取扱条件が一致すること。
責任者候補：調達法務／クラウド管理
検証状況：実機・個別契約・銀行内部規程の確認は未実施。下記は受入試験の提案であり合格結果ではない。
旧61件の対応：L08 採用モデルの保持・人手レビュー条件が合わない／L56 契約の希望条件を確保済みとして扱う
参考・詳細な統制案と受入試験：
**発生箇所：** Bedrockモデル・追加機能・契約条件  
**時点：** 導入・変更・運用 ／ **優先度：** A ／ **現行資料：** 保持条件の不足
**起こり得る事故：** モデル入力の学習不使用だけを確認し、採用モデル・機能ごとの不正利用監視、保持、レビュー等の条件差を見落とす。
| 統制 | 対応案 |
|---|---|
| 技術 | 許可モデル・機能・オプトイン設定を管理し、採用条件に合わない保存・機能の組合せを使わせない。 |
| 契約 | 学習利用、保存、アクセス、不正利用監視、削除・例外条件を分けて確認し、実際に成立した条件だけを承認資料に載せる。 |
| 運用 | モデル追加や保持条件変更を再承認の対象とし、Web説明だけでなく適用契約・設定を保存する。 |
**確認試験・必要な証跡：** モデル別の条件表を契約原本・製品仕様・設定証跡で照合する。一般的なBedrock説明だけで全モデルを一括承認しない。  
**担当の候補：** 調達法務／クラウド管理  
**参照観点／製品仕様：** [A6][A7][A8][F2]
R21 ログ・保守経路の保護を忘れる
発生箇所：E7 ログ・保管／保守提出
シナリオ：本文ログ、通知、タグ、バックアップに秘密が残り、閲覧者や送信先を限定しない。
技術：記録内容を最小化。暗号化・閲覧分離・保存期限・安全な削除を設計する。
契約：保守提出物、再委託、保存場所、返却・削除の条件を確認する。
運用：本文保存の要否を定め、監査保全と日常の削除条件を分ける。
確認事項：通知・タグ・一時領域・サポート提出物にも禁止情報が残らないこと。
責任者候補：ログ管理／情報管理
検証状況：実機・個別契約・銀行内部規程の確認は未実施。下記は受入試験の提案であり合格結果ではない。
旧61件の対応：L15 補助AI・DLP・サポート経路だけ国外処理になる／L42 ログ・タグ・通知を新たな漏えい先にする／L60 終了時の消去・返却・証跡保全が両立しない
参考・詳細な統制案と受入試験：
**発生箇所：** S3・ログ・一時領域・サポート提出物  
**時点：** 導入・運用・終了 ／ **優先度：** A ／ **現行資料：** 保存経路の不足
**起こり得る事故：** 入力・出力・画像が監査ログやバックアップ、エラー追跡、サポート資料に複製され、過大権限・共有・削除漏れで漏えいする。
| 統制 | 対応案 |
|---|---|
| 技術 | 保存経路を全て特定し、内容最小化、閲覧制限、暗号化、保存期間・削除を設計する。機密を含む診断・サポート提出物を検査する。 |
| 契約 | 保守・サポート先の取扱い、保管・削除、事故通知、再委託の条件を確認する。 |
| 運用 | S3・ログ・端末履歴・バックアップを対象に閲覧・共有・保持を棚卸しする。 |
**確認試験・必要な証跡：** 失敗要求や画像付き要求の保存先まで追跡し、禁止保存・過大閲覧・外部サポートへの未検査転送がないことを確認する。  
**担当の候補：** ログ管理／情報管理  
**参照観点／製品仕様：** [A9][A6][F3]
[A2] AWS Bedrock クロスリージョン推論
https://docs.aws.amazon.com/bedrock/latest/userguide/cross-region-inference.html
転送先は推論プロファイルに依存。国内条件はモデル・転送先で確認。
[A3] AWS Guardrails クロスリージョン推論
https://docs.aws.amazon.com/bedrock/latest/userguide/guardrails-cross-region.html
検査処理側の地域条件も別途確認。
[A8] AWS Bedrock 不正利用検知
https://docs.aws.amazon.com/bedrock/latest/userguide/abuse-detection.html
特定モデルの保持・AWS人手レビュー等の条件を個別に確認。
[F3] 金融庁 金融分野のサイバーセキュリティガイドライン
https://www.fsa.go.jp/common/law/cybersecurity_guideline.pdf
2.1〜2.6の態勢、資産・境界、権限、防御、検知、対応・復旧、委託を参照。
[A6] AWS Bedrock データ保護
https://docs.aws.amazon.com/bedrock/latest/userguide/data-protection.html
責任共有、資格情報・ログ・メタデータの保護。
[A7] AWS Bedrock データ保持
https://docs.aws.amazon.com/bedrock/latest/userguide/data-retention.html
保持はモデル・API・設定を個別確認。学習不使用とは区別。
[F2] FISC AI安全対策の観点からの考察（2024-09-24）
https://www.fisc.or.jp/document/public/file/ai_opinion_20240924.pdf
pp.4–8の仕様・設定、情報保護、出力妥当性、態勢・教育を参照。
[A9] AWS Bedrock モデル呼出しログ
https://docs.aws.amazon.com/bedrock/latest/userguide/model-invocation-logging.html
記録されるAPI・内容・保存先を採用方式ごとに確認。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章：導入時（基盤の整備・決定・設定）／全体
対象：全体：生成・テスト・レビュー・人の判断・変更管理のつながり
対応ページ：p.23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R25 AIの相互確認を品質保証とする
発生箇所：全体｜成果物の品質
シナリオ：生成コードと生成テスト、二段階レビューが同じ誤仕様を追認しても、採用できる基準にする。
技術：独立した期待値・既知欠陥・静的解析・実テストで品質を評価する。
契約：受託成果物の品質・修補・権利条件を確認。モデルの無誤答保証としない。
運用：認可・整合性・性能・顧客影響の観点別に受入基準と確認担当を決める。
確認事項：AIが作った期待値だけでなく、人が定めた仕様・既知欠陥で評価する。
責任者候補：品質責任者／業務設計
検証状況：実機・個別契約・銀行内部規程の確認は未実施。下記は受入試験の提案であり合格結果ではない。
旧61件の対応：L31 もっともらしい誤実装を採用する／L33 二段階レビューが同じ誤りを追認する／L35 顧客処理コードに不当な条件や業務統制欠落を入れる
参考・詳細な統制案と受入試験：
**発生箇所：** 生成・テスト生成・二段階AIレビュー  
**時点：** 導入・運用 ／ **優先度：** B ／ **現行資料：** 多重AIへの過信
**起こり得る事故：** 生成コード・テスト・レビューが同じ誤解を共有し、認可漏れ、取引の二重処理、数値丸め、障害時不整合が全て通る。
| 統制 | 対応案 |
|---|---|
| 技術 | 仕様から独立したテスト期待値・静的解析・回帰評価を用いる。二段階AIレビューは別観点で行うが、独立保証とは扱わない。 |
| 契約 | 受託開発の成果物責任・検収条件・欠陥対応を維持し、AI利用を免責理由にしない。 |
| 運用 | 高リスク変更は専門者が仕様・コード・結果を照合し、見逃し率と誤指摘の傾向を確認する。 |
**確認試験・必要な証跡：** 既知欠陥を含む模擬変更で見逃し・誤指摘を測り、認可・データ整合性等の重要観点に事前の受入基準を設ける。  
**担当の候補：** 品質責任者／業務設計  
**参照観点／製品仕様：** [F2][F4][F3]
R26 承認者と確認時間を確保しない
発生箇所：全体｜人の承認と体制
シナリオ：根拠・未確認範囲を示さず、担当者に確認能力や時間がなくても人の承認で安全とする。
技術：対象版・根拠・実テスト結果・未確認事項を承認画面に提示する。
契約：レビュー委託時は担当範囲・必要能力・成果物の証拠を条件化する。
運用：必要人員と教育を確保し、承認者・専門者・代替要員を決める。
確認事項：承認者が原本・実テスト証拠を確認でき、未確認のまま通さないこと。
責任者候補：開発責任者／品質保証
検証状況：実機・個別契約・銀行内部規程の確認は未実施。下記は受入試験の提案であり合格結果ではない。
旧61件の対応：L05 確認作業を担う人員・能力が不足する／L34 人の承認が形式化し偽の根拠を見抜けない
参考・詳細な統制案と受入試験：
**発生箇所：** レビュー結果→人による採否・マージ  
**時点：** 導入・運用 ／ **優先度：** B ／ **現行資料：** 承認の実効性不足
**起こり得る事故：** 大量の生成・指摘や根拠のない無問題表示により、人が差分・未確認範囲を読まず承認し、責任だけが残る。
| 統制 | 対応案 |
|---|---|
| 技術 | 根拠箇所・確認範囲・未完了を見やすく提示し、重要変更は必要な専門承認が欠けるとマージできないようにする。 |
| 契約 | 内製・委託双方の承認権限、検収責任、必要スキルとレビュー体制を明確にする。 |
| 運用 | 生成量をレビュー能力に合わせて制御し、承認の抽出点検・教育・要員確保を行う。 |
**確認試験・必要な証跡：** 根拠欠落や未確認がある模擬結果が自動承認されず、所定の担当者へ差戻されることを確認する。  
**担当の候補：** 開発責任者／品質保証  
**参照観点／製品仕様：** [F2][F3][F4]
R27 変更と切戻しの仕組みを作らない
発生箇所：全体｜モデル・設定の変更
シナリオ：モデル・指示・Guardrail・CIの版を記録せず、更新後に品質が落ちても元へ戻せない。
技術：設定・版を管理し、検証環境・段階反映・承認版への切戻しを用意する。
契約：仕様変更・保守終了の通知範囲と、移行・修正支援を確認する。
運用：影響評価と再試験の条件を定め、緊急変更も後から追跡できるようにする。
確認事項：旧版と変更版で品質・拒否・記録を比較でき、切戻せること。
責任者候補：変更管理／モデル管理
検証状況：実機・個別契約・銀行内部規程の確認は未実施。下記は受入試験の提案であり合格結果ではない。
旧61件の対応：L49 バックアップから不正設定や誤結果を復元する／L57 モデル・検査・指示の更新で統制や品質が変わる
参考・詳細な統制案と受入試験：
**発生箇所：** モデル・プロンプト・Agent・DLP・設定更新  
**時点：** 導入・運用 ／ **優先度：** B ／ **現行資料：** モデル以外の変更対象不足
**起こり得る事故：** モデル別名の更新、指示文、変換器、Gateway、Guardrails設定、権限の変更が重なり、過去の評価結果が有効でなくなる。
| 統制 | 対応案 |
|---|---|
| 技術 | 関連構成を版付きで記録し、代表評価・回帰試験・段階適用・復元可能な設定管理を行う。 |
| 契約 | 変更・廃止・脆弱性通知、代替策、可能な予告期間を確認し、提供されない条件は残余リスクとして扱う。 |
| 運用 | 再審査条件、緊急変更、モデル廃止時の移行を定義し、固定版でも完全再現は保証しない。 |
**確認試験・必要な証跡：** 各部品の更新前後で品質・拒否・通信・証跡を比較し、不合格変更を戻せることを確認する。  
**担当の候補：** 変更管理／モデル管理  
**参照観点／製品仕様：** [F3][F4][C1][C2]
[F2] FISC AI安全対策の観点からの考察（2024-09-24）
https://www.fisc.or.jp/document/public/file/ai_opinion_20240924.pdf
pp.4–8の仕様・設定、情報保護、出力妥当性、態勢・教育を参照。
[F4] 金融庁 AIディスカッションペーパー 第1.1版
https://www.fsa.go.jp/news/r7/sonota/20260303/aidp_version1.1.pdf
AIの品質・人の関与・人材・法務等の論点を参照。一律の新規義務ではない。
[F3] 金融庁 金融分野のサイバーセキュリティガイドライン
https://www.fsa.go.jp/common/law/cybersecurity_guideline.pdf
2.1〜2.6の態勢、資産・境界、権限、防御、検知、対応・復旧、委託を参照。
[C1] Claude Code on Amazon Bedrock
https://code.claude.com/docs/en/amazon-bedrock
採用版・モデル・プロキシ経路の同時成立を実機で確認する。
[C2] Codex Configuration Reference
https://developers.openai.com/codex/config-reference
採用モデル・APIと統制経路の結合試験が必要。経路は本資料で確定しない。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章：導入時（基盤の整備・決定・設定）／全体
対象：全体：個人・チーム・ジョブの合計負荷と、業務を止めない仕組み
対応ページ：p.24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R28 通知だけで予算上限を保証する
発生箇所：全体｜予算・課金・配賦
シナリオ：並列呼出しや応答不明を考慮せず、残予算を重複使用する。検査・ログ等の費用も漏らす。
技術：呼出前に排他的に予算確保。未確定額を保留し、応答後に一度だけ精算。
契約：推論以外の課金、価格変更、容量契約、取消時の課金条件を確認する。
運用：上限対象を定め、個人・チーム・ジョブの台帳とAWS請求を突合する。
確認事項：並列・切断・再試行・取消でも過大解放せず、総費用との差を説明できること。
責任者候補：Gateway／費用管理
検証状況：実機・個別契約・銀行内部規程の確認は未実施。下記は受入試験の提案であり合格結果ではない。
旧61件の対応：L51 並列呼出で同じ残予算を二重使用する／L52 応答不明・取消時の精算で予算を過大解放する／L54 AWS請求を個人・チーム・ジョブへ正しく配賦できない／L55 モデル料金以外や価格変更で総額を超える
参考・詳細な統制案と受入試験：
**発生箇所：** Gateway予算管理・各ジョブ  
**時点：** 導入・運用 ／ **優先度：** A ／ **現行資料：** 会計と実行制御の混同
**起こり得る事故：** 複数要求が同じ残高を参照し、取消・再試行中も課金が進む。モデル以外の検査・保存等の費用が集計から抜ける。
| 統制 | 対応案 |
|---|---|
| 技術 | 対象費用を定義し、呼出し前の最大見込額を原子的に確保、応答後に精算する。不明な請求は保守的に保持し、同時実行・出力上限も課す。 |
| 契約 | 単価、課金単位、取消・失敗時課金、変更条件、請求明細の取得可能範囲を確認する。 |
| 運用 | 内部利用台帳と請求を突合し、予算対象外のAWS費用を別管理する。AWS総請求額の絶対上限とは表現しない。 |
**確認試験・必要な証跡：** 残高付近で並列・再試行・取消・応答欠落を起こして、事前確保の範囲外に新規呼出しを発行しないことを確認する。  
**担当の候補：** Gateway／費用管理  
**参照観点／製品仕様：** [A10][A9][F3]
R29 重複・連鎖実行の上限を設けない
発生箇所：全体｜ジョブ・共有資源
シナリオ：大量MR、投稿イベント、子エージェント、再試行が相互に増幅し、全チームの資源を奪う。
技術：重複防止キー、最新対象のみ実行、反復・再試行上限、チーム別枠を設ける。
契約：サービスの処理容量・レート制限・増枠支援を確認する。
運用：利用枠と優先度を決め、異常ジョブだけを止める手順を用意する。
確認事項：一部チームの大量要求や投稿再帰でも、他チームの利用を維持できること。
責任者候補：CI／性能管理
検証状況：実機・個別契約・銀行内部規程の確認は未実施。下記は受入試験の提案であり合格結果ではない。
旧61件の対応：L53 ループ・大量MR・長大入力で資源を占有する
参考・詳細な統制案と受入試験：
**発生箇所：** Agent・MRイベント・キュー・共有クォータ  
**時点：** 導入・運用 ／ **優先度：** A ／ **現行資料：** 負荷隔離の不足
**起こり得る事故：** コメント起点の再実行、同一変更の重複、長い再試行が増幅し、他チームのレビューや通常開発も滞留する。
| 統制 | 対応案 |
|---|---|
| 技術 | イベント起点と結果投稿を識別し、冪等キー・最新対象だけの実行・再試行上限・チーム別同時実行枠・公平なキューを設ける。 |
| 契約 | サービス上限、容量・レート制限と支援範囲を確認し、SLAで処理容量まで保証されるとは扱わない。 |
| 運用 | キュー長・待ち時間・重複率を監視し、異常利用者・ジョブだけを止められるようにする。 |
**確認試験・必要な証跡：** 重複イベントと一部チームの大量要求で、無限再帰が起きず他チームの許容待ち時間を維持できるか確認する。  
**担当の候補：** CI／性能管理  
**参照観点／製品仕様：** [F3][A10]
R30 モデル以外の停止要因を見落とす
発生箇所：全体｜業務継続と復旧
シナリオ：IdP・DNS・回線・鍵・DLP・資料保管の停止や既存設備の統制継承を評価せず導入する。
技術：依存先と単一障害点を整理。正常なバックアップと国内条件を満たす復旧を設計。
契約：障害通知・復旧支援・データ取出し・代替利用の条件を確認する。
運用：業務影響・復旧目標・非AI代替要員を決め、設備・暗号等の既存統制を確認する。
確認事項：回線・認証・鍵・検査停止と復元でも、未審査経路へ逃げず復旧できること。
責任者候補：運用責任者／BCP担当
検証状況：実機・個別契約・銀行内部規程の確認は未実施。下記は受入試験の提案であり合格結果ではない。
旧61件の対応：L46 モデル以外の単一点で開発・レビューが止まる／L47 障害時の代替運用が未審査で安全条件を壊す／L49 バックアップから不正設定や誤結果を復元する／L50 既存インフラの統制を引き継いだと思い込む／L59 サービス停止・条件変更から退出できない
参考・詳細な統制案と受入試験：
**発生箇所：** IdP・DNS・回線・Gateway・KMS・保存・Bedrock  
**時点：** 導入・運用 ／ **優先度：** A ／ **現行資料：** 依存先と代替手順の不足
**起こり得る事故：** 認証、DNS、証明書、暗号鍵、監査保存等の停止で業務が止まり、無検査経路へ逃げるか、未レビュー変更を本番へ出す。
| 統制 | 対応案 |
|---|---|
| 技術 | 依存関係と単一障害点、国内条件を満たす復旧・バックアップを設計する。安全を維持した手動代替を用意する。 |
| 契約 | 障害通知、復旧支援、停止・終了条件、データ取出し、代替サービスへの移行条件を確認する。 |
| 運用 | 影響する重要業務・復旧目標・許容停止を定め、非AIのレビュー要員と復元試験を確保する。 |
**確認試験・必要な証跡：** 各依存先の停止と復元を訓練し、未完了の明示、承認済み代替、正常復帰時の整合まで確認する。  
**担当の候補：** 運用責任者／BCP担当  
**参照観点／製品仕様：** [F3][F4][A1]
[A10] AWS Budgets
https://docs.aws.amazon.com/cost-management/latest/userguide/budgets-managing-costs.html
集計・通知に遅延。呼出前の厳密な上限制御とは区別。
[A9] AWS Bedrock モデル呼出しログ
https://docs.aws.amazon.com/bedrock/latest/userguide/model-invocation-logging.html
記録されるAPI・内容・保存先を採用方式ごとに確認。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
[A1] AWS Bedrock VPCエンドポイント
https://docs.aws.amazon.com/bedrock/latest/userguide/vpc-interface-endpoints.html
PrivateLinkは私設接続。Gateway経由の強制は認可・通信設計で別途実現。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章：導入時（基盤の整備・決定・設定）／全体
対象：全体：検知→停止→調査→報告→復旧を複数部門・委託先で実施
対応ページ：p.25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R31 各所のログをつなぐ設計がない
発生箇所：全体｜端末→AWS→承認の証跡
シナリオ：暗号化ログはあっても、利用者・対象版・モデル・ツール操作・投稿・承認を追跡できない。
技術：共通IDと時刻で結合。記録欠落・改ざんを検知し、監査権限を分離する。
契約：必要な記録の提供・保全・監査対応・削除分担を確認する。
運用：必要証跡と保存期間を決め、全文保存とメタデータ保存を区別する。
確認事項：任意ジョブを参照原本から承認まで追跡し、欠落・削除も検知できること。
責任者候補：監査ログ管理／内部監査
検証状況：実機・個別契約・銀行内部規程の確認は未実施。下記は受入試験の提案であり合格結果ではない。
旧61件の対応：L20 管理者が単独で防御と証跡を解除できる／L41 誰が何を使って判断したか追跡できない／L43 改ざん・時刻ずれ・鍵喪失で証跡を失う
参考・詳細な統制案と受入試験：
**発生箇所：** Gateway・GitLab・AWS→監査保管  
**時点：** 導入・運用 ／ **優先度：** A ／ **現行資料：** 相関・改ざん対策の不足
**起こり得る事故：** 入力の出所、対象版、実行主体、モデル、指示版、実行・投稿・承認がつながらず、管理者による削除や欠落も検出できない。
| 統制 | 対応案 |
|---|---|
| 技術 | 端末／CI／Gatewayの相関IDと時刻、対象版、判定・ツール操作を記録する。監査権限を分離し、必要な保持・改ざん防止と欠落検知を設計する。 |
| 契約 | 証跡提供、保全、当局・監査対応、保持と削除の役割を確認する。 |
| 運用 | 全文保存を一律要求せず、必要な監査メタデータと保全対象内容を分ける。ハッシュだけで内容復元できるとはしない。 |
**確認試験・必要な証跡：** 任意ジョブを入力版から承認まで追跡し、ログ停止・削除・時計ずれが検知されることを確認する。  
**担当の候補：** 監査ログ管理／内部監査  
**参照観点／製品仕様：** [A9][F3]
R32 新規推論だけを止める設計にする
発生箇所：全体｜緊急停止・再開
シナリオ：停止ボタンがあっても、実行中ジョブ・子プロセス・発行済み権限・キューが動き続ける。
技術：要求拒否・資格情報遮断・キュー停止・子処理終了を連動させる。
契約：緊急隔離・停止・調査協力の実行主体と連絡先を定める。
運用：停止権限・発動条件・証拠保全・再開承認を定め、実動訓練する。
確認事項：稼働中の親子ジョブと既存セッションも停止し、勝手に再開しないこと。
責任者候補：CSIRT／運用責任者
検証状況：実機・個別契約・銀行内部規程の確認は未実施。下記は受入試験の提案であり合格結果ではない。
旧61件の対応：L18 失効したはずの資格情報を継続利用できる／L25 記憶・サブエージェントに不正指示が残る／L48 停止指示後も子プロセスや既発行権限が動く
参考・詳細な統制案と受入試験：
**発生箇所：** 利用者・資格情報・キュー・稼働Agent  
**時点：** 導入・運用 ／ **優先度：** A ／ **現行資料：** 緊急停止の未記載
**起こり得る事故：** アカウントや新規推論だけを止めても、発行済みセッション、既存接続、キュー、ローカル子プロセスが処理を継続する。
| 統制 | 対応案 |
|---|---|
| 技術 | 新規要求拒否、資格情報の無効化又は到達遮断、キュー停止、稼働プロセス終了を連動させる。停止後の再起動も管理する。 |
| 契約 | 緊急停止・隔離・調査協力を行う主体と連絡先を、運用委託・サポート条件に定める。 |
| 運用 | 停止権限と発動条件、再開承認を決め、業務影響と証拠保全を両立させる。 |
**確認試験・必要な証跡：** 稼働中ジョブと失効前の模擬セッションを用い、停止後に新規送信・ツール操作・自動再開が継続しないことを確認する。  
**担当の候補：** CSIRT／運用責任者  
**参照観点／製品仕様：** [F3][G2][G1]
R33 事故判断と連絡体制を決めない
発生箇所：全体｜検知・調査・報告
シナリオ：提供者の通知待ちになり、漏えい疑いの検知・封じ込め・当局報告等を誰も判断できない。
技術：不正操作・検査停止・大量利用・ログ欠落を検知し、対象を抽出可能にする。
契約：事故通知・再委託先連絡・証拠保全・調査協力の実条件を確認する。
運用：CSIRT・法務・情報管理の判断担当と、適用する報告手順を整える。
確認事項：模擬事故で、発見→停止→影響特定→報告判断まで責任者が動けること。
責任者候補：CSIRT／法務・個人情報保護
検証状況：実機・個別契約・銀行内部規程の確認は未実施。下記は受入試験の提案であり合格結果ではない。
旧61件の対応：L45 漏えい疑いへの封じ込め・報告が遅れる
参考・詳細な統制案と受入試験：
**発生箇所：** 監視→CSIRT→法務・当局等  
**時点：** 導入・運用 ／ **優先度：** A ／ **現行資料：** 事故後の実務不足
**起こり得る事故：** 提供者からの通知待ち、ログ不足、連絡先不備により、影響範囲の把握、封じ込め、必要な当局報告・本人通知が遅れる。
| 統制 | 対応案 |
|---|---|
| 技術 | 漏えい・不正操作・検査停止・大量利用・ログ欠落を検知し、対象ジョブ・資料・宛先を迅速に抽出できるようにする。 |
| 契約 | 事故通知、調査協力、証拠保全、再委託先との連絡、報告に必要な情報の提供を確認する。 |
| 運用 | 銀行の報告主体を明確にし、法務・個人情報保護・CSIRTが対象と適用期限を判定する訓練を行う。 |
**確認試験・必要な証跡：** 模擬漏えいで発見から封じ込め、影響特定、報告判断、再発防止までの手順・所要時間・記録を検証する。  
**担当の候補：** CSIRT／法務・個人情報保護  
**参照観点／製品仕様：** [F3][P2]
[A9] AWS Bedrock モデル呼出しログ
https://docs.aws.amazon.com/bedrock/latest/userguide/model-invocation-logging.html
記録されるAPI・内容・保存先を採用方式ごとに確認。
[F3] 金融庁 金融分野のサイバーセキュリティガイドライン
https://www.fsa.go.jp/common/law/cybersecurity_guideline.pdf
2.1〜2.6の態勢、資産・境界、権限、防御、検知、対応・復旧、委託を参照。
[G2] GitLab Runner Security
https://docs.gitlab.com/runner/security/
任意コード実行・共有ホスト・特権・資格情報のリスク。
[G1] GitLab AWS OIDC
https://docs.gitlab.com/ci/cloud_services/aws/
非公開GitLabの発行者・署名鍵の到達性と保護、信頼条件が必要。
[P2] 個人情報保護委員会 漏えい等の対応
https://www.ppc.go.jp/personalinfo/legal/leakAction/
報告・本人通知の対象と期限は法務等が個別に確認。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章：導入時（基盤の整備・決定・設定）／全体
対象：全体：銀行としての承認・法務判断・委託管理・安全な利用終了
対応ページ：p.26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R34 根拠なく導入を承認する
発生箇所：全体｜導入承認・責任分担
シナリオ：FISCへの適合や既存統制を確認せず、残存リスクの責任者も不在のまま機密利用を始める。
技術：特権・設定変更・監査を分離。資産・例外・確認証拠を台帳に結合する。
契約：委託先の担当範囲・管理権限・監査協力を実契約で確認する。
運用：銀行の受容権限と独立牽制を定め、基準本文・内部規程・継承統制を照合する。
確認事項：未確認を適合済みとせず、未充足事項に責任者・期限・判断があること。
責任者候補：業務責任者／リスク管理／内部監査
検証状況：実機・個別契約・銀行内部規程の確認は未実施。下記は受入試験の提案であり合格結果ではない。
旧61件の対応：L01 残存リスクを誰も引き受けない／L02 FISC等への適合を根拠なく説明する／L05 確認作業を担う人員・能力が不足する／L20 管理者が単独で防御と証跡を解除できる／L50 既存インフラの統制を引き継いだと思い込む／L58 事業者の認証・監査報告を自社設定の安全証拠と誤認する
参考・詳細な統制案と受入試験：
**発生箇所：** 全体ガバナンス・導入判定・例外管理  
**時点：** 導入・運用 ／ **優先度：** A ／ **現行資料：** 責任の具体化不足
**起こり得る事故：** 開発部門だけで許可範囲・例外を拡大し、管理者が安全設定・予算・証跡を一括変更できる。誰も残るリスクを引き受けない。
| 統制 | 対応案 |
|---|---|
| 技術 | 台帳、役割分離、設定変更・例外の記録、期限付き許可を整備する。既存の資産・特権・物理・委託統制の適用も確認する。 |
| 契約 | 委託先の担当範囲・権限・監査協力を定めるが、社内の利用規程・教育・承認は運用統制へ分類する。 |
| 運用 | リスク所有者、受容権限、二線の牽制・三線の監査、開始条件、利用停止条件を定める。 |
**確認試験・必要な証跡：** 重大な未確認事項があると導入判定を通らず、例外には承認者・期限・代替策・再審査が残ることを確認する。  
**担当の候補：** 業務責任者／リスク管理／内部監査  
**参照観点／製品仕様：** [F1][F2][F3][F4]
R35 資料と成果物の利用条件を確認しない
発生箇所：全体｜利用範囲・法務・知財
シナリオ：第三者コード・個人データ・OSSの条件を確認せず採用し、開発支援の承認を本番判断へ流用する。
技術：許可資料・用途を限定。依存物と生成成果物のライセンスを確認する。
契約：秘密保持・個人データ・知財・OSS・成果物利用の条件を個別審査する。
運用：法務と利用範囲を承認。本番操作・顧客自動判断への拡大は追加審査する。
確認事項：入力権限と成果物の利用条件を示せ、対象外用途が無承認で始まらないこと。
責任者候補：法務／情報管理／業務責任者
検証状況：実機・個別契約・銀行内部規程の確認は未実施。下記は受入試験の提案であり合格結果ではない。
旧61件の対応：L03 開発支援の承認を本番・顧客判断に流用する／L04 第三者のコード・設計資料を無断利用する／L35 顧客処理コードに不当な条件や業務統制欠落を入れる
参考・詳細な統制案と受入試験：
**発生箇所：** 資料・生成コード・業務への適用  
**時点：** 導入・変更・運用 ／ **優先度：** A ／ **現行資料：** 横断注記だけでは不足
**起こり得る事故：** 第三者コード・設計書の利用許諾、個人データの取扱い、秘密保持、OSS条件を確認せず入力・配布する。開発支援を顧客判断へ拡大する。
| 統制 | 対応案 |
|---|---|
| 技術 | 持込資料の分類・アクセス制限、依存物と成果物のライセンス確認を行い、未承認用途・データを利用させない。 |
| 契約 | 個人情報・秘密保持・データ利用・知財・OSS・責任分担を実際の用途と契約条件で審査する。外国法域や個別制度の適用も個別確認する。 |
| 運用 | 法務・コンプライアンスの審査を組み込み、対顧客判断や公平性が関わる用途への拡大は追加評価する。 |
**確認試験・必要な証跡：** 入力権限と成果物利用条件を追跡でき、禁止資料・用途拡大が承認なしに開始されないことを確認する。  
**担当の候補：** 法務／情報管理／業務責任者  
**参照観点／製品仕様：** [F2][F4][P1]
R36 希望する契約条件を確保済みとする
発生箇所：全体｜委託管理・終了・移行
シナリオ：監査・通知・地域・削除の条件が不足し、提供終了時の代替やデータ返却も決めず採用する。
技術：依存先を台帳化。資料・設定・証跡の移行と安全な終了・削除を設計する。
契約：責任分界・再委託・監査・事故通知・変更・終了・削除の実条件を確認する。
運用：不足条件と集中依存を評価し、代替・非AI運用・退出計画を承認する。
確認事項：未確保条項を隠さず判断し、必要情報を取り出して安全に移行できること。
責任者候補：調達法務／委託先管理／業務責任者
検証状況：実機・個別契約・銀行内部規程の確認は未実施。下記は受入試験の提案であり合格結果ではない。
旧61件の対応：L55 モデル料金以外や価格変更で総額を超える／L56 契約の希望条件を確保済みとして扱う／L59 サービス停止・条件変更から退出できない／L60 終了時の消去・返却・証跡保全が両立しない
参考・詳細な統制案と受入試験：
**発生箇所：** AWS・モデル・Gateway等の供給者  
**時点：** 導入・運用・終了 ／ **優先度：** A ／ **現行資料：** 監査権・終了管理の不足
**起こり得る事故：** 監査・変更通知・データ削除等の希望条件が契約に存在しない。サービス停止・モデル廃止・供給者集中時に代替・退出できない。
| 統制 | 対応案 |
|---|---|
| 技術 | 依存台帳、設定・資料・評価・証跡の移行性を確保し、必要な代替や非AI手段を検証する。再委託等の実体を整理する。 |
| 契約 | 契約原本で監査・当局対応・事故通知・処理地域・再委託・変更・終了・削除を確認する。交渉不能な不足は成立済みとせず残余リスクとして扱う。 |
| 運用 | 定期的な委託先評価、終了・移行演習、重要な依存の集中度と維持費を確認する。 |
**確認試験・必要な証跡：** 必要な成果物・証跡を取出して代替又は手動運用へ移れることを確認し、未充足条項には受容判断があることを確認する。  
**担当の候補：** 調達法務／委託先管理／業務責任者  
**参照観点／製品仕様：** [F3][F4][A6][A7]
[F1] FISC 安全対策基準・解説書 第14版 公表案内
https://www.fisc.or.jp/topics/007222.php
公表・改訂内容を確認。基準本文の逐条照合は未実施。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
[P1] 個人情報保護委員会 クラウド取扱い Q7-53
https://www.ppc.go.jp/all_faq_index/faq1-q7-53/
第三者提供・委託等は契約と取扱いの実態で個別判断。
[A6] AWS Bedrock データ保護
https://docs.aws.amazon.com/bedrock/latest/userguide/data-protection.html
責任共有、資格情報・ログ・メタデータの保護。
[A7] AWS Bedrock データ保持
https://docs.aws.amazon.com/bedrock/latest/userguide/data-retention.html
保持はモデル・API・設定を個別確認。学習不使用とは区別。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章：導入後（基盤の実利用・維持・事故対応）／構成要素・境界
対象：E1 開発者端末・AIエージェント　E3 専用Runner　B1 参照・実行
対応ページ：p.3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R03 前の案件の情報が混ざる
発生箇所：E1 端末／E3 Runner
シナリオ：再利用したセッションや子エージェント、復元キャッシュに他案件の内容が残る。
技術：権限境界を越える状態再利用を拒否。汚染した履歴・派生物を隔離する。
契約：保守時のデータ再利用禁止・削除義務の履行を確認する。
運用：作業領域の残存と案件切替を点検。異動・終了時に利用権限も失効する。
確認事項：履歴・キャッシュ・子エージェント・復元後の案件混入を点検する。
責任者候補：基盤担当／情報管理
検証状況：実機・個別契約・銀行内部規程の確認は未実施。下記は受入試験の提案であり合格結果ではない。
旧61件の対応：L07 許可リポジトリ以外の情報を読み込む／L25 記憶・サブエージェントに不正指示が残る／L30 共有ホスト・成果物経由で分離を越える／L44 共有キャッシュ・成果物に案件情報が残る／L60 終了時の消去・返却・証跡保全が両立しない
参考・詳細な統制案と受入試験：
**発生箇所：** 端末・Runner・Gateway・一時領域  
**時点：** 導入・運用 ／ **優先度：** A ／ **現行資料：** 未記載
**起こり得る事故：** 他案件のセッション、作業ディレクトリ、変換物、共有キャッシュ、復元後の履歴が次の利用者へ混入する。
| 統制 | 対応案 |
|---|---|
| 技術 | 利用者・プロジェクト・ジョブ・情報区分で状態を分離する。再利用キャッシュは原則同一権限範囲に限定し、作業領域を破棄する。 |
| 契約 | 保守事業者の一時保存・再利用・バックアップ・終了時削除の条件を確認する。 |
| 運用 | 退職・異動、ジョブ失敗、途中停止、復元を含む消去・失効を点検する。 |
**確認試験・必要な証跡：** 権限の異なる模擬2案件を連続実行し、履歴・キャッシュ・成果物に相手の情報が出ないことを確認する。  
**担当の候補：** 基盤担当／情報管理  
**参照観点／製品仕様：** [F3][A6][A7][G2]
R10 資料内の命令に操作を乗っ取られる
発生箇所：B1 資料・ツール→Agent
シナリオ：READMEや設計書の誘導で、別ファイル探索・外部送信・レビュー省略を実行する。
技術：許可外操作を拒否。不正指示が残る履歴・子エージェントを隔離する。
契約：製品側の弱点は提供者へ報告し、修正・回避策の提供を求める。
運用：誘導があった資料・セッションを調査し、類似資料の影響を確認する。
確認事項：指示変更・不自然な探索・許可外ツール実行の拒否記録を確認する。
責任者候補：Agent担当／セキュリティ
検証状況：実機・個別契約・銀行内部規程の確認は未実施。下記は受入試験の提案であり合格結果ではない。
旧61件の対応：L21 文書内の命令で目的を乗っ取られる／L25 記憶・サブエージェントに不正指示が残る
参考・詳細な統制案と受入試験：
**発生箇所：** コード・設計書・検索結果→Agent  
**時点：** 導入・運用 ／ **優先度：** A ／ **現行資料：** 対策の過信
**起こり得る事故：** コメントや資料、リポジトリの指示ファイル、ツール応答に含まれる命令を優先し、探索範囲や送信・実行先を変更する。
| 統制 | 対応案 |
|---|---|
| 技術 | 信頼する指示と参照データを分離し、OS・ファイル・ツール・通信の権限で被害を限定する。モデル判定のみを境界にしない。 |
| 契約 | エージェント製品の安全機能、脆弱性通知、サポート責任を確認する。契約のみで攻撃を防げるとは扱わない。 |
| 運用 | 実資料を模した誘導テストを更新し、危険操作は実行前承認を求める。 |
**確認試験・必要な証跡：** 模擬誘導文があっても権限外ファイル参照、通信、書込みが成立せず、拒否が記録されることを確認する。  
**担当の候補：** Agent担当／セキュリティ  
**参照観点／製品仕様：** [F2][F3][G2]
R11 ビルドやテストが誤操作を起こす
発生箇所：E1／E3→実行環境・API
シナリオ：生成スクリプトや依存処理が、ファイル削除・更新API・ホスト操作を実行する。
技術：実行先・引数・権限を確認して拒否。被害を当該作業領域内に限定する。
契約：委託先の無承認本番作業を禁止し、事故時の調査・復旧協力を確認する。
運用：意図しない処理を停止し、変更データ・実行先を確認して復旧する。
確認事項：禁止コマンド名だけでなく、子処理・更新先・実際の権限を監視する。
責任者候補：開発基盤／本番管理
検証状況：実機・個別契約・銀行内部規程の確認は未実施。下記は受入試験の提案であり合格結果ではない。
旧61件の対応：L22 許可コマンドの内側から制約を越える／L23 更新APIや本番コマンドを誤実行する／L38 Runner・ホスト・コンテナの欠陥で隔離を破られる
参考・詳細な統制案と受入試験：
**発生箇所：** 端末・Runnerのツール実行  
**時点：** 導入・運用 ／ **優先度：** A ／ **現行資料：** 具体化不足
**起こり得る事故：** 許可されたビルド・テストがスクリプトを実行し、本番接続設定、ホスト管理口、ソケット等に到達して削除・更新を行う。
| 統制 | 対応案 |
|---|---|
| 技術 | 本番資格情報を持たせず、対象環境を認可する。非特権の使い捨て実行環境でホスト管理接続・不要なマウント・更新系APIを遮断する。 |
| 契約 | 構築・保守の実行可能範囲と本番作業の承認条件を契約で明確化する。 |
| 運用 | 導入支援は手順・設定生成を基本とし、未承認の本番自動反映へ拡張しない。 |
**確認試験・必要な証跡：** 模擬更新コマンド・本番宛通信・ホスト管理操作が拒否され、許可した検証環境内のビルドだけが動くことを確認する。  
**担当の候補：** 開発基盤／本番管理  
**参照観点／製品仕様：** [G2][F3]
[F3] 金融庁 金融分野のサイバーセキュリティガイドライン
https://www.fsa.go.jp/common/law/cybersecurity_guideline.pdf
2.1〜2.6の態勢、資産・境界、権限、防御、検知、対応・復旧、委託を参照。
[A6] AWS Bedrock データ保護
https://docs.aws.amazon.com/bedrock/latest/userguide/data-protection.html
責任共有、資格情報・ログ・メタデータの保護。
[A7] AWS Bedrock データ保持
https://docs.aws.amazon.com/bedrock/latest/userguide/data-retention.html
保持はモデル・API・設定を個別確認。学習不使用とは区別。
[G2] GitLab Runner Security
https://docs.gitlab.com/runner/security/
任意コード実行・共有ホスト・特権・資格情報のリスク。
[F2] FISC AI安全対策の観点からの考察（2024-09-24）
https://www.fisc.or.jp/document/public/file/ai_opinion_20240924.pdf
pp.4–8の仕様・設定、情報保護、出力妥当性、態勢・教育を参照。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章：導入後（基盤の実利用・維持・事故対応）／構成要素・境界
対象：E1・E3 ソフトウェア　E4 コード・設計資料　B1 参照・取得
対応ページ：p.4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R12 更新・依存物から侵害される
発生箇所：E1／E3／E4 ソフト供給元
シナリオ：悪性パッケージや脆弱な変換処理が入り、端末・Runner・成果物を汚染する。
技術：部品と更新の検査、版固定、感染検知。影響する配布物・ジョブを止める。
契約：提供者へ修正・影響情報を求め、保守終了時は代替を判断する。
運用：脆弱性を追跡し、緊急更新も試験・承認・切戻しを実施する。
確認事項：更新差分・配布物の整合性・依存物の新規取得・変換異常を確認する。
責任者候補：開発基盤／脆弱性管理
検証状況：実機・個別契約・銀行内部規程の確認は未実施。下記は受入試験の提案であり合格結果ではない。
旧61件の対応：L36 Agent・拡張・MCPの更新で悪性機能が入る／L37 依存パッケージや取得先から悪性コードを導入する／L38 Runner・ホスト・コンテナの欠陥で隔離を破られる／L39 設計書の変換処理自体から侵害される
参考・詳細な統制案と受入試験：
**発生箇所：** Agent・MCP・依存パッケージ・変換器  
**時点：** 導入・運用 ／ **優先度：** A ／ **現行資料：** 未記載
**起こり得る事故：** 依存パッケージ、プラグイン、イメージ、変換ライブラリや自動更新に悪性処理・脆弱性が入り、隔離先や成果物が汚染される。
| 統制 | 対応案 |
|---|---|
| 技術 | 承認済み配布元・版固定・署名／整合性確認・依存物検査を行う。変換器を非特権・通信制限・資源制限下で実行する。 |
| 契約 | 脆弱性通知・修正支援、配布物の由来、OSS利用条件、終了時サポートを調達時に確認する。 |
| 運用 | 部品表と更新台帳を維持し、緊急パッチも試験・承認・ロールバック対象にする。 |
**確認試験・必要な証跡：** 未承認依存物と更新を拒否でき、既知の安全な異常ファイルで変換失敗が隔離範囲に留まることを確認する。  
**担当の候補：** 開発基盤／脆弱性管理  
**参照観点／製品仕様：** [F3][G2]
R16 古い・別案件の資料で判断する
発生箇所：E4 資料／B1 参照範囲
シナリオ：設計書更新漏れや取得範囲の誤りで、実装と一致しない仕様を根拠にレビューする。
技術：取得時の権限・版・ハッシュを照合し、対象外資料を使わせない。
契約：提供資料の更新・訂正と利用範囲について契約条件を確認する。
運用：変更と文書改訂を突合。重要仕様の未確認は担当者が原本で補う。
確認事項：参照原本・シート位置・資料版を結果から追跡する。
責任者候補：設計責任者／文書管理
検証状況：実機・個別契約・銀行内部規程の確認は未実施。下記は受入試験の提案であり合格結果ではない。
旧61件の対応：L07 許可リポジトリ以外の情報を読み込む
参考・詳細な統制案と受入試験：
**発生箇所：** 正本資料→取得・検索・参照  
**時点：** 導入・運用 ／ **優先度：** A ／ **現行資料：** 正本・範囲が未確定
**起こり得る事故：** コードSHAと合わない設計書や別案件資料を参照し、誤った仕様や変更影響を正しいものとして報告する。
| 統制 | 対応案 |
|---|---|
| 技術 | 正本、取得権限、版マニフェスト、対象ハッシュを固定し、資料不足を明示する。全文取得ではなく許可範囲を限定する。 |
| 契約 | 文書の取扱権限、提供版、更新責任、第三者資料の利用許諾を確認する。 |
| 運用 | 設計資料の更新責任者を定め、コード変更と文書改訂の対応を点検する。 |
**確認試験・必要な証跡：** 古い版・欠落版・他案件資料を混ぜても拒否又は未確認として残り、正本と原本位置を追跡できることを確認する。  
**担当の候補：** 設計責任者／文書管理  
**参照観点／製品仕様：** [F2][F3]
R17 加工後の誤った意味でレビューする
発生箇所：E4 資料変換／E5 加工
シナリオ：図や注記の欠落、異なる識別子の同一置換により、認可条件・数値を取り違える。
技術：原本との差分・変換警告・置換対応を残し、不確かな箇所を限定表示する。
契約：製品の非対応・不具合を確認し、修正や回避策を求める。
運用：重要条件を人が原本照合。変換器・検査ルール変更後に再評価する。
確認事項：検知率だけでなく、原本の意味と参照位置の保持を確認する。
責任者候補：文書変換／設計責任者
検証状況：実機・個別契約・銀行内部規程の確認は未実施。下記は受入試験の提案であり合格結果ではない。
旧61件の対応：L32 資料変換・検索の欠落で仕様を取り違える／L39 設計書の変換処理自体から侵害される／L61 DLPの置換・誤検知でレビュー対象の意味が変わる
参考・詳細な統制案と受入試験：
**発生箇所：** Excel変換・画像抽出・入力加工  
**時点：** 導入・運用 ／ **優先度：** B ／ **現行資料：** 変換精度の具体化不足
**起こり得る事故：** 結合セル、式、図、注釈の欠落や識別子の過剰置換により、認可条件・数値・依存関係の意味が変わる。
| 統制 | 対応案 |
|---|---|
| 技術 | 原本と抽出物の対応を保存し、変換不能部分・欠落を検出する。マスクの衝突を防ぎ、解析対象の意味が保持されることを検証する。 |
| 契約 | 変換・検査製品の精度保証範囲と非対応形式を明示し、全形式対応を前提にしない。 |
| 運用 | 重要図表・計算条件は人が原本で確認し、変換器変更時に代表資料を再評価する。 |
**確認試験・必要な証跡：** 代表Excelの式・図表・非表示領域・注記について抽出範囲と意味を原本照合する。未読部分をレビュー済みとしない。  
**担当の候補：** 文書変換／設計責任者  
**参照観点／製品仕様：** [F2][F4]
[F3] 金融庁 金融分野のサイバーセキュリティガイドライン
https://www.fsa.go.jp/common/law/cybersecurity_guideline.pdf
2.1〜2.6の態勢、資産・境界、権限、防御、検知、対応・復旧、委託を参照。
[G2] GitLab Runner Security
https://docs.gitlab.com/runner/security/
任意コード実行・共有ホスト・特権・資格情報のリスク。
[F2] FISC AI安全対策の観点からの考察（2024-09-24）
https://www.fisc.or.jp/document/public/file/ai_opinion_20240924.pdf
pp.4–8の仕様・設定、情報保護、出力妥当性、態勢・教育を参照。
[F4] 金融庁 AIディスカッションペーパー 第1.1版
https://www.fsa.go.jp/news/r7/sonota/20260303/aidp_version1.1.pdf
AIの品質・人の関与・人材・法務等の論点を参照。一律の新規義務ではない。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章：導入後（基盤の実利用・維持・事故対応）／構成要素・境界
対象：E2 GitLab　E3 専用Runner　B5 レビュー結果→投稿・承認
対応ページ：p.5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R13 MR変更でレビューを無効化される
発生箇所：E2 GitLab／E3 CI制御
シナリオ：CI定義や指示文の書換えにより、検査が省かれたり秘密が出力されたりする。
技術：保護版と実行版の一致を検証し、不審な制御変更・起動を拒否する。
契約：保守委託先の変更承認・記録の履行を確認する。
運用：CI変更は別レビュー。無許可変更があった結果を失効し再実行する。
確認事項：制御版の不一致、保護設定の解除、未承認の起動条件を確認する。
責任者候補：GitLab管理／開発品質
検証状況：実機・個別契約・銀行内部規程の確認は未実施。下記は受入試験の提案であり合格結果ではない。
旧61件の対応：L26 MRの変更でレビュー用制御を改ざんする
参考・詳細な統制案と受入試験：
**発生箇所：** MR→CI定義・指示文・起動条件  
**時点：** 導入・運用 ／ **優先度：** A ／ **現行資料：** 保護対象の不足
**起こり得る事故：** 対象MRからCI定義、レビュー指示、呼出スクリプトを変更し、検査を削除・省略したり秘密を出力したりする。
| 統制 | 対応案 |
|---|---|
| 技術 | 信頼する制御側と審査対象を分け、CI・指示・実行イメージを保護して版固定する。起動する対象とパイプライン種別も検証する。 |
| 契約 | CI変更の責任・承認・レビュー主体の独立を構築保守契約に反映する。 |
| 運用 | 保護CIに接続できないMRを安易な権限緩和で救済しない。専用起動経路を定義する。 |
**確認試験・必要な証跡：** MRから制御ファイルを改変しても保護版が使われ、審査対象側が秘密を取得できないことを確認する。  
**担当の候補：** GitLab管理／開発品質  
**参照観点／製品仕様：** [G2][G3][F3]
R14 古い合格で新しい変更が通る
発生箇所：B5 レビュー→投稿・マージ
シナリオ：確認済みSHAとは別のコードや設計資料が、成功コメントを根拠に承認・マージされる。
技術：更新を検知して合格を失効。投稿時・マージ直前の対象一致を強制する。
契約：対象変更に伴う再レビューと、受託成果物の訂正を求める。
運用：承認者が対象版を確認し、合格後の変更は再レビューへ戻す。
確認事項：レビュー結果とマージ対象のSHA・比較元・資料版の一致を確認する。
責任者候補：GitLab管理／品質責任者
検証状況：実機・個別契約・銀行内部規程の確認は未実施。下記は受入試験の提案であり合格結果ではない。
旧61件の対応：L27 確認した版とマージする版が違う
参考・詳細な統制案と受入試験：
**発生箇所：** Runner→結果投稿→マージ  
**時点：** 導入・運用 ／ **優先度：** A ／ **現行資料：** 対象版固定だけでは不足
**起こり得る事故：** レビュー後にMRのHEAD・比較対象・設計資料が更新されても、以前の成功コメントで承認・マージする。
| 統制 | 対応案 |
|---|---|
| 技術 | プロジェクト・MR・HEAD・比較対象SHA・資料版・指示版を結果へ結合し、更新時は失効する。投稿時とマージ前に一致を再確認する。 |
| 契約 | レビュー成果物の対象・受入条件・再実施が必要な変更を委託品質条件として定める。 |
| 運用 | 再レビュー対象を明確化し、緊急変更の例外も別承認と証跡を残す。 |
**確認試験・必要な証跡：** レビュー中・投稿直前・承認後に模擬更新し、古い結果でマージ条件を満たさないことを確認する。  
**担当の候補：** GitLab管理／品質責任者  
**参照観点／製品仕様：** [G3][F3]
R15 未完了レビューを合格扱いする
発生箇所：E3 二段階レビュー判定
シナリオ：予算不足や障害で②が途中終了したのに、無指摘の結果として利用される。
技術：実行状態と結果形式を検証し、未完了・投稿失敗を明示して合格を止める。
契約：障害通知と再実行・代替支援の契約条件を履行させる。
運用：未完了を放置せず、再実行または別承認の手動レビューで処理する。
確認事項：①②それぞれの完了、確認範囲、投稿完了、未確認事項を確認する。
責任者候補：CI実装／品質責任者
検証状況：実機・個別契約・銀行内部規程の確認は未実施。下記は受入試験の提案であり合格結果ではない。
旧61件の対応：L28 ②未実行・途中終了を指摘なしとして扱う
参考・詳細な統制案と受入試験：
**発生箇所：** 二段階レビュー→完了判定  
**時点：** 導入・運用 ／ **優先度：** A ／ **現行資料：** 判定条件の不足
**起こり得る事故：** 第2段階の省略、タイムアウト、入力不足、パース失敗、投稿失敗を、終了コードや空の指摘だけで合格にする。
| 統制 | 対応案 |
|---|---|
| 技術 | 二段階それぞれの実行・確認範囲・完了状態を機械検証する。指摘なし／指摘あり／未完了／対象版失効を分ける。 |
| 契約 | 二段階の完了定義と失敗時通知、再実行・代替の責任を検収条件に含める。 |
| 運用 | 第1段階が指摘なしでも第2段階を実行する。障害時は未完了として人の別承認ルートへ送る。 |
**確認試験・必要な証跡：** 第2段階停止、壊れた応答、資料欠落、投稿失敗を故意に発生させ、成功扱いされないことを確認する。  
**担当の候補：** CI実装／品質責任者  
**参照観点／製品仕様：** [G3][F3][F4]
[G2] GitLab Runner Security
https://docs.gitlab.com/runner/security/
任意コード実行・共有ホスト・特権・資格情報のリスク。
[G3] GitLab MR pipelines
https://docs.gitlab.com/ci/pipelines/merge_request_pipelines/
起動条件・審査対象と制御の区別・保護資源利用条件を確認。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章：導入後（基盤の実利用・維持・事故対応）／構成要素・境界
対象：B2 IdP・GitLab→AWS認証　B5 レビュー処理→投稿処理
対応ページ：p.6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R07 鍵更新や失効の不備で誤認証
発生箇所：B2 社内IdP／GitLab→AWS
シナリオ：鍵・証明書更新で認証が停止する、または異動者・無関係なジョブの利用が続く。
技術：有効期限・鍵更新・信頼条件を監視。緊急時は到達遮断も組み合わせる。
契約：認証障害・鍵交換の支援範囲と連絡体制を確認する。
運用：失効と鍵更新を訓練し、共有長期キーへの恒久的な退避を避ける。
確認事項：期限切れ・鍵不整合・退職後利用・認証迂回を確認する。
責任者候補：認証基盤／GitLab管理
検証状況：実機・個別契約・銀行内部規程の確認は未実施。下記は受入試験の提案であり合格結果ではない。
旧61件の対応：L16 短期認証でも利用主体や対象を取り違える／L17 非公開GitLabのOIDCが成立しない／鍵情報が改ざんされる／L18 失効したはずの資格情報を継続利用できる
参考・詳細な統制案と受入試験：
**発生箇所：** 構内GitLab→AWS STS  
**時点：** 導入・変更 ／ **優先度：** A ／ **現行資料：** 実現性の未検証
**起こり得る事故：** 非公開GitLabのIssuer情報・署名鍵をSTSが取得できない。対処のためにGitLab全体を公開したり、信頼条件を広げたりする。
| 統制 | 対応案 |
|---|---|
| 技術 | 採用方式のIssuer/JWKS到達性を実証する。公開が必要な情報だけを保全して提供する方式又は承認済み代替認証を設計し、aud・sub等を厳格化する。 |
| 契約 | IdP・GitLab・AWS・公開メタデータの管理者と鍵更新・障害時責任を明確にする。 |
| 運用 | 署名鍵更新、期限切れ、メタデータ停止を訓練し、長期共有キーへの恒久的退避を避ける。 |
**確認試験・必要な証跡：** 非公開構成で正規ジョブのみ認証でき、別プロジェクト・ref・audienceのトークンが拒否されることを確認する。  
**担当の候補：** 認証基盤／GitLab管理  
**参照観点／製品仕様：** [G1][F3]
R08 レビュー処理から秘密を奪われる
発生箇所：E3 Runner／B5 投稿分離
シナリオ：実行したコードが共有領域やホストを介し、投稿トークン・管理資格情報を取得する。
技術：不審な読取・接続を遮断し、侵害ジョブと資格情報を隔離・失効する。
契約：保守先へ証拠保全と秘密の交換・影響調査を求める。
運用：利用履歴を追跡し、同一ホストの他ジョブ・他案件への波及を確認する。
確認事項：ジョブ間の到達性、秘密の異常利用、共有領域への書込みを確認する。
責任者候補：CI基盤／秘密管理
検証状況：実機・個別契約・銀行内部規程の確認は未実施。下記は受入試験の提案であり合格結果ではない。
旧61件の対応：L18 失効したはずの資格情報を継続利用できる／L30 共有ホスト・成果物経由で分離を越える
参考・詳細な統制案と受入試験：
**発生箇所：** レビューRunner↔投稿ジョブ  
**時点：** 導入・運用 ／ **優先度：** A ／ **現行資料：** 分離粒度の不足
**起こり得る事故：** 別ジョブでも同じホストのプロセス・ボリューム・キャッシュ・環境変数が共有され、レビュー中の任意コードが投稿や管理用の秘密を読む。
| 統制 | 対応案 |
|---|---|
| 技術 | プロセス／実行環境と秘密の到達性まで分離し、非信頼コードの実行先へ投稿・管理資格情報を置かない。 |
| 契約 | Runner運用の管理権限、秘密へのアクセス、保守時の取得禁止を委託範囲に反映する。 |
| 運用 | 秘密の所在と読取主体を棚卸し、漏えい時の失効・交換を実施する。 |
**確認試験・必要な証跡：** レビュー環境から投稿秘密・ホスト管理・別ジョブ領域を読めないことを、採用Executorで確認する。  
**担当の候補：** CI基盤／秘密管理  
**参照観点／製品仕様：** [G2][G3][F3]
R09 結果投稿が不正操作の入口になる
発生箇所：B5 結果投稿→GitLab
シナリオ：AI出力の宛先や特殊構文をそのまま使い、別MRの変更や意図しない操作を実行する。
技術：本文と宛先を検証して投稿。禁止操作は拒否し、投稿資格情報を限定する。
契約：投稿機能の不具合について修正・調査協力を受ける。
運用：投稿先・操作・失敗を点検し、不審時は投稿機能のみ停止する。
確認事項：結果の取り違え・特殊構文・許可外API操作を検知する。
責任者候補：GitLab管理／投稿実装担当
検証状況：実機・個別契約・銀行内部規程の確認は未実施。下記は受入試験の提案であり合格結果ではない。
旧61件の対応：L29 投稿ジョブがAI出力を信用しすぎる
参考・詳細な統制案と受入試験：
**発生箇所：** 投稿処理→GitLab API  
**時点：** 導入・運用 ／ **優先度：** A ／ **現行資料：** 仕様の未確認
**起こり得る事故：** 投稿トークンがコメント以外の更新も可能で、AI生成の投稿内容・宛先・特殊構文を通じて別MRやプロジェクト状態を変更する。
| 統制 | 対応案 |
|---|---|
| 技術 | 採用版のロール・スコープ・APIを確認し、投稿実装で宛先・メソッド・本文形式を固定検証する。特殊コマンド・外部参照等を無害化する。 |
| 契約 | 投稿機能の許可操作と禁止操作を検収条件にし、保守の特権利用を限定する。 |
| 運用 | 専用トークンの期限・利用先・失効を管理し、投稿失敗をレビュー成功扱いしない。 |
**確認試験・必要な証跡：** 別MR宛先、マージ・承認等の禁止操作、危険な投稿構文が拒否され、正規コメントだけが残ることを確認する。  
**担当の候補：** GitLab管理／投稿実装担当  
**参照観点／製品仕様：** [G4][G3][F3]
[G1] GitLab AWS OIDC
https://docs.gitlab.com/ci/cloud_services/aws/
非公開GitLabの発行者・署名鍵の到達性と保護、信頼条件が必要。
[F3] 金融庁 金融分野のサイバーセキュリティガイドライン
https://www.fsa.go.jp/common/law/cybersecurity_guideline.pdf
2.1〜2.6の態勢、資産・境界、権限、防御、検知、対応・復旧、委託を参照。
[G2] GitLab Runner Security
https://docs.gitlab.com/runner/security/
任意コード実行・共有ホスト・特権・資格情報のリスク。
[G3] GitLab MR pipelines
https://docs.gitlab.com/ci/pipelines/merge_request_pipelines/
起動条件・審査対象と制御の区別・保護資源利用条件を確認。
[G4] GitLab Project access tokens
https://docs.gitlab.com/user/project/settings/project_access_tokens/
トークン権限はロール・スコープ・版に依存。名称は制限ではない。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章：導入後（基盤の実利用・維持・事故対応）／構成要素・境界
対象：E1 端末・E3 Runner→E5 Gateway　B3 行内→AWS
対応ページ：p.7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R01 禁止情報をAWSへ送ってしまう
発生箇所：B3 行内→AWS
シナリオ：許可コードに秘密鍵や顧客情報が混入し、AWSの検査環境へ到達する。
技術：送信対象の制限と事前遮断を継続。違反要求を隔離し再送を止める。
契約：漏えい疑い時の通知・保全・削除協力を適用契約で確認する。
運用：送信範囲と例外を点検し、到達した情報・宛先・利用者を調査する。
確認事項：DLPの拒否件数だけでなく、禁止境界を越えたかを確認する。
責任者候補：情報管理責任者／基盤担当
検証状況：実機・個別契約・銀行内部規程の確認は未実施。下記は受入試験の提案であり合格結果ではない。
旧61件の対応：L06 AWS側DLPより手前で行外送信が成立する
参考・詳細な統制案と受入試験：
**発生箇所：** 行内→AWS DLP  
**時点：** 導入・運用 ／ **優先度：** A ／ **現行資料：** 前提の修正
**起こり得る事故：** 行外送信自体が禁止された秘密鍵・顧客情報をAWS側DLPへ送り、モデルには渡さなくても禁止境界を越える。
| 統制 | 対応案 |
|---|---|
| 技術 | 行外持出し禁止とモデル投入禁止を分ける。AWS DLPは維持し、前者は行内の参照制限・許可ファイル選別・必要な事前遮断で止める。 |
| 契約 | 銀行と委託先の取扱許容範囲、検査のためのAWS処理の可否を契約・データ取扱条件に反映する。 |
| 運用 | 情報区分ごとに境界越えの可否と例外承認者を決める。行内検査の追加は構成変更として明示する。 |
**確認試験・必要な証跡：** 模擬禁止情報がAWS受信ログへ到達しないことを確認する。DLPのブロック表示だけを合格証跡にしない。  
**担当の候補：** 情報管理責任者／基盤担当  
**参照観点／製品仕様：** [F2][F3][A6][P1]
R04 別経路で未検査送信される
発生箇所：B3 外部通信
シナリオ：追加ツールや個人アカウント、診断送信からコード・設計資料が外部へ流れる。
技術：未承認の宛先・プロセスを遮断。通信ログから新しい経路を検知する。
契約：無断の送信先追加や診断条件変更を確認し、利用継続を判断する。
運用：ツール追加・更新時に通信を再確認。例外の期限切れを回収する。
確認事項：通信先の追加・TLS検証無効化・直接通信の試行を確認する。
責任者候補：ネットワーク／端末管理
検証状況：実機・個別契約・銀行内部規程の確認は未実施。下記は受入試験の提案であり合格結果ではない。
旧61件の対応：L10 初回プロンプト以外が検査・制御を迂回する／L13 閉域でも通信の真正性・出口制御が不足する
参考・詳細な統制案と受入試験：
**発生箇所：** 端末／Runner→外部サービス  
**時点：** 導入・運用 ／ **優先度：** A ／ **現行資料：** 対策の強制力不足
**起こり得る事故：** LLM以外のMCP、Web検索、URL取得、更新・診断通信、別APIや個人の資格情報を使い、同じ端末から未検査で送信する。
| 統制 | 対応案 |
|---|---|
| 技術 | 推論・ツール・更新・診断・DNS等の通信を棚卸し、宛先と主体を許可する。TLS検証を維持し、未承認の迂回をネットワーク側でも遮断する。 |
| 契約 | 製品の通信先・テレメトリ・サポート取得情報・更新通知を確認し、無断外部転送を許さない。 |
| 運用 | 許可通信一覧を継続更新する。誤検知対策として無制限通信を認めない。 |
**確認試験・必要な証跡：** 承認経路以外の模擬送信が拒否されること、承認経路でも許可範囲のAPIだけ使えることを確認する。  
**担当の候補：** ネットワーク／端末管理  
**参照観点／製品仕様：** [F3][A1][C1][C2]
R05 設定変更で検査を迂回される
発生箇所：B3 認可→モデル
シナリオ：一時的に追加した権限や別モデルのAPIから、Gatewayを通さず推論できてしまう。
技術：権限差分と不許可APIを検知し、直接呼出しを拒否する。
契約：保守先の権限変更が承認・記録条件を満たすか確認する。
運用：権限を棚卸しし、緊急付与を回収。モデル追加時に拒否試験を再実施する。
確認事項：PrivateLinkの有無ではなく、迂回要求の実際の拒否を確認する。
責任者候補：IAM管理／基盤担当
検証状況：実機・個別契約・銀行内部規程の確認は未実施。下記は受入試験の提案であり合格結果ではない。
旧61件の対応：L11 Gatewayを通さず推論APIを直接呼べる
参考・詳細な統制案と受入試験：
**発生箇所：** 端末／RunnerのIAM→Bedrock  
**時点：** 導入・運用 ／ **優先度：** A ／ **現行資料：** 設計記述不足
**起こり得る事故：** 端末・Runnerにモデルの直接実行権限が残り、Gatewayを通さない呼出しや未承認モデルへの切替が成立する。
| 統制 | 対応案 |
|---|---|
| 技術 | クライアントはGateway利用だけを許可し、モデル呼出し主体を分離する。IAM・エンドポイント方針・適用可能な組織統制で不許可経路を拒否する。 |
| 契約 | 構築・運用委託の検収条件に、直接実行と権限昇格の否定試験を含める。 |
| 運用 | 権限変更・例外付与を審査し、短期資格情報であっても権限内容を棚卸しする。 |
**確認試験・必要な証跡：** 端末／Runnerの実際の資格情報から直接モデルを呼ぶ模擬試験が拒否され、承認Gatewayのみ成功することを確認する。  
**担当の候補：** IAM管理／基盤担当  
**参照観点／製品仕様：** [F3][A1][A5][G1]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[A6] AWS Bedrock データ保護
https://docs.aws.amazon.com/bedrock/latest/userguide/data-protection.html
責任共有、資格情報・ログ・メタデータの保護。
[P1] 個人情報保護委員会 クラウド取扱い Q7-53
https://www.ppc.go.jp/all_faq_index/faq1-q7-53/
第三者提供・委託等は契約と取扱いの実態で個別判断。
[A1] AWS Bedrock VPCエンドポイント
https://docs.aws.amazon.com/bedrock/latest/userguide/vpc-interface-endpoints.html
PrivateLinkは私設接続。Gateway経由の強制は認可・通信設計で別途実現。
[C1] Claude Code on Amazon Bedrock
https://code.claude.com/docs/en/amazon-bedrock
採用版・モデル・プロキシ経路の同時成立を実機で確認する。
[C2] Codex Configuration Reference
https://developers.openai.com/codex/config-reference
採用モデル・APIと統制経路の結合試験が必要。経路は本資料で確定しない。
[A5] AWS GuardrailのIAM強制
https://docs.aws.amazon.com/bedrock/latest/userguide/guardrails-permissions-id.html
適用可能なAPI・条件に限り採用可否を確認。全APIへの自動適用としない。
[G1] GitLab AWS OIDC
https://docs.gitlab.com/ci/cloud_services/aws/
非公開GitLabの発行者・署名鍵の到達性と保護、信頼条件が必要。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章：導入後（基盤の実利用・維持・事故対応）／構成要素・境界
対象：E5 Gateway・DLP・判定機能　B3 受付　B4 モデル投入
対応ページ：p.8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R02 未検査の情報が通過する
発生箇所：E5 検査／B4 推論境界
シナリオ：新しい添付形式や分割送信で検査が一部しか働かず、秘密情報をモデルへ渡す。
技術：検査範囲と結果を要求に結合。未検査部分のある要求を止める。
契約：対応形式や検知機能の変更通知を確認し、必要な修正を求める。
運用：新形式を追加する前に再試験。誤検知を理由に検査全体を解除しない。
確認事項：未対応形式・解析失敗・検査範囲の欠落を監視する。
責任者候補：情報管理／DLP担当
検証状況：実機・個別契約・銀行内部規程の確認は未実施。下記は受入試験の提案であり合格結果ではない。
旧61件の対応：L09 画像・Excel・圧縮内容が未検査で通過する
参考・詳細な統制案と受入試験：
**発生箇所：** 文書変換→Gateway→DLP  
**時点：** 導入・運用 ／ **優先度：** A ／ **現行資料：** 具体化不足
**起こり得る事故：** 画像、非表示セル、圧縮・暗号化ファイル、長大入力や分割データの一部が未検査なのに、全体を検査済みとして送信する。
| 統制 | 対応案 |
|---|---|
| 技術 | 型・サイズ・抽出範囲を明示し、全転送対象を検査する。解析不能・上限超過は原則拒否し、画像未対応時は画像送信を許可しない。 |
| 契約 | DLP・変換製品の対応形式、上限、非対応ケース、障害時動作を調達仕様・検収条件に含める。 |
| 運用 | 実資料由来の匿名化・模擬データで漏れと誤検知を検証し、許可形式を版管理する。 |
**確認試験・必要な証跡：** 画像内模擬情報、隠しシート、分割された模擬キー、サイズ超過で未検査通過しないことを確認する。  
**担当の候補：** 情報管理／DLP担当  
**参照観点／製品仕様：** [F2][F3][A4]
R06 他案件の権限・予算を使う
発生箇所：E5 Gateway／B2 本人性
シナリオ：申告IDの書換えや所属変更の反映漏れで、誤った案件へ処理・費用が帰属する。
技術：署名済み属性と認可台帳を照合。所属変更時にセッションを更新する。
契約：認証・運用委託先の属性更新、誤計上訂正への協力を確認する。
運用：利用記録と所属・権限・費用台帳を突合し、不明な利用主体を調査する。
確認事項：不明な利用者、所属不一致、別案件への費用付替えを検知する。
責任者候補：認証基盤／費用管理
検証状況：実機・個別契約・銀行内部規程の確認は未実施。下記は受入試験の提案であり合格結果ではない。
旧61件の対応：L16 短期認証でも利用主体や対象を取り違える／L19 利用者・案件の自己申告を認可や課金に使う／L54 AWS請求を個人・チーム・ジョブへ正しく配賦できない
参考・詳細な統制案と受入試験：
**発生箇所：** Gatewayの認証・認可・課金識別  
**時点：** 導入・運用 ／ **優先度：** A ／ **現行資料：** 未記載
**起こり得る事故：** 利用者がリクエスト中のチームID・ジョブID・リポジトリ名を書き換え、別案件の権限や予算を借用する。
| 統制 | 対応案 |
|---|---|
| 技術 | 認証済み主体と権威ある所属・ジョブ情報から認可と課金先を決める。クライアント申告値をそのまま権限・予算キーにしない。 |
| 契約 | 受託実装の仕様に主体と権限の対応、属性の信頼元、責任分担を明記する。 |
| 運用 | 異動・兼務・共有アカウントの扱いを定義し、利用記録と権限台帳を突合する。 |
**確認試験・必要な証跡：** 別チーム・別ジョブのIDへ置換した模擬リクエストが拒否され、元の本人性が監査記録に残ることを確認する。  
**担当の候補：** 認証基盤／費用管理  
**参照観点／製品仕様：** [F3][A9][G1]
R22 障害時に検査なしで通過する
発生箇所：E5 Gateway・DLP・判定
シナリオ：検査サービスの遅延・不具合により、未検査要求が推論へ送られるか利用が停滞する。
技術：検査失敗は遮断し、障害箇所を切り離す。結果と入力の対応を検証する。
契約：障害通知・復旧支援を依頼し、原因と影響する要求を確認する。
運用：未検査の再送は認めず、承認済みの手動・縮退運用へ切り替える。
確認事項：判定不能・検査失敗・拒否急増と、実送信の有無を確認する。
責任者候補：Gateway実装／セキュリティ
検証状況：実機・個別契約・銀行内部規程の確認は未実施。下記は受入試験の提案であり合格結果ではない。
旧61件の対応：L40 独自Gatewayの不具合で検査や認可が欠落する
参考・詳細な統制案と受入試験：
**発生箇所：** Gateway→DLP／Guardrails  
**時点：** 導入・運用 ／ **優先度：** A ／ **現行資料：** 失敗時動作の不足
**起こり得る事故：** DLP・判定AIの停止、スキーマ不一致、タイムアウト、空の判定を無問題と解釈し、モデルへ送る。
| 統制 | 対応案 |
|---|---|
| 技術 | 許可を明示確認できる場合だけ転送する。未知・失敗・対象外を区別して原則停止し、迂回フォールバックを禁止する。 |
| 契約 | 障害時仕様、変更通知、修正支援、検収時の異常系試験を合意する。 |
| 運用 | 検査失敗を監視し、手動代替は別承認する。業務継続のための黙示的なバイパスを認めない。 |
**確認試験・必要な証跡：** 検査サービスの停止・遅延・壊れた応答・新スキーマで、未検査のモデル要求が発生しないことを確認する。  
**担当の候補：** Gateway実装／セキュリティ  
**参照観点／製品仕様：** [A5][F3]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[A4] AWS Guardrails ストリーミング
https://docs.aws.amazon.com/bedrock/latest/userguide/guardrails-streaming.html
非同期モードは検査前の返却があり、機微情報マスキング非対応。
[A9] AWS Bedrock モデル呼出しログ
https://docs.aws.amazon.com/bedrock/latest/userguide/model-invocation-logging.html
記録されるAPI・内容・保存先を採用方式ごとに確認。
[G1] GitLab AWS OIDC
https://docs.gitlab.com/ci/cloud_services/aws/
非公開GitLabの発行者・署名鍵の到達性と保護、信頼条件が必要。
[A5] AWS GuardrailのIAM強制
https://docs.aws.amazon.com/bedrock/latest/userguide/guardrails-permissions-id.html
適用可能なAPI・条件に限り採用可否を確認。全APIへの自動適用としない。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章：導入後（基盤の実利用・維持・事故対応）／構成要素・境界
対象：E3 文脈準備　E5 応答検査　E6 推論　B4 応答→ツール
対応ページ：p.9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R18 重要仕様を読み落として合格にする
発生箇所：B4 文脈→設計レビュー
シナリオ：長大入力の切捨てや検索漏れで、認証・障害時動作・呼出先の影響を見逃す。
技術：文脈量・取得失敗・参照範囲を可視化し、不足時は範囲限定結果にする。
契約：委託レビューでは確認対象・未確認事項を成果物へ明示させる。
運用：未確認の重要観点は専門者が補完し、無指摘だけで合格にしない。
確認事項：実読した根拠と、読めなかった重要ファイル・観点を確認する。
責任者候補：設計責任者／レビュー実装
検証状況：実機・個別契約・銀行内部規程の確認は未実施。下記は受入試験の提案であり合格結果ではない。
旧61件の対応：L32 資料変換・検索の欠落で仕様を取り違える
参考・詳細な統制案と受入試験：
**発生箇所：** 資料選別→モデル文脈→設計レビュー  
**時点：** 導入・運用 ／ **優先度：** B ／ **現行資料：** 確認範囲の定義不足
**起こり得る事故：** 検索漏れやコンテキスト上限で呼出先・認証・障害時仕様が落ちても、「全体設計確認済み」と表示する。
| 統制 | 対応案 |
|---|---|
| 技術 | 依存関係と確認観点から参照計画を作り、確認したファイル・根拠・未確認を記録する。欠落時は範囲限定の結果とする。 |
| 契約 | 全システム既存問題の総点検ではなく変更影響の確認であること、対象範囲と成果物を合意する。 |
| 運用 | 高リスク変更は専門者が未確認範囲を補い、調査不足を無指摘と解釈しない。 |
**確認試験・必要な証跡：** 参照すべき重要仕様を長大資料の後半等に置き、検索・取得・実読の証跡と未確認表示を評価する。  
**担当の候補：** 設計責任者／レビュー実装  
**参照観点／製品仕様：** [F2][F4]
R23 検査前の出力が被害を起こす
発生箇所：B4 応答→B1 ツール実行
シナリオ：途中応答や不正な引数が先に実行され、後からブロックしても変更を取り消せない。
技術：検査待ちと実行待ちを分離し、違反出力・未検証引数の利用を拒否する。
契約：検査挙動やAPI変更を確認し、不具合の修正・影響調査を求める。
運用：誤操作があれば実行を止め、対象・変更結果を確認して復旧する。
確認事項：検査終了時刻と表示・実行時刻、対象・引数の一致を確認する。
責任者候補：Gateway／Agent実装
検証状況：実機・個別契約・銀行内部規程の確認は未実施。下記は受入試験の提案であり合格結果ではない。
旧61件の対応：L23 更新APIや本番コマンドを誤実行する／L24 検査前の出力や壊れたツール引数を実行する
参考・詳細な統制案と受入試験：
**発生箇所：** Bedrock応答→出力検査→Agent  
**時点：** 導入・運用 ／ **優先度：** A ／ **現行資料：** 検査順序の不足
**起こり得る事故：** ストリーミング出力を先に渡し、後から危険と判定する。ツール呼出しの引数や一部チャンクが検査対象から抜ける。
| 統制 | 対応案 |
|---|---|
| 技術 | 表示・投稿・ツール実行前に検査する。同期又は必要範囲をバッファし、ツール名・引数・対象への認可を別に実施する。 |
| 契約 | 製品のストリーミング／ツール呼出し検査の対応範囲と限界を確認する。 |
| 運用 | 速度優先で非同期へ変える設定変更を審査し、危険操作は実行前に人が確認する。 |
**確認試験・必要な証跡：** 模擬機密・危険ツール引数が到着しても、検査完了まで表示・投稿・実行されないことを確認する。  
**担当の候補：** Gateway／Agent実装  
**参照観点／製品仕様：** [A4][F3]
R24 更新で検査や記録が欠落する
発生箇所：E1／E3→E5→E6 API接続
シナリオ：新API・モデルや互換レイヤの変更で、ツール応答・使用量・監査項目が失われる。
技術：想定外APIを拒否。必須項目の欠落を検知し、旧承認版へ戻す。
契約：互換性変更の通知・移行支援を確認し、未対応部分の利用を止める。
運用：更新前後に結合試験。性能改善だけを理由に検査経路を変えない。
確認事項：入力形式・応答形式・使用量・監査項目の欠落を検知する。
責任者候補：基盤アーキテクト／QA
検証状況：実機・個別契約・銀行内部規程の確認は未実施。下記は受入試験の提案であり合格結果ではない。
旧61件の対応：L10 初回プロンプト以外が検査・制御を迂回する／L12 エージェント/APIの違いで統制が外れる／L40 独自Gatewayの不具合で検査や認可が欠落する
参考・詳細な統制案と受入試験：
**発生箇所：** Claude Code／Codex→API→Bedrock  
**時点：** 導入・変更 ／ **優先度：** A ／ **現行資料：** 互換性の未検証
**起こり得る事故：** API互換性、認証方式、streaming、tool call、ログやGuardrails適用の差により、通常会話だけ成功し本番統制が動かない。
| 統制 | 対応案 |
|---|---|
| 技術 | エージェント版×モデル×API×リージョン×Gateway×検査×ログをセットで検証し、合格した組合せのみ公開する。 |
| 契約 | 対応API・機能・不具合修正・変更時通知を確認する。未保証事項は契約成立済みと書かない。 |
| 運用 | 更新は検証環境で再認定し、接続不能時に個人アカウントや未承認APIへ切り替えない。 |
**確認試験・必要な証跡：** tool call・長文・streaming・認証更新・制限到達を含め、検査・記録・費用計測が同時に機能することを確認する。  
**担当の候補：** 基盤アーキテクト／QA  
**参照観点／製品仕様：** [C1][C2][A5][A9]
[F2] FISC AI安全対策の観点からの考察（2024-09-24）
https://www.fisc.or.jp/document/public/file/ai_opinion_20240924.pdf
pp.4–8の仕様・設定、情報保護、出力妥当性、態勢・教育を参照。
[F4] 金融庁 AIディスカッションペーパー 第1.1版
https://www.fsa.go.jp/news/r7/sonota/20260303/aidp_version1.1.pdf
AIの品質・人の関与・人材・法務等の論点を参照。一律の新規義務ではない。
[A4] AWS Guardrails ストリーミング
https://docs.aws.amazon.com/bedrock/latest/userguide/guardrails-streaming.html
非同期モードは検査前の返却があり、機微情報マスキング非対応。
[F3] 金融庁 金融分野のサイバーセキュリティガイドライン
https://www.fsa.go.jp/common/law/cybersecurity_guideline.pdf
2.1〜2.6の態勢、資産・境界、権限、防御、検知、対応・復旧、委託を参照。
[C1] Claude Code on Amazon Bedrock
https://code.claude.com/docs/en/amazon-bedrock
採用版・モデル・プロキシ経路の同時成立を実機で確認する。
[C2] Codex Configuration Reference
https://developers.openai.com/codex/config-reference
採用モデル・APIと統制経路の結合試験が必要。経路は本資料で確定しない。
[A5] AWS GuardrailのIAM強制
https://docs.aws.amazon.com/bedrock/latest/userguide/guardrails-permissions-id.html
適用可能なAPI・条件に限り採用可否を確認。全APIへの自動適用としない。
[A9] AWS Bedrock モデル呼出しログ
https://docs.aws.amazon.com/bedrock/latest/userguide/model-invocation-logging.html
記録されるAPI・内容・保存先を採用方式ごとに確認。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章：導入後（基盤の実利用・維持・事故対応）／構成要素・境界
対象：E5 検査　E6 Bedrock　E7 ログ・一時保管　B4 処理・保持
対応ページ：p.10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R19 設定変更で未承認地域へ流れる
発生箇所：E5／E6／B4 処理地域
シナリオ：モデル追加や自動切替で、推論・検査・保持の一部が国内条件を外れる。
技術：許可組合せ以外を拒否。利用可能な記録で実処理先と設定差分を確認する。
契約：地域・再委託・保持条件の変更通知を確認し、必要に応じ利用を停止する。
運用：モデルや代替先を再審査。障害時も未承認地域へ退避しない。
確認事項：接続先名だけでなく、モデル・検査・保存・切替先の条件を追跡する。
責任者候補：クラウド基盤／情報管理
検証状況：実機・個別契約・銀行内部規程の確認は未実施。下記は受入試験の提案であり合格結果ではない。
旧61件の対応：L14 東京接続でも推論・保存が国外へ流れる／L15 補助AI・DLP・サポート経路だけ国外処理になる／L47 障害時の代替運用が未審査で安全条件を壊す
参考・詳細な統制案と受入試験：
**発生箇所：** Bedrock・Guardrails・判定用AI  
**時点：** 導入・変更・運用 ／ **優先度：** A ／ **現行資料：** 東京接続だけでは不足
**起こり得る事故：** 東京の接続先でも、モデル・Guardrails・判定AIの転送設定やフォールバックにより未承認地域で処理・保存される。
| 統制 | 対応案 |
|---|---|
| 技術 | モデルID、API、推論プロファイル、全転送先、検査サービス、保存先を許可表へ固定し、未承認先への切替を拒否する。 |
| 契約 | 処理・保持地域、再委託・管理アクセス、条件変更を採用サービスごとに確認する。 |
| 運用 | 国内処理と東京限定を区別し、国内の別地域を使う場合も明示承認する。モデル追加・変更時に再審査する。 |
**確認試験・必要な証跡：** 正常時と障害・上限時のルートを確認し、モデルだけでなくGuardrails等の評価先も国内条件を満たすことを証拠化する。  
**担当の候補：** クラウド基盤／情報管理  
**参照観点／製品仕様：** [A2][A3][A8][F3]
R20 保持条件の変更を見落とす
発生箇所：E6 モデル／保存条件
シナリオ：モデル追加や保存機能の有効化により、承認していない保持・レビュー対象になる。
技術：保持設定とモデル機能の変更を検知し、承認外の利用を止める。
契約：適用条件・例外承認・期限の変更を確認し、不適合なら利用範囲を見直す。
運用：モデル変更時に再承認し、送信済み情報への影響と削除可能範囲を調べる。
確認事項：「非学習」「無保存」「人手アクセスなし」を別々に確認する。
責任者候補：調達法務／クラウド管理
検証状況：実機・個別契約・銀行内部規程の確認は未実施。下記は受入試験の提案であり合格結果ではない。
旧61件の対応：L08 採用モデルの保持・人手レビュー条件が合わない／L56 契約の希望条件を確保済みとして扱う
参考・詳細な統制案と受入試験：
**発生箇所：** Bedrockモデル・追加機能・契約条件  
**時点：** 導入・変更・運用 ／ **優先度：** A ／ **現行資料：** 保持条件の不足
**起こり得る事故：** モデル入力の学習不使用だけを確認し、採用モデル・機能ごとの不正利用監視、保持、レビュー等の条件差を見落とす。
| 統制 | 対応案 |
|---|---|
| 技術 | 許可モデル・機能・オプトイン設定を管理し、採用条件に合わない保存・機能の組合せを使わせない。 |
| 契約 | 学習利用、保存、アクセス、不正利用監視、削除・例外条件を分けて確認し、実際に成立した条件だけを承認資料に載せる。 |
| 運用 | モデル追加や保持条件変更を再承認の対象とし、Web説明だけでなく適用契約・設定を保存する。 |
**確認試験・必要な証跡：** モデル別の条件表を契約原本・製品仕様・設定証跡で照合する。一般的なBedrock説明だけで全モデルを一括承認しない。  
**担当の候補：** 調達法務／クラウド管理  
**参照観点／製品仕様：** [A6][A7][A8][F2]
R21 推論以外の保管先から漏れる
発生箇所：E7 ログ・保管／保守提出
シナリオ：詳細ログや調査用ファイルが広く共有され、案件情報が保守先や別利用者へ渡る。
技術：閲覧・持出しを制限し、機密混入と公開設定を検知。不要コピーを削除する。
契約：保守先の保全・削除・二次利用禁止が実行されているか確認する。
運用：提出前確認と保存先台帳を維持し、終了時の全コピーを追跡する。
確認事項：ログ本文・添付・通知・保守提出物の閲覧先と残存を点検する。
責任者候補：ログ管理／情報管理
検証状況：実機・個別契約・銀行内部規程の確認は未実施。下記は受入試験の提案であり合格結果ではない。
旧61件の対応：L15 補助AI・DLP・サポート経路だけ国外処理になる／L42 ログ・タグ・通知を新たな漏えい先にする／L60 終了時の消去・返却・証跡保全が両立しない
参考・詳細な統制案と受入試験：
**発生箇所：** S3・ログ・一時領域・サポート提出物  
**時点：** 導入・運用・終了 ／ **優先度：** A ／ **現行資料：** 保存経路の不足
**起こり得る事故：** 入力・出力・画像が監査ログやバックアップ、エラー追跡、サポート資料に複製され、過大権限・共有・削除漏れで漏えいする。
| 統制 | 対応案 |
|---|---|
| 技術 | 保存経路を全て特定し、内容最小化、閲覧制限、暗号化、保存期間・削除を設計する。機密を含む診断・サポート提出物を検査する。 |
| 契約 | 保守・サポート先の取扱い、保管・削除、事故通知、再委託の条件を確認する。 |
| 運用 | S3・ログ・端末履歴・バックアップを対象に閲覧・共有・保持を棚卸しする。 |
**確認試験・必要な証跡：** 失敗要求や画像付き要求の保存先まで追跡し、禁止保存・過大閲覧・外部サポートへの未検査転送がないことを確認する。  
**担当の候補：** ログ管理／情報管理  
**参照観点／製品仕様：** [A9][A6][F3]
[A2] AWS Bedrock クロスリージョン推論
https://docs.aws.amazon.com/bedrock/latest/userguide/cross-region-inference.html
転送先は推論プロファイルに依存。国内条件はモデル・転送先で確認。
[A3] AWS Guardrails クロスリージョン推論
https://docs.aws.amazon.com/bedrock/latest/userguide/guardrails-cross-region.html
検査処理側の地域条件も別途確認。
[A8] AWS Bedrock 不正利用検知
https://docs.aws.amazon.com/bedrock/latest/userguide/abuse-detection.html
特定モデルの保持・AWS人手レビュー等の条件を個別に確認。
[F3] 金融庁 金融分野のサイバーセキュリティガイドライン
https://www.fsa.go.jp/common/law/cybersecurity_guideline.pdf
2.1〜2.6の態勢、資産・境界、権限、防御、検知、対応・復旧、委託を参照。
[A6] AWS Bedrock データ保護
https://docs.aws.amazon.com/bedrock/latest/userguide/data-protection.html
責任共有、資格情報・ログ・メタデータの保護。
[A7] AWS Bedrock データ保持
https://docs.aws.amazon.com/bedrock/latest/userguide/data-retention.html
保持はモデル・API・設定を個別確認。学習不使用とは区別。
[F2] FISC AI安全対策の観点からの考察（2024-09-24）
https://www.fisc.or.jp/document/public/file/ai_opinion_20240924.pdf
pp.4–8の仕様・設定、情報保護、出力妥当性、態勢・教育を参照。
[A9] AWS Bedrock モデル呼出しログ
https://docs.aws.amazon.com/bedrock/latest/userguide/model-invocation-logging.html
記録されるAPI・内容・保存先を採用方式ごとに確認。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章：導入後（基盤の実利用・維持・事故対応）／全体
対象：全体：生成・テスト・レビュー・人の判断・変更管理のつながり
対応ページ：p.11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R25 共通の誤りを見逃して採用する
発生箇所：全体｜成果物の品質
シナリオ：AIが誤った計算・認可条件を生成し、テストとレビューもその誤りを正しいと判断する。
技術：独立テストと静的解析で検証し、重大欠陥を含む評価セットを維持する。
契約：成果物の修補責任を適用し、製品由来の不具合は提供者と調査する。
運用：重要処理は専門者が確認。見逃し・誤指摘・流出欠陥を分析し評価を更新する。
確認事項：誤計算・認可漏れ・データ不整合・不当条件の流出を確認する。
責任者候補：品質責任者／業務設計
検証状況：実機・個別契約・銀行内部規程の確認は未実施。下記は受入試験の提案であり合格結果ではない。
旧61件の対応：L31 もっともらしい誤実装を採用する／L33 二段階レビューが同じ誤りを追認する／L35 顧客処理コードに不当な条件や業務統制欠落を入れる
参考・詳細な統制案と受入試験：
**発生箇所：** 生成・テスト生成・二段階AIレビュー  
**時点：** 導入・運用 ／ **優先度：** B ／ **現行資料：** 多重AIへの過信
**起こり得る事故：** 生成コード・テスト・レビューが同じ誤解を共有し、認可漏れ、取引の二重処理、数値丸め、障害時不整合が全て通る。
| 統制 | 対応案 |
|---|---|
| 技術 | 仕様から独立したテスト期待値・静的解析・回帰評価を用いる。二段階AIレビューは別観点で行うが、独立保証とは扱わない。 |
| 契約 | 受託開発の成果物責任・検収条件・欠陥対応を維持し、AI利用を免責理由にしない。 |
| 運用 | 高リスク変更は専門者が仕様・コード・結果を照合し、見逃し率と誤指摘の傾向を確認する。 |
**確認試験・必要な証跡：** 既知欠陥を含む模擬変更で見逃し・誤指摘を測り、認可・データ整合性等の重要観点に事前の受入基準を設ける。  
**担当の候補：** 品質責任者／業務設計  
**参照観点／製品仕様：** [F2][F4][F3]
R26 人の承認が形だけになる
発生箇所：全体｜人の承認と体制
シナリオ：大量のAI指摘や忙しさで、架空の根拠・テスト実施報告を見抜けず承認する。
技術：原本へ直接追跡できる表示と、検証済み証拠の添付を必須にする。
契約：委託レビューの確認内容・要員・証拠の履行を点検する。
運用：確認負荷と滞留を監視。根拠を確認できない変更は承認せず担当へ戻す。
確認事項：確認記録の欠落、短時間の大量承認、未確認事項の放置を点検する。
責任者候補：開発責任者／品質保証
検証状況：実機・個別契約・銀行内部規程の確認は未実施。下記は受入試験の提案であり合格結果ではない。
旧61件の対応：L05 確認作業を担う人員・能力が不足する／L34 人の承認が形式化し偽の根拠を見抜けない
参考・詳細な統制案と受入試験：
**発生箇所：** レビュー結果→人による採否・マージ  
**時点：** 導入・運用 ／ **優先度：** B ／ **現行資料：** 承認の実効性不足
**起こり得る事故：** 大量の生成・指摘や根拠のない無問題表示により、人が差分・未確認範囲を読まず承認し、責任だけが残る。
| 統制 | 対応案 |
|---|---|
| 技術 | 根拠箇所・確認範囲・未完了を見やすく提示し、重要変更は必要な専門承認が欠けるとマージできないようにする。 |
| 契約 | 内製・委託双方の承認権限、検収責任、必要スキルとレビュー体制を明確にする。 |
| 運用 | 生成量をレビュー能力に合わせて制御し、承認の抽出点検・教育・要員確保を行う。 |
**確認試験・必要な証跡：** 根拠欠落や未確認がある模擬結果が自動承認されず、所定の担当者へ差戻されることを確認する。  
**担当の候補：** 開発責任者／品質保証  
**参照観点／製品仕様：** [F2][F3][F4]
R27 変更で品質や防御が劣化する
発生箇所：全体｜モデル・設定の変更
シナリオ：モデル・指示・検査設定の更新後に、誤答・見逃し・権限逸脱や費用が増える。
技術：承認構成との差分と評価値を監視。悪化時は対象版の利用を止める。
契約：仕様・条件の変更を確認し、提供者と不具合・移行を調整する。
運用：再評価してから拡大。不正設定を含むバックアップはそのまま復元しない。
確認事項：変更後の品質・拒否率・権限・使用量・復元設定を比較する。
責任者候補：変更管理／モデル管理
検証状況：実機・個別契約・銀行内部規程の確認は未実施。下記は受入試験の提案であり合格結果ではない。
旧61件の対応：L49 バックアップから不正設定や誤結果を復元する／L57 モデル・検査・指示の更新で統制や品質が変わる
参考・詳細な統制案と受入試験：
**発生箇所：** モデル・プロンプト・Agent・DLP・設定更新  
**時点：** 導入・運用 ／ **優先度：** B ／ **現行資料：** モデル以外の変更対象不足
**起こり得る事故：** モデル別名の更新、指示文、変換器、Gateway、Guardrails設定、権限の変更が重なり、過去の評価結果が有効でなくなる。
| 統制 | 対応案 |
|---|---|
| 技術 | 関連構成を版付きで記録し、代表評価・回帰試験・段階適用・復元可能な設定管理を行う。 |
| 契約 | 変更・廃止・脆弱性通知、代替策、可能な予告期間を確認し、提供されない条件は残余リスクとして扱う。 |
| 運用 | 再審査条件、緊急変更、モデル廃止時の移行を定義し、固定版でも完全再現は保証しない。 |
**確認試験・必要な証跡：** 各部品の更新前後で品質・拒否・通信・証跡を比較し、不合格変更を戻せることを確認する。  
**担当の候補：** 変更管理／モデル管理  
**参照観点／製品仕様：** [F3][F4][C1][C2]
[F2] FISC AI安全対策の観点からの考察（2024-09-24）
https://www.fisc.or.jp/document/public/file/ai_opinion_20240924.pdf
pp.4–8の仕様・設定、情報保護、出力妥当性、態勢・教育を参照。
[F4] 金融庁 AIディスカッションペーパー 第1.1版
https://www.fsa.go.jp/news/r7/sonota/20260303/aidp_version1.1.pdf
AIの品質・人の関与・人材・法務等の論点を参照。一律の新規義務ではない。
[F3] 金融庁 金融分野のサイバーセキュリティガイドライン
https://www.fsa.go.jp/common/law/cybersecurity_guideline.pdf
2.1〜2.6の態勢、資産・境界、権限、防御、検知、対応・復旧、委託を参照。
[C1] Claude Code on Amazon Bedrock
https://code.claude.com/docs/en/amazon-bedrock
採用版・モデル・プロキシ経路の同時成立を実機で確認する。
[C2] Codex Configuration Reference
https://developers.openai.com/codex/config-reference
採用モデル・APIと統制経路の結合試験が必要。経路は本資料で確定しない。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章：導入後（基盤の実利用・維持・事故対応）／全体
対象：全体：個人・チーム・ジョブの合計負荷と、業務を止めない仕組み
対応ページ：p.12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R28 並列・再試行で費用が超過する
発生箇所：全体｜予算・課金・配賦
シナリオ：応答不明の予約を解放した後も課金され、二重精算・誤配賦や共通費用の見落としが起きる。
技術：予算予約と精算状態を一貫管理。未確定額を保留し上限到達で新規受付停止。
契約：料金・価格変更・課金異常の訂正手続を確認する。
運用：利用台帳と請求を照合し、検査・通信・保管・固定費も集計する。
確認事項：AWS Budgetsの通知を即時停止の代替にしない。対象費用と総額を区別する。
責任者候補：Gateway／費用管理
検証状況：実機・個別契約・銀行内部規程の確認は未実施。下記は受入試験の提案であり合格結果ではない。
旧61件の対応：L51 並列呼出で同じ残予算を二重使用する／L52 応答不明・取消時の精算で予算を過大解放する／L54 AWS請求を個人・チーム・ジョブへ正しく配賦できない／L55 モデル料金以外や価格変更で総額を超える
参考・詳細な統制案と受入試験：
**発生箇所：** Gateway予算管理・各ジョブ  
**時点：** 導入・運用 ／ **優先度：** A ／ **現行資料：** 会計と実行制御の混同
**起こり得る事故：** 複数要求が同じ残高を参照し、取消・再試行中も課金が進む。モデル以外の検査・保存等の費用が集計から抜ける。
| 統制 | 対応案 |
|---|---|
| 技術 | 対象費用を定義し、呼出し前の最大見込額を原子的に確保、応答後に精算する。不明な請求は保守的に保持し、同時実行・出力上限も課す。 |
| 契約 | 単価、課金単位、取消・失敗時課金、変更条件、請求明細の取得可能範囲を確認する。 |
| 運用 | 内部利用台帳と請求を突合し、予算対象外のAWS費用を別管理する。AWS総請求額の絶対上限とは表現しない。 |
**確認試験・必要な証跡：** 残高付近で並列・再試行・取消・応答欠落を起こして、事前確保の範囲外に新規呼出しを発行しないことを確認する。  
**担当の候補：** Gateway／費用管理  
**参照観点／製品仕様：** [A10][A9][F3]
R29 ループで全体の処理が滞留する
発生箇所：全体｜ジョブ・共有資源
シナリオ：再試行・二重起動・長大入力が続き、共有クォータとRunnerを占有して通常開発を止める。
技術：ループ・重複を抑止し、チーム別枠と公平なキューで資源を隔離する。
契約：クォータ不足や容量制限について、提供者へ支援・増枠可否を確認する。
運用：待ち時間・キュー長・反復回数を監視し、問題のジョブ・利用者を停止する。
確認事項：重複率・待ち時間・資源占有率と、他チームへの波及を確認する。
責任者候補：CI／性能管理
検証状況：実機・個別契約・銀行内部規程の確認は未実施。下記は受入試験の提案であり合格結果ではない。
旧61件の対応：L53 ループ・大量MR・長大入力で資源を占有する
参考・詳細な統制案と受入試験：
**発生箇所：** Agent・MRイベント・キュー・共有クォータ  
**時点：** 導入・運用 ／ **優先度：** A ／ **現行資料：** 負荷隔離の不足
**起こり得る事故：** コメント起点の再実行、同一変更の重複、長い再試行が増幅し、他チームのレビューや通常開発も滞留する。
| 統制 | 対応案 |
|---|---|
| 技術 | イベント起点と結果投稿を識別し、冪等キー・最新対象だけの実行・再試行上限・チーム別同時実行枠・公平なキューを設ける。 |
| 契約 | サービス上限、容量・レート制限と支援範囲を確認し、SLAで処理容量まで保証されるとは扱わない。 |
| 運用 | キュー長・待ち時間・重複率を監視し、異常利用者・ジョブだけを止められるようにする。 |
**確認試験・必要な証跡：** 重複イベントと一部チームの大量要求で、無限再帰が起きず他チームの許容待ち時間を維持できるか確認する。  
**担当の候補：** CI／性能管理  
**参照観点／製品仕様：** [F3][A10]
R30 基盤障害で開発・改修が止まる
発生箇所：全体｜業務継続と復旧
シナリオ：認証・回線・鍵等が停止し、無検査の経路や未承認地域への切替で復旧しようとする。
技術：障害箇所を検知・隔離し、承認済み構成へ復旧。復元設定の健全性も照合。
契約：復旧支援を受け、停止・再開見込みと提供者側の影響範囲を確認する。
運用：非AIレビュー等へ切替。安全条件と業務整合を確認した後に再開する。
確認事項：依存先の可用性、復旧時間、手動代替の能力、復元後の整合を確認する。
責任者候補：運用責任者／BCP担当
検証状況：実機・個別契約・銀行内部規程の確認は未実施。下記は受入試験の提案であり合格結果ではない。
旧61件の対応：L46 モデル以外の単一点で開発・レビューが止まる／L47 障害時の代替運用が未審査で安全条件を壊す／L49 バックアップから不正設定や誤結果を復元する／L50 既存インフラの統制を引き継いだと思い込む／L59 サービス停止・条件変更から退出できない
参考・詳細な統制案と受入試験：
**発生箇所：** IdP・DNS・回線・Gateway・KMS・保存・Bedrock  
**時点：** 導入・運用 ／ **優先度：** A ／ **現行資料：** 依存先と代替手順の不足
**起こり得る事故：** 認証、DNS、証明書、暗号鍵、監査保存等の停止で業務が止まり、無検査経路へ逃げるか、未レビュー変更を本番へ出す。
| 統制 | 対応案 |
|---|---|
| 技術 | 依存関係と単一障害点、国内条件を満たす復旧・バックアップを設計する。安全を維持した手動代替を用意する。 |
| 契約 | 障害通知、復旧支援、停止・終了条件、データ取出し、代替サービスへの移行条件を確認する。 |
| 運用 | 影響する重要業務・復旧目標・許容停止を定め、非AIのレビュー要員と復元試験を確保する。 |
**確認試験・必要な証跡：** 各依存先の停止と復元を訓練し、未完了の明示、承認済み代替、正常復帰時の整合まで確認する。  
**担当の候補：** 運用責任者／BCP担当  
**参照観点／製品仕様：** [F3][F4][A1]
[A10] AWS Budgets
https://docs.aws.amazon.com/cost-management/latest/userguide/budgets-managing-costs.html
集計・通知に遅延。呼出前の厳密な上限制御とは区別。
[A9] AWS Bedrock モデル呼出しログ
https://docs.aws.amazon.com/bedrock/latest/userguide/model-invocation-logging.html
記録されるAPI・内容・保存先を採用方式ごとに確認。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
[A1] AWS Bedrock VPCエンドポイント
https://docs.aws.amazon.com/bedrock/latest/userguide/vpc-interface-endpoints.html
PrivateLinkは私設接続。Gateway経由の強制は認可・通信設計で別途実現。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章：導入後（基盤の実利用・維持・事故対応）／全体
対象：全体：検知→停止→調査→報告→復旧を複数部門・委託先で実施
対応ページ：p.13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R31 事故や承認の根拠を追えない
発生箇所：全体｜端末→AWS→承認の証跡
シナリオ：ログ欠落・時刻ずれ・削除・鍵喪失で、何を送り何を実行したかつながらなくなる。
技術：記録の連続性と時刻を監視し、改ざん防止・鍵保全・分離保管を維持する。
契約：提供者・運用委託先に記録保全と必要情報の提出を求める。
運用：追跡演習を行い、欠落は即時調査。ハッシュだけで内容を復元できるとはしない。
確認事項：本人・対象版・モデル・指示版・実操作・結果・承認のつながりを確認する。
責任者候補：監査ログ管理／内部監査
検証状況：実機・個別契約・銀行内部規程の確認は未実施。下記は受入試験の提案であり合格結果ではない。
旧61件の対応：L20 管理者が単独で防御と証跡を解除できる／L41 誰が何を使って判断したか追跡できない／L43 改ざん・時刻ずれ・鍵喪失で証跡を失う
参考・詳細な統制案と受入試験：
**発生箇所：** Gateway・GitLab・AWS→監査保管  
**時点：** 導入・運用 ／ **優先度：** A ／ **現行資料：** 相関・改ざん対策の不足
**起こり得る事故：** 入力の出所、対象版、実行主体、モデル、指示版、実行・投稿・承認がつながらず、管理者による削除や欠落も検出できない。
| 統制 | 対応案 |
|---|---|
| 技術 | 端末／CI／Gatewayの相関IDと時刻、対象版、判定・ツール操作を記録する。監査権限を分離し、必要な保持・改ざん防止と欠落検知を設計する。 |
| 契約 | 証跡提供、保全、当局・監査対応、保持と削除の役割を確認する。 |
| 運用 | 全文保存を一律要求せず、必要な監査メタデータと保全対象内容を分ける。ハッシュだけで内容復元できるとはしない。 |
**確認試験・必要な証跡：** 任意ジョブを入力版から承認まで追跡し、ログ停止・削除・時計ずれが検知されることを確認する。  
**担当の候補：** 監査ログ管理／内部監査  
**参照観点／製品仕様：** [A9][F3]
R32 停止後も操作・課金が続く
発生箇所：全体｜緊急停止・再開
シナリオ：利用者や新規推論を止めても、既存セッション、キュー、子エージェントの実行が継続する。
技術：稼働中処理まで停止・到達遮断し、残ジョブと自動再起動を確認する。
契約：委託先へ緊急隔離・保全を依頼し、実施結果を取得する。
運用：業務影響と証拠保全を判断し、原因解消と残処理確認後に再開承認する。
確認事項：停止命令ではなく、残プロセス・通信・再起動・課金の収束を確認する。
責任者候補：CSIRT／運用責任者
検証状況：実機・個別契約・銀行内部規程の確認は未実施。下記は受入試験の提案であり合格結果ではない。
旧61件の対応：L18 失効したはずの資格情報を継続利用できる／L25 記憶・サブエージェントに不正指示が残る／L48 停止指示後も子プロセスや既発行権限が動く
参考・詳細な統制案と受入試験：
**発生箇所：** 利用者・資格情報・キュー・稼働Agent  
**時点：** 導入・運用 ／ **優先度：** A ／ **現行資料：** 緊急停止の未記載
**起こり得る事故：** アカウントや新規推論だけを止めても、発行済みセッション、既存接続、キュー、ローカル子プロセスが処理を継続する。
| 統制 | 対応案 |
|---|---|
| 技術 | 新規要求拒否、資格情報の無効化又は到達遮断、キュー停止、稼働プロセス終了を連動させる。停止後の再起動も管理する。 |
| 契約 | 緊急停止・隔離・調査協力を行う主体と連絡先を、運用委託・サポート条件に定める。 |
| 運用 | 停止権限と発動条件、再開承認を決め、業務影響と証拠保全を両立させる。 |
**確認試験・必要な証跡：** 稼働中ジョブと失効前の模擬セッションを用い、停止後に新規送信・ツール操作・自動再開が継続しないことを確認する。  
**担当の候補：** CSIRT／運用責任者  
**参照観点／製品仕様：** [F3][G2][G1]
R33 漏えい・不正操作への対応が遅れる
発生箇所：全体｜検知・調査・報告
シナリオ：兆候を放置し、送信先・対象情報の特定と、必要な報告・本人通知の判断が遅れる。
技術：異常を通知し、ジョブ・資料・宛先を抽出して被害範囲を絞り込む。
契約：提供者へ事故通知・調査・保全を求め、未回答は窓口へエスカレーションする。
運用：CSIRTが封じ込め、法務等が報告対象・期限を判断し、再発防止まで追跡する。
確認事項：発見から封じ込め・影響特定・報告判断までの経過と滞留を確認する。
責任者候補：CSIRT／法務・個人情報保護
検証状況：実機・個別契約・銀行内部規程の確認は未実施。下記は受入試験の提案であり合格結果ではない。
旧61件の対応：L45 漏えい疑いへの封じ込め・報告が遅れる
参考・詳細な統制案と受入試験：
**発生箇所：** 監視→CSIRT→法務・当局等  
**時点：** 導入・運用 ／ **優先度：** A ／ **現行資料：** 事故後の実務不足
**起こり得る事故：** 提供者からの通知待ち、ログ不足、連絡先不備により、影響範囲の把握、封じ込め、必要な当局報告・本人通知が遅れる。
| 統制 | 対応案 |
|---|---|
| 技術 | 漏えい・不正操作・検査停止・大量利用・ログ欠落を検知し、対象ジョブ・資料・宛先を迅速に抽出できるようにする。 |
| 契約 | 事故通知、調査協力、証拠保全、再委託先との連絡、報告に必要な情報の提供を確認する。 |
| 運用 | 銀行の報告主体を明確にし、法務・個人情報保護・CSIRTが対象と適用期限を判定する訓練を行う。 |
**確認試験・必要な証跡：** 模擬漏えいで発見から封じ込め、影響特定、報告判断、再発防止までの手順・所要時間・記録を検証する。  
**担当の候補：** CSIRT／法務・個人情報保護  
**参照観点／製品仕様：** [F3][P2]
[A9] AWS Bedrock モデル呼出しログ
https://docs.aws.amazon.com/bedrock/latest/userguide/model-invocation-logging.html
記録されるAPI・内容・保存先を採用方式ごとに確認。
[F3] 金融庁 金融分野のサイバーセキュリティガイドライン
https://www.fsa.go.jp/common/law/cybersecurity_guideline.pdf
2.1〜2.6の態勢、資産・境界、権限、防御、検知、対応・復旧、委託を参照。
[G2] GitLab Runner Security
https://docs.gitlab.com/runner/security/
任意コード実行・共有ホスト・特権・資格情報のリスク。
[G1] GitLab AWS OIDC
https://docs.gitlab.com/ci/cloud_services/aws/
非公開GitLabの発行者・署名鍵の到達性と保護、信頼条件が必要。
[P2] 個人情報保護委員会 漏えい等の対応
https://www.ppc.go.jp/personalinfo/legal/leakAction/
報告・本人通知の対象と期限は法務等が個別に確認。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章：導入後（基盤の実利用・維持・事故対応）／全体
対象：全体：銀行としての承認・法務判断・委託管理・安全な利用終了
対応ページ：p.14
本資料のR01–R36は「bank_ai_adversarial_risk_review.md」の36シナリオIDを継承。旧61件台帳は別のR番号体系のためL01–L61として対応を保存。
技術・契約・運用の三列は相互補完。社内規程・教育を契約と誤分類しない。契約条件を取得済みと扱わない。
R34 例外が常態化し統制が外れる
発生箇所：全体｜導入承認・責任分担
シナリオ：管理者が単独で防御と証跡を解除し、無承認利用や期限切れの例外が放置される。
技術：職務分離と期限付き許可を維持し、設定差分・例外失効を検知する。
契約：運用委託の無承認変更・権限超過を点検し、是正を求める。
運用：責任者が残存リスクを再評価。リスク管理・内部監査が実効性を確認する。
確認事項：単独の特権変更、無承認利用、期限切れ例外、継承統制の欠落を確認する。
責任者候補：業務責任者／リスク管理／内部監査
検証状況：実機・個別契約・銀行内部規程の確認は未実施。下記は受入試験の提案であり合格結果ではない。
旧61件の対応：L01 残存リスクを誰も引き受けない／L02 FISC等への適合を根拠なく説明する／L05 確認作業を担う人員・能力が不足する／L20 管理者が単独で防御と証跡を解除できる／L50 既存インフラの統制を引き継いだと思い込む／L58 事業者の認証・監査報告を自社設定の安全証拠と誤認する
参考・詳細な統制案と受入試験：
**発生箇所：** 全体ガバナンス・導入判定・例外管理  
**時点：** 導入・運用 ／ **優先度：** A ／ **現行資料：** 責任の具体化不足
**起こり得る事故：** 開発部門だけで許可範囲・例外を拡大し、管理者が安全設定・予算・証跡を一括変更できる。誰も残るリスクを引き受けない。
| 統制 | 対応案 |
|---|---|
| 技術 | 台帳、役割分離、設定変更・例外の記録、期限付き許可を整備する。既存の資産・特権・物理・委託統制の適用も確認する。 |
| 契約 | 委託先の担当範囲・権限・監査協力を定めるが、社内の利用規程・教育・承認は運用統制へ分類する。 |
| 運用 | リスク所有者、受容権限、二線の牽制・三線の監査、開始条件、利用停止条件を定める。 |
**確認試験・必要な証跡：** 重大な未確認事項があると導入判定を通らず、例外には承認者・期限・代替策・再審査が残ることを確認する。  
**担当の候補：** 業務責任者／リスク管理／内部監査  
**参照観点／製品仕様：** [F1][F2][F3][F4]
R35 権利違反・用途逸脱が起きる
発生箇所：全体｜利用範囲・法務・知財
シナリオ：許諾のない設計書を入力し、条件違反の生成コードを配布する。顧客判断へ無断転用する。
技術：資料・成果物の許諾を追跡し、未承認のデータ持込・用途拡大を止める。
契約：権利者・委託先との許諾・修補条件を確認し、問題のある利用を是正する。
運用：法務審査と成果物検収を実施。顧客への影響・公平性を追加評価する。
確認事項：入力元・ライセンス・配布先・業務への適用範囲を確認する。
責任者候補：法務／情報管理／業務責任者
検証状況：実機・個別契約・銀行内部規程の確認は未実施。下記は受入試験の提案であり合格結果ではない。
旧61件の対応：L03 開発支援の承認を本番・顧客判断に流用する／L04 第三者のコード・設計資料を無断利用する／L35 顧客処理コードに不当な条件や業務統制欠落を入れる
参考・詳細な統制案と受入試験：
**発生箇所：** 資料・生成コード・業務への適用  
**時点：** 導入・変更・運用 ／ **優先度：** A ／ **現行資料：** 横断注記だけでは不足
**起こり得る事故：** 第三者コード・設計書の利用許諾、個人データの取扱い、秘密保持、OSS条件を確認せず入力・配布する。開発支援を顧客判断へ拡大する。
| 統制 | 対応案 |
|---|---|
| 技術 | 持込資料の分類・アクセス制限、依存物と成果物のライセンス確認を行い、未承認用途・データを利用させない。 |
| 契約 | 個人情報・秘密保持・データ利用・知財・OSS・責任分担を実際の用途と契約条件で審査する。外国法域や個別制度の適用も個別確認する。 |
| 運用 | 法務・コンプライアンスの審査を組み込み、対顧客判断や公平性が関わる用途への拡大は追加評価する。 |
**確認試験・必要な証跡：** 入力権限と成果物利用条件を追跡でき、禁止資料・用途拡大が承認なしに開始されないことを確認する。  
**担当の候補：** 法務／情報管理／業務責任者  
**参照観点／製品仕様：** [F2][F4][P1]
R36 提供終了や契約不備で継続不能
発生箇所：全体｜委託管理・終了・移行
シナリオ：廃止・停止・値上げや再委託変更に対応できず、情報の返却・削除・証拠保全も追跡できない。
技術：依存と変更を把握し、移行・停止・返却・削除の対象を追跡する。
契約：通知・返却・保全・削除を適用条件に従い求め、不足は正式に再判断する。
運用：委託先を再評価し、退出演習と終了確認を行う。条件外の継続を認めない。
確認事項：廃止通知、代替可否、集中依存、残存コピー、証跡保持を確認する。
責任者候補：調達法務／委託先管理／業務責任者
検証状況：実機・個別契約・銀行内部規程の確認は未実施。下記は受入試験の提案であり合格結果ではない。
旧61件の対応：L55 モデル料金以外や価格変更で総額を超える／L56 契約の希望条件を確保済みとして扱う／L59 サービス停止・条件変更から退出できない／L60 終了時の消去・返却・証跡保全が両立しない
参考・詳細な統制案と受入試験：
**発生箇所：** AWS・モデル・Gateway等の供給者  
**時点：** 導入・運用・終了 ／ **優先度：** A ／ **現行資料：** 監査権・終了管理の不足
**起こり得る事故：** 監査・変更通知・データ削除等の希望条件が契約に存在しない。サービス停止・モデル廃止・供給者集中時に代替・退出できない。
| 統制 | 対応案 |
|---|---|
| 技術 | 依存台帳、設定・資料・評価・証跡の移行性を確保し、必要な代替や非AI手段を検証する。再委託等の実体を整理する。 |
| 契約 | 契約原本で監査・当局対応・事故通知・処理地域・再委託・変更・終了・削除を確認する。交渉不能な不足は成立済みとせず残余リスクとして扱う。 |
| 運用 | 定期的な委託先評価、終了・移行演習、重要な依存の集中度と維持費を確認する。 |
**確認試験・必要な証跡：** 必要な成果物・証跡を取出して代替又は手動運用へ移れることを確認し、未充足条項には受容判断があることを確認する。  
**担当の候補：** 調達法務／委託先管理／業務責任者  
**参照観点／製品仕様：** [F3][F4][A6][A7]
[F1] FISC 安全対策基準・解説書 第14版 公表案内
https://www.fisc.or.jp/topics/007222.php
公表・改訂内容を確認。基準本文の逐条照合は未実施。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
[P1] 個人情報保護委員会 クラウド取扱い Q7-53
https://www.ppc.go.jp/all_faq_index/faq1-q7-53/
第三者提供・委託等は契約と取扱いの実態で個別判断。
[A6] AWS Bedrock データ保護
https://docs.aws.amazon.com/bedrock/latest/userguide/data-protection.html
責任共有、資格情報・ログ・メタデータの保護。
[A7] AWS Bedrock データ保持
https://docs.aws.amazon.com/bedrock/latest/userguide/data-retention.html
保持はモデル・API・設定を個別確認。学習不使用とは区別。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スライドは開始条件の提案。数値・頻度・担当者・合否は銀行側で決定する。緊急停止時間・復旧時間・検査能力・許容費用・対象業務の重要性等は未設定。未充足を形式的に受容するのでなく、適用義務・許容範囲・残存影響を権限者が確認する。
[F1] FISC 安全対策基準・解説書 第14版 公表案内
https://www.fisc.or.jp/topics/007222.php
公表・改訂内容を確認。基準本文の逐条照合は未実施。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
[P1] 個人情報保護委員会 クラウド取扱い Q7-53
https://www.ppc.go.jp/all_faq_index/faq1-q7-53/
第三者提供・委託等は契約と取扱いの実態で個別判断。
[P2] 個人情報保護委員会 漏えい等の対応
https://www.ppc.go.jp/personalinfo/legal/leakAction/
報告・本人通知の対象と期限は法務等が個別に確認。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敵対的点検の実施範囲は既存報告・台帳の再構成と公開仕様照合。実環境の脆弱性診断や受入試験の合格を主張しない。
旧台帳のR01–R61は本資料でL01–L61と呼び直し、本資料のR01–R36と混同しない。全61行に対応先を設定し、72の時点別記載に分解。件数は網羅保証ではない。
追加の連鎖：全文ログ保存→サポート提出→別地域・別保守者へ開示→削除未確認（R20,R21,R31,R36）。
未合意を固定しない：Gateway位置、通信・認証方式、Codex等の具体経路、モデル/API/検査の国内処理、画像対応、設計正本、Executor。行内事前遮断の追加は別承認。
旧61件対応一覧：
L01（旧R01）残存リスクを誰も引き受けない → R34
L02（旧R02）FISC等への適合を根拠なく説明する → R34
L03（旧R03）開発支援の承認を本番・顧客判断に流用する → R35
L04（旧R04）第三者のコード・設計資料を無断利用する → R35
L05（旧R05）確認作業を担う人員・能力が不足する → R26,R34
L06（旧R06）AWS側DLPより手前で行外送信が成立する → R01
L07（旧R07）許可リポジトリ以外の情報を読み込む → R16,R03
L08（旧R08）採用モデルの保持・人手レビュー条件が合わない → R20
L09（旧R09）画像・Excel・圧縮内容が未検査で通過する → R02
L10（旧R10）初回プロンプト以外が検査・制御を迂回する → R04,R24
L11（旧R11）Gatewayを通さず推論APIを直接呼べる → R05
L12（旧R12）エージェント/APIの違いで統制が外れる → R24
L13（旧R13）閉域でも通信の真正性・出口制御が不足する → R04
L14（旧R14）東京接続でも推論・保存が国外へ流れる → R19
L15（旧R15）補助AI・DLP・サポート経路だけ国外処理になる → R19,R21
L16（旧R16）短期認証でも利用主体や対象を取り違える → R06,R07
L17（旧R17）非公開GitLabのOIDCが成立しない／鍵情報が改ざんされる → R07
L18（旧R18）失効したはずの資格情報を継続利用できる → R07,R08,R32
L19（旧R19）利用者・案件の自己申告を認可や課金に使う → R06
L20（旧R20）管理者が単独で防御と証跡を解除できる → R34,R31
L21（旧R21）文書内の命令で目的を乗っ取られる → R10
L22（旧R22）許可コマンドの内側から制約を越える → R11
L23（旧R23）更新APIや本番コマンドを誤実行する → R11,R23
L24（旧R24）検査前の出力や壊れたツール引数を実行する → R23
L25（旧R25）記憶・サブエージェントに不正指示が残る → R03,R10,R32
L26（旧R26）MRの変更でレビュー用制御を改ざんする → R13
L27（旧R27）確認した版とマージする版が違う → R14
L28（旧R28）②未実行・途中終了を指摘なしとして扱う → R15
L29（旧R29）投稿ジョブがAI出力を信用しすぎる → R09
L30（旧R30）共有ホスト・成果物経由で分離を越える → R08,R03
L31（旧R31）もっともらしい誤実装を採用する → R25
L32（旧R32）資料変換・検索の欠落で仕様を取り違える → R17,R18
L33（旧R33）二段階レビューが同じ誤りを追認する → R25
L34（旧R34）人の承認が形式化し偽の根拠を見抜けない → R26
L35（旧R35）顧客処理コードに不当な条件や業務統制欠落を入れる → R25,R35
L36（旧R36）Agent・拡張・MCPの更新で悪性機能が入る → R12
L37（旧R37）依存パッケージや取得先から悪性コードを導入する → R12
L38（旧R38）Runner・ホスト・コンテナの欠陥で隔離を破られる → R11,R12
L39（旧R39）設計書の変換処理自体から侵害される → R12,R17
L40（旧R40）独自Gatewayの不具合で検査や認可が欠落する → R22,R24
L41（旧R41）誰が何を使って判断したか追跡できない → R31
L42（旧R42）ログ・タグ・通知を新たな漏えい先にする → R21
L43（旧R43）改ざん・時刻ずれ・鍵喪失で証跡を失う → R31
L44（旧R44）共有キャッシュ・成果物に案件情報が残る → R03
L45（旧R45）漏えい疑いへの封じ込め・報告が遅れる → R33
L46（旧R46）モデル以外の単一点で開発・レビューが止まる → R30
L47（旧R47）障害時の代替運用が未審査で安全条件を壊す → R30,R19
L48（旧R48）停止指示後も子プロセスや既発行権限が動く → R32
L49（旧R49）バックアップから不正設定や誤結果を復元する → R30,R27
L50（旧R50）既存インフラの統制を引き継いだと思い込む → R30,R34
L51（旧R51）並列呼出で同じ残予算を二重使用する → R28
L52（旧R52）応答不明・取消時の精算で予算を過大解放する → R28
L53（旧R53）ループ・大量MR・長大入力で資源を占有する → R29
L54（旧R54）AWS請求を個人・チーム・ジョブへ正しく配賦できない → R28,R06
L55（旧R55）モデル料金以外や価格変更で総額を超える → R28,R36
L56（旧R56）契約の希望条件を確保済みとして扱う → R36,R20
L57（旧R57）モデル・検査・指示の更新で統制や品質が変わる → R27
L58（旧R58）事業者の認証・監査報告を自社設定の安全証拠と誤認する → R34
L59（旧R59）サービス停止・条件変更から退出できない → R36,R30
L60（旧R60）終了時の消去・返却・証跡保全が両立しない → R36,R21,R03
L61（旧R61）DLPの置換・誤検知でレビュー対象の意味が変わる → R17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FISC 安全対策基準・解説書 第14版 公表案内
https://www.fisc.or.jp/topics/007222.php
公表・改訂内容を確認。基準本文の逐条照合は未実施。
[F2] FISC AI安全対策の観点からの考察（2024-09-24）
https://www.fisc.or.jp/document/public/file/ai_opinion_20240924.pdf
pp.4–8の仕様・設定、情報保護、出力妥当性、態勢・教育を参照。
[F3] 金融庁 金融分野のサイバーセキュリティガイドライン
https://www.fsa.go.jp/common/law/cybersecurity_guideline.pdf
2.1〜2.6の態勢、資産・境界、権限、防御、検知、対応・復旧、委託を参照。
[F4] 金融庁 AIディスカッションペーパー 第1.1版
https://www.fsa.go.jp/news/r7/sonota/20260303/aidp_version1.1.pdf
AIの品質・人の関与・人材・法務等の論点を参照。一律の新規義務ではない。
[P1] 個人情報保護委員会 クラウド取扱い Q7-53
https://www.ppc.go.jp/all_faq_index/faq1-q7-53/
第三者提供・委託等は契約と取扱いの実態で個別判断。
[P2] 個人情報保護委員会 漏えい等の対応
https://www.ppc.go.jp/personalinfo/legal/leakAction/
報告・本人通知の対象と期限は法務等が個別に確認。
適用の注意：銀行の業態に応じた監督指針、FISC本文（技術・運用・設備等）、金融分野の個人情報保護関連基準、当行内部規程を責任者が照合する。金融庁サイバーガイドラインの基本的事項と望ましい事項を同一義務と扱わない。AIディスカッションペーパーは対話のための論点・事例である。FISC第14版の存在と改訂は確認したが、購入・会員向け本文の全項目照合は未実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AWS Bedrock VPCエンドポイント
https://docs.aws.amazon.com/bedrock/latest/userguide/vpc-interface-endpoints.html
PrivateLinkは私設接続。Gateway経由の強制は認可・通信設計で別途実現。
[A2] AWS Bedrock クロスリージョン推論
https://docs.aws.amazon.com/bedrock/latest/userguide/cross-region-inference.html
転送先は推論プロファイルに依存。国内条件はモデル・転送先で確認。
[A3] AWS Guardrails クロスリージョン推論
https://docs.aws.amazon.com/bedrock/latest/userguide/guardrails-cross-region.html
検査処理側の地域条件も別途確認。
[A4] AWS Guardrails ストリーミング
https://docs.aws.amazon.com/bedrock/latest/userguide/guardrails-streaming.html
非同期モードは検査前の返却があり、機微情報マスキング非対応。
[A6] AWS Bedrock データ保護
https://docs.aws.amazon.com/bedrock/latest/userguide/data-protection.html
責任共有、資格情報・ログ・メタデータの保護。
[A7] AWS Bedrock データ保持
https://docs.aws.amazon.com/bedrock/latest/userguide/data-retention.html
保持はモデル・API・設定を個別確認。学習不使用とは区別。
[A8] AWS Bedrock 不正利用検知
https://docs.aws.amazon.com/bedrock/latest/userguide/abuse-detection.html
特定モデルの保持・AWS人手レビュー等の条件を個別に確認。
[A9] AWS Bedrock モデル呼出しログ
https://docs.aws.amazon.com/bedrock/latest/userguide/model-invocation-logging.html
記録されるAPI・内容・保存先を採用方式ごとに確認。
[A10] AWS Budgets
https://docs.aws.amazon.com/cost-management/latest/userguide/budgets-managing-costs.html
集計・通知に遅延。呼出前の厳密な上限制御とは区別。
[G1] GitLab AWS OIDC
https://docs.gitlab.com/ci/cloud_services/aws/
非公開GitLabの発行者・署名鍵の到達性と保護、信頼条件が必要。
[G2] GitLab Runner Security
https://docs.gitlab.com/runner/security/
任意コード実行・共有ホスト・特権・資格情報のリスク。
[G3] GitLab MR pipelines
https://docs.gitlab.com/ci/pipelines/merge_request_pipelines/
起動条件・審査対象と制御の区別・保護資源利用条件を確認。
[G4] GitLab Project access tokens
https://docs.gitlab.com/user/project/settings/project_access_tokens/
トークン権限はロール・スコープ・版に依存。名称は制限ではない。
[C1] Claude Code on Amazon Bedrock
https://code.claude.com/docs/en/amazon-bedrock
採用版・モデル・プロキシ経路の同時成立を実機で確認する。
[C2] Codex Configuration Reference
https://developers.openai.com/codex/config-reference
採用モデル・APIと統制経路の結合試験が必要。経路は本資料で確定しない。
[A5] AWS GuardrailのIAM強制
https://docs.aws.amazon.com/bedrock/latest/userguide/guardrails-permissions-id.html
適用可能なAPI・条件に限り採用可否を確認。全APIへの自動適用としない。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fisc.or.jp/topics/007222.php" TargetMode="External"/><Relationship Id="rId2" Type="http://schemas.openxmlformats.org/officeDocument/2006/relationships/hyperlink" Target="https://www.fisc.or.jp/document/public/file/ai_opinion_20240924.pdf" TargetMode="External"/><Relationship Id="rId3" Type="http://schemas.openxmlformats.org/officeDocument/2006/relationships/hyperlink" Target="https://www.fsa.go.jp/common/law/cybersecurity_guideline.pdf" TargetMode="External"/><Relationship Id="rId4" Type="http://schemas.openxmlformats.org/officeDocument/2006/relationships/hyperlink" Target="https://www.fsa.go.jp/news/r7/sonota/20260303/aidp_version1.1.pdf" TargetMode="External"/><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aws.amazon.com/bedrock/latest/userguide/vpc-interface-endpoints.html" TargetMode="External"/><Relationship Id="rId2" Type="http://schemas.openxmlformats.org/officeDocument/2006/relationships/hyperlink" Target="https://docs.aws.amazon.com/bedrock/latest/userguide/cross-region-inference.html" TargetMode="External"/><Relationship Id="rId3" Type="http://schemas.openxmlformats.org/officeDocument/2006/relationships/hyperlink" Target="https://docs.aws.amazon.com/bedrock/latest/userguide/guardrails-cross-region.html" TargetMode="External"/><Relationship Id="rId4" Type="http://schemas.openxmlformats.org/officeDocument/2006/relationships/hyperlink" Target="https://docs.aws.amazon.com/bedrock/latest/userguide/guardrails-streaming.html" TargetMode="External"/><Relationship Id="rId5" Type="http://schemas.openxmlformats.org/officeDocument/2006/relationships/hyperlink" Target="https://docs.aws.amazon.com/bedrock/latest/userguide/data-protection.html" TargetMode="External"/><Relationship Id="rId6" Type="http://schemas.openxmlformats.org/officeDocument/2006/relationships/hyperlink" Target="https://docs.aws.amazon.com/bedrock/latest/userguide/data-retention.html" TargetMode="External"/><Relationship Id="rId7" Type="http://schemas.openxmlformats.org/officeDocument/2006/relationships/hyperlink" Target="https://docs.aws.amazon.com/bedrock/latest/userguide/abuse-detection.html" TargetMode="External"/><Relationship Id="rId8" Type="http://schemas.openxmlformats.org/officeDocument/2006/relationships/hyperlink" Target="https://docs.aws.amazon.com/bedrock/latest/userguide/model-invocation-logging.html" TargetMode="External"/><Relationship Id="rId9" Type="http://schemas.openxmlformats.org/officeDocument/2006/relationships/hyperlink" Target="https://docs.aws.amazon.com/cost-management/latest/userguide/budgets-managing-costs.html" TargetMode="External"/><Relationship Id="rId10" Type="http://schemas.openxmlformats.org/officeDocument/2006/relationships/hyperlink" Target="https://docs.gitlab.com/ci/cloud_services/aws/" TargetMode="External"/><Relationship Id="rId11" Type="http://schemas.openxmlformats.org/officeDocument/2006/relationships/hyperlink" Target="https://docs.gitlab.com/runner/security/" TargetMode="External"/><Relationship Id="rId12" Type="http://schemas.openxmlformats.org/officeDocument/2006/relationships/hyperlink" Target="https://docs.gitlab.com/ci/pipelines/merge_request_pipelines/" TargetMode="External"/><Relationship Id="rId13" Type="http://schemas.openxmlformats.org/officeDocument/2006/relationships/hyperlink" Target="https://docs.gitlab.com/user/project/settings/project_access_tokens/" TargetMode="External"/><Relationship Id="rId14" Type="http://schemas.openxmlformats.org/officeDocument/2006/relationships/hyperlink" Target="https://code.claude.com/docs/en/amazon-bedrock" TargetMode="External"/><Relationship Id="rId15" Type="http://schemas.openxmlformats.org/officeDocument/2006/relationships/hyperlink" Target="https://developers.openai.com/codex/config-reference" TargetMode="External"/><Relationship Id="rId16" Type="http://schemas.openxmlformats.org/officeDocument/2006/relationships/hyperlink" Target="https://docs.aws.amazon.com/bedrock/latest/userguide/guardrails-permissions-id.html" TargetMode="External"/><Relationship Id="rId17" Type="http://schemas.openxmlformats.org/officeDocument/2006/relationships/slideLayout" Target="../slideLayouts/slideLayout1.xml"/><Relationship Id="rId18"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資料の見方</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銀行向けAI開発・レビュー基盤｜リスクと対応</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「基盤を整えるときの判断・設定」と「使い続ける中の事故」を分け、発生箇所から対応を追います。</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01 / 30</a:t>
            </a:r>
            <a:endParaRPr lang="en-US" sz="1150" dirty="0"/>
          </a:p>
        </p:txBody>
      </p:sp>
      <p:sp>
        <p:nvSpPr>
          <p:cNvPr id="10" name="Shape 8"/>
          <p:cNvSpPr/>
          <p:nvPr/>
        </p:nvSpPr>
        <p:spPr>
          <a:xfrm>
            <a:off x="594360" y="2414016"/>
            <a:ext cx="6601968" cy="1627632"/>
          </a:xfrm>
          <a:prstGeom prst="roundRect">
            <a:avLst>
              <a:gd name="adj" fmla="val 4494"/>
            </a:avLst>
          </a:prstGeom>
          <a:solidFill>
            <a:srgbClr val="EDF3FA"/>
          </a:solidFill>
          <a:ln w="10160">
            <a:solidFill>
              <a:srgbClr val="EDF3FA"/>
            </a:solidFill>
            <a:prstDash val="solid"/>
          </a:ln>
        </p:spPr>
      </p:sp>
      <p:sp>
        <p:nvSpPr>
          <p:cNvPr id="11" name="Shape 9"/>
          <p:cNvSpPr/>
          <p:nvPr/>
        </p:nvSpPr>
        <p:spPr>
          <a:xfrm>
            <a:off x="7434072" y="2414016"/>
            <a:ext cx="6601968" cy="1627632"/>
          </a:xfrm>
          <a:prstGeom prst="roundRect">
            <a:avLst>
              <a:gd name="adj" fmla="val 4494"/>
            </a:avLst>
          </a:prstGeom>
          <a:solidFill>
            <a:srgbClr val="EDF3FA"/>
          </a:solidFill>
          <a:ln w="10160">
            <a:solidFill>
              <a:srgbClr val="EDF3FA"/>
            </a:solidFill>
            <a:prstDash val="solid"/>
          </a:ln>
        </p:spPr>
      </p:sp>
      <p:sp>
        <p:nvSpPr>
          <p:cNvPr id="12" name="Shape 10"/>
          <p:cNvSpPr/>
          <p:nvPr/>
        </p:nvSpPr>
        <p:spPr>
          <a:xfrm>
            <a:off x="594360" y="4233672"/>
            <a:ext cx="6601968" cy="1627632"/>
          </a:xfrm>
          <a:prstGeom prst="roundRect">
            <a:avLst>
              <a:gd name="adj" fmla="val 4494"/>
            </a:avLst>
          </a:prstGeom>
          <a:solidFill>
            <a:srgbClr val="ECF6F4"/>
          </a:solidFill>
          <a:ln w="10160">
            <a:solidFill>
              <a:srgbClr val="ECF6F4"/>
            </a:solidFill>
            <a:prstDash val="solid"/>
          </a:ln>
        </p:spPr>
      </p:sp>
      <p:sp>
        <p:nvSpPr>
          <p:cNvPr id="13" name="Shape 11"/>
          <p:cNvSpPr/>
          <p:nvPr/>
        </p:nvSpPr>
        <p:spPr>
          <a:xfrm>
            <a:off x="7434072" y="4233672"/>
            <a:ext cx="6601968" cy="1627632"/>
          </a:xfrm>
          <a:prstGeom prst="roundRect">
            <a:avLst>
              <a:gd name="adj" fmla="val 4494"/>
            </a:avLst>
          </a:prstGeom>
          <a:solidFill>
            <a:srgbClr val="ECF6F4"/>
          </a:solidFill>
          <a:ln w="10160">
            <a:solidFill>
              <a:srgbClr val="ECF6F4"/>
            </a:solidFill>
            <a:prstDash val="solid"/>
          </a:ln>
        </p:spPr>
      </p:sp>
      <p:sp>
        <p:nvSpPr>
          <p:cNvPr id="14" name="Text 12"/>
          <p:cNvSpPr/>
          <p:nvPr/>
        </p:nvSpPr>
        <p:spPr>
          <a:xfrm>
            <a:off x="914400" y="1993392"/>
            <a:ext cx="5486400" cy="320040"/>
          </a:xfrm>
          <a:prstGeom prst="rect">
            <a:avLst/>
          </a:prstGeom>
          <a:noFill/>
          <a:ln/>
        </p:spPr>
        <p:txBody>
          <a:bodyPr wrap="square" lIns="0" tIns="0" rIns="0" bIns="0" rtlCol="0" anchor="ctr">
            <a:spAutoFit/>
          </a:bodyPr>
          <a:lstStyle/>
          <a:p>
            <a:pPr indent="0" marL="0">
              <a:buNone/>
            </a:pPr>
            <a:r>
              <a:rPr lang="en-US" sz="2000" b="1" dirty="0">
                <a:solidFill>
                  <a:srgbClr val="142D4E"/>
                </a:solidFill>
                <a:latin typeface="Noto Sans CJK JP" pitchFamily="34" charset="0"/>
                <a:ea typeface="Noto Sans CJK JP" pitchFamily="34" charset="-122"/>
                <a:cs typeface="Noto Sans CJK JP" pitchFamily="34" charset="-120"/>
              </a:rPr>
              <a:t>各構成要素・境界</a:t>
            </a:r>
            <a:endParaRPr lang="en-US" sz="2000" dirty="0"/>
          </a:p>
        </p:txBody>
      </p:sp>
      <p:sp>
        <p:nvSpPr>
          <p:cNvPr id="15" name="Text 13"/>
          <p:cNvSpPr/>
          <p:nvPr/>
        </p:nvSpPr>
        <p:spPr>
          <a:xfrm>
            <a:off x="7772400" y="1993392"/>
            <a:ext cx="5486400" cy="320040"/>
          </a:xfrm>
          <a:prstGeom prst="rect">
            <a:avLst/>
          </a:prstGeom>
          <a:noFill/>
          <a:ln/>
        </p:spPr>
        <p:txBody>
          <a:bodyPr wrap="square" lIns="0" tIns="0" rIns="0" bIns="0" rtlCol="0" anchor="ctr">
            <a:spAutoFit/>
          </a:bodyPr>
          <a:lstStyle/>
          <a:p>
            <a:pPr indent="0" marL="0">
              <a:buNone/>
            </a:pPr>
            <a:r>
              <a:rPr lang="en-US" sz="2000" b="1" dirty="0">
                <a:solidFill>
                  <a:srgbClr val="142D4E"/>
                </a:solidFill>
                <a:latin typeface="Noto Sans CJK JP" pitchFamily="34" charset="0"/>
                <a:ea typeface="Noto Sans CJK JP" pitchFamily="34" charset="-122"/>
                <a:cs typeface="Noto Sans CJK JP" pitchFamily="34" charset="-120"/>
              </a:rPr>
              <a:t>全体</a:t>
            </a:r>
            <a:endParaRPr lang="en-US" sz="2000" dirty="0"/>
          </a:p>
        </p:txBody>
      </p:sp>
      <p:sp>
        <p:nvSpPr>
          <p:cNvPr id="16" name="Text 14"/>
          <p:cNvSpPr/>
          <p:nvPr/>
        </p:nvSpPr>
        <p:spPr>
          <a:xfrm>
            <a:off x="832104" y="2633472"/>
            <a:ext cx="512064" cy="402336"/>
          </a:xfrm>
          <a:prstGeom prst="rect">
            <a:avLst/>
          </a:prstGeom>
          <a:noFill/>
          <a:ln/>
        </p:spPr>
        <p:txBody>
          <a:bodyPr wrap="square" lIns="0" tIns="0" rIns="0" bIns="0" rtlCol="0" anchor="ctr">
            <a:spAutoFit/>
          </a:bodyPr>
          <a:lstStyle/>
          <a:p>
            <a:pPr indent="0" marL="0">
              <a:buNone/>
            </a:pPr>
            <a:r>
              <a:rPr lang="en-US" sz="2200" b="1" dirty="0">
                <a:solidFill>
                  <a:srgbClr val="376895"/>
                </a:solidFill>
                <a:latin typeface="Noto Sans CJK JP" pitchFamily="34" charset="0"/>
                <a:ea typeface="Noto Sans CJK JP" pitchFamily="34" charset="-122"/>
                <a:cs typeface="Noto Sans CJK JP" pitchFamily="34" charset="-120"/>
              </a:rPr>
              <a:t>01</a:t>
            </a:r>
            <a:endParaRPr lang="en-US" sz="2200" dirty="0"/>
          </a:p>
        </p:txBody>
      </p:sp>
      <p:sp>
        <p:nvSpPr>
          <p:cNvPr id="17" name="Text 15"/>
          <p:cNvSpPr/>
          <p:nvPr/>
        </p:nvSpPr>
        <p:spPr>
          <a:xfrm>
            <a:off x="1508760" y="2624328"/>
            <a:ext cx="5285232" cy="329184"/>
          </a:xfrm>
          <a:prstGeom prst="rect">
            <a:avLst/>
          </a:prstGeom>
          <a:noFill/>
          <a:ln/>
        </p:spPr>
        <p:txBody>
          <a:bodyPr wrap="square" lIns="0" tIns="0" rIns="0" bIns="0" rtlCol="0" anchor="ctr">
            <a:spAutoFit/>
          </a:bodyPr>
          <a:lstStyle/>
          <a:p>
            <a:pPr indent="0" marL="0">
              <a:buNone/>
            </a:pPr>
            <a:r>
              <a:rPr lang="en-US" sz="2100" b="1" dirty="0">
                <a:solidFill>
                  <a:srgbClr val="142D4E"/>
                </a:solidFill>
                <a:latin typeface="Noto Sans CJK JP" pitchFamily="34" charset="0"/>
                <a:ea typeface="Noto Sans CJK JP" pitchFamily="34" charset="-122"/>
                <a:cs typeface="Noto Sans CJK JP" pitchFamily="34" charset="-120"/>
              </a:rPr>
              <a:t>導入時｜選定・設計・設定</a:t>
            </a:r>
            <a:endParaRPr lang="en-US" sz="2100" dirty="0"/>
          </a:p>
        </p:txBody>
      </p:sp>
      <p:sp>
        <p:nvSpPr>
          <p:cNvPr id="18" name="Text 16"/>
          <p:cNvSpPr/>
          <p:nvPr/>
        </p:nvSpPr>
        <p:spPr>
          <a:xfrm>
            <a:off x="1508760" y="3136392"/>
            <a:ext cx="5340096" cy="630936"/>
          </a:xfrm>
          <a:prstGeom prst="rect">
            <a:avLst/>
          </a:prstGeom>
          <a:noFill/>
          <a:ln/>
        </p:spPr>
        <p:txBody>
          <a:bodyPr wrap="square" lIns="0" tIns="0" rIns="0" bIns="0" rtlCol="0" anchor="ctr">
            <a:spAutoFit/>
          </a:bodyPr>
          <a:lstStyle/>
          <a:p>
            <a:pPr indent="0" marL="0">
              <a:buNone/>
            </a:pPr>
            <a:r>
              <a:rPr lang="en-US" sz="1680" dirty="0">
                <a:solidFill>
                  <a:srgbClr val="253448"/>
                </a:solidFill>
                <a:latin typeface="Noto Sans CJK JP" pitchFamily="34" charset="0"/>
                <a:ea typeface="Noto Sans CJK JP" pitchFamily="34" charset="-122"/>
                <a:cs typeface="Noto Sans CJK JP" pitchFamily="34" charset="-120"/>
              </a:rPr>
              <a:t>端末、Runner、資料、通信、認証、AWSの</a:t>
            </a:r>
            <a:endParaRPr lang="en-US" sz="1680" dirty="0"/>
          </a:p>
          <a:p>
            <a:pPr indent="0" marL="0">
              <a:buNone/>
            </a:pPr>
            <a:r>
              <a:rPr lang="en-US" sz="1680" dirty="0">
                <a:solidFill>
                  <a:srgbClr val="253448"/>
                </a:solidFill>
                <a:latin typeface="Noto Sans CJK JP" pitchFamily="34" charset="0"/>
                <a:ea typeface="Noto Sans CJK JP" pitchFamily="34" charset="-122"/>
                <a:cs typeface="Noto Sans CJK JP" pitchFamily="34" charset="-120"/>
              </a:rPr>
              <a:t>採用・設定を誤るリスクと、開始前の確認。</a:t>
            </a:r>
            <a:endParaRPr lang="en-US" sz="1680" dirty="0"/>
          </a:p>
        </p:txBody>
      </p:sp>
      <p:sp>
        <p:nvSpPr>
          <p:cNvPr id="19" name="Text 17"/>
          <p:cNvSpPr/>
          <p:nvPr/>
        </p:nvSpPr>
        <p:spPr>
          <a:xfrm>
            <a:off x="6062472" y="2642616"/>
            <a:ext cx="914400" cy="246888"/>
          </a:xfrm>
          <a:prstGeom prst="rect">
            <a:avLst/>
          </a:prstGeom>
          <a:noFill/>
          <a:ln/>
        </p:spPr>
        <p:txBody>
          <a:bodyPr wrap="square" lIns="0" tIns="0" rIns="0" bIns="0" rtlCol="0" anchor="ctr">
            <a:spAutoFit/>
          </a:bodyPr>
          <a:lstStyle/>
          <a:p>
            <a:pPr algn="r" indent="0" marL="0">
              <a:buNone/>
            </a:pPr>
            <a:r>
              <a:rPr lang="en-US" sz="1250" dirty="0">
                <a:solidFill>
                  <a:srgbClr val="65748A"/>
                </a:solidFill>
                <a:latin typeface="Noto Sans CJK JP" pitchFamily="34" charset="0"/>
                <a:ea typeface="Noto Sans CJK JP" pitchFamily="34" charset="-122"/>
                <a:cs typeface="Noto Sans CJK JP" pitchFamily="34" charset="-120"/>
              </a:rPr>
              <a:t>p.03–10</a:t>
            </a:r>
            <a:endParaRPr lang="en-US" sz="1250" dirty="0"/>
          </a:p>
        </p:txBody>
      </p:sp>
      <p:sp>
        <p:nvSpPr>
          <p:cNvPr id="20" name="Text 18"/>
          <p:cNvSpPr/>
          <p:nvPr/>
        </p:nvSpPr>
        <p:spPr>
          <a:xfrm>
            <a:off x="7671816" y="2633472"/>
            <a:ext cx="512064" cy="402336"/>
          </a:xfrm>
          <a:prstGeom prst="rect">
            <a:avLst/>
          </a:prstGeom>
          <a:noFill/>
          <a:ln/>
        </p:spPr>
        <p:txBody>
          <a:bodyPr wrap="square" lIns="0" tIns="0" rIns="0" bIns="0" rtlCol="0" anchor="ctr">
            <a:spAutoFit/>
          </a:bodyPr>
          <a:lstStyle/>
          <a:p>
            <a:pPr indent="0" marL="0">
              <a:buNone/>
            </a:pPr>
            <a:r>
              <a:rPr lang="en-US" sz="2200" b="1" dirty="0">
                <a:solidFill>
                  <a:srgbClr val="376895"/>
                </a:solidFill>
                <a:latin typeface="Noto Sans CJK JP" pitchFamily="34" charset="0"/>
                <a:ea typeface="Noto Sans CJK JP" pitchFamily="34" charset="-122"/>
                <a:cs typeface="Noto Sans CJK JP" pitchFamily="34" charset="-120"/>
              </a:rPr>
              <a:t>02</a:t>
            </a:r>
            <a:endParaRPr lang="en-US" sz="2200" dirty="0"/>
          </a:p>
        </p:txBody>
      </p:sp>
      <p:sp>
        <p:nvSpPr>
          <p:cNvPr id="21" name="Text 19"/>
          <p:cNvSpPr/>
          <p:nvPr/>
        </p:nvSpPr>
        <p:spPr>
          <a:xfrm>
            <a:off x="8348472" y="2624328"/>
            <a:ext cx="5285232" cy="329184"/>
          </a:xfrm>
          <a:prstGeom prst="rect">
            <a:avLst/>
          </a:prstGeom>
          <a:noFill/>
          <a:ln/>
        </p:spPr>
        <p:txBody>
          <a:bodyPr wrap="square" lIns="0" tIns="0" rIns="0" bIns="0" rtlCol="0" anchor="ctr">
            <a:spAutoFit/>
          </a:bodyPr>
          <a:lstStyle/>
          <a:p>
            <a:pPr indent="0" marL="0">
              <a:buNone/>
            </a:pPr>
            <a:r>
              <a:rPr lang="en-US" sz="2100" b="1" dirty="0">
                <a:solidFill>
                  <a:srgbClr val="142D4E"/>
                </a:solidFill>
                <a:latin typeface="Noto Sans CJK JP" pitchFamily="34" charset="0"/>
                <a:ea typeface="Noto Sans CJK JP" pitchFamily="34" charset="-122"/>
                <a:cs typeface="Noto Sans CJK JP" pitchFamily="34" charset="-120"/>
              </a:rPr>
              <a:t>導入時｜全体の整備・承認</a:t>
            </a:r>
            <a:endParaRPr lang="en-US" sz="2100" dirty="0"/>
          </a:p>
        </p:txBody>
      </p:sp>
      <p:sp>
        <p:nvSpPr>
          <p:cNvPr id="22" name="Text 20"/>
          <p:cNvSpPr/>
          <p:nvPr/>
        </p:nvSpPr>
        <p:spPr>
          <a:xfrm>
            <a:off x="8348472" y="3136392"/>
            <a:ext cx="5340096" cy="630936"/>
          </a:xfrm>
          <a:prstGeom prst="rect">
            <a:avLst/>
          </a:prstGeom>
          <a:noFill/>
          <a:ln/>
        </p:spPr>
        <p:txBody>
          <a:bodyPr wrap="square" lIns="0" tIns="0" rIns="0" bIns="0" rtlCol="0" anchor="ctr">
            <a:spAutoFit/>
          </a:bodyPr>
          <a:lstStyle/>
          <a:p>
            <a:pPr indent="0" marL="0">
              <a:buNone/>
            </a:pPr>
            <a:r>
              <a:rPr lang="en-US" sz="1680" dirty="0">
                <a:solidFill>
                  <a:srgbClr val="253448"/>
                </a:solidFill>
                <a:latin typeface="Noto Sans CJK JP" pitchFamily="34" charset="0"/>
                <a:ea typeface="Noto Sans CJK JP" pitchFamily="34" charset="-122"/>
                <a:cs typeface="Noto Sans CJK JP" pitchFamily="34" charset="-120"/>
              </a:rPr>
              <a:t>品質基準、費用、継続性、証跡、責任分担、</a:t>
            </a:r>
            <a:endParaRPr lang="en-US" sz="1680" dirty="0"/>
          </a:p>
          <a:p>
            <a:pPr indent="0" marL="0">
              <a:buNone/>
            </a:pPr>
            <a:r>
              <a:rPr lang="en-US" sz="1680" dirty="0">
                <a:solidFill>
                  <a:srgbClr val="253448"/>
                </a:solidFill>
                <a:latin typeface="Noto Sans CJK JP" pitchFamily="34" charset="0"/>
                <a:ea typeface="Noto Sans CJK JP" pitchFamily="34" charset="-122"/>
                <a:cs typeface="Noto Sans CJK JP" pitchFamily="34" charset="-120"/>
              </a:rPr>
              <a:t>契約を整えないまま導入するリスク。</a:t>
            </a:r>
            <a:endParaRPr lang="en-US" sz="1680" dirty="0"/>
          </a:p>
        </p:txBody>
      </p:sp>
      <p:sp>
        <p:nvSpPr>
          <p:cNvPr id="23" name="Text 21"/>
          <p:cNvSpPr/>
          <p:nvPr/>
        </p:nvSpPr>
        <p:spPr>
          <a:xfrm>
            <a:off x="12902184" y="2642616"/>
            <a:ext cx="914400" cy="246888"/>
          </a:xfrm>
          <a:prstGeom prst="rect">
            <a:avLst/>
          </a:prstGeom>
          <a:noFill/>
          <a:ln/>
        </p:spPr>
        <p:txBody>
          <a:bodyPr wrap="square" lIns="0" tIns="0" rIns="0" bIns="0" rtlCol="0" anchor="ctr">
            <a:spAutoFit/>
          </a:bodyPr>
          <a:lstStyle/>
          <a:p>
            <a:pPr algn="r" indent="0" marL="0">
              <a:buNone/>
            </a:pPr>
            <a:r>
              <a:rPr lang="en-US" sz="1250" dirty="0">
                <a:solidFill>
                  <a:srgbClr val="65748A"/>
                </a:solidFill>
                <a:latin typeface="Noto Sans CJK JP" pitchFamily="34" charset="0"/>
                <a:ea typeface="Noto Sans CJK JP" pitchFamily="34" charset="-122"/>
                <a:cs typeface="Noto Sans CJK JP" pitchFamily="34" charset="-120"/>
              </a:rPr>
              <a:t>p.11–14</a:t>
            </a:r>
            <a:endParaRPr lang="en-US" sz="1250" dirty="0"/>
          </a:p>
        </p:txBody>
      </p:sp>
      <p:sp>
        <p:nvSpPr>
          <p:cNvPr id="24" name="Text 22"/>
          <p:cNvSpPr/>
          <p:nvPr/>
        </p:nvSpPr>
        <p:spPr>
          <a:xfrm>
            <a:off x="832104" y="4453128"/>
            <a:ext cx="512064" cy="402336"/>
          </a:xfrm>
          <a:prstGeom prst="rect">
            <a:avLst/>
          </a:prstGeom>
          <a:noFill/>
          <a:ln/>
        </p:spPr>
        <p:txBody>
          <a:bodyPr wrap="square" lIns="0" tIns="0" rIns="0" bIns="0" rtlCol="0" anchor="ctr">
            <a:spAutoFit/>
          </a:bodyPr>
          <a:lstStyle/>
          <a:p>
            <a:pPr indent="0" marL="0">
              <a:buNone/>
            </a:pPr>
            <a:r>
              <a:rPr lang="en-US" sz="2200" b="1" dirty="0">
                <a:solidFill>
                  <a:srgbClr val="247970"/>
                </a:solidFill>
                <a:latin typeface="Noto Sans CJK JP" pitchFamily="34" charset="0"/>
                <a:ea typeface="Noto Sans CJK JP" pitchFamily="34" charset="-122"/>
                <a:cs typeface="Noto Sans CJK JP" pitchFamily="34" charset="-120"/>
              </a:rPr>
              <a:t>03</a:t>
            </a:r>
            <a:endParaRPr lang="en-US" sz="2200" dirty="0"/>
          </a:p>
        </p:txBody>
      </p:sp>
      <p:sp>
        <p:nvSpPr>
          <p:cNvPr id="25" name="Text 23"/>
          <p:cNvSpPr/>
          <p:nvPr/>
        </p:nvSpPr>
        <p:spPr>
          <a:xfrm>
            <a:off x="1508760" y="4443984"/>
            <a:ext cx="5285232" cy="329184"/>
          </a:xfrm>
          <a:prstGeom prst="rect">
            <a:avLst/>
          </a:prstGeom>
          <a:noFill/>
          <a:ln/>
        </p:spPr>
        <p:txBody>
          <a:bodyPr wrap="square" lIns="0" tIns="0" rIns="0" bIns="0" rtlCol="0" anchor="ctr">
            <a:spAutoFit/>
          </a:bodyPr>
          <a:lstStyle/>
          <a:p>
            <a:pPr indent="0" marL="0">
              <a:buNone/>
            </a:pPr>
            <a:r>
              <a:rPr lang="en-US" sz="2100" b="1" dirty="0">
                <a:solidFill>
                  <a:srgbClr val="142D4E"/>
                </a:solidFill>
                <a:latin typeface="Noto Sans CJK JP" pitchFamily="34" charset="0"/>
                <a:ea typeface="Noto Sans CJK JP" pitchFamily="34" charset="-122"/>
                <a:cs typeface="Noto Sans CJK JP" pitchFamily="34" charset="-120"/>
              </a:rPr>
              <a:t>導入後｜実利用・日常運用</a:t>
            </a:r>
            <a:endParaRPr lang="en-US" sz="2100" dirty="0"/>
          </a:p>
        </p:txBody>
      </p:sp>
      <p:sp>
        <p:nvSpPr>
          <p:cNvPr id="26" name="Text 24"/>
          <p:cNvSpPr/>
          <p:nvPr/>
        </p:nvSpPr>
        <p:spPr>
          <a:xfrm>
            <a:off x="1508760" y="4956048"/>
            <a:ext cx="5340096" cy="630936"/>
          </a:xfrm>
          <a:prstGeom prst="rect">
            <a:avLst/>
          </a:prstGeom>
          <a:noFill/>
          <a:ln/>
        </p:spPr>
        <p:txBody>
          <a:bodyPr wrap="square" lIns="0" tIns="0" rIns="0" bIns="0" rtlCol="0" anchor="ctr">
            <a:spAutoFit/>
          </a:bodyPr>
          <a:lstStyle/>
          <a:p>
            <a:pPr indent="0" marL="0">
              <a:buNone/>
            </a:pPr>
            <a:r>
              <a:rPr lang="en-US" sz="1680" dirty="0">
                <a:solidFill>
                  <a:srgbClr val="253448"/>
                </a:solidFill>
                <a:latin typeface="Noto Sans CJK JP" pitchFamily="34" charset="0"/>
                <a:ea typeface="Noto Sans CJK JP" pitchFamily="34" charset="-122"/>
                <a:cs typeface="Noto Sans CJK JP" pitchFamily="34" charset="-120"/>
              </a:rPr>
              <a:t>誤送信、AIの誤操作、レビューの見落とし、</a:t>
            </a:r>
            <a:endParaRPr lang="en-US" sz="1680" dirty="0"/>
          </a:p>
          <a:p>
            <a:pPr indent="0" marL="0">
              <a:buNone/>
            </a:pPr>
            <a:r>
              <a:rPr lang="en-US" sz="1680" dirty="0">
                <a:solidFill>
                  <a:srgbClr val="253448"/>
                </a:solidFill>
                <a:latin typeface="Noto Sans CJK JP" pitchFamily="34" charset="0"/>
                <a:ea typeface="Noto Sans CJK JP" pitchFamily="34" charset="-122"/>
                <a:cs typeface="Noto Sans CJK JP" pitchFamily="34" charset="-120"/>
              </a:rPr>
              <a:t>検査漏れ、攻撃や設定変更による事故。</a:t>
            </a:r>
            <a:endParaRPr lang="en-US" sz="1680" dirty="0"/>
          </a:p>
        </p:txBody>
      </p:sp>
      <p:sp>
        <p:nvSpPr>
          <p:cNvPr id="27" name="Text 25"/>
          <p:cNvSpPr/>
          <p:nvPr/>
        </p:nvSpPr>
        <p:spPr>
          <a:xfrm>
            <a:off x="6062472" y="4462272"/>
            <a:ext cx="914400" cy="246888"/>
          </a:xfrm>
          <a:prstGeom prst="rect">
            <a:avLst/>
          </a:prstGeom>
          <a:noFill/>
          <a:ln/>
        </p:spPr>
        <p:txBody>
          <a:bodyPr wrap="square" lIns="0" tIns="0" rIns="0" bIns="0" rtlCol="0" anchor="ctr">
            <a:spAutoFit/>
          </a:bodyPr>
          <a:lstStyle/>
          <a:p>
            <a:pPr algn="r" indent="0" marL="0">
              <a:buNone/>
            </a:pPr>
            <a:r>
              <a:rPr lang="en-US" sz="1250" dirty="0">
                <a:solidFill>
                  <a:srgbClr val="65748A"/>
                </a:solidFill>
                <a:latin typeface="Noto Sans CJK JP" pitchFamily="34" charset="0"/>
                <a:ea typeface="Noto Sans CJK JP" pitchFamily="34" charset="-122"/>
                <a:cs typeface="Noto Sans CJK JP" pitchFamily="34" charset="-120"/>
              </a:rPr>
              <a:t>p.15–22</a:t>
            </a:r>
            <a:endParaRPr lang="en-US" sz="1250" dirty="0"/>
          </a:p>
        </p:txBody>
      </p:sp>
      <p:sp>
        <p:nvSpPr>
          <p:cNvPr id="28" name="Text 26"/>
          <p:cNvSpPr/>
          <p:nvPr/>
        </p:nvSpPr>
        <p:spPr>
          <a:xfrm>
            <a:off x="7671816" y="4453128"/>
            <a:ext cx="512064" cy="402336"/>
          </a:xfrm>
          <a:prstGeom prst="rect">
            <a:avLst/>
          </a:prstGeom>
          <a:noFill/>
          <a:ln/>
        </p:spPr>
        <p:txBody>
          <a:bodyPr wrap="square" lIns="0" tIns="0" rIns="0" bIns="0" rtlCol="0" anchor="ctr">
            <a:spAutoFit/>
          </a:bodyPr>
          <a:lstStyle/>
          <a:p>
            <a:pPr indent="0" marL="0">
              <a:buNone/>
            </a:pPr>
            <a:r>
              <a:rPr lang="en-US" sz="2200" b="1" dirty="0">
                <a:solidFill>
                  <a:srgbClr val="247970"/>
                </a:solidFill>
                <a:latin typeface="Noto Sans CJK JP" pitchFamily="34" charset="0"/>
                <a:ea typeface="Noto Sans CJK JP" pitchFamily="34" charset="-122"/>
                <a:cs typeface="Noto Sans CJK JP" pitchFamily="34" charset="-120"/>
              </a:rPr>
              <a:t>04</a:t>
            </a:r>
            <a:endParaRPr lang="en-US" sz="2200" dirty="0"/>
          </a:p>
        </p:txBody>
      </p:sp>
      <p:sp>
        <p:nvSpPr>
          <p:cNvPr id="29" name="Text 27"/>
          <p:cNvSpPr/>
          <p:nvPr/>
        </p:nvSpPr>
        <p:spPr>
          <a:xfrm>
            <a:off x="8348472" y="4443984"/>
            <a:ext cx="5285232" cy="329184"/>
          </a:xfrm>
          <a:prstGeom prst="rect">
            <a:avLst/>
          </a:prstGeom>
          <a:noFill/>
          <a:ln/>
        </p:spPr>
        <p:txBody>
          <a:bodyPr wrap="square" lIns="0" tIns="0" rIns="0" bIns="0" rtlCol="0" anchor="ctr">
            <a:spAutoFit/>
          </a:bodyPr>
          <a:lstStyle/>
          <a:p>
            <a:pPr indent="0" marL="0">
              <a:buNone/>
            </a:pPr>
            <a:r>
              <a:rPr lang="en-US" sz="2100" b="1" dirty="0">
                <a:solidFill>
                  <a:srgbClr val="142D4E"/>
                </a:solidFill>
                <a:latin typeface="Noto Sans CJK JP" pitchFamily="34" charset="0"/>
                <a:ea typeface="Noto Sans CJK JP" pitchFamily="34" charset="-122"/>
                <a:cs typeface="Noto Sans CJK JP" pitchFamily="34" charset="-120"/>
              </a:rPr>
              <a:t>導入後｜全体の維持・対応</a:t>
            </a:r>
            <a:endParaRPr lang="en-US" sz="2100" dirty="0"/>
          </a:p>
        </p:txBody>
      </p:sp>
      <p:sp>
        <p:nvSpPr>
          <p:cNvPr id="30" name="Text 28"/>
          <p:cNvSpPr/>
          <p:nvPr/>
        </p:nvSpPr>
        <p:spPr>
          <a:xfrm>
            <a:off x="8348472" y="4956048"/>
            <a:ext cx="5340096" cy="630936"/>
          </a:xfrm>
          <a:prstGeom prst="rect">
            <a:avLst/>
          </a:prstGeom>
          <a:noFill/>
          <a:ln/>
        </p:spPr>
        <p:txBody>
          <a:bodyPr wrap="square" lIns="0" tIns="0" rIns="0" bIns="0" rtlCol="0" anchor="ctr">
            <a:spAutoFit/>
          </a:bodyPr>
          <a:lstStyle/>
          <a:p>
            <a:pPr indent="0" marL="0">
              <a:buNone/>
            </a:pPr>
            <a:r>
              <a:rPr lang="en-US" sz="1680" dirty="0">
                <a:solidFill>
                  <a:srgbClr val="253448"/>
                </a:solidFill>
                <a:latin typeface="Noto Sans CJK JP" pitchFamily="34" charset="0"/>
                <a:ea typeface="Noto Sans CJK JP" pitchFamily="34" charset="-122"/>
                <a:cs typeface="Noto Sans CJK JP" pitchFamily="34" charset="-120"/>
              </a:rPr>
              <a:t>費用超過、業務停止、統制の形骸化、</a:t>
            </a:r>
            <a:endParaRPr lang="en-US" sz="1680" dirty="0"/>
          </a:p>
          <a:p>
            <a:pPr indent="0" marL="0">
              <a:buNone/>
            </a:pPr>
            <a:r>
              <a:rPr lang="en-US" sz="1680" dirty="0">
                <a:solidFill>
                  <a:srgbClr val="253448"/>
                </a:solidFill>
                <a:latin typeface="Noto Sans CJK JP" pitchFamily="34" charset="0"/>
                <a:ea typeface="Noto Sans CJK JP" pitchFamily="34" charset="-122"/>
                <a:cs typeface="Noto Sans CJK JP" pitchFamily="34" charset="-120"/>
              </a:rPr>
              <a:t>事故対応の遅れ、提供終了・退出のリスク。</a:t>
            </a:r>
            <a:endParaRPr lang="en-US" sz="1680" dirty="0"/>
          </a:p>
        </p:txBody>
      </p:sp>
      <p:sp>
        <p:nvSpPr>
          <p:cNvPr id="31" name="Text 29"/>
          <p:cNvSpPr/>
          <p:nvPr/>
        </p:nvSpPr>
        <p:spPr>
          <a:xfrm>
            <a:off x="12902184" y="4462272"/>
            <a:ext cx="914400" cy="246888"/>
          </a:xfrm>
          <a:prstGeom prst="rect">
            <a:avLst/>
          </a:prstGeom>
          <a:noFill/>
          <a:ln/>
        </p:spPr>
        <p:txBody>
          <a:bodyPr wrap="square" lIns="0" tIns="0" rIns="0" bIns="0" rtlCol="0" anchor="ctr">
            <a:spAutoFit/>
          </a:bodyPr>
          <a:lstStyle/>
          <a:p>
            <a:pPr algn="r" indent="0" marL="0">
              <a:buNone/>
            </a:pPr>
            <a:r>
              <a:rPr lang="en-US" sz="1250" dirty="0">
                <a:solidFill>
                  <a:srgbClr val="65748A"/>
                </a:solidFill>
                <a:latin typeface="Noto Sans CJK JP" pitchFamily="34" charset="0"/>
                <a:ea typeface="Noto Sans CJK JP" pitchFamily="34" charset="-122"/>
                <a:cs typeface="Noto Sans CJK JP" pitchFamily="34" charset="-120"/>
              </a:rPr>
              <a:t>p.23–26</a:t>
            </a:r>
            <a:endParaRPr lang="en-US" sz="1250" dirty="0"/>
          </a:p>
        </p:txBody>
      </p:sp>
      <p:sp>
        <p:nvSpPr>
          <p:cNvPr id="32" name="Shape 30"/>
          <p:cNvSpPr/>
          <p:nvPr/>
        </p:nvSpPr>
        <p:spPr>
          <a:xfrm>
            <a:off x="594360" y="6117336"/>
            <a:ext cx="13441680" cy="566928"/>
          </a:xfrm>
          <a:prstGeom prst="roundRect">
            <a:avLst>
              <a:gd name="adj" fmla="val 12903"/>
            </a:avLst>
          </a:prstGeom>
          <a:solidFill>
            <a:srgbClr val="142D4E"/>
          </a:solidFill>
          <a:ln w="10160">
            <a:solidFill>
              <a:srgbClr val="142D4E"/>
            </a:solidFill>
            <a:prstDash val="solid"/>
          </a:ln>
        </p:spPr>
      </p:sp>
      <p:sp>
        <p:nvSpPr>
          <p:cNvPr id="33" name="Text 31"/>
          <p:cNvSpPr/>
          <p:nvPr/>
        </p:nvSpPr>
        <p:spPr>
          <a:xfrm>
            <a:off x="859536" y="6245352"/>
            <a:ext cx="11247120" cy="274320"/>
          </a:xfrm>
          <a:prstGeom prst="rect">
            <a:avLst/>
          </a:prstGeom>
          <a:noFill/>
          <a:ln/>
        </p:spPr>
        <p:txBody>
          <a:bodyPr wrap="square" lIns="0" tIns="0" rIns="0" bIns="0" rtlCol="0" anchor="ctr">
            <a:spAutoFit/>
          </a:bodyPr>
          <a:lstStyle/>
          <a:p>
            <a:pPr indent="0" marL="0">
              <a:buNone/>
            </a:pPr>
            <a:r>
              <a:rPr lang="en-US" sz="2000" b="1" dirty="0">
                <a:solidFill>
                  <a:srgbClr val="FFFFFF"/>
                </a:solidFill>
                <a:latin typeface="Noto Sans CJK JP" pitchFamily="34" charset="0"/>
                <a:ea typeface="Noto Sans CJK JP" pitchFamily="34" charset="-122"/>
                <a:cs typeface="Noto Sans CJK JP" pitchFamily="34" charset="-120"/>
              </a:rPr>
              <a:t>各リスクに、技術・契約・運用の対応を組み合わせる</a:t>
            </a:r>
            <a:endParaRPr lang="en-US" sz="2000" dirty="0"/>
          </a:p>
        </p:txBody>
      </p:sp>
      <p:sp>
        <p:nvSpPr>
          <p:cNvPr id="34" name="Text 32"/>
          <p:cNvSpPr/>
          <p:nvPr/>
        </p:nvSpPr>
        <p:spPr>
          <a:xfrm>
            <a:off x="658368" y="6940296"/>
            <a:ext cx="12984480" cy="301752"/>
          </a:xfrm>
          <a:prstGeom prst="rect">
            <a:avLst/>
          </a:prstGeom>
          <a:noFill/>
          <a:ln/>
        </p:spPr>
        <p:txBody>
          <a:bodyPr wrap="square" lIns="0" tIns="0" rIns="0" bIns="0" rtlCol="0" anchor="ctr">
            <a:spAutoFit/>
          </a:bodyPr>
          <a:lstStyle/>
          <a:p>
            <a:pPr indent="0" marL="0">
              <a:buNone/>
            </a:pPr>
            <a:r>
              <a:rPr lang="en-US" sz="1650" dirty="0">
                <a:solidFill>
                  <a:srgbClr val="253448"/>
                </a:solidFill>
                <a:latin typeface="Noto Sans CJK JP" pitchFamily="34" charset="0"/>
                <a:ea typeface="Noto Sans CJK JP" pitchFamily="34" charset="-122"/>
                <a:cs typeface="Noto Sans CJK JP" pitchFamily="34" charset="-120"/>
              </a:rPr>
              <a:t>対象：端末でAI開発 → 構内CIで二段階レビュー → 人が最終承認・マージ</a:t>
            </a:r>
            <a:endParaRPr lang="en-US" sz="1650" dirty="0"/>
          </a:p>
        </p:txBody>
      </p:sp>
      <p:sp>
        <p:nvSpPr>
          <p:cNvPr id="35" name="Text 33"/>
          <p:cNvSpPr/>
          <p:nvPr/>
        </p:nvSpPr>
        <p:spPr>
          <a:xfrm>
            <a:off x="658368" y="7333488"/>
            <a:ext cx="12984480" cy="246888"/>
          </a:xfrm>
          <a:prstGeom prst="rect">
            <a:avLst/>
          </a:prstGeom>
          <a:noFill/>
          <a:ln/>
        </p:spPr>
        <p:txBody>
          <a:bodyPr wrap="square" lIns="0" tIns="0" rIns="0" bIns="0" rtlCol="0" anchor="ctr">
            <a:spAutoFit/>
          </a:bodyPr>
          <a:lstStyle/>
          <a:p>
            <a:pPr indent="0" marL="0">
              <a:buNone/>
            </a:pPr>
            <a:r>
              <a:rPr lang="en-US" sz="1250" dirty="0">
                <a:solidFill>
                  <a:srgbClr val="65748A"/>
                </a:solidFill>
                <a:latin typeface="Noto Sans CJK JP" pitchFamily="34" charset="0"/>
                <a:ea typeface="Noto Sans CJK JP" pitchFamily="34" charset="-122"/>
                <a:cs typeface="Noto Sans CJK JP" pitchFamily="34" charset="-120"/>
              </a:rPr>
              <a:t>対策は提案段階。FISC本文・個別契約・実設定・受入試験の確認は、導入判断までに別途実施します。</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対象範囲・発生箇所</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構成図とリスク一覧を、同じ番号で対応づける</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E＝構成要素、B＝境界。図はリスク位置の対応用であり、製品・API・認証方式の確定図ではありません。</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02 / 30</a:t>
            </a:r>
            <a:endParaRPr lang="en-US" sz="1150" dirty="0"/>
          </a:p>
        </p:txBody>
      </p:sp>
      <p:sp>
        <p:nvSpPr>
          <p:cNvPr id="10" name="Shape 8"/>
          <p:cNvSpPr/>
          <p:nvPr/>
        </p:nvSpPr>
        <p:spPr>
          <a:xfrm>
            <a:off x="566928" y="1920240"/>
            <a:ext cx="8202168" cy="4590288"/>
          </a:xfrm>
          <a:prstGeom prst="roundRect">
            <a:avLst>
              <a:gd name="adj" fmla="val 1594"/>
            </a:avLst>
          </a:prstGeom>
          <a:solidFill>
            <a:srgbClr val="F3F6FA"/>
          </a:solidFill>
          <a:ln w="10160">
            <a:solidFill>
              <a:srgbClr val="D6DFE9"/>
            </a:solidFill>
            <a:prstDash val="solid"/>
          </a:ln>
        </p:spPr>
      </p:sp>
      <p:sp>
        <p:nvSpPr>
          <p:cNvPr id="11" name="Shape 9"/>
          <p:cNvSpPr/>
          <p:nvPr/>
        </p:nvSpPr>
        <p:spPr>
          <a:xfrm>
            <a:off x="9025128" y="1920240"/>
            <a:ext cx="5038344" cy="4590288"/>
          </a:xfrm>
          <a:prstGeom prst="roundRect">
            <a:avLst>
              <a:gd name="adj" fmla="val 1594"/>
            </a:avLst>
          </a:prstGeom>
          <a:solidFill>
            <a:srgbClr val="ECF6F4"/>
          </a:solidFill>
          <a:ln w="10160">
            <a:solidFill>
              <a:srgbClr val="D6DFE9"/>
            </a:solidFill>
            <a:prstDash val="solid"/>
          </a:ln>
        </p:spPr>
      </p:sp>
      <p:sp>
        <p:nvSpPr>
          <p:cNvPr id="12" name="Text 10"/>
          <p:cNvSpPr/>
          <p:nvPr/>
        </p:nvSpPr>
        <p:spPr>
          <a:xfrm>
            <a:off x="813816" y="2039112"/>
            <a:ext cx="2743200" cy="274320"/>
          </a:xfrm>
          <a:prstGeom prst="rect">
            <a:avLst/>
          </a:prstGeom>
          <a:noFill/>
          <a:ln/>
        </p:spPr>
        <p:txBody>
          <a:bodyPr wrap="square" lIns="0" tIns="0" rIns="0" bIns="0" rtlCol="0" anchor="ctr">
            <a:spAutoFit/>
          </a:bodyPr>
          <a:lstStyle/>
          <a:p>
            <a:pPr indent="0" marL="0">
              <a:buNone/>
            </a:pPr>
            <a:r>
              <a:rPr lang="en-US" sz="1800" b="1" dirty="0">
                <a:solidFill>
                  <a:srgbClr val="142D4E"/>
                </a:solidFill>
                <a:latin typeface="Noto Sans CJK JP" pitchFamily="34" charset="0"/>
                <a:ea typeface="Noto Sans CJK JP" pitchFamily="34" charset="-122"/>
                <a:cs typeface="Noto Sans CJK JP" pitchFamily="34" charset="-120"/>
              </a:rPr>
              <a:t>行内環境</a:t>
            </a:r>
            <a:endParaRPr lang="en-US" sz="1800" dirty="0"/>
          </a:p>
        </p:txBody>
      </p:sp>
      <p:sp>
        <p:nvSpPr>
          <p:cNvPr id="13" name="Text 11"/>
          <p:cNvSpPr/>
          <p:nvPr/>
        </p:nvSpPr>
        <p:spPr>
          <a:xfrm>
            <a:off x="9253728" y="2039112"/>
            <a:ext cx="4572000" cy="292608"/>
          </a:xfrm>
          <a:prstGeom prst="rect">
            <a:avLst/>
          </a:prstGeom>
          <a:noFill/>
          <a:ln/>
        </p:spPr>
        <p:txBody>
          <a:bodyPr wrap="square" lIns="0" tIns="0" rIns="0" bIns="0" rtlCol="0" anchor="ctr">
            <a:spAutoFit/>
          </a:bodyPr>
          <a:lstStyle/>
          <a:p>
            <a:pPr indent="0" marL="0">
              <a:buNone/>
            </a:pPr>
            <a:r>
              <a:rPr lang="en-US" sz="1800" b="1" dirty="0">
                <a:solidFill>
                  <a:srgbClr val="247970"/>
                </a:solidFill>
                <a:latin typeface="Noto Sans CJK JP" pitchFamily="34" charset="0"/>
                <a:ea typeface="Noto Sans CJK JP" pitchFamily="34" charset="-122"/>
                <a:cs typeface="Noto Sans CJK JP" pitchFamily="34" charset="-120"/>
              </a:rPr>
              <a:t>AWS｜国内処理を要件とする</a:t>
            </a:r>
            <a:endParaRPr lang="en-US" sz="1800" dirty="0"/>
          </a:p>
        </p:txBody>
      </p:sp>
      <p:sp>
        <p:nvSpPr>
          <p:cNvPr id="14" name="Shape 12"/>
          <p:cNvSpPr/>
          <p:nvPr/>
        </p:nvSpPr>
        <p:spPr>
          <a:xfrm>
            <a:off x="2066544" y="2642616"/>
            <a:ext cx="0" cy="-182880"/>
          </a:xfrm>
          <a:prstGeom prst="line">
            <a:avLst/>
          </a:prstGeom>
          <a:noFill/>
          <a:ln w="22860">
            <a:solidFill>
              <a:srgbClr val="376895"/>
            </a:solidFill>
            <a:prstDash val="solid"/>
            <a:headEnd type="none"/>
            <a:tailEnd type="none"/>
          </a:ln>
        </p:spPr>
      </p:sp>
      <p:sp>
        <p:nvSpPr>
          <p:cNvPr id="15" name="Shape 13"/>
          <p:cNvSpPr/>
          <p:nvPr/>
        </p:nvSpPr>
        <p:spPr>
          <a:xfrm>
            <a:off x="2066544" y="2459736"/>
            <a:ext cx="6784848" cy="0"/>
          </a:xfrm>
          <a:prstGeom prst="line">
            <a:avLst/>
          </a:prstGeom>
          <a:noFill/>
          <a:ln w="22860">
            <a:solidFill>
              <a:srgbClr val="376895"/>
            </a:solidFill>
            <a:prstDash val="solid"/>
            <a:headEnd type="none"/>
            <a:tailEnd type="none"/>
          </a:ln>
        </p:spPr>
      </p:sp>
      <p:sp>
        <p:nvSpPr>
          <p:cNvPr id="16" name="Shape 14"/>
          <p:cNvSpPr/>
          <p:nvPr/>
        </p:nvSpPr>
        <p:spPr>
          <a:xfrm>
            <a:off x="8851392" y="2459736"/>
            <a:ext cx="0" cy="694944"/>
          </a:xfrm>
          <a:prstGeom prst="line">
            <a:avLst/>
          </a:prstGeom>
          <a:noFill/>
          <a:ln w="22860">
            <a:solidFill>
              <a:srgbClr val="376895"/>
            </a:solidFill>
            <a:prstDash val="solid"/>
            <a:headEnd type="none"/>
            <a:tailEnd type="none"/>
          </a:ln>
        </p:spPr>
      </p:sp>
      <p:sp>
        <p:nvSpPr>
          <p:cNvPr id="17" name="Shape 15"/>
          <p:cNvSpPr/>
          <p:nvPr/>
        </p:nvSpPr>
        <p:spPr>
          <a:xfrm>
            <a:off x="8851392" y="3154680"/>
            <a:ext cx="438912" cy="0"/>
          </a:xfrm>
          <a:prstGeom prst="line">
            <a:avLst/>
          </a:prstGeom>
          <a:noFill/>
          <a:ln w="22860">
            <a:solidFill>
              <a:srgbClr val="376895"/>
            </a:solidFill>
            <a:prstDash val="solid"/>
            <a:headEnd type="none"/>
            <a:tailEnd type="triangle"/>
          </a:ln>
        </p:spPr>
      </p:sp>
      <p:sp>
        <p:nvSpPr>
          <p:cNvPr id="18" name="Text 16"/>
          <p:cNvSpPr/>
          <p:nvPr/>
        </p:nvSpPr>
        <p:spPr>
          <a:xfrm>
            <a:off x="6629400" y="2157984"/>
            <a:ext cx="1920240" cy="228600"/>
          </a:xfrm>
          <a:prstGeom prst="rect">
            <a:avLst/>
          </a:prstGeom>
          <a:noFill/>
          <a:ln/>
        </p:spPr>
        <p:txBody>
          <a:bodyPr wrap="square" lIns="0" tIns="0" rIns="0" bIns="0" rtlCol="0" anchor="ctr">
            <a:spAutoFit/>
          </a:bodyPr>
          <a:lstStyle/>
          <a:p>
            <a:pPr indent="0" marL="0">
              <a:buNone/>
            </a:pPr>
            <a:r>
              <a:rPr lang="en-US" sz="1130" dirty="0">
                <a:solidFill>
                  <a:srgbClr val="376895"/>
                </a:solidFill>
                <a:latin typeface="Noto Sans CJK JP" pitchFamily="34" charset="0"/>
                <a:ea typeface="Noto Sans CJK JP" pitchFamily="34" charset="-122"/>
                <a:cs typeface="Noto Sans CJK JP" pitchFamily="34" charset="-120"/>
              </a:rPr>
              <a:t>推論要求・応答</a:t>
            </a:r>
            <a:endParaRPr lang="en-US" sz="1130" dirty="0"/>
          </a:p>
        </p:txBody>
      </p:sp>
      <p:sp>
        <p:nvSpPr>
          <p:cNvPr id="19" name="Shape 17"/>
          <p:cNvSpPr/>
          <p:nvPr/>
        </p:nvSpPr>
        <p:spPr>
          <a:xfrm>
            <a:off x="3246120" y="3108960"/>
            <a:ext cx="768096" cy="0"/>
          </a:xfrm>
          <a:prstGeom prst="line">
            <a:avLst/>
          </a:prstGeom>
          <a:noFill/>
          <a:ln w="19050">
            <a:solidFill>
              <a:srgbClr val="65748A"/>
            </a:solidFill>
            <a:prstDash val="solid"/>
            <a:headEnd type="none"/>
            <a:tailEnd type="triangle"/>
          </a:ln>
        </p:spPr>
      </p:sp>
      <p:sp>
        <p:nvSpPr>
          <p:cNvPr id="20" name="Shape 18"/>
          <p:cNvSpPr/>
          <p:nvPr/>
        </p:nvSpPr>
        <p:spPr>
          <a:xfrm>
            <a:off x="2048256" y="3630168"/>
            <a:ext cx="0" cy="768096"/>
          </a:xfrm>
          <a:prstGeom prst="line">
            <a:avLst/>
          </a:prstGeom>
          <a:noFill/>
          <a:ln w="19050">
            <a:solidFill>
              <a:srgbClr val="65748A"/>
            </a:solidFill>
            <a:prstDash val="solid"/>
            <a:headEnd type="none"/>
            <a:tailEnd type="triangle"/>
          </a:ln>
        </p:spPr>
      </p:sp>
      <p:sp>
        <p:nvSpPr>
          <p:cNvPr id="21" name="Text 19"/>
          <p:cNvSpPr/>
          <p:nvPr/>
        </p:nvSpPr>
        <p:spPr>
          <a:xfrm>
            <a:off x="2221992" y="3913632"/>
            <a:ext cx="1463040" cy="237744"/>
          </a:xfrm>
          <a:prstGeom prst="rect">
            <a:avLst/>
          </a:prstGeom>
          <a:noFill/>
          <a:ln/>
        </p:spPr>
        <p:txBody>
          <a:bodyPr wrap="square" lIns="0" tIns="0" rIns="0" bIns="0" rtlCol="0" anchor="ctr">
            <a:spAutoFit/>
          </a:bodyPr>
          <a:lstStyle/>
          <a:p>
            <a:pPr indent="0" marL="0">
              <a:buNone/>
            </a:pPr>
            <a:r>
              <a:rPr lang="en-US" sz="1200" dirty="0">
                <a:solidFill>
                  <a:srgbClr val="65748A"/>
                </a:solidFill>
                <a:latin typeface="Noto Sans CJK JP" pitchFamily="34" charset="0"/>
                <a:ea typeface="Noto Sans CJK JP" pitchFamily="34" charset="-122"/>
                <a:cs typeface="Noto Sans CJK JP" pitchFamily="34" charset="-120"/>
              </a:rPr>
              <a:t>Git操作</a:t>
            </a:r>
            <a:endParaRPr lang="en-US" sz="1200" dirty="0"/>
          </a:p>
        </p:txBody>
      </p:sp>
      <p:sp>
        <p:nvSpPr>
          <p:cNvPr id="22" name="Shape 20"/>
          <p:cNvSpPr/>
          <p:nvPr/>
        </p:nvSpPr>
        <p:spPr>
          <a:xfrm>
            <a:off x="5486400" y="3630168"/>
            <a:ext cx="0" cy="768096"/>
          </a:xfrm>
          <a:prstGeom prst="line">
            <a:avLst/>
          </a:prstGeom>
          <a:noFill/>
          <a:ln w="19050">
            <a:solidFill>
              <a:srgbClr val="65748A"/>
            </a:solidFill>
            <a:prstDash val="solid"/>
            <a:headEnd type="none"/>
            <a:tailEnd type="triangle"/>
          </a:ln>
        </p:spPr>
      </p:sp>
      <p:sp>
        <p:nvSpPr>
          <p:cNvPr id="23" name="Shape 21"/>
          <p:cNvSpPr/>
          <p:nvPr/>
        </p:nvSpPr>
        <p:spPr>
          <a:xfrm>
            <a:off x="5623560" y="3867912"/>
            <a:ext cx="1188720" cy="265176"/>
          </a:xfrm>
          <a:prstGeom prst="roundRect">
            <a:avLst>
              <a:gd name="adj" fmla="val 27586"/>
            </a:avLst>
          </a:prstGeom>
          <a:solidFill>
            <a:srgbClr val="FFFFFF"/>
          </a:solidFill>
          <a:ln w="10160">
            <a:solidFill>
              <a:srgbClr val="FFFFFF"/>
            </a:solidFill>
            <a:prstDash val="solid"/>
          </a:ln>
        </p:spPr>
      </p:sp>
      <p:sp>
        <p:nvSpPr>
          <p:cNvPr id="24" name="Text 22"/>
          <p:cNvSpPr/>
          <p:nvPr/>
        </p:nvSpPr>
        <p:spPr>
          <a:xfrm>
            <a:off x="5687568" y="3886200"/>
            <a:ext cx="1060704"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B1 参照</a:t>
            </a:r>
            <a:endParaRPr lang="en-US" sz="1100" dirty="0"/>
          </a:p>
        </p:txBody>
      </p:sp>
      <p:sp>
        <p:nvSpPr>
          <p:cNvPr id="25" name="Shape 23"/>
          <p:cNvSpPr/>
          <p:nvPr/>
        </p:nvSpPr>
        <p:spPr>
          <a:xfrm>
            <a:off x="3246120" y="4901184"/>
            <a:ext cx="768096" cy="0"/>
          </a:xfrm>
          <a:prstGeom prst="line">
            <a:avLst/>
          </a:prstGeom>
          <a:noFill/>
          <a:ln w="19050">
            <a:solidFill>
              <a:srgbClr val="65748A"/>
            </a:solidFill>
            <a:prstDash val="solid"/>
            <a:headEnd type="none"/>
            <a:tailEnd type="triangle"/>
          </a:ln>
        </p:spPr>
      </p:sp>
      <p:sp>
        <p:nvSpPr>
          <p:cNvPr id="26" name="Text 24"/>
          <p:cNvSpPr/>
          <p:nvPr/>
        </p:nvSpPr>
        <p:spPr>
          <a:xfrm>
            <a:off x="3410712" y="4553712"/>
            <a:ext cx="457200" cy="201168"/>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B5</a:t>
            </a:r>
            <a:endParaRPr lang="en-US" sz="1150" dirty="0"/>
          </a:p>
        </p:txBody>
      </p:sp>
      <p:sp>
        <p:nvSpPr>
          <p:cNvPr id="27" name="Shape 25"/>
          <p:cNvSpPr/>
          <p:nvPr/>
        </p:nvSpPr>
        <p:spPr>
          <a:xfrm>
            <a:off x="4014216" y="5285232"/>
            <a:ext cx="-768096" cy="0"/>
          </a:xfrm>
          <a:prstGeom prst="line">
            <a:avLst/>
          </a:prstGeom>
          <a:noFill/>
          <a:ln w="19050">
            <a:solidFill>
              <a:srgbClr val="247970"/>
            </a:solidFill>
            <a:prstDash val="solid"/>
            <a:headEnd type="none"/>
            <a:tailEnd type="triangle"/>
          </a:ln>
        </p:spPr>
      </p:sp>
      <p:sp>
        <p:nvSpPr>
          <p:cNvPr id="28" name="Text 26"/>
          <p:cNvSpPr/>
          <p:nvPr/>
        </p:nvSpPr>
        <p:spPr>
          <a:xfrm>
            <a:off x="3337560" y="5449824"/>
            <a:ext cx="576072" cy="201168"/>
          </a:xfrm>
          <a:prstGeom prst="rect">
            <a:avLst/>
          </a:prstGeom>
          <a:noFill/>
          <a:ln/>
        </p:spPr>
        <p:txBody>
          <a:bodyPr wrap="square" lIns="0" tIns="0" rIns="0" bIns="0" rtlCol="0" anchor="ctr">
            <a:spAutoFit/>
          </a:bodyPr>
          <a:lstStyle/>
          <a:p>
            <a:pPr indent="0" marL="0">
              <a:buNone/>
            </a:pPr>
            <a:r>
              <a:rPr lang="en-US" sz="1040" dirty="0">
                <a:solidFill>
                  <a:srgbClr val="247970"/>
                </a:solidFill>
                <a:latin typeface="Noto Sans CJK JP" pitchFamily="34" charset="0"/>
                <a:ea typeface="Noto Sans CJK JP" pitchFamily="34" charset="-122"/>
                <a:cs typeface="Noto Sans CJK JP" pitchFamily="34" charset="-120"/>
              </a:rPr>
              <a:t>結果</a:t>
            </a:r>
            <a:endParaRPr lang="en-US" sz="1040" dirty="0"/>
          </a:p>
        </p:txBody>
      </p:sp>
      <p:sp>
        <p:nvSpPr>
          <p:cNvPr id="29" name="Shape 27"/>
          <p:cNvSpPr/>
          <p:nvPr/>
        </p:nvSpPr>
        <p:spPr>
          <a:xfrm>
            <a:off x="7004304" y="4965192"/>
            <a:ext cx="1609344" cy="0"/>
          </a:xfrm>
          <a:prstGeom prst="line">
            <a:avLst/>
          </a:prstGeom>
          <a:noFill/>
          <a:ln w="22860">
            <a:solidFill>
              <a:srgbClr val="376895"/>
            </a:solidFill>
            <a:prstDash val="solid"/>
            <a:headEnd type="none"/>
            <a:tailEnd type="none"/>
          </a:ln>
        </p:spPr>
      </p:sp>
      <p:sp>
        <p:nvSpPr>
          <p:cNvPr id="30" name="Shape 28"/>
          <p:cNvSpPr/>
          <p:nvPr/>
        </p:nvSpPr>
        <p:spPr>
          <a:xfrm>
            <a:off x="8613648" y="4965192"/>
            <a:ext cx="0" cy="-1124712"/>
          </a:xfrm>
          <a:prstGeom prst="line">
            <a:avLst/>
          </a:prstGeom>
          <a:noFill/>
          <a:ln w="22860">
            <a:solidFill>
              <a:srgbClr val="376895"/>
            </a:solidFill>
            <a:prstDash val="solid"/>
            <a:headEnd type="none"/>
            <a:tailEnd type="none"/>
          </a:ln>
        </p:spPr>
      </p:sp>
      <p:sp>
        <p:nvSpPr>
          <p:cNvPr id="31" name="Shape 29"/>
          <p:cNvSpPr/>
          <p:nvPr/>
        </p:nvSpPr>
        <p:spPr>
          <a:xfrm>
            <a:off x="8613648" y="3840480"/>
            <a:ext cx="676656" cy="0"/>
          </a:xfrm>
          <a:prstGeom prst="line">
            <a:avLst/>
          </a:prstGeom>
          <a:noFill/>
          <a:ln w="22860">
            <a:solidFill>
              <a:srgbClr val="376895"/>
            </a:solidFill>
            <a:prstDash val="solid"/>
            <a:headEnd type="none"/>
            <a:tailEnd type="triangle"/>
          </a:ln>
        </p:spPr>
      </p:sp>
      <p:sp>
        <p:nvSpPr>
          <p:cNvPr id="32" name="Text 30"/>
          <p:cNvSpPr/>
          <p:nvPr/>
        </p:nvSpPr>
        <p:spPr>
          <a:xfrm>
            <a:off x="7351776" y="4626864"/>
            <a:ext cx="822960" cy="228600"/>
          </a:xfrm>
          <a:prstGeom prst="rect">
            <a:avLst/>
          </a:prstGeom>
          <a:noFill/>
          <a:ln/>
        </p:spPr>
        <p:txBody>
          <a:bodyPr wrap="square" lIns="0" tIns="0" rIns="0" bIns="0" rtlCol="0" anchor="ctr">
            <a:spAutoFit/>
          </a:bodyPr>
          <a:lstStyle/>
          <a:p>
            <a:pPr indent="0" marL="0">
              <a:buNone/>
            </a:pPr>
            <a:r>
              <a:rPr lang="en-US" sz="1200" dirty="0">
                <a:solidFill>
                  <a:srgbClr val="376895"/>
                </a:solidFill>
                <a:latin typeface="Noto Sans CJK JP" pitchFamily="34" charset="0"/>
                <a:ea typeface="Noto Sans CJK JP" pitchFamily="34" charset="-122"/>
                <a:cs typeface="Noto Sans CJK JP" pitchFamily="34" charset="-120"/>
              </a:rPr>
              <a:t>推論</a:t>
            </a:r>
            <a:endParaRPr lang="en-US" sz="1200" dirty="0"/>
          </a:p>
        </p:txBody>
      </p:sp>
      <p:sp>
        <p:nvSpPr>
          <p:cNvPr id="33" name="Shape 31"/>
          <p:cNvSpPr/>
          <p:nvPr/>
        </p:nvSpPr>
        <p:spPr>
          <a:xfrm>
            <a:off x="11228832" y="3383280"/>
            <a:ext cx="649224" cy="0"/>
          </a:xfrm>
          <a:prstGeom prst="line">
            <a:avLst/>
          </a:prstGeom>
          <a:noFill/>
          <a:ln w="22860">
            <a:solidFill>
              <a:srgbClr val="247970"/>
            </a:solidFill>
            <a:prstDash val="solid"/>
            <a:headEnd type="none"/>
            <a:tailEnd type="triangle"/>
          </a:ln>
        </p:spPr>
      </p:sp>
      <p:sp>
        <p:nvSpPr>
          <p:cNvPr id="34" name="Shape 32"/>
          <p:cNvSpPr/>
          <p:nvPr/>
        </p:nvSpPr>
        <p:spPr>
          <a:xfrm>
            <a:off x="11274552" y="2862072"/>
            <a:ext cx="475488" cy="265176"/>
          </a:xfrm>
          <a:prstGeom prst="roundRect">
            <a:avLst>
              <a:gd name="adj" fmla="val 27586"/>
            </a:avLst>
          </a:prstGeom>
          <a:solidFill>
            <a:srgbClr val="FFFFFF"/>
          </a:solidFill>
          <a:ln w="10160">
            <a:solidFill>
              <a:srgbClr val="FFFFFF"/>
            </a:solidFill>
            <a:prstDash val="solid"/>
          </a:ln>
        </p:spPr>
      </p:sp>
      <p:sp>
        <p:nvSpPr>
          <p:cNvPr id="35" name="Text 33"/>
          <p:cNvSpPr/>
          <p:nvPr/>
        </p:nvSpPr>
        <p:spPr>
          <a:xfrm>
            <a:off x="11338560" y="2880360"/>
            <a:ext cx="347472" cy="219456"/>
          </a:xfrm>
          <a:prstGeom prst="rect">
            <a:avLst/>
          </a:prstGeom>
          <a:noFill/>
          <a:ln/>
        </p:spPr>
        <p:txBody>
          <a:bodyPr wrap="square" lIns="0" tIns="0" rIns="0" bIns="0" rtlCol="0" anchor="ctr">
            <a:spAutoFit/>
          </a:bodyPr>
          <a:lstStyle/>
          <a:p>
            <a:pPr algn="ctr" indent="0" marL="0">
              <a:buNone/>
            </a:pPr>
            <a:r>
              <a:rPr lang="en-US" sz="1050" b="1" dirty="0">
                <a:solidFill>
                  <a:srgbClr val="247970"/>
                </a:solidFill>
                <a:latin typeface="Noto Sans CJK JP" pitchFamily="34" charset="0"/>
                <a:ea typeface="Noto Sans CJK JP" pitchFamily="34" charset="-122"/>
                <a:cs typeface="Noto Sans CJK JP" pitchFamily="34" charset="-120"/>
              </a:rPr>
              <a:t>B4</a:t>
            </a:r>
            <a:endParaRPr lang="en-US" sz="1050" dirty="0"/>
          </a:p>
        </p:txBody>
      </p:sp>
      <p:sp>
        <p:nvSpPr>
          <p:cNvPr id="36" name="Shape 34"/>
          <p:cNvSpPr/>
          <p:nvPr/>
        </p:nvSpPr>
        <p:spPr>
          <a:xfrm>
            <a:off x="10259568" y="4352544"/>
            <a:ext cx="0" cy="731520"/>
          </a:xfrm>
          <a:prstGeom prst="line">
            <a:avLst/>
          </a:prstGeom>
          <a:noFill/>
          <a:ln w="16510">
            <a:solidFill>
              <a:srgbClr val="65748A"/>
            </a:solidFill>
            <a:prstDash val="dash"/>
            <a:headEnd type="none"/>
            <a:tailEnd type="triangle"/>
          </a:ln>
        </p:spPr>
      </p:sp>
      <p:sp>
        <p:nvSpPr>
          <p:cNvPr id="37" name="Shape 35"/>
          <p:cNvSpPr/>
          <p:nvPr/>
        </p:nvSpPr>
        <p:spPr>
          <a:xfrm>
            <a:off x="12865608" y="4352544"/>
            <a:ext cx="0" cy="731520"/>
          </a:xfrm>
          <a:prstGeom prst="line">
            <a:avLst/>
          </a:prstGeom>
          <a:noFill/>
          <a:ln w="16510">
            <a:solidFill>
              <a:srgbClr val="65748A"/>
            </a:solidFill>
            <a:prstDash val="dash"/>
            <a:headEnd type="none"/>
            <a:tailEnd type="triangle"/>
          </a:ln>
        </p:spPr>
      </p:sp>
      <p:sp>
        <p:nvSpPr>
          <p:cNvPr id="38" name="Shape 36"/>
          <p:cNvSpPr/>
          <p:nvPr/>
        </p:nvSpPr>
        <p:spPr>
          <a:xfrm>
            <a:off x="795528" y="2660904"/>
            <a:ext cx="2450592" cy="969264"/>
          </a:xfrm>
          <a:prstGeom prst="roundRect">
            <a:avLst>
              <a:gd name="adj" fmla="val 7547"/>
            </a:avLst>
          </a:prstGeom>
          <a:solidFill>
            <a:srgbClr val="FFFFFF"/>
          </a:solidFill>
          <a:ln w="10160">
            <a:solidFill>
              <a:srgbClr val="D6DFE9"/>
            </a:solidFill>
            <a:prstDash val="solid"/>
          </a:ln>
        </p:spPr>
      </p:sp>
      <p:sp>
        <p:nvSpPr>
          <p:cNvPr id="39" name="Shape 37"/>
          <p:cNvSpPr/>
          <p:nvPr/>
        </p:nvSpPr>
        <p:spPr>
          <a:xfrm>
            <a:off x="914400" y="2752344"/>
            <a:ext cx="393192" cy="265176"/>
          </a:xfrm>
          <a:prstGeom prst="roundRect">
            <a:avLst>
              <a:gd name="adj" fmla="val 27586"/>
            </a:avLst>
          </a:prstGeom>
          <a:solidFill>
            <a:srgbClr val="EDF3FA"/>
          </a:solidFill>
          <a:ln w="10160">
            <a:solidFill>
              <a:srgbClr val="EDF3FA"/>
            </a:solidFill>
            <a:prstDash val="solid"/>
          </a:ln>
        </p:spPr>
      </p:sp>
      <p:sp>
        <p:nvSpPr>
          <p:cNvPr id="40" name="Text 38"/>
          <p:cNvSpPr/>
          <p:nvPr/>
        </p:nvSpPr>
        <p:spPr>
          <a:xfrm>
            <a:off x="978408" y="2770632"/>
            <a:ext cx="265176" cy="219456"/>
          </a:xfrm>
          <a:prstGeom prst="rect">
            <a:avLst/>
          </a:prstGeom>
          <a:noFill/>
          <a:ln/>
        </p:spPr>
        <p:txBody>
          <a:bodyPr wrap="square" lIns="0" tIns="0" rIns="0" bIns="0" rtlCol="0" anchor="ctr">
            <a:spAutoFit/>
          </a:bodyPr>
          <a:lstStyle/>
          <a:p>
            <a:pPr algn="ctr" indent="0" marL="0">
              <a:buNone/>
            </a:pPr>
            <a:r>
              <a:rPr lang="en-US" sz="1060" b="1" dirty="0">
                <a:solidFill>
                  <a:srgbClr val="142D4E"/>
                </a:solidFill>
                <a:latin typeface="Noto Sans CJK JP" pitchFamily="34" charset="0"/>
                <a:ea typeface="Noto Sans CJK JP" pitchFamily="34" charset="-122"/>
                <a:cs typeface="Noto Sans CJK JP" pitchFamily="34" charset="-120"/>
              </a:rPr>
              <a:t>E1</a:t>
            </a:r>
            <a:endParaRPr lang="en-US" sz="1060" dirty="0"/>
          </a:p>
        </p:txBody>
      </p:sp>
      <p:sp>
        <p:nvSpPr>
          <p:cNvPr id="41" name="Text 39"/>
          <p:cNvSpPr/>
          <p:nvPr/>
        </p:nvSpPr>
        <p:spPr>
          <a:xfrm>
            <a:off x="1399032" y="2756916"/>
            <a:ext cx="1719072" cy="320040"/>
          </a:xfrm>
          <a:prstGeom prst="rect">
            <a:avLst/>
          </a:prstGeom>
          <a:noFill/>
          <a:ln/>
        </p:spPr>
        <p:txBody>
          <a:bodyPr wrap="square" lIns="0" tIns="0" rIns="0" bIns="0" rtlCol="0" anchor="ctr">
            <a:spAutoFit/>
          </a:bodyPr>
          <a:lstStyle/>
          <a:p>
            <a:pPr indent="0" marL="0">
              <a:buNone/>
            </a:pPr>
            <a:r>
              <a:rPr lang="en-US" sz="1650" b="1" dirty="0">
                <a:solidFill>
                  <a:srgbClr val="142D4E"/>
                </a:solidFill>
                <a:latin typeface="Noto Sans CJK JP" pitchFamily="34" charset="0"/>
                <a:ea typeface="Noto Sans CJK JP" pitchFamily="34" charset="-122"/>
                <a:cs typeface="Noto Sans CJK JP" pitchFamily="34" charset="-120"/>
              </a:rPr>
              <a:t>開発者端末</a:t>
            </a:r>
            <a:endParaRPr lang="en-US" sz="1650" dirty="0"/>
          </a:p>
        </p:txBody>
      </p:sp>
      <p:sp>
        <p:nvSpPr>
          <p:cNvPr id="42" name="Text 40"/>
          <p:cNvSpPr/>
          <p:nvPr/>
        </p:nvSpPr>
        <p:spPr>
          <a:xfrm>
            <a:off x="941832" y="3145536"/>
            <a:ext cx="2176272" cy="420624"/>
          </a:xfrm>
          <a:prstGeom prst="rect">
            <a:avLst/>
          </a:prstGeom>
          <a:noFill/>
          <a:ln/>
        </p:spPr>
        <p:txBody>
          <a:bodyPr wrap="square" lIns="0" tIns="0" rIns="0" bIns="0" rtlCol="0" anchor="ctr">
            <a:spAutoFit/>
          </a:bodyPr>
          <a:lstStyle/>
          <a:p>
            <a:pPr indent="0" marL="0">
              <a:buNone/>
            </a:pPr>
            <a:r>
              <a:rPr lang="en-US" sz="1370" dirty="0">
                <a:solidFill>
                  <a:srgbClr val="253448"/>
                </a:solidFill>
                <a:latin typeface="Noto Sans CJK JP" pitchFamily="34" charset="0"/>
                <a:ea typeface="Noto Sans CJK JP" pitchFamily="34" charset="-122"/>
                <a:cs typeface="Noto Sans CJK JP" pitchFamily="34" charset="-120"/>
              </a:rPr>
              <a:t>Claude Code／Codex</a:t>
            </a:r>
            <a:endParaRPr lang="en-US" sz="1370" dirty="0"/>
          </a:p>
          <a:p>
            <a:pPr indent="0" marL="0">
              <a:buNone/>
            </a:pPr>
            <a:r>
              <a:rPr lang="en-US" sz="1370" dirty="0">
                <a:solidFill>
                  <a:srgbClr val="253448"/>
                </a:solidFill>
                <a:latin typeface="Noto Sans CJK JP" pitchFamily="34" charset="0"/>
                <a:ea typeface="Noto Sans CJK JP" pitchFamily="34" charset="-122"/>
                <a:cs typeface="Noto Sans CJK JP" pitchFamily="34" charset="-120"/>
              </a:rPr>
              <a:t>隔離したビルド・テスト</a:t>
            </a:r>
            <a:endParaRPr lang="en-US" sz="1370" dirty="0"/>
          </a:p>
        </p:txBody>
      </p:sp>
      <p:sp>
        <p:nvSpPr>
          <p:cNvPr id="43" name="Shape 41"/>
          <p:cNvSpPr/>
          <p:nvPr/>
        </p:nvSpPr>
        <p:spPr>
          <a:xfrm>
            <a:off x="4014216" y="2660904"/>
            <a:ext cx="2990088" cy="969264"/>
          </a:xfrm>
          <a:prstGeom prst="roundRect">
            <a:avLst>
              <a:gd name="adj" fmla="val 7547"/>
            </a:avLst>
          </a:prstGeom>
          <a:solidFill>
            <a:srgbClr val="FFFFFF"/>
          </a:solidFill>
          <a:ln w="10160">
            <a:solidFill>
              <a:srgbClr val="D6DFE9"/>
            </a:solidFill>
            <a:prstDash val="solid"/>
          </a:ln>
        </p:spPr>
      </p:sp>
      <p:sp>
        <p:nvSpPr>
          <p:cNvPr id="44" name="Shape 42"/>
          <p:cNvSpPr/>
          <p:nvPr/>
        </p:nvSpPr>
        <p:spPr>
          <a:xfrm>
            <a:off x="4133088" y="2752344"/>
            <a:ext cx="393192" cy="265176"/>
          </a:xfrm>
          <a:prstGeom prst="roundRect">
            <a:avLst>
              <a:gd name="adj" fmla="val 27586"/>
            </a:avLst>
          </a:prstGeom>
          <a:solidFill>
            <a:srgbClr val="EDF3FA"/>
          </a:solidFill>
          <a:ln w="10160">
            <a:solidFill>
              <a:srgbClr val="EDF3FA"/>
            </a:solidFill>
            <a:prstDash val="solid"/>
          </a:ln>
        </p:spPr>
      </p:sp>
      <p:sp>
        <p:nvSpPr>
          <p:cNvPr id="45" name="Text 43"/>
          <p:cNvSpPr/>
          <p:nvPr/>
        </p:nvSpPr>
        <p:spPr>
          <a:xfrm>
            <a:off x="4197096" y="2770632"/>
            <a:ext cx="265176" cy="219456"/>
          </a:xfrm>
          <a:prstGeom prst="rect">
            <a:avLst/>
          </a:prstGeom>
          <a:noFill/>
          <a:ln/>
        </p:spPr>
        <p:txBody>
          <a:bodyPr wrap="square" lIns="0" tIns="0" rIns="0" bIns="0" rtlCol="0" anchor="ctr">
            <a:spAutoFit/>
          </a:bodyPr>
          <a:lstStyle/>
          <a:p>
            <a:pPr algn="ctr" indent="0" marL="0">
              <a:buNone/>
            </a:pPr>
            <a:r>
              <a:rPr lang="en-US" sz="1060" b="1" dirty="0">
                <a:solidFill>
                  <a:srgbClr val="142D4E"/>
                </a:solidFill>
                <a:latin typeface="Noto Sans CJK JP" pitchFamily="34" charset="0"/>
                <a:ea typeface="Noto Sans CJK JP" pitchFamily="34" charset="-122"/>
                <a:cs typeface="Noto Sans CJK JP" pitchFamily="34" charset="-120"/>
              </a:rPr>
              <a:t>E4</a:t>
            </a:r>
            <a:endParaRPr lang="en-US" sz="1060" dirty="0"/>
          </a:p>
        </p:txBody>
      </p:sp>
      <p:sp>
        <p:nvSpPr>
          <p:cNvPr id="46" name="Text 44"/>
          <p:cNvSpPr/>
          <p:nvPr/>
        </p:nvSpPr>
        <p:spPr>
          <a:xfrm>
            <a:off x="4617720" y="2756916"/>
            <a:ext cx="2258568" cy="320040"/>
          </a:xfrm>
          <a:prstGeom prst="rect">
            <a:avLst/>
          </a:prstGeom>
          <a:noFill/>
          <a:ln/>
        </p:spPr>
        <p:txBody>
          <a:bodyPr wrap="square" lIns="0" tIns="0" rIns="0" bIns="0" rtlCol="0" anchor="ctr">
            <a:spAutoFit/>
          </a:bodyPr>
          <a:lstStyle/>
          <a:p>
            <a:pPr indent="0" marL="0">
              <a:buNone/>
            </a:pPr>
            <a:r>
              <a:rPr lang="en-US" sz="1650" b="1" dirty="0">
                <a:solidFill>
                  <a:srgbClr val="142D4E"/>
                </a:solidFill>
                <a:latin typeface="Noto Sans CJK JP" pitchFamily="34" charset="0"/>
                <a:ea typeface="Noto Sans CJK JP" pitchFamily="34" charset="-122"/>
                <a:cs typeface="Noto Sans CJK JP" pitchFamily="34" charset="-120"/>
              </a:rPr>
              <a:t>参照資料・API</a:t>
            </a:r>
            <a:endParaRPr lang="en-US" sz="1650" dirty="0"/>
          </a:p>
        </p:txBody>
      </p:sp>
      <p:sp>
        <p:nvSpPr>
          <p:cNvPr id="47" name="Text 45"/>
          <p:cNvSpPr/>
          <p:nvPr/>
        </p:nvSpPr>
        <p:spPr>
          <a:xfrm>
            <a:off x="4160520" y="3145536"/>
            <a:ext cx="2715768" cy="420624"/>
          </a:xfrm>
          <a:prstGeom prst="rect">
            <a:avLst/>
          </a:prstGeom>
          <a:noFill/>
          <a:ln/>
        </p:spPr>
        <p:txBody>
          <a:bodyPr wrap="square" lIns="0" tIns="0" rIns="0" bIns="0" rtlCol="0" anchor="ctr">
            <a:spAutoFit/>
          </a:bodyPr>
          <a:lstStyle/>
          <a:p>
            <a:pPr indent="0" marL="0">
              <a:buNone/>
            </a:pPr>
            <a:r>
              <a:rPr lang="en-US" sz="1370" dirty="0">
                <a:solidFill>
                  <a:srgbClr val="253448"/>
                </a:solidFill>
                <a:latin typeface="Noto Sans CJK JP" pitchFamily="34" charset="0"/>
                <a:ea typeface="Noto Sans CJK JP" pitchFamily="34" charset="-122"/>
                <a:cs typeface="Noto Sans CJK JP" pitchFamily="34" charset="-120"/>
              </a:rPr>
              <a:t>コード・設計書・許可API</a:t>
            </a:r>
            <a:endParaRPr lang="en-US" sz="1370" dirty="0"/>
          </a:p>
          <a:p>
            <a:pPr indent="0" marL="0">
              <a:buNone/>
            </a:pPr>
            <a:r>
              <a:rPr lang="en-US" sz="1370" dirty="0">
                <a:solidFill>
                  <a:srgbClr val="253448"/>
                </a:solidFill>
                <a:latin typeface="Noto Sans CJK JP" pitchFamily="34" charset="0"/>
                <a:ea typeface="Noto Sans CJK JP" pitchFamily="34" charset="-122"/>
                <a:cs typeface="Noto Sans CJK JP" pitchFamily="34" charset="-120"/>
              </a:rPr>
              <a:t>対象版・正本・取得先を確認</a:t>
            </a:r>
            <a:endParaRPr lang="en-US" sz="1370" dirty="0"/>
          </a:p>
        </p:txBody>
      </p:sp>
      <p:sp>
        <p:nvSpPr>
          <p:cNvPr id="48" name="Shape 46"/>
          <p:cNvSpPr/>
          <p:nvPr/>
        </p:nvSpPr>
        <p:spPr>
          <a:xfrm>
            <a:off x="795528" y="4398264"/>
            <a:ext cx="2450592" cy="1188720"/>
          </a:xfrm>
          <a:prstGeom prst="roundRect">
            <a:avLst>
              <a:gd name="adj" fmla="val 6154"/>
            </a:avLst>
          </a:prstGeom>
          <a:solidFill>
            <a:srgbClr val="FFFFFF"/>
          </a:solidFill>
          <a:ln w="10160">
            <a:solidFill>
              <a:srgbClr val="D6DFE9"/>
            </a:solidFill>
            <a:prstDash val="solid"/>
          </a:ln>
        </p:spPr>
      </p:sp>
      <p:sp>
        <p:nvSpPr>
          <p:cNvPr id="49" name="Shape 47"/>
          <p:cNvSpPr/>
          <p:nvPr/>
        </p:nvSpPr>
        <p:spPr>
          <a:xfrm>
            <a:off x="914400" y="4489704"/>
            <a:ext cx="393192" cy="265176"/>
          </a:xfrm>
          <a:prstGeom prst="roundRect">
            <a:avLst>
              <a:gd name="adj" fmla="val 27586"/>
            </a:avLst>
          </a:prstGeom>
          <a:solidFill>
            <a:srgbClr val="EDF3FA"/>
          </a:solidFill>
          <a:ln w="10160">
            <a:solidFill>
              <a:srgbClr val="EDF3FA"/>
            </a:solidFill>
            <a:prstDash val="solid"/>
          </a:ln>
        </p:spPr>
      </p:sp>
      <p:sp>
        <p:nvSpPr>
          <p:cNvPr id="50" name="Text 48"/>
          <p:cNvSpPr/>
          <p:nvPr/>
        </p:nvSpPr>
        <p:spPr>
          <a:xfrm>
            <a:off x="978408" y="4507992"/>
            <a:ext cx="265176" cy="219456"/>
          </a:xfrm>
          <a:prstGeom prst="rect">
            <a:avLst/>
          </a:prstGeom>
          <a:noFill/>
          <a:ln/>
        </p:spPr>
        <p:txBody>
          <a:bodyPr wrap="square" lIns="0" tIns="0" rIns="0" bIns="0" rtlCol="0" anchor="ctr">
            <a:spAutoFit/>
          </a:bodyPr>
          <a:lstStyle/>
          <a:p>
            <a:pPr algn="ctr" indent="0" marL="0">
              <a:buNone/>
            </a:pPr>
            <a:r>
              <a:rPr lang="en-US" sz="1060" b="1" dirty="0">
                <a:solidFill>
                  <a:srgbClr val="142D4E"/>
                </a:solidFill>
                <a:latin typeface="Noto Sans CJK JP" pitchFamily="34" charset="0"/>
                <a:ea typeface="Noto Sans CJK JP" pitchFamily="34" charset="-122"/>
                <a:cs typeface="Noto Sans CJK JP" pitchFamily="34" charset="-120"/>
              </a:rPr>
              <a:t>E2</a:t>
            </a:r>
            <a:endParaRPr lang="en-US" sz="1060" dirty="0"/>
          </a:p>
        </p:txBody>
      </p:sp>
      <p:sp>
        <p:nvSpPr>
          <p:cNvPr id="51" name="Text 49"/>
          <p:cNvSpPr/>
          <p:nvPr/>
        </p:nvSpPr>
        <p:spPr>
          <a:xfrm>
            <a:off x="1399032" y="4494276"/>
            <a:ext cx="1719072" cy="320040"/>
          </a:xfrm>
          <a:prstGeom prst="rect">
            <a:avLst/>
          </a:prstGeom>
          <a:noFill/>
          <a:ln/>
        </p:spPr>
        <p:txBody>
          <a:bodyPr wrap="square" lIns="0" tIns="0" rIns="0" bIns="0" rtlCol="0" anchor="ctr">
            <a:spAutoFit/>
          </a:bodyPr>
          <a:lstStyle/>
          <a:p>
            <a:pPr indent="0" marL="0">
              <a:buNone/>
            </a:pPr>
            <a:r>
              <a:rPr lang="en-US" sz="1650" b="1" dirty="0">
                <a:solidFill>
                  <a:srgbClr val="142D4E"/>
                </a:solidFill>
                <a:latin typeface="Noto Sans CJK JP" pitchFamily="34" charset="0"/>
                <a:ea typeface="Noto Sans CJK JP" pitchFamily="34" charset="-122"/>
                <a:cs typeface="Noto Sans CJK JP" pitchFamily="34" charset="-120"/>
              </a:rPr>
              <a:t>構内GitLab</a:t>
            </a:r>
            <a:endParaRPr lang="en-US" sz="1650" dirty="0"/>
          </a:p>
        </p:txBody>
      </p:sp>
      <p:sp>
        <p:nvSpPr>
          <p:cNvPr id="52" name="Text 50"/>
          <p:cNvSpPr/>
          <p:nvPr/>
        </p:nvSpPr>
        <p:spPr>
          <a:xfrm>
            <a:off x="941832" y="4882896"/>
            <a:ext cx="2176272" cy="640080"/>
          </a:xfrm>
          <a:prstGeom prst="rect">
            <a:avLst/>
          </a:prstGeom>
          <a:noFill/>
          <a:ln/>
        </p:spPr>
        <p:txBody>
          <a:bodyPr wrap="square" lIns="0" tIns="0" rIns="0" bIns="0" rtlCol="0" anchor="ctr">
            <a:spAutoFit/>
          </a:bodyPr>
          <a:lstStyle/>
          <a:p>
            <a:pPr indent="0" marL="0">
              <a:buNone/>
            </a:pPr>
            <a:r>
              <a:rPr lang="en-US" sz="1370" dirty="0">
                <a:solidFill>
                  <a:srgbClr val="253448"/>
                </a:solidFill>
                <a:latin typeface="Noto Sans CJK JP" pitchFamily="34" charset="0"/>
                <a:ea typeface="Noto Sans CJK JP" pitchFamily="34" charset="-122"/>
                <a:cs typeface="Noto Sans CJK JP" pitchFamily="34" charset="-120"/>
              </a:rPr>
              <a:t>コード・MR・保護CI</a:t>
            </a:r>
            <a:endParaRPr lang="en-US" sz="1370" dirty="0"/>
          </a:p>
          <a:p>
            <a:pPr indent="0" marL="0">
              <a:buNone/>
            </a:pPr>
            <a:r>
              <a:rPr lang="en-US" sz="1370" dirty="0">
                <a:solidFill>
                  <a:srgbClr val="253448"/>
                </a:solidFill>
                <a:latin typeface="Noto Sans CJK JP" pitchFamily="34" charset="0"/>
                <a:ea typeface="Noto Sans CJK JP" pitchFamily="34" charset="-122"/>
                <a:cs typeface="Noto Sans CJK JP" pitchFamily="34" charset="-120"/>
              </a:rPr>
              <a:t>結果・人の承認／マージ</a:t>
            </a:r>
            <a:endParaRPr lang="en-US" sz="1370" dirty="0"/>
          </a:p>
        </p:txBody>
      </p:sp>
      <p:sp>
        <p:nvSpPr>
          <p:cNvPr id="53" name="Shape 51"/>
          <p:cNvSpPr/>
          <p:nvPr/>
        </p:nvSpPr>
        <p:spPr>
          <a:xfrm>
            <a:off x="4014216" y="4398264"/>
            <a:ext cx="2990088" cy="1188720"/>
          </a:xfrm>
          <a:prstGeom prst="roundRect">
            <a:avLst>
              <a:gd name="adj" fmla="val 6154"/>
            </a:avLst>
          </a:prstGeom>
          <a:solidFill>
            <a:srgbClr val="FFFFFF"/>
          </a:solidFill>
          <a:ln w="10160">
            <a:solidFill>
              <a:srgbClr val="D6DFE9"/>
            </a:solidFill>
            <a:prstDash val="solid"/>
          </a:ln>
        </p:spPr>
      </p:sp>
      <p:sp>
        <p:nvSpPr>
          <p:cNvPr id="54" name="Shape 52"/>
          <p:cNvSpPr/>
          <p:nvPr/>
        </p:nvSpPr>
        <p:spPr>
          <a:xfrm>
            <a:off x="4133088" y="4489704"/>
            <a:ext cx="393192" cy="265176"/>
          </a:xfrm>
          <a:prstGeom prst="roundRect">
            <a:avLst>
              <a:gd name="adj" fmla="val 27586"/>
            </a:avLst>
          </a:prstGeom>
          <a:solidFill>
            <a:srgbClr val="EDF3FA"/>
          </a:solidFill>
          <a:ln w="10160">
            <a:solidFill>
              <a:srgbClr val="EDF3FA"/>
            </a:solidFill>
            <a:prstDash val="solid"/>
          </a:ln>
        </p:spPr>
      </p:sp>
      <p:sp>
        <p:nvSpPr>
          <p:cNvPr id="55" name="Text 53"/>
          <p:cNvSpPr/>
          <p:nvPr/>
        </p:nvSpPr>
        <p:spPr>
          <a:xfrm>
            <a:off x="4197096" y="4507992"/>
            <a:ext cx="265176" cy="219456"/>
          </a:xfrm>
          <a:prstGeom prst="rect">
            <a:avLst/>
          </a:prstGeom>
          <a:noFill/>
          <a:ln/>
        </p:spPr>
        <p:txBody>
          <a:bodyPr wrap="square" lIns="0" tIns="0" rIns="0" bIns="0" rtlCol="0" anchor="ctr">
            <a:spAutoFit/>
          </a:bodyPr>
          <a:lstStyle/>
          <a:p>
            <a:pPr algn="ctr" indent="0" marL="0">
              <a:buNone/>
            </a:pPr>
            <a:r>
              <a:rPr lang="en-US" sz="1060" b="1" dirty="0">
                <a:solidFill>
                  <a:srgbClr val="142D4E"/>
                </a:solidFill>
                <a:latin typeface="Noto Sans CJK JP" pitchFamily="34" charset="0"/>
                <a:ea typeface="Noto Sans CJK JP" pitchFamily="34" charset="-122"/>
                <a:cs typeface="Noto Sans CJK JP" pitchFamily="34" charset="-120"/>
              </a:rPr>
              <a:t>E3</a:t>
            </a:r>
            <a:endParaRPr lang="en-US" sz="1060" dirty="0"/>
          </a:p>
        </p:txBody>
      </p:sp>
      <p:sp>
        <p:nvSpPr>
          <p:cNvPr id="56" name="Text 54"/>
          <p:cNvSpPr/>
          <p:nvPr/>
        </p:nvSpPr>
        <p:spPr>
          <a:xfrm>
            <a:off x="4617720" y="4494276"/>
            <a:ext cx="2258568" cy="320040"/>
          </a:xfrm>
          <a:prstGeom prst="rect">
            <a:avLst/>
          </a:prstGeom>
          <a:noFill/>
          <a:ln/>
        </p:spPr>
        <p:txBody>
          <a:bodyPr wrap="square" lIns="0" tIns="0" rIns="0" bIns="0" rtlCol="0" anchor="ctr">
            <a:spAutoFit/>
          </a:bodyPr>
          <a:lstStyle/>
          <a:p>
            <a:pPr indent="0" marL="0">
              <a:buNone/>
            </a:pPr>
            <a:r>
              <a:rPr lang="en-US" sz="1650" b="1" dirty="0">
                <a:solidFill>
                  <a:srgbClr val="142D4E"/>
                </a:solidFill>
                <a:latin typeface="Noto Sans CJK JP" pitchFamily="34" charset="0"/>
                <a:ea typeface="Noto Sans CJK JP" pitchFamily="34" charset="-122"/>
                <a:cs typeface="Noto Sans CJK JP" pitchFamily="34" charset="-120"/>
              </a:rPr>
              <a:t>専用GitLab Runner</a:t>
            </a:r>
            <a:endParaRPr lang="en-US" sz="1650" dirty="0"/>
          </a:p>
        </p:txBody>
      </p:sp>
      <p:sp>
        <p:nvSpPr>
          <p:cNvPr id="57" name="Text 55"/>
          <p:cNvSpPr/>
          <p:nvPr/>
        </p:nvSpPr>
        <p:spPr>
          <a:xfrm>
            <a:off x="4160520" y="4882896"/>
            <a:ext cx="2715768" cy="640080"/>
          </a:xfrm>
          <a:prstGeom prst="rect">
            <a:avLst/>
          </a:prstGeom>
          <a:noFill/>
          <a:ln/>
        </p:spPr>
        <p:txBody>
          <a:bodyPr wrap="square" lIns="0" tIns="0" rIns="0" bIns="0" rtlCol="0" anchor="ctr">
            <a:spAutoFit/>
          </a:bodyPr>
          <a:lstStyle/>
          <a:p>
            <a:pPr indent="0" marL="0">
              <a:buNone/>
            </a:pPr>
            <a:r>
              <a:rPr lang="en-US" sz="1370" dirty="0">
                <a:solidFill>
                  <a:srgbClr val="253448"/>
                </a:solidFill>
                <a:latin typeface="Noto Sans CJK JP" pitchFamily="34" charset="0"/>
                <a:ea typeface="Noto Sans CJK JP" pitchFamily="34" charset="-122"/>
                <a:cs typeface="Noto Sans CJK JP" pitchFamily="34" charset="-120"/>
              </a:rPr>
              <a:t>①周辺　②全体設計レビュー</a:t>
            </a:r>
            <a:endParaRPr lang="en-US" sz="1370" dirty="0"/>
          </a:p>
          <a:p>
            <a:pPr indent="0" marL="0">
              <a:buNone/>
            </a:pPr>
            <a:r>
              <a:rPr lang="en-US" sz="1370" dirty="0">
                <a:solidFill>
                  <a:srgbClr val="253448"/>
                </a:solidFill>
                <a:latin typeface="Noto Sans CJK JP" pitchFamily="34" charset="0"/>
                <a:ea typeface="Noto Sans CJK JP" pitchFamily="34" charset="-122"/>
                <a:cs typeface="Noto Sans CJK JP" pitchFamily="34" charset="-120"/>
              </a:rPr>
              <a:t>レビュー／投稿は権限分離</a:t>
            </a:r>
            <a:endParaRPr lang="en-US" sz="1370" dirty="0"/>
          </a:p>
        </p:txBody>
      </p:sp>
      <p:sp>
        <p:nvSpPr>
          <p:cNvPr id="58" name="Shape 56"/>
          <p:cNvSpPr/>
          <p:nvPr/>
        </p:nvSpPr>
        <p:spPr>
          <a:xfrm>
            <a:off x="9290304" y="2788920"/>
            <a:ext cx="1938528" cy="1563624"/>
          </a:xfrm>
          <a:prstGeom prst="roundRect">
            <a:avLst>
              <a:gd name="adj" fmla="val 4678"/>
            </a:avLst>
          </a:prstGeom>
          <a:solidFill>
            <a:srgbClr val="FFFFFF"/>
          </a:solidFill>
          <a:ln w="10160">
            <a:solidFill>
              <a:srgbClr val="D6DFE9"/>
            </a:solidFill>
            <a:prstDash val="solid"/>
          </a:ln>
        </p:spPr>
      </p:sp>
      <p:sp>
        <p:nvSpPr>
          <p:cNvPr id="59" name="Shape 57"/>
          <p:cNvSpPr/>
          <p:nvPr/>
        </p:nvSpPr>
        <p:spPr>
          <a:xfrm>
            <a:off x="9409176" y="2880360"/>
            <a:ext cx="393192" cy="265176"/>
          </a:xfrm>
          <a:prstGeom prst="roundRect">
            <a:avLst>
              <a:gd name="adj" fmla="val 27586"/>
            </a:avLst>
          </a:prstGeom>
          <a:solidFill>
            <a:srgbClr val="ECF6F4"/>
          </a:solidFill>
          <a:ln w="10160">
            <a:solidFill>
              <a:srgbClr val="ECF6F4"/>
            </a:solidFill>
            <a:prstDash val="solid"/>
          </a:ln>
        </p:spPr>
      </p:sp>
      <p:sp>
        <p:nvSpPr>
          <p:cNvPr id="60" name="Text 58"/>
          <p:cNvSpPr/>
          <p:nvPr/>
        </p:nvSpPr>
        <p:spPr>
          <a:xfrm>
            <a:off x="9473184" y="2898648"/>
            <a:ext cx="265176" cy="219456"/>
          </a:xfrm>
          <a:prstGeom prst="rect">
            <a:avLst/>
          </a:prstGeom>
          <a:noFill/>
          <a:ln/>
        </p:spPr>
        <p:txBody>
          <a:bodyPr wrap="square" lIns="0" tIns="0" rIns="0" bIns="0" rtlCol="0" anchor="ctr">
            <a:spAutoFit/>
          </a:bodyPr>
          <a:lstStyle/>
          <a:p>
            <a:pPr algn="ctr" indent="0" marL="0">
              <a:buNone/>
            </a:pPr>
            <a:r>
              <a:rPr lang="en-US" sz="1060" b="1" dirty="0">
                <a:solidFill>
                  <a:srgbClr val="247970"/>
                </a:solidFill>
                <a:latin typeface="Noto Sans CJK JP" pitchFamily="34" charset="0"/>
                <a:ea typeface="Noto Sans CJK JP" pitchFamily="34" charset="-122"/>
                <a:cs typeface="Noto Sans CJK JP" pitchFamily="34" charset="-120"/>
              </a:rPr>
              <a:t>E5</a:t>
            </a:r>
            <a:endParaRPr lang="en-US" sz="1060" dirty="0"/>
          </a:p>
        </p:txBody>
      </p:sp>
      <p:sp>
        <p:nvSpPr>
          <p:cNvPr id="61" name="Text 59"/>
          <p:cNvSpPr/>
          <p:nvPr/>
        </p:nvSpPr>
        <p:spPr>
          <a:xfrm>
            <a:off x="9893808" y="2884932"/>
            <a:ext cx="1207008" cy="320040"/>
          </a:xfrm>
          <a:prstGeom prst="rect">
            <a:avLst/>
          </a:prstGeom>
          <a:noFill/>
          <a:ln/>
        </p:spPr>
        <p:txBody>
          <a:bodyPr wrap="square" lIns="0" tIns="0" rIns="0" bIns="0" rtlCol="0" anchor="ctr">
            <a:spAutoFit/>
          </a:bodyPr>
          <a:lstStyle/>
          <a:p>
            <a:pPr indent="0" marL="0">
              <a:buNone/>
            </a:pPr>
            <a:r>
              <a:rPr lang="en-US" sz="1650" b="1" dirty="0">
                <a:solidFill>
                  <a:srgbClr val="142D4E"/>
                </a:solidFill>
                <a:latin typeface="Noto Sans CJK JP" pitchFamily="34" charset="0"/>
                <a:ea typeface="Noto Sans CJK JP" pitchFamily="34" charset="-122"/>
                <a:cs typeface="Noto Sans CJK JP" pitchFamily="34" charset="-120"/>
              </a:rPr>
              <a:t>接続・検査</a:t>
            </a:r>
            <a:endParaRPr lang="en-US" sz="1650" dirty="0"/>
          </a:p>
        </p:txBody>
      </p:sp>
      <p:sp>
        <p:nvSpPr>
          <p:cNvPr id="62" name="Text 60"/>
          <p:cNvSpPr/>
          <p:nvPr/>
        </p:nvSpPr>
        <p:spPr>
          <a:xfrm>
            <a:off x="9436608" y="3273552"/>
            <a:ext cx="1664208" cy="1014984"/>
          </a:xfrm>
          <a:prstGeom prst="rect">
            <a:avLst/>
          </a:prstGeom>
          <a:noFill/>
          <a:ln/>
        </p:spPr>
        <p:txBody>
          <a:bodyPr wrap="square" lIns="0" tIns="0" rIns="0" bIns="0" rtlCol="0" anchor="ctr">
            <a:spAutoFit/>
          </a:bodyPr>
          <a:lstStyle/>
          <a:p>
            <a:pPr indent="0" marL="0">
              <a:buNone/>
            </a:pPr>
            <a:r>
              <a:rPr lang="en-US" sz="1370" dirty="0">
                <a:solidFill>
                  <a:srgbClr val="253448"/>
                </a:solidFill>
                <a:latin typeface="Noto Sans CJK JP" pitchFamily="34" charset="0"/>
                <a:ea typeface="Noto Sans CJK JP" pitchFamily="34" charset="-122"/>
                <a:cs typeface="Noto Sans CJK JP" pitchFamily="34" charset="-120"/>
              </a:rPr>
              <a:t>Gateway／DLP</a:t>
            </a:r>
            <a:endParaRPr lang="en-US" sz="1370" dirty="0"/>
          </a:p>
          <a:p>
            <a:pPr indent="0" marL="0">
              <a:buNone/>
            </a:pPr>
            <a:r>
              <a:rPr lang="en-US" sz="1370" dirty="0">
                <a:solidFill>
                  <a:srgbClr val="253448"/>
                </a:solidFill>
                <a:latin typeface="Noto Sans CJK JP" pitchFamily="34" charset="0"/>
                <a:ea typeface="Noto Sans CJK JP" pitchFamily="34" charset="-122"/>
                <a:cs typeface="Noto Sans CJK JP" pitchFamily="34" charset="-120"/>
              </a:rPr>
              <a:t>認可・入出力検査</a:t>
            </a:r>
            <a:endParaRPr lang="en-US" sz="1370" dirty="0"/>
          </a:p>
          <a:p>
            <a:pPr indent="0" marL="0">
              <a:buNone/>
            </a:pPr>
            <a:r>
              <a:rPr lang="en-US" sz="1370" dirty="0">
                <a:solidFill>
                  <a:srgbClr val="253448"/>
                </a:solidFill>
                <a:latin typeface="Noto Sans CJK JP" pitchFamily="34" charset="0"/>
                <a:ea typeface="Noto Sans CJK JP" pitchFamily="34" charset="-122"/>
                <a:cs typeface="Noto Sans CJK JP" pitchFamily="34" charset="-120"/>
              </a:rPr>
              <a:t>利用量の事前制御</a:t>
            </a:r>
            <a:endParaRPr lang="en-US" sz="1370" dirty="0"/>
          </a:p>
        </p:txBody>
      </p:sp>
      <p:sp>
        <p:nvSpPr>
          <p:cNvPr id="63" name="Shape 61"/>
          <p:cNvSpPr/>
          <p:nvPr/>
        </p:nvSpPr>
        <p:spPr>
          <a:xfrm>
            <a:off x="11878056" y="2788920"/>
            <a:ext cx="1938528" cy="1563624"/>
          </a:xfrm>
          <a:prstGeom prst="roundRect">
            <a:avLst>
              <a:gd name="adj" fmla="val 4678"/>
            </a:avLst>
          </a:prstGeom>
          <a:solidFill>
            <a:srgbClr val="FFFFFF"/>
          </a:solidFill>
          <a:ln w="10160">
            <a:solidFill>
              <a:srgbClr val="D6DFE9"/>
            </a:solidFill>
            <a:prstDash val="solid"/>
          </a:ln>
        </p:spPr>
      </p:sp>
      <p:sp>
        <p:nvSpPr>
          <p:cNvPr id="64" name="Shape 62"/>
          <p:cNvSpPr/>
          <p:nvPr/>
        </p:nvSpPr>
        <p:spPr>
          <a:xfrm>
            <a:off x="11996928" y="2880360"/>
            <a:ext cx="393192" cy="265176"/>
          </a:xfrm>
          <a:prstGeom prst="roundRect">
            <a:avLst>
              <a:gd name="adj" fmla="val 27586"/>
            </a:avLst>
          </a:prstGeom>
          <a:solidFill>
            <a:srgbClr val="ECF6F4"/>
          </a:solidFill>
          <a:ln w="10160">
            <a:solidFill>
              <a:srgbClr val="ECF6F4"/>
            </a:solidFill>
            <a:prstDash val="solid"/>
          </a:ln>
        </p:spPr>
      </p:sp>
      <p:sp>
        <p:nvSpPr>
          <p:cNvPr id="65" name="Text 63"/>
          <p:cNvSpPr/>
          <p:nvPr/>
        </p:nvSpPr>
        <p:spPr>
          <a:xfrm>
            <a:off x="12060936" y="2898648"/>
            <a:ext cx="265176" cy="219456"/>
          </a:xfrm>
          <a:prstGeom prst="rect">
            <a:avLst/>
          </a:prstGeom>
          <a:noFill/>
          <a:ln/>
        </p:spPr>
        <p:txBody>
          <a:bodyPr wrap="square" lIns="0" tIns="0" rIns="0" bIns="0" rtlCol="0" anchor="ctr">
            <a:spAutoFit/>
          </a:bodyPr>
          <a:lstStyle/>
          <a:p>
            <a:pPr algn="ctr" indent="0" marL="0">
              <a:buNone/>
            </a:pPr>
            <a:r>
              <a:rPr lang="en-US" sz="1060" b="1" dirty="0">
                <a:solidFill>
                  <a:srgbClr val="247970"/>
                </a:solidFill>
                <a:latin typeface="Noto Sans CJK JP" pitchFamily="34" charset="0"/>
                <a:ea typeface="Noto Sans CJK JP" pitchFamily="34" charset="-122"/>
                <a:cs typeface="Noto Sans CJK JP" pitchFamily="34" charset="-120"/>
              </a:rPr>
              <a:t>E6</a:t>
            </a:r>
            <a:endParaRPr lang="en-US" sz="1060" dirty="0"/>
          </a:p>
        </p:txBody>
      </p:sp>
      <p:sp>
        <p:nvSpPr>
          <p:cNvPr id="66" name="Text 64"/>
          <p:cNvSpPr/>
          <p:nvPr/>
        </p:nvSpPr>
        <p:spPr>
          <a:xfrm>
            <a:off x="12481560" y="2884932"/>
            <a:ext cx="1207008" cy="320040"/>
          </a:xfrm>
          <a:prstGeom prst="rect">
            <a:avLst/>
          </a:prstGeom>
          <a:noFill/>
          <a:ln/>
        </p:spPr>
        <p:txBody>
          <a:bodyPr wrap="square" lIns="0" tIns="0" rIns="0" bIns="0" rtlCol="0" anchor="ctr">
            <a:spAutoFit/>
          </a:bodyPr>
          <a:lstStyle/>
          <a:p>
            <a:pPr indent="0" marL="0">
              <a:buNone/>
            </a:pPr>
            <a:r>
              <a:rPr lang="en-US" sz="1650" b="1" dirty="0">
                <a:solidFill>
                  <a:srgbClr val="142D4E"/>
                </a:solidFill>
                <a:latin typeface="Noto Sans CJK JP" pitchFamily="34" charset="0"/>
                <a:ea typeface="Noto Sans CJK JP" pitchFamily="34" charset="-122"/>
                <a:cs typeface="Noto Sans CJK JP" pitchFamily="34" charset="-120"/>
              </a:rPr>
              <a:t>Bedrock</a:t>
            </a:r>
            <a:endParaRPr lang="en-US" sz="1650" dirty="0"/>
          </a:p>
        </p:txBody>
      </p:sp>
      <p:sp>
        <p:nvSpPr>
          <p:cNvPr id="67" name="Text 65"/>
          <p:cNvSpPr/>
          <p:nvPr/>
        </p:nvSpPr>
        <p:spPr>
          <a:xfrm>
            <a:off x="12024360" y="3273552"/>
            <a:ext cx="1664208" cy="1014984"/>
          </a:xfrm>
          <a:prstGeom prst="rect">
            <a:avLst/>
          </a:prstGeom>
          <a:noFill/>
          <a:ln/>
        </p:spPr>
        <p:txBody>
          <a:bodyPr wrap="square" lIns="0" tIns="0" rIns="0" bIns="0" rtlCol="0" anchor="ctr">
            <a:spAutoFit/>
          </a:bodyPr>
          <a:lstStyle/>
          <a:p>
            <a:pPr indent="0" marL="0">
              <a:buNone/>
            </a:pPr>
            <a:r>
              <a:rPr lang="en-US" sz="1370" dirty="0">
                <a:solidFill>
                  <a:srgbClr val="253448"/>
                </a:solidFill>
                <a:latin typeface="Noto Sans CJK JP" pitchFamily="34" charset="0"/>
                <a:ea typeface="Noto Sans CJK JP" pitchFamily="34" charset="-122"/>
                <a:cs typeface="Noto Sans CJK JP" pitchFamily="34" charset="-120"/>
              </a:rPr>
              <a:t>推論モデル</a:t>
            </a:r>
            <a:endParaRPr lang="en-US" sz="1370" dirty="0"/>
          </a:p>
          <a:p>
            <a:pPr indent="0" marL="0">
              <a:buNone/>
            </a:pPr>
            <a:r>
              <a:rPr lang="en-US" sz="1370" dirty="0">
                <a:solidFill>
                  <a:srgbClr val="253448"/>
                </a:solidFill>
                <a:latin typeface="Noto Sans CJK JP" pitchFamily="34" charset="0"/>
                <a:ea typeface="Noto Sans CJK JP" pitchFamily="34" charset="-122"/>
                <a:cs typeface="Noto Sans CJK JP" pitchFamily="34" charset="-120"/>
              </a:rPr>
              <a:t>Guardrails等</a:t>
            </a:r>
            <a:endParaRPr lang="en-US" sz="1370" dirty="0"/>
          </a:p>
          <a:p>
            <a:pPr indent="0" marL="0">
              <a:buNone/>
            </a:pPr>
            <a:r>
              <a:rPr lang="en-US" sz="1370" dirty="0">
                <a:solidFill>
                  <a:srgbClr val="253448"/>
                </a:solidFill>
                <a:latin typeface="Noto Sans CJK JP" pitchFamily="34" charset="0"/>
                <a:ea typeface="Noto Sans CJK JP" pitchFamily="34" charset="-122"/>
                <a:cs typeface="Noto Sans CJK JP" pitchFamily="34" charset="-120"/>
              </a:rPr>
              <a:t>実処理先を確認</a:t>
            </a:r>
            <a:endParaRPr lang="en-US" sz="1370" dirty="0"/>
          </a:p>
        </p:txBody>
      </p:sp>
      <p:sp>
        <p:nvSpPr>
          <p:cNvPr id="68" name="Shape 66"/>
          <p:cNvSpPr/>
          <p:nvPr/>
        </p:nvSpPr>
        <p:spPr>
          <a:xfrm>
            <a:off x="9290304" y="5084064"/>
            <a:ext cx="4526280" cy="804672"/>
          </a:xfrm>
          <a:prstGeom prst="roundRect">
            <a:avLst>
              <a:gd name="adj" fmla="val 9091"/>
            </a:avLst>
          </a:prstGeom>
          <a:solidFill>
            <a:srgbClr val="FFFFFF"/>
          </a:solidFill>
          <a:ln w="10160">
            <a:solidFill>
              <a:srgbClr val="D6DFE9"/>
            </a:solidFill>
            <a:prstDash val="solid"/>
          </a:ln>
        </p:spPr>
      </p:sp>
      <p:sp>
        <p:nvSpPr>
          <p:cNvPr id="69" name="Shape 67"/>
          <p:cNvSpPr/>
          <p:nvPr/>
        </p:nvSpPr>
        <p:spPr>
          <a:xfrm>
            <a:off x="9409176" y="5175504"/>
            <a:ext cx="393192" cy="265176"/>
          </a:xfrm>
          <a:prstGeom prst="roundRect">
            <a:avLst>
              <a:gd name="adj" fmla="val 27586"/>
            </a:avLst>
          </a:prstGeom>
          <a:solidFill>
            <a:srgbClr val="ECF6F4"/>
          </a:solidFill>
          <a:ln w="10160">
            <a:solidFill>
              <a:srgbClr val="ECF6F4"/>
            </a:solidFill>
            <a:prstDash val="solid"/>
          </a:ln>
        </p:spPr>
      </p:sp>
      <p:sp>
        <p:nvSpPr>
          <p:cNvPr id="70" name="Text 68"/>
          <p:cNvSpPr/>
          <p:nvPr/>
        </p:nvSpPr>
        <p:spPr>
          <a:xfrm>
            <a:off x="9473184" y="5193792"/>
            <a:ext cx="265176" cy="219456"/>
          </a:xfrm>
          <a:prstGeom prst="rect">
            <a:avLst/>
          </a:prstGeom>
          <a:noFill/>
          <a:ln/>
        </p:spPr>
        <p:txBody>
          <a:bodyPr wrap="square" lIns="0" tIns="0" rIns="0" bIns="0" rtlCol="0" anchor="ctr">
            <a:spAutoFit/>
          </a:bodyPr>
          <a:lstStyle/>
          <a:p>
            <a:pPr algn="ctr" indent="0" marL="0">
              <a:buNone/>
            </a:pPr>
            <a:r>
              <a:rPr lang="en-US" sz="1060" b="1" dirty="0">
                <a:solidFill>
                  <a:srgbClr val="247970"/>
                </a:solidFill>
                <a:latin typeface="Noto Sans CJK JP" pitchFamily="34" charset="0"/>
                <a:ea typeface="Noto Sans CJK JP" pitchFamily="34" charset="-122"/>
                <a:cs typeface="Noto Sans CJK JP" pitchFamily="34" charset="-120"/>
              </a:rPr>
              <a:t>E7</a:t>
            </a:r>
            <a:endParaRPr lang="en-US" sz="1060" dirty="0"/>
          </a:p>
        </p:txBody>
      </p:sp>
      <p:sp>
        <p:nvSpPr>
          <p:cNvPr id="71" name="Text 69"/>
          <p:cNvSpPr/>
          <p:nvPr/>
        </p:nvSpPr>
        <p:spPr>
          <a:xfrm>
            <a:off x="9893808" y="5180076"/>
            <a:ext cx="3794760" cy="320040"/>
          </a:xfrm>
          <a:prstGeom prst="rect">
            <a:avLst/>
          </a:prstGeom>
          <a:noFill/>
          <a:ln/>
        </p:spPr>
        <p:txBody>
          <a:bodyPr wrap="square" lIns="0" tIns="0" rIns="0" bIns="0" rtlCol="0" anchor="ctr">
            <a:spAutoFit/>
          </a:bodyPr>
          <a:lstStyle/>
          <a:p>
            <a:pPr indent="0" marL="0">
              <a:buNone/>
            </a:pPr>
            <a:r>
              <a:rPr lang="en-US" sz="1650" b="1" dirty="0">
                <a:solidFill>
                  <a:srgbClr val="142D4E"/>
                </a:solidFill>
                <a:latin typeface="Noto Sans CJK JP" pitchFamily="34" charset="0"/>
                <a:ea typeface="Noto Sans CJK JP" pitchFamily="34" charset="-122"/>
                <a:cs typeface="Noto Sans CJK JP" pitchFamily="34" charset="-120"/>
              </a:rPr>
              <a:t>記録・保管</a:t>
            </a:r>
            <a:endParaRPr lang="en-US" sz="1650" dirty="0"/>
          </a:p>
        </p:txBody>
      </p:sp>
      <p:sp>
        <p:nvSpPr>
          <p:cNvPr id="72" name="Text 70"/>
          <p:cNvSpPr/>
          <p:nvPr/>
        </p:nvSpPr>
        <p:spPr>
          <a:xfrm>
            <a:off x="9436608" y="5568696"/>
            <a:ext cx="4251960" cy="256032"/>
          </a:xfrm>
          <a:prstGeom prst="rect">
            <a:avLst/>
          </a:prstGeom>
          <a:noFill/>
          <a:ln/>
        </p:spPr>
        <p:txBody>
          <a:bodyPr wrap="square" lIns="0" tIns="0" rIns="0" bIns="0" rtlCol="0" anchor="ctr">
            <a:spAutoFit/>
          </a:bodyPr>
          <a:lstStyle/>
          <a:p>
            <a:pPr indent="0" marL="0">
              <a:buNone/>
            </a:pPr>
            <a:r>
              <a:rPr lang="en-US" sz="1370" dirty="0">
                <a:solidFill>
                  <a:srgbClr val="253448"/>
                </a:solidFill>
                <a:latin typeface="Noto Sans CJK JP" pitchFamily="34" charset="0"/>
                <a:ea typeface="Noto Sans CJK JP" pitchFamily="34" charset="-122"/>
                <a:cs typeface="Noto Sans CJK JP" pitchFamily="34" charset="-120"/>
              </a:rPr>
              <a:t>S3／CloudWatch等：ログ・一時保管・使用量</a:t>
            </a:r>
            <a:endParaRPr lang="en-US" sz="1370" dirty="0"/>
          </a:p>
        </p:txBody>
      </p:sp>
      <p:sp>
        <p:nvSpPr>
          <p:cNvPr id="73" name="Shape 71"/>
          <p:cNvSpPr/>
          <p:nvPr/>
        </p:nvSpPr>
        <p:spPr>
          <a:xfrm>
            <a:off x="8567928" y="3419856"/>
            <a:ext cx="466344" cy="265176"/>
          </a:xfrm>
          <a:prstGeom prst="roundRect">
            <a:avLst>
              <a:gd name="adj" fmla="val 27586"/>
            </a:avLst>
          </a:prstGeom>
          <a:solidFill>
            <a:srgbClr val="FAF3E7"/>
          </a:solidFill>
          <a:ln w="10160">
            <a:solidFill>
              <a:srgbClr val="FAF3E7"/>
            </a:solidFill>
            <a:prstDash val="solid"/>
          </a:ln>
        </p:spPr>
      </p:sp>
      <p:sp>
        <p:nvSpPr>
          <p:cNvPr id="74" name="Text 72"/>
          <p:cNvSpPr/>
          <p:nvPr/>
        </p:nvSpPr>
        <p:spPr>
          <a:xfrm>
            <a:off x="8631936" y="3438144"/>
            <a:ext cx="338328" cy="219456"/>
          </a:xfrm>
          <a:prstGeom prst="rect">
            <a:avLst/>
          </a:prstGeom>
          <a:noFill/>
          <a:ln/>
        </p:spPr>
        <p:txBody>
          <a:bodyPr wrap="square" lIns="0" tIns="0" rIns="0" bIns="0" rtlCol="0" anchor="ctr">
            <a:spAutoFit/>
          </a:bodyPr>
          <a:lstStyle/>
          <a:p>
            <a:pPr algn="ctr" indent="0" marL="0">
              <a:buNone/>
            </a:pPr>
            <a:r>
              <a:rPr lang="en-US" sz="1110" b="1" dirty="0">
                <a:solidFill>
                  <a:srgbClr val="A76B21"/>
                </a:solidFill>
                <a:latin typeface="Noto Sans CJK JP" pitchFamily="34" charset="0"/>
                <a:ea typeface="Noto Sans CJK JP" pitchFamily="34" charset="-122"/>
                <a:cs typeface="Noto Sans CJK JP" pitchFamily="34" charset="-120"/>
              </a:rPr>
              <a:t>B3</a:t>
            </a:r>
            <a:endParaRPr lang="en-US" sz="1110" dirty="0"/>
          </a:p>
        </p:txBody>
      </p:sp>
      <p:sp>
        <p:nvSpPr>
          <p:cNvPr id="75" name="Shape 73"/>
          <p:cNvSpPr/>
          <p:nvPr/>
        </p:nvSpPr>
        <p:spPr>
          <a:xfrm>
            <a:off x="813816" y="5843016"/>
            <a:ext cx="7644384" cy="411480"/>
          </a:xfrm>
          <a:prstGeom prst="roundRect">
            <a:avLst>
              <a:gd name="adj" fmla="val 17778"/>
            </a:avLst>
          </a:prstGeom>
          <a:solidFill>
            <a:srgbClr val="FFFFFF"/>
          </a:solidFill>
          <a:ln w="10160">
            <a:solidFill>
              <a:srgbClr val="D6DFE9"/>
            </a:solidFill>
            <a:prstDash val="solid"/>
          </a:ln>
        </p:spPr>
      </p:sp>
      <p:sp>
        <p:nvSpPr>
          <p:cNvPr id="76" name="Text 74"/>
          <p:cNvSpPr/>
          <p:nvPr/>
        </p:nvSpPr>
        <p:spPr>
          <a:xfrm>
            <a:off x="960120" y="5934456"/>
            <a:ext cx="7315200" cy="237744"/>
          </a:xfrm>
          <a:prstGeom prst="rect">
            <a:avLst/>
          </a:prstGeom>
          <a:noFill/>
          <a:ln/>
        </p:spPr>
        <p:txBody>
          <a:bodyPr wrap="square" lIns="0" tIns="0" rIns="0" bIns="0" rtlCol="0" anchor="ctr">
            <a:spAutoFit/>
          </a:bodyPr>
          <a:lstStyle/>
          <a:p>
            <a:pPr indent="0" marL="0">
              <a:buNone/>
            </a:pPr>
            <a:r>
              <a:rPr lang="en-US" sz="1300" dirty="0">
                <a:solidFill>
                  <a:srgbClr val="253448"/>
                </a:solidFill>
                <a:latin typeface="Noto Sans CJK JP" pitchFamily="34" charset="0"/>
                <a:ea typeface="Noto Sans CJK JP" pitchFamily="34" charset="-122"/>
                <a:cs typeface="Noto Sans CJK JP" pitchFamily="34" charset="-120"/>
              </a:rPr>
              <a:t>B2  認証・権限：社内IdP／GitLab と Gateway・AWSの連携</a:t>
            </a:r>
            <a:endParaRPr lang="en-US" sz="1300" dirty="0"/>
          </a:p>
        </p:txBody>
      </p:sp>
      <p:sp>
        <p:nvSpPr>
          <p:cNvPr id="77" name="Shape 75"/>
          <p:cNvSpPr/>
          <p:nvPr/>
        </p:nvSpPr>
        <p:spPr>
          <a:xfrm>
            <a:off x="640080" y="6766560"/>
            <a:ext cx="438912" cy="265176"/>
          </a:xfrm>
          <a:prstGeom prst="roundRect">
            <a:avLst>
              <a:gd name="adj" fmla="val 27586"/>
            </a:avLst>
          </a:prstGeom>
          <a:solidFill>
            <a:srgbClr val="EDF3FA"/>
          </a:solidFill>
          <a:ln w="10160">
            <a:solidFill>
              <a:srgbClr val="EDF3FA"/>
            </a:solidFill>
            <a:prstDash val="solid"/>
          </a:ln>
        </p:spPr>
      </p:sp>
      <p:sp>
        <p:nvSpPr>
          <p:cNvPr id="78" name="Text 76"/>
          <p:cNvSpPr/>
          <p:nvPr/>
        </p:nvSpPr>
        <p:spPr>
          <a:xfrm>
            <a:off x="704088" y="6784848"/>
            <a:ext cx="31089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B1</a:t>
            </a:r>
            <a:endParaRPr lang="en-US" sz="1080" dirty="0"/>
          </a:p>
        </p:txBody>
      </p:sp>
      <p:sp>
        <p:nvSpPr>
          <p:cNvPr id="79" name="Text 77"/>
          <p:cNvSpPr/>
          <p:nvPr/>
        </p:nvSpPr>
        <p:spPr>
          <a:xfrm>
            <a:off x="1161288" y="6766560"/>
            <a:ext cx="2148840" cy="274320"/>
          </a:xfrm>
          <a:prstGeom prst="rect">
            <a:avLst/>
          </a:prstGeom>
          <a:noFill/>
          <a:ln/>
        </p:spPr>
        <p:txBody>
          <a:bodyPr wrap="square" lIns="0" tIns="0" rIns="0" bIns="0" rtlCol="0" anchor="ctr">
            <a:spAutoFit/>
          </a:bodyPr>
          <a:lstStyle/>
          <a:p>
            <a:pPr indent="0" marL="0">
              <a:buNone/>
            </a:pPr>
            <a:r>
              <a:rPr lang="en-US" sz="1260" dirty="0">
                <a:solidFill>
                  <a:srgbClr val="253448"/>
                </a:solidFill>
                <a:latin typeface="Noto Sans CJK JP" pitchFamily="34" charset="0"/>
                <a:ea typeface="Noto Sans CJK JP" pitchFamily="34" charset="-122"/>
                <a:cs typeface="Noto Sans CJK JP" pitchFamily="34" charset="-120"/>
              </a:rPr>
              <a:t>資料・ツールとの境界</a:t>
            </a:r>
            <a:endParaRPr lang="en-US" sz="1260" dirty="0"/>
          </a:p>
        </p:txBody>
      </p:sp>
      <p:sp>
        <p:nvSpPr>
          <p:cNvPr id="80" name="Shape 78"/>
          <p:cNvSpPr/>
          <p:nvPr/>
        </p:nvSpPr>
        <p:spPr>
          <a:xfrm>
            <a:off x="3364992" y="6766560"/>
            <a:ext cx="438912" cy="265176"/>
          </a:xfrm>
          <a:prstGeom prst="roundRect">
            <a:avLst>
              <a:gd name="adj" fmla="val 27586"/>
            </a:avLst>
          </a:prstGeom>
          <a:solidFill>
            <a:srgbClr val="EDF3FA"/>
          </a:solidFill>
          <a:ln w="10160">
            <a:solidFill>
              <a:srgbClr val="EDF3FA"/>
            </a:solidFill>
            <a:prstDash val="solid"/>
          </a:ln>
        </p:spPr>
      </p:sp>
      <p:sp>
        <p:nvSpPr>
          <p:cNvPr id="81" name="Text 79"/>
          <p:cNvSpPr/>
          <p:nvPr/>
        </p:nvSpPr>
        <p:spPr>
          <a:xfrm>
            <a:off x="3429000" y="6784848"/>
            <a:ext cx="31089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B2</a:t>
            </a:r>
            <a:endParaRPr lang="en-US" sz="1080" dirty="0"/>
          </a:p>
        </p:txBody>
      </p:sp>
      <p:sp>
        <p:nvSpPr>
          <p:cNvPr id="82" name="Text 80"/>
          <p:cNvSpPr/>
          <p:nvPr/>
        </p:nvSpPr>
        <p:spPr>
          <a:xfrm>
            <a:off x="3886200" y="6766560"/>
            <a:ext cx="2148840" cy="274320"/>
          </a:xfrm>
          <a:prstGeom prst="rect">
            <a:avLst/>
          </a:prstGeom>
          <a:noFill/>
          <a:ln/>
        </p:spPr>
        <p:txBody>
          <a:bodyPr wrap="square" lIns="0" tIns="0" rIns="0" bIns="0" rtlCol="0" anchor="ctr">
            <a:spAutoFit/>
          </a:bodyPr>
          <a:lstStyle/>
          <a:p>
            <a:pPr indent="0" marL="0">
              <a:buNone/>
            </a:pPr>
            <a:r>
              <a:rPr lang="en-US" sz="1260" dirty="0">
                <a:solidFill>
                  <a:srgbClr val="253448"/>
                </a:solidFill>
                <a:latin typeface="Noto Sans CJK JP" pitchFamily="34" charset="0"/>
                <a:ea typeface="Noto Sans CJK JP" pitchFamily="34" charset="-122"/>
                <a:cs typeface="Noto Sans CJK JP" pitchFamily="34" charset="-120"/>
              </a:rPr>
              <a:t>認証・権限の境界</a:t>
            </a:r>
            <a:endParaRPr lang="en-US" sz="1260" dirty="0"/>
          </a:p>
        </p:txBody>
      </p:sp>
      <p:sp>
        <p:nvSpPr>
          <p:cNvPr id="83" name="Shape 81"/>
          <p:cNvSpPr/>
          <p:nvPr/>
        </p:nvSpPr>
        <p:spPr>
          <a:xfrm>
            <a:off x="6089904" y="6766560"/>
            <a:ext cx="438912" cy="265176"/>
          </a:xfrm>
          <a:prstGeom prst="roundRect">
            <a:avLst>
              <a:gd name="adj" fmla="val 27586"/>
            </a:avLst>
          </a:prstGeom>
          <a:solidFill>
            <a:srgbClr val="EDF3FA"/>
          </a:solidFill>
          <a:ln w="10160">
            <a:solidFill>
              <a:srgbClr val="EDF3FA"/>
            </a:solidFill>
            <a:prstDash val="solid"/>
          </a:ln>
        </p:spPr>
      </p:sp>
      <p:sp>
        <p:nvSpPr>
          <p:cNvPr id="84" name="Text 82"/>
          <p:cNvSpPr/>
          <p:nvPr/>
        </p:nvSpPr>
        <p:spPr>
          <a:xfrm>
            <a:off x="6153912" y="6784848"/>
            <a:ext cx="31089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B3</a:t>
            </a:r>
            <a:endParaRPr lang="en-US" sz="1080" dirty="0"/>
          </a:p>
        </p:txBody>
      </p:sp>
      <p:sp>
        <p:nvSpPr>
          <p:cNvPr id="85" name="Text 83"/>
          <p:cNvSpPr/>
          <p:nvPr/>
        </p:nvSpPr>
        <p:spPr>
          <a:xfrm>
            <a:off x="6611112" y="6766560"/>
            <a:ext cx="2148840" cy="274320"/>
          </a:xfrm>
          <a:prstGeom prst="rect">
            <a:avLst/>
          </a:prstGeom>
          <a:noFill/>
          <a:ln/>
        </p:spPr>
        <p:txBody>
          <a:bodyPr wrap="square" lIns="0" tIns="0" rIns="0" bIns="0" rtlCol="0" anchor="ctr">
            <a:spAutoFit/>
          </a:bodyPr>
          <a:lstStyle/>
          <a:p>
            <a:pPr indent="0" marL="0">
              <a:buNone/>
            </a:pPr>
            <a:r>
              <a:rPr lang="en-US" sz="1260" dirty="0">
                <a:solidFill>
                  <a:srgbClr val="253448"/>
                </a:solidFill>
                <a:latin typeface="Noto Sans CJK JP" pitchFamily="34" charset="0"/>
                <a:ea typeface="Noto Sans CJK JP" pitchFamily="34" charset="-122"/>
                <a:cs typeface="Noto Sans CJK JP" pitchFamily="34" charset="-120"/>
              </a:rPr>
              <a:t>行内とAWSの境界</a:t>
            </a:r>
            <a:endParaRPr lang="en-US" sz="1260" dirty="0"/>
          </a:p>
        </p:txBody>
      </p:sp>
      <p:sp>
        <p:nvSpPr>
          <p:cNvPr id="86" name="Shape 84"/>
          <p:cNvSpPr/>
          <p:nvPr/>
        </p:nvSpPr>
        <p:spPr>
          <a:xfrm>
            <a:off x="8814816" y="6766560"/>
            <a:ext cx="438912" cy="265176"/>
          </a:xfrm>
          <a:prstGeom prst="roundRect">
            <a:avLst>
              <a:gd name="adj" fmla="val 27586"/>
            </a:avLst>
          </a:prstGeom>
          <a:solidFill>
            <a:srgbClr val="EDF3FA"/>
          </a:solidFill>
          <a:ln w="10160">
            <a:solidFill>
              <a:srgbClr val="EDF3FA"/>
            </a:solidFill>
            <a:prstDash val="solid"/>
          </a:ln>
        </p:spPr>
      </p:sp>
      <p:sp>
        <p:nvSpPr>
          <p:cNvPr id="87" name="Text 85"/>
          <p:cNvSpPr/>
          <p:nvPr/>
        </p:nvSpPr>
        <p:spPr>
          <a:xfrm>
            <a:off x="8878824" y="6784848"/>
            <a:ext cx="31089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B4</a:t>
            </a:r>
            <a:endParaRPr lang="en-US" sz="1080" dirty="0"/>
          </a:p>
        </p:txBody>
      </p:sp>
      <p:sp>
        <p:nvSpPr>
          <p:cNvPr id="88" name="Text 86"/>
          <p:cNvSpPr/>
          <p:nvPr/>
        </p:nvSpPr>
        <p:spPr>
          <a:xfrm>
            <a:off x="9336024" y="6766560"/>
            <a:ext cx="2148840" cy="274320"/>
          </a:xfrm>
          <a:prstGeom prst="rect">
            <a:avLst/>
          </a:prstGeom>
          <a:noFill/>
          <a:ln/>
        </p:spPr>
        <p:txBody>
          <a:bodyPr wrap="square" lIns="0" tIns="0" rIns="0" bIns="0" rtlCol="0" anchor="ctr">
            <a:spAutoFit/>
          </a:bodyPr>
          <a:lstStyle/>
          <a:p>
            <a:pPr indent="0" marL="0">
              <a:buNone/>
            </a:pPr>
            <a:r>
              <a:rPr lang="en-US" sz="1260" dirty="0">
                <a:solidFill>
                  <a:srgbClr val="253448"/>
                </a:solidFill>
                <a:latin typeface="Noto Sans CJK JP" pitchFamily="34" charset="0"/>
                <a:ea typeface="Noto Sans CJK JP" pitchFamily="34" charset="-122"/>
                <a:cs typeface="Noto Sans CJK JP" pitchFamily="34" charset="-120"/>
              </a:rPr>
              <a:t>検査・推論・応答の境界</a:t>
            </a:r>
            <a:endParaRPr lang="en-US" sz="1260" dirty="0"/>
          </a:p>
        </p:txBody>
      </p:sp>
      <p:sp>
        <p:nvSpPr>
          <p:cNvPr id="89" name="Shape 87"/>
          <p:cNvSpPr/>
          <p:nvPr/>
        </p:nvSpPr>
        <p:spPr>
          <a:xfrm>
            <a:off x="11539728" y="6766560"/>
            <a:ext cx="438912" cy="265176"/>
          </a:xfrm>
          <a:prstGeom prst="roundRect">
            <a:avLst>
              <a:gd name="adj" fmla="val 27586"/>
            </a:avLst>
          </a:prstGeom>
          <a:solidFill>
            <a:srgbClr val="EDF3FA"/>
          </a:solidFill>
          <a:ln w="10160">
            <a:solidFill>
              <a:srgbClr val="EDF3FA"/>
            </a:solidFill>
            <a:prstDash val="solid"/>
          </a:ln>
        </p:spPr>
      </p:sp>
      <p:sp>
        <p:nvSpPr>
          <p:cNvPr id="90" name="Text 88"/>
          <p:cNvSpPr/>
          <p:nvPr/>
        </p:nvSpPr>
        <p:spPr>
          <a:xfrm>
            <a:off x="11603736" y="6784848"/>
            <a:ext cx="31089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B5</a:t>
            </a:r>
            <a:endParaRPr lang="en-US" sz="1080" dirty="0"/>
          </a:p>
        </p:txBody>
      </p:sp>
      <p:sp>
        <p:nvSpPr>
          <p:cNvPr id="91" name="Text 89"/>
          <p:cNvSpPr/>
          <p:nvPr/>
        </p:nvSpPr>
        <p:spPr>
          <a:xfrm>
            <a:off x="12060936" y="6766560"/>
            <a:ext cx="2148840" cy="274320"/>
          </a:xfrm>
          <a:prstGeom prst="rect">
            <a:avLst/>
          </a:prstGeom>
          <a:noFill/>
          <a:ln/>
        </p:spPr>
        <p:txBody>
          <a:bodyPr wrap="square" lIns="0" tIns="0" rIns="0" bIns="0" rtlCol="0" anchor="ctr">
            <a:spAutoFit/>
          </a:bodyPr>
          <a:lstStyle/>
          <a:p>
            <a:pPr indent="0" marL="0">
              <a:buNone/>
            </a:pPr>
            <a:r>
              <a:rPr lang="en-US" sz="1260" dirty="0">
                <a:solidFill>
                  <a:srgbClr val="253448"/>
                </a:solidFill>
                <a:latin typeface="Noto Sans CJK JP" pitchFamily="34" charset="0"/>
                <a:ea typeface="Noto Sans CJK JP" pitchFamily="34" charset="-122"/>
                <a:cs typeface="Noto Sans CJK JP" pitchFamily="34" charset="-120"/>
              </a:rPr>
              <a:t>結果投稿・承認の境界</a:t>
            </a:r>
            <a:endParaRPr lang="en-US" sz="1260" dirty="0"/>
          </a:p>
        </p:txBody>
      </p:sp>
      <p:sp>
        <p:nvSpPr>
          <p:cNvPr id="92" name="Text 90"/>
          <p:cNvSpPr/>
          <p:nvPr/>
        </p:nvSpPr>
        <p:spPr>
          <a:xfrm>
            <a:off x="658368" y="7269480"/>
            <a:ext cx="13395960" cy="301752"/>
          </a:xfrm>
          <a:prstGeom prst="rect">
            <a:avLst/>
          </a:prstGeom>
          <a:noFill/>
          <a:ln/>
        </p:spPr>
        <p:txBody>
          <a:bodyPr wrap="square" lIns="0" tIns="0" rIns="0" bIns="0" rtlCol="0" anchor="ctr">
            <a:spAutoFit/>
          </a:bodyPr>
          <a:lstStyle/>
          <a:p>
            <a:pPr indent="0" marL="0">
              <a:buNone/>
            </a:pPr>
            <a:r>
              <a:rPr lang="en-US" sz="1340" dirty="0">
                <a:solidFill>
                  <a:srgbClr val="65748A"/>
                </a:solidFill>
                <a:latin typeface="Noto Sans CJK JP" pitchFamily="34" charset="0"/>
                <a:ea typeface="Noto Sans CJK JP" pitchFamily="34" charset="-122"/>
                <a:cs typeface="Noto Sans CJK JP" pitchFamily="34" charset="-120"/>
              </a:rPr>
              <a:t>全体：品質・変更／費用・継続／証跡・事故対応／責任・委託管理は、特定の箱だけでは対処できないため別章で扱います。</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01  導入時｜構成要素・境界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端末・エージェント／実行境界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03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E1 開発者端末・AIエージェント　E3 専用Runner　B1 参照・実行</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p.15</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R03</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E1 端末／E3 Runner</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案件間の状態を分離しない</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作業領域・履歴・キャッシュを共用し、別案件の情報を参照できる設定にする。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利用者・案件・ジョブごとに作業領域を分離し、終了時に破棄する。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保守先の一時保存・バックアップ・再利用・削除条件を確認する。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案件切替、異動、失敗・中断時の消去と失効手順を定める。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R10</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B1 資料・ツール→Agent</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参照データを指示として信用する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コード・設計書・ツール応答に含む命令を区別せず、実行範囲を変更できる設計にする。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指示と参照情報を分離。ファイル・ツール・通信権限で被害を限定する。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製品の安全機能・脆弱性通知・修正支援の範囲を確認する。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誘導文を含む模擬資料で試験。危険操作は実行前承認にする。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R11</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E1／E3→実行環境・API</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隔離環境に本番権限を残す</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許可したビルド・テストの内部から、ホスト管理口や本番APIへ到達できる設定にする。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非特権実行、本番秘密なし。不要マウント・ホスト管理口・更新APIを遮断。</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構築・保守先の作業範囲と、本番操作を認める承認条件を限定する。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本番自動反映は対象外。設定生成と実際の反映権限を区別する。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R03  権限の異なる2案件を連続実行し、相互の情報が出ないこと。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R10  資料内の命令で、許可外の参照・送信・書込みが成立しないこと。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R11  ビルド内部からの本番更新・ホスト操作が拒否されること。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参照：[F3][A7][G2][F2]　｜　対策案。契約列は適用条件の確認、または外部委託時の調達・検収条件。</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01  導入時｜構成要素・境界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ソフト・設計資料／参照境界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04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E1・E3 ソフトウェア　E4 コード・設計資料　B1 参照・取得</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p.16</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R12</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E1／E3／E4 ソフト供給元</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未確認のソフト・依存物を導入</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CLI・拡張・外部ツール・変換器・イメージの出所や脆弱性を確認せず採用する。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配布元と版を限定。署名・依存物を確認し、変換器も隔離して実行する。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脆弱性通知・修正支援・保守終了・OSS条件を調達時に確認する。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部品一覧と更新手順を作り、外部取得は承認済み経路に限る。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R16</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E4 資料／B1 参照範囲</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正本・版・参照権限を決めない</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コードと合わない設計書や権限外資料を取得し、正しい仕様として使う設計にする。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正本と取得範囲を限定。コードSHA・資料版・ハッシュの対応表を作る。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資料の提供版・更新責任・利用許諾を提供者との条件で確認する。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文書更新責任者を定め、資料不足時は未確認として扱う。</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R17</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E4 資料変換／E5 加工</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変換・置換の意味欠落を見逃す</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Excelの数式・図・注記の欠落やマスク衝突を評価せず、レビュー入力として採用する。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原本位置と変換物を対応づけ、抽出漏れ・置換衝突を検出する。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変換・検査製品の対応範囲と精度の限界を検収条件で確認する。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重要図表・数値条件は原本照合。解析不能な箇所をレビュー済みにしない。</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R12  未承認パッケージ・自動更新を拒否し、異常ファイルを隔離できること。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R16  旧版・欠落版・別案件資料を拒否または未確認として識別できること。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R17  代表Excelとマスク後コードで、意味と原本への追跡が保たれること。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参照：[F3][G2][F2][F4]　｜　対策案。契約列は適用条件の確認、または外部委託時の調達・検収条件。</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01  導入時｜構成要素・境界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GitLab・Runner／レビュー成立</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05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E2 GitLab　E3 専用Runner　B5 レビュー結果→投稿・承認</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p.17</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R13</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E2 GitLab／E3 CI制御</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審査対象からレビューを変更できる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MR内のCI・指示文・実行スクリプトで、自身の検査を省略・改変できる設計にする。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審査対象と保護された制御を分離。CI・指示・実行イメージの版を固定。</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CI変更の承認者・実装者・検収責任を構築保守の条件に含める。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MR種別と起動経路を定義し、起動不具合を権限緩和で救済しない。</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R14</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B5 レビュー→投稿・マージ</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対象版と合格結果を結合しない</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レビュー後の再Pushや設計書更新でも、以前の成功結果を使える仕組みにする。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MR・HEAD・比較SHA・資料版と結果を結合。更新時に失効し直前にも照合。</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レビュー対象と再実施条件を、委託成果物の受入条件として明記する。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再レビュー対象・緊急変更時の別承認・結果保存を定める。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R15</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E3 二段階レビュー判定</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指摘なしを完了と取り違える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②の未実行・資料不足・解析失敗でも、空の指摘や終了コードだけで合格にする。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両段階の完了・対象範囲を検証。「未完了」「失効」と合格を分ける。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二段階の完了定義・失敗通知・再実行責任を検収条件に含める。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①無指摘でも②を必須化。未完了時の手動代替承認を定める。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R13  MR側の制御ファイルを書き換えても、保護版のレビューが実行されること。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R14  レビュー中・投稿前・承認後に更新すると、古い結果が無効になること。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R15  ②停止・応答破損・資料欠落・投稿失敗が合格にならないこと。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参照：[G2][G3][F3][F4]　｜　対策案。契約列は適用条件の確認、または外部委託時の調達・検収条件。</a:t>
            </a:r>
            <a:endParaRPr lang="en-US" sz="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01  導入時｜構成要素・境界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認証・結果投稿／権限境界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06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B2 IdP・GitLab→AWS認証　B5 レビュー処理→投稿処理</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p.18</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R07</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B2 社内IdP／GitLab→AWS</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短期認証の成立条件を誤る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非公開GitLabの署名鍵をAWSが取得できず、広い信頼設定や長期共有キーで補う。</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OIDC採用時は発行者・公開鍵の到達性と、対象ジョブの信頼条件を検証。</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IdP・GitLab・公開メタデータの管理者と鍵更新責任を定める。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採用認証方式を確定し、鍵更新・期限切れ・障害時の手順を試験する。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R08</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E3 Runner／B5 投稿分離</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別ジョブだけで分離したとする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ホスト・ボリューム・環境変数を共有し、レビュー実行から投稿・管理用秘密を読める。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実行環境と秘密の到達性を分離。レビュー環境へ投稿・管理秘密を渡さない。</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運用委託先の管理権限と、秘密情報の取得・持出し範囲を限定する。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秘密の所在・読取主体を棚卸しし、更新と失効の手順を用意する。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R09</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B5 結果投稿→GitLab</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投稿専用の権限を確認しない</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トークン名だけで安全と判断し、他MR更新や承認・マージまで可能な権限を残す。</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ロール・スコープを実測。投稿処理で宛先・API・本文・特殊構文を制限。</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委託時は許可操作・禁止操作・投稿失敗の扱いを検収条件にする。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投稿失敗とレビュー完了を分け、トークンの期限と失効を管理する。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R07  正規ジョブだけが認証でき、別案件・別用途のトークンは拒否されること。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R08  レビュー環境から投稿秘密・別ジョブ領域・ホスト管理口へ到達できないこと。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R09  別MRへの投稿、承認・マージ、特殊コマンドの実行を拒否すること。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参照：[G1][F3][G2][G3][G4]　｜　対策案。契約列は適用条件の確認、または外部委託時の調達・検収条件。</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01  導入時｜構成要素・境界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行内→AWS／送信・経路境界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07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E1 端末・E3 Runner→E5 Gateway　B3 行内→AWS</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p.19</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R01</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B3 行内→AWS</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行外送信の許可範囲を誤る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AWS側DLPで止めればよいと判断し、行外持出し禁止情報まで検査環境へ送る設計にする。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送信対象を行内で限定。行外持出し禁止情報はAWS到達前に遮断する。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AWSでの検査処理自体を含め、委託可能な情報範囲を確認する。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「行外持出し禁止」と「モデル投入禁止」を分けて承認する。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R04</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B3 外部通信</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推論以外の外送経路を残す</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Web取得・外部ツール・更新・診断通信を見落とし、未検査の持出し経路を残す。</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用途別に宛先・通信主体を許可。DNS・プロキシ・TLS検証も管理する。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製品の外部通信・診断送信・保守提出物の取扱条件を確認する。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モデル通信だけでなく、全外部通信を一覧化して承認する。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R05</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B3 認可→モデル</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直接呼出し権限を残す</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端末・RunnerへBedrockの直接実行権限を与え、Gatewayの検査・予算管理を迂回できる。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クライアントと推論実行の権限を分離。IAMと通信の両側で経路を強制。</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構築委託時は、直接実行・権限昇格の拒否を検収条件に含める。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実際に付与する権限を確認し、例外付与には期限・承認を設ける。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R01  模擬禁止情報がAWSに届かないこと。行内対策の追加は別途承認。</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R04  個人キー・別API・外部ツールを使った迂回送信が成立しないこと。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R05  端末・Runnerの実資格情報では直接推論が拒否されること。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参照：[F2][F3][P1][A1][C1][C2][G1]　｜　対策案。契約列は適用条件の確認、または外部委託時の調達・検収条件。</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01  導入時｜構成要素・境界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Gateway・DLP／受付・検査</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08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E5 Gateway・DLP・判定機能　B3 受付　B4 モデル投入</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p.20</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R02</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E5 検査／B4 推論境界</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未対応形式を検査済みにする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画像、非表示セル、圧縮・分割入力などの検査範囲を確認せず送信を許可する。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型・サイズ・抽出範囲を定義。解析不能や上限超過は送信を拒否する。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対応形式・上限・非対応時の動作を製品仕様と検収条件で確認する。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実資料を模した試験で許可形式を決める。画像未対応なら送信しない。</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R06</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E5 Gateway／B2 本人性</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自己申告IDで権限を決める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要求中のチーム・案件IDを信用し、他部署の権限や予算を使える仕組みにする。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認証済み主体と信頼する所属・ジョブ情報から権限・課金先を決める。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委託実装では、属性の信頼元と越権拒否を受入条件にする。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兼務・異動・共有利用の扱いと、認可情報の更新責任を決める。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R22</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E5 Gateway・DLP・判定</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検査の失敗を許可に読み替える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タイムアウト、判定不能、検査API不具合の際に、無検査で推論へ流す実装にする。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失敗時は拒否。検査完了と入力全体を結合し、抜けた検査を検出する。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検査の異常時動作、障害通知、修正支援を検収・保守条件に含める。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拒否が増えた場合の代替を決め、検査を外す例外を常態化させない。</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R02  画像・隠しシート・長大入力・分割情報の未検査通過を否定する。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R06  別チーム・別ジョブのIDへ差し替えた要求が拒否されること。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R22  検査停止・壊れた応答・部分失敗でも、モデルへ送信されないこと。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参照：[F2][F3][A4][A9][G1]　｜　対策案。契約列は適用条件の確認、または外部委託時の調達・検収条件。</a:t>
            </a:r>
            <a:endParaRPr lang="en-US" sz="8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01  導入時｜構成要素・境界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推論応答／文脈・実行境界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09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E3 文脈準備　E5 応答検査　E6 推論　B4 応答→ツール</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p.21</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R18</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B4 文脈→設計レビュー</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全体設計レビューの範囲を決めない</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文脈上限や検索漏れを考慮せず、重要な呼出先を読まなくても全体確認済みと表示する。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変更影響から参照計画を作り、取得・実読・未確認範囲を記録する。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変更と全体設計の整合確認を対象とし、総点検と混同しない条件を定める。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高リスク変更の必須観点と、人が補完する条件を決める。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R23</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B4 応答→B1 ツール実行</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出力検査より先に実行させる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ストリーミング断片や壊れたツール引数が、検査前に表示・実行される順序にする。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検査済み出力だけ後段へ渡す。ツール引数・対象・権限を実行前に検証。</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採用APIの検査順序・非対応機能・障害時動作を確認する。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危険操作の事後確認で済ませず、実行前の承認条件を定める。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R24</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E1／E3→E5→E6 API接続</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接続成功だけで製品を採用する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Claude Code／CodexやAPIの差で、画像・ストリーム・検査・利用量記録が一部欠落する。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エージェント・モデル・APIの組合せを固定し、統制を含む結合試験を行う。</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API互換性と必須機能、更新・保守範囲を調達・受入条件で確認する。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未確認の接続経路は許可せず、接続表と採用版を承認する。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R18  長大資料の重要仕様が欠けたとき、確認済みと誤表示しないこと。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R23  危険な断片・引数が、検査前に表示・ツール実行されないこと。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R24  推論成功だけでなく、検査・応答・使用量・記録の一貫性を確認する。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参照：[F2][F4][A4][F3][C1][C2][A9]　｜　対策案。契約列は適用条件の確認、または外部委託時の調達・検収条件。</a:t>
            </a:r>
            <a:endParaRPr lang="en-US" sz="8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01  導入時｜構成要素・境界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AWSサービス／処理・保存境界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10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E5 検査　E6 Bedrock　E7 ログ・一時保管　B4 処理・保持</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p.22</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R19</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E5／E6／B4 処理地域</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東京接続だけで国内処理と判断</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推論・Guardrails・判定AI・保存・障害時切替の実転送先を調べず採用する。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モデル・API・検査・転送先・保存先の許可組合せを固定し、逸脱を拒否。</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処理・保持地域、管理アクセス、再委託、変更条件を個別確認する。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国内と東京限定を区別し、代替先を含めた地域一覧を承認する。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R20</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E6 モデル／保存条件</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学習不使用を無保存と読み替える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モデル・API・機能ごとの保持や人手レビュー条件を確認せず、機密入力を許可する。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モデル・機能・保持設定を許可表にし、条件外の組合せを拒否する。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学習利用・保持・閲覧・削除・例外を分け、実際の適用条件を確認する。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Webの一般説明だけで承認せず、モデル別条件と設定証跡を保存する。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R21</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E7 ログ・保管／保守提出</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ログ・保守経路の保護を忘れる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本文ログ、通知、タグ、バックアップに秘密が残り、閲覧者や送信先を限定しない。</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記録内容を最小化。暗号化・閲覧分離・保存期限・安全な削除を設計する。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保守提出物、再委託、保存場所、返却・削除の条件を確認する。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本文保存の要否を定め、監査保全と日常の削除条件を分ける。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R19  正常時・障害時とも、モデル以外の検査・保存を含む地域が許可内であること。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R20  採用モデルの適用契約・実設定と、銀行の情報取扱条件が一致すること。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R21  通知・タグ・一時領域・サポート提出物にも禁止情報が残らないこと。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参照：[A2][A3][A8][F3][A7][F2][A9]　｜　対策案。契約列は適用条件の確認、または外部委託時の調達・検収条件。</a:t>
            </a:r>
            <a:endParaRPr lang="en-US" sz="8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02  導入時｜全体</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全体｜品質・人の承認・変更</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11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全体：生成・テスト・レビュー・人の判断・変更管理のつながり</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p.23</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R25</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全体｜成果物の品質</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AIの相互確認を品質保証とする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生成コードと生成テスト、二段階レビューが同じ誤仕様を追認しても、採用できる基準にする。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独立した期待値・既知欠陥・静的解析・実テストで品質を評価する。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受託成果物の品質・修補・権利条件を確認。モデルの無誤答保証としない。</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認可・整合性・性能・顧客影響の観点別に受入基準と確認担当を決める。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R26</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全体｜人の承認と体制</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承認者と確認時間を確保しない</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根拠・未確認範囲を示さず、担当者に確認能力や時間がなくても人の承認で安全とする。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対象版・根拠・実テスト結果・未確認事項を承認画面に提示する。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レビュー委託時は担当範囲・必要能力・成果物の証拠を条件化する。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必要人員と教育を確保し、承認者・専門者・代替要員を決める。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R27</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全体｜モデル・設定の変更</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変更と切戻しの仕組みを作らない</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モデル・指示・Guardrail・CIの版を記録せず、更新後に品質が落ちても元へ戻せない。</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設定・版を管理し、検証環境・段階反映・承認版への切戻しを用意する。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仕様変更・保守終了の通知範囲と、移行・修正支援を確認する。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影響評価と再試験の条件を定め、緊急変更も後から追跡できるようにする。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R25  AIが作った期待値だけでなく、人が定めた仕様・既知欠陥で評価する。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R26  承認者が原本・実テスト証拠を確認でき、未確認のまま通さないこと。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R27  旧版と変更版で品質・拒否・記録を比較でき、切戻せること。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参照：[F2][F4][F3][C1][C2]　｜　対策案。契約列は適用条件の確認、または外部委託時の調達・検収条件。</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02  導入時｜全体</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全体｜費用・共有資源・継続性</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12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全体：個人・チーム・ジョブの合計負荷と、業務を止めない仕組み</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p.24</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R28</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全体｜予算・課金・配賦</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通知だけで予算上限を保証する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並列呼出しや応答不明を考慮せず、残予算を重複使用する。検査・ログ等の費用も漏らす。</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呼出前に排他的に予算確保。未確定額を保留し、応答後に一度だけ精算。</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推論以外の課金、価格変更、容量契約、取消時の課金条件を確認する。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上限対象を定め、個人・チーム・ジョブの台帳とAWS請求を突合する。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R29</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全体｜ジョブ・共有資源</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重複・連鎖実行の上限を設けない</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大量MR、投稿イベント、子エージェント、再試行が相互に増幅し、全チームの資源を奪う。</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重複防止キー、最新対象のみ実行、反復・再試行上限、チーム別枠を設ける。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サービスの処理容量・レート制限・増枠支援を確認する。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利用枠と優先度を決め、異常ジョブだけを止める手順を用意する。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R30</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全体｜業務継続と復旧</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モデル以外の停止要因を見落とす</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IdP・DNS・回線・鍵・DLP・資料保管の停止や既存設備の統制継承を評価せず導入する。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依存先と単一障害点を整理。正常なバックアップと国内条件を満たす復旧を設計。</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障害通知・復旧支援・データ取出し・代替利用の条件を確認する。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業務影響・復旧目標・非AI代替要員を決め、設備・暗号等の既存統制を確認する。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R28  並列・切断・再試行・取消でも過大解放せず、総費用との差を説明できること。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R29  一部チームの大量要求や投稿再帰でも、他チームの利用を維持できること。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R30  回線・認証・鍵・検査停止と復元でも、未審査経路へ逃げず復旧できること。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参照：[A10][A9][F3][F4][A1]　｜　対策案。契約列は適用条件の確認、または外部委託時の調達・検収条件。</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02  導入時｜全体</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全体｜証跡・緊急停止・事故対応</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13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全体：検知→停止→調査→報告→復旧を複数部門・委託先で実施</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p.25</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R31</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全体｜端末→AWS→承認の証跡</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各所のログをつなぐ設計がない</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暗号化ログはあっても、利用者・対象版・モデル・ツール操作・投稿・承認を追跡できない。</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共通IDと時刻で結合。記録欠落・改ざんを検知し、監査権限を分離する。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必要な記録の提供・保全・監査対応・削除分担を確認する。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必要証跡と保存期間を決め、全文保存とメタデータ保存を区別する。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R32</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全体｜緊急停止・再開</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新規推論だけを止める設計にする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停止ボタンがあっても、実行中ジョブ・子プロセス・発行済み権限・キューが動き続ける。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要求拒否・資格情報遮断・キュー停止・子処理終了を連動させる。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緊急隔離・停止・調査協力の実行主体と連絡先を定める。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停止権限・発動条件・証拠保全・再開承認を定め、実動訓練する。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R33</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全体｜検知・調査・報告</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事故判断と連絡体制を決めない</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提供者の通知待ちになり、漏えい疑いの検知・封じ込め・当局報告等を誰も判断できない。</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不正操作・検査停止・大量利用・ログ欠落を検知し、対象を抽出可能にする。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事故通知・再委託先連絡・証拠保全・調査協力の実条件を確認する。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CSIRT・法務・情報管理の判断担当と、適用する報告手順を整える。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R31  任意ジョブを参照原本から承認まで追跡し、欠落・削除も検知できること。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R32  稼働中の親子ジョブと既存セッションも停止し、勝手に再開しないこと。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R33  模擬事故で、発見→停止→影響特定→報告判断まで責任者が動けること。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参照：[A9][F3][G2][G1][P2]　｜　対策案。契約列は適用条件の確認、または外部委託時の調達・検収条件。</a:t>
            </a:r>
            <a:endParaRPr lang="en-US" sz="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02  導入時｜全体</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全体｜責任・権利・委託終了</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基盤を整える際の選定・判断・設計・設定の誤りと、利用開始前に満たす条件。</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14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DF3FA"/>
          </a:solidFill>
          <a:ln w="10160">
            <a:solidFill>
              <a:srgbClr val="EDF3FA"/>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全体：銀行としての承認・法務判断・委託管理・安全な利用終了</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導入後 p.26</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主要リスク｜判断・設定で何を誤るか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376895"/>
          </a:solidFill>
          <a:ln w="10160">
            <a:solidFill>
              <a:srgbClr val="376895"/>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DF3FA"/>
          </a:solidFill>
          <a:ln w="10160">
            <a:solidFill>
              <a:srgbClr val="EDF3FA"/>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R34</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全体｜導入承認・責任分担</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根拠なく導入を承認する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FISCへの適合や既存統制を確認せず、残存リスクの責任者も不在のまま機密利用を始める。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特権・設定変更・監査を分離。資産・例外・確認証拠を台帳に結合する。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委託先の担当範囲・管理権限・監査協力を実契約で確認する。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銀行の受容権限と独立牽制を定め、基準本文・内部規程・継承統制を照合する。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376895"/>
          </a:solidFill>
          <a:ln w="10160">
            <a:solidFill>
              <a:srgbClr val="376895"/>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DF3FA"/>
          </a:solidFill>
          <a:ln w="10160">
            <a:solidFill>
              <a:srgbClr val="EDF3FA"/>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R35</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全体｜利用範囲・法務・知財</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資料と成果物の利用条件を確認しない</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第三者コード・個人データ・OSSの条件を確認せず採用し、開発支援の承認を本番判断へ流用する。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許可資料・用途を限定。依存物と生成成果物のライセンスを確認する。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秘密保持・個人データ・知財・OSS・成果物利用の条件を個別審査する。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法務と利用範囲を承認。本番操作・顧客自動判断への拡大は追加審査する。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376895"/>
          </a:solidFill>
          <a:ln w="10160">
            <a:solidFill>
              <a:srgbClr val="376895"/>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376895"/>
                </a:solidFill>
                <a:latin typeface="Noto Sans CJK JP" pitchFamily="34" charset="0"/>
                <a:ea typeface="Noto Sans CJK JP" pitchFamily="34" charset="-122"/>
                <a:cs typeface="Noto Sans CJK JP" pitchFamily="34" charset="-120"/>
              </a:rPr>
              <a:t>R36</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全体｜委託管理・終了・移行</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希望する契約条件を確保済みとする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監査・通知・地域・削除の条件が不足し、提供終了時の代替やデータ返却も決めず採用する。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依存先を台帳化。資料・設定・証跡の移行と安全な終了・削除を設計する。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責任分界・再委託・監査・事故通知・変更・終了・削除の実条件を確認する。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不足条件と集中依存を評価し、代替・非AI運用・退出計画を承認する。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導入前の確認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R34  未確認を適合済みとせず、未充足事項に責任者・期限・判断があること。</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R35  入力権限と成果物の利用条件を示せ、対象外用途が無承認で始まらないこと。</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R36  未確保条項を隠さず判断し、必要情報を取り出して安全に移行できること。</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参照：[F2][F3][F4][P1][A7]　｜　対策案。契約列は適用条件の確認、または外部委託時の調達・検収条件。</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03  導入後｜構成要素・境界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端末・エージェント／実行境界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15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E1 開発者端末・AIエージェント　E3 専用Runner　B1 参照・実行</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p.3</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R03</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E1 端末／E3 Runner</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前の案件の情報が混ざる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再利用したセッションや子エージェント、復元キャッシュに他案件の内容が残る。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権限境界を越える状態再利用を拒否。汚染した履歴・派生物を隔離する。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保守時のデータ再利用禁止・削除義務の履行を確認する。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作業領域の残存と案件切替を点検。異動・終了時に利用権限も失効する。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R10</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B1 資料・ツール→Agent</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資料内の命令に操作を乗っ取られる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READMEや設計書の誘導で、別ファイル探索・外部送信・レビュー省略を実行する。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許可外操作を拒否。不正指示が残る履歴・子エージェントを隔離する。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製品側の弱点は提供者へ報告し、修正・回避策の提供を求める。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誘導があった資料・セッションを調査し、類似資料の影響を確認する。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R11</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E1／E3→実行環境・API</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ビルドやテストが誤操作を起こす</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生成スクリプトや依存処理が、ファイル削除・更新API・ホスト操作を実行する。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実行先・引数・権限を確認して拒否。被害を当該作業領域内に限定する。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委託先の無承認本番作業を禁止し、事故時の調査・復旧協力を確認する。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意図しない処理を停止し、変更データ・実行先を確認して復旧する。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R03  履歴・キャッシュ・子エージェント・復元後の案件混入を点検する。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R10  指示変更・不自然な探索・許可外ツール実行の拒否記録を確認する。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R11  禁止コマンド名だけでなく、子処理・更新先・実際の権限を監視する。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参照：[F3][A7][G2][F2]　｜　対策案。契約列は適用条件の確認、または外部委託時の調達・検収条件。</a:t>
            </a:r>
            <a:endParaRPr lang="en-US" sz="8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03  導入後｜構成要素・境界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ソフト・設計資料／参照境界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16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E1・E3 ソフトウェア　E4 コード・設計資料　B1 参照・取得</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p.4</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R12</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E1／E3／E4 ソフト供給元</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更新・依存物から侵害される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悪性パッケージや脆弱な変換処理が入り、端末・Runner・成果物を汚染する。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部品と更新の検査、版固定、感染検知。影響する配布物・ジョブを止める。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提供者へ修正・影響情報を求め、保守終了時は代替を判断する。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脆弱性を追跡し、緊急更新も試験・承認・切戻しを実施する。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R16</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E4 資料／B1 参照範囲</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古い・別案件の資料で判断する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設計書更新漏れや取得範囲の誤りで、実装と一致しない仕様を根拠にレビューする。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取得時の権限・版・ハッシュを照合し、対象外資料を使わせない。</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提供資料の更新・訂正と利用範囲について契約条件を確認する。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変更と文書改訂を突合。重要仕様の未確認は担当者が原本で補う。</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R17</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E4 資料変換／E5 加工</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加工後の誤った意味でレビューする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図や注記の欠落、異なる識別子の同一置換により、認可条件・数値を取り違える。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原本との差分・変換警告・置換対応を残し、不確かな箇所を限定表示する。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製品の非対応・不具合を確認し、修正や回避策を求める。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重要条件を人が原本照合。変換器・検査ルール変更後に再評価する。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R12  更新差分・配布物の整合性・依存物の新規取得・変換異常を確認する。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R16  参照原本・シート位置・資料版を結果から追跡する。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R17  検知率だけでなく、原本の意味と参照位置の保持を確認する。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参照：[F3][G2][F2][F4]　｜　対策案。契約列は適用条件の確認、または外部委託時の調達・検収条件。</a:t>
            </a:r>
            <a:endParaRPr lang="en-US" sz="8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03  導入後｜構成要素・境界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GitLab・Runner／レビュー成立</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17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E2 GitLab　E3 専用Runner　B5 レビュー結果→投稿・承認</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p.5</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R13</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E2 GitLab／E3 CI制御</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MR変更でレビューを無効化される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CI定義や指示文の書換えにより、検査が省かれたり秘密が出力されたりする。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保護版と実行版の一致を検証し、不審な制御変更・起動を拒否する。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保守委託先の変更承認・記録の履行を確認する。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CI変更は別レビュー。無許可変更があった結果を失効し再実行する。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R14</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B5 レビュー→投稿・マージ</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古い合格で新しい変更が通る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確認済みSHAとは別のコードや設計資料が、成功コメントを根拠に承認・マージされる。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更新を検知して合格を失効。投稿時・マージ直前の対象一致を強制する。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対象変更に伴う再レビューと、受託成果物の訂正を求める。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承認者が対象版を確認し、合格後の変更は再レビューへ戻す。</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R15</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E3 二段階レビュー判定</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未完了レビューを合格扱いする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予算不足や障害で②が途中終了したのに、無指摘の結果として利用される。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実行状態と結果形式を検証し、未完了・投稿失敗を明示して合格を止める。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障害通知と再実行・代替支援の契約条件を履行させる。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未完了を放置せず、再実行または別承認の手動レビューで処理する。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R13  制御版の不一致、保護設定の解除、未承認の起動条件を確認する。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R14  レビュー結果とマージ対象のSHA・比較元・資料版の一致を確認する。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R15  ①②それぞれの完了、確認範囲、投稿完了、未確認事項を確認する。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参照：[G2][G3][F3][F4]　｜　対策案。契約列は適用条件の確認、または外部委託時の調達・検収条件。</a:t>
            </a:r>
            <a:endParaRPr lang="en-US" sz="8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03  導入後｜構成要素・境界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認証・結果投稿／権限境界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18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B2 IdP・GitLab→AWS認証　B5 レビュー処理→投稿処理</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p.6</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R07</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B2 社内IdP／GitLab→AWS</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鍵更新や失効の不備で誤認証</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鍵・証明書更新で認証が停止する、または異動者・無関係なジョブの利用が続く。</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有効期限・鍵更新・信頼条件を監視。緊急時は到達遮断も組み合わせる。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認証障害・鍵交換の支援範囲と連絡体制を確認する。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失効と鍵更新を訓練し、共有長期キーへの恒久的な退避を避ける。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R08</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E3 Runner／B5 投稿分離</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レビュー処理から秘密を奪われる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実行したコードが共有領域やホストを介し、投稿トークン・管理資格情報を取得する。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不審な読取・接続を遮断し、侵害ジョブと資格情報を隔離・失効する。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保守先へ証拠保全と秘密の交換・影響調査を求める。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利用履歴を追跡し、同一ホストの他ジョブ・他案件への波及を確認する。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R09</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B5 結果投稿→GitLab</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結果投稿が不正操作の入口になる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AI出力の宛先や特殊構文をそのまま使い、別MRの変更や意図しない操作を実行する。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本文と宛先を検証して投稿。禁止操作は拒否し、投稿資格情報を限定する。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投稿機能の不具合について修正・調査協力を受ける。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投稿先・操作・失敗を点検し、不審時は投稿機能のみ停止する。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R07  期限切れ・鍵不整合・退職後利用・認証迂回を確認する。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R08  ジョブ間の到達性、秘密の異常利用、共有領域への書込みを確認する。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R09  結果の取り違え・特殊構文・許可外API操作を検知する。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参照：[G1][F3][G2][G3][G4]　｜　対策案。契約列は適用条件の確認、または外部委託時の調達・検収条件。</a:t>
            </a:r>
            <a:endParaRPr lang="en-US" sz="8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03  導入後｜構成要素・境界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行内→AWS／送信・経路境界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19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E1 端末・E3 Runner→E5 Gateway　B3 行内→AWS</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p.7</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R01</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B3 行内→AWS</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禁止情報をAWSへ送ってしまう</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許可コードに秘密鍵や顧客情報が混入し、AWSの検査環境へ到達する。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送信対象の制限と事前遮断を継続。違反要求を隔離し再送を止める。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漏えい疑い時の通知・保全・削除協力を適用契約で確認する。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送信範囲と例外を点検し、到達した情報・宛先・利用者を調査する。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R04</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B3 外部通信</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別経路で未検査送信される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追加ツールや個人アカウント、診断送信からコード・設計資料が外部へ流れる。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未承認の宛先・プロセスを遮断。通信ログから新しい経路を検知する。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無断の送信先追加や診断条件変更を確認し、利用継続を判断する。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ツール追加・更新時に通信を再確認。例外の期限切れを回収する。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R05</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B3 認可→モデル</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設定変更で検査を迂回される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一時的に追加した権限や別モデルのAPIから、Gatewayを通さず推論できてしまう。</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権限差分と不許可APIを検知し、直接呼出しを拒否する。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保守先の権限変更が承認・記録条件を満たすか確認する。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権限を棚卸しし、緊急付与を回収。モデル追加時に拒否試験を再実施する。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R01  DLPの拒否件数だけでなく、禁止境界を越えたかを確認する。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R04  通信先の追加・TLS検証無効化・直接通信の試行を確認する。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R05  PrivateLinkの有無ではなく、迂回要求の実際の拒否を確認する。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参照：[F2][F3][P1][A1][C1][C2][G1]　｜　対策案。契約列は適用条件の確認、または外部委託時の調達・検収条件。</a:t>
            </a:r>
            <a:endParaRPr lang="en-US" sz="8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03  導入後｜構成要素・境界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Gateway・DLP／受付・検査</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20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E5 Gateway・DLP・判定機能　B3 受付　B4 モデル投入</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p.8</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R02</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E5 検査／B4 推論境界</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未検査の情報が通過する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新しい添付形式や分割送信で検査が一部しか働かず、秘密情報をモデルへ渡す。</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検査範囲と結果を要求に結合。未検査部分のある要求を止める。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対応形式や検知機能の変更通知を確認し、必要な修正を求める。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新形式を追加する前に再試験。誤検知を理由に検査全体を解除しない。</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R06</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E5 Gateway／B2 本人性</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他案件の権限・予算を使う</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申告IDの書換えや所属変更の反映漏れで、誤った案件へ処理・費用が帰属する。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署名済み属性と認可台帳を照合。所属変更時にセッションを更新する。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認証・運用委託先の属性更新、誤計上訂正への協力を確認する。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利用記録と所属・権限・費用台帳を突合し、不明な利用主体を調査する。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R22</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E5 Gateway・DLP・判定</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障害時に検査なしで通過する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検査サービスの遅延・不具合により、未検査要求が推論へ送られるか利用が停滞する。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検査失敗は遮断し、障害箇所を切り離す。結果と入力の対応を検証する。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障害通知・復旧支援を依頼し、原因と影響する要求を確認する。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未検査の再送は認めず、承認済みの手動・縮退運用へ切り替える。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R02  未対応形式・解析失敗・検査範囲の欠落を監視する。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R06  不明な利用者、所属不一致、別案件への費用付替えを検知する。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R22  判定不能・検査失敗・拒否急増と、実送信の有無を確認する。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参照：[F2][F3][A4][A9][G1]　｜　対策案。契約列は適用条件の確認、または外部委託時の調達・検収条件。</a:t>
            </a:r>
            <a:endParaRPr lang="en-US" sz="8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03  導入後｜構成要素・境界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推論応答／文脈・実行境界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21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E3 文脈準備　E5 応答検査　E6 推論　B4 応答→ツール</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p.9</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R18</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B4 文脈→設計レビュー</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重要仕様を読み落として合格にする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長大入力の切捨てや検索漏れで、認証・障害時動作・呼出先の影響を見逃す。</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文脈量・取得失敗・参照範囲を可視化し、不足時は範囲限定結果にする。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委託レビューでは確認対象・未確認事項を成果物へ明示させる。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未確認の重要観点は専門者が補完し、無指摘だけで合格にしない。</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R23</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B4 応答→B1 ツール実行</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検査前の出力が被害を起こす</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途中応答や不正な引数が先に実行され、後からブロックしても変更を取り消せない。</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検査待ちと実行待ちを分離し、違反出力・未検証引数の利用を拒否する。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検査挙動やAPI変更を確認し、不具合の修正・影響調査を求める。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誤操作があれば実行を止め、対象・変更結果を確認して復旧する。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R24</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E1／E3→E5→E6 API接続</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更新で検査や記録が欠落する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新API・モデルや互換レイヤの変更で、ツール応答・使用量・監査項目が失われる。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想定外APIを拒否。必須項目の欠落を検知し、旧承認版へ戻す。</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互換性変更の通知・移行支援を確認し、未対応部分の利用を止める。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更新前後に結合試験。性能改善だけを理由に検査経路を変えない。</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R18  実読した根拠と、読めなかった重要ファイル・観点を確認する。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R23  検査終了時刻と表示・実行時刻、対象・引数の一致を確認する。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R24  入力形式・応答形式・使用量・監査項目の欠落を検知する。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参照：[F2][F4][A4][F3][C1][C2][A9]　｜　対策案。契約列は適用条件の確認、または外部委託時の調達・検収条件。</a:t>
            </a:r>
            <a:endParaRPr lang="en-US" sz="8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03  導入後｜構成要素・境界</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AWSサービス／処理・保存境界</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22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E5 検査　E6 Bedrock　E7 ログ・一時保管　B4 処理・保持</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p.10</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R19</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E5／E6／B4 処理地域</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設定変更で未承認地域へ流れる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モデル追加や自動切替で、推論・検査・保持の一部が国内条件を外れる。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許可組合せ以外を拒否。利用可能な記録で実処理先と設定差分を確認する。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地域・再委託・保持条件の変更通知を確認し、必要に応じ利用を停止する。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モデルや代替先を再審査。障害時も未承認地域へ退避しない。</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R20</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E6 モデル／保存条件</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保持条件の変更を見落とす</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モデル追加や保存機能の有効化により、承認していない保持・レビュー対象になる。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保持設定とモデル機能の変更を検知し、承認外の利用を止める。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適用条件・例外承認・期限の変更を確認し、不適合なら利用範囲を見直す。</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モデル変更時に再承認し、送信済み情報への影響と削除可能範囲を調べる。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R21</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E7 ログ・保管／保守提出</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推論以外の保管先から漏れる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詳細ログや調査用ファイルが広く共有され、案件情報が保守先や別利用者へ渡る。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閲覧・持出しを制限し、機密混入と公開設定を検知。不要コピーを削除する。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保守先の保全・削除・二次利用禁止が実行されているか確認する。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提出前確認と保存先台帳を維持し、終了時の全コピーを追跡する。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R19  接続先名だけでなく、モデル・検査・保存・切替先の条件を追跡する。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R20  「非学習」「無保存」「人手アクセスなし」を別々に確認する。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R21  ログ本文・添付・通知・保守提出物の閲覧先と残存を点検する。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参照：[A2][A3][A8][F3][A7][F2][A9]　｜　対策案。契約列は適用条件の確認、または外部委託時の調達・検収条件。</a:t>
            </a:r>
            <a:endParaRPr lang="en-US" sz="8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04  導入後｜全体</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全体｜品質・人の承認・変更</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23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全体：生成・テスト・レビュー・人の判断・変更管理のつながり</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p.11</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R25</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全体｜成果物の品質</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共通の誤りを見逃して採用する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AIが誤った計算・認可条件を生成し、テストとレビューもその誤りを正しいと判断する。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独立テストと静的解析で検証し、重大欠陥を含む評価セットを維持する。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成果物の修補責任を適用し、製品由来の不具合は提供者と調査する。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重要処理は専門者が確認。見逃し・誤指摘・流出欠陥を分析し評価を更新する。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R26</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全体｜人の承認と体制</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人の承認が形だけになる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大量のAI指摘や忙しさで、架空の根拠・テスト実施報告を見抜けず承認する。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原本へ直接追跡できる表示と、検証済み証拠の添付を必須にする。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委託レビューの確認内容・要員・証拠の履行を点検する。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確認負荷と滞留を監視。根拠を確認できない変更は承認せず担当へ戻す。</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R27</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全体｜モデル・設定の変更</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変更で品質や防御が劣化する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モデル・指示・検査設定の更新後に、誤答・見逃し・権限逸脱や費用が増える。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承認構成との差分と評価値を監視。悪化時は対象版の利用を止める。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仕様・条件の変更を確認し、提供者と不具合・移行を調整する。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再評価してから拡大。不正設定を含むバックアップはそのまま復元しない。</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R25  誤計算・認可漏れ・データ不整合・不当条件の流出を確認する。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R26  確認記録の欠落、短時間の大量承認、未確認事項の放置を点検する。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R27  変更後の品質・拒否率・権限・使用量・復元設定を比較する。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参照：[F2][F4][F3][C1][C2]　｜　対策案。契約列は適用条件の確認、または外部委託時の調達・検収条件。</a:t>
            </a:r>
            <a:endParaRPr lang="en-US" sz="8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04  導入後｜全体</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全体｜費用・共有資源・継続性</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24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全体：個人・チーム・ジョブの合計負荷と、業務を止めない仕組み</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p.12</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R28</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全体｜予算・課金・配賦</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並列・再試行で費用が超過する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応答不明の予約を解放した後も課金され、二重精算・誤配賦や共通費用の見落としが起きる。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予算予約と精算状態を一貫管理。未確定額を保留し上限到達で新規受付停止。</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料金・価格変更・課金異常の訂正手続を確認する。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利用台帳と請求を照合し、検査・通信・保管・固定費も集計する。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R29</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全体｜ジョブ・共有資源</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ループで全体の処理が滞留する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再試行・二重起動・長大入力が続き、共有クォータとRunnerを占有して通常開発を止める。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ループ・重複を抑止し、チーム別枠と公平なキューで資源を隔離する。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クォータ不足や容量制限について、提供者へ支援・増枠可否を確認する。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待ち時間・キュー長・反復回数を監視し、問題のジョブ・利用者を停止する。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R30</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全体｜業務継続と復旧</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基盤障害で開発・改修が止まる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認証・回線・鍵等が停止し、無検査の経路や未承認地域への切替で復旧しようとする。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障害箇所を検知・隔離し、承認済み構成へ復旧。復元設定の健全性も照合。</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復旧支援を受け、停止・再開見込みと提供者側の影響範囲を確認する。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非AIレビュー等へ切替。安全条件と業務整合を確認した後に再開する。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R28  AWS Budgetsの通知を即時停止の代替にしない。対象費用と総額を区別する。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R29  重複率・待ち時間・資源占有率と、他チームへの波及を確認する。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R30  依存先の可用性、復旧時間、手動代替の能力、復元後の整合を確認する。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参照：[A10][A9][F3][F4][A1]　｜　対策案。契約列は適用条件の確認、または外部委託時の調達・検収条件。</a:t>
            </a:r>
            <a:endParaRPr lang="en-US" sz="8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04  導入後｜全体</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全体｜証跡・緊急停止・事故対応</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25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全体：検知→停止→調査→報告→復旧を複数部門・委託先で実施</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p.13</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R31</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全体｜端末→AWS→承認の証跡</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事故や承認の根拠を追えない</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ログ欠落・時刻ずれ・削除・鍵喪失で、何を送り何を実行したかつながらなくなる。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記録の連続性と時刻を監視し、改ざん防止・鍵保全・分離保管を維持する。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提供者・運用委託先に記録保全と必要情報の提出を求める。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追跡演習を行い、欠落は即時調査。ハッシュだけで内容を復元できるとはしない。</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R32</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全体｜緊急停止・再開</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停止後も操作・課金が続く</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利用者や新規推論を止めても、既存セッション、キュー、子エージェントの実行が継続する。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稼働中処理まで停止・到達遮断し、残ジョブと自動再起動を確認する。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委託先へ緊急隔離・保全を依頼し、実施結果を取得する。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業務影響と証拠保全を判断し、原因解消と残処理確認後に再開承認する。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R33</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全体｜検知・調査・報告</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漏えい・不正操作への対応が遅れる</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兆候を放置し、送信先・対象情報の特定と、必要な報告・本人通知の判断が遅れる。</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異常を通知し、ジョブ・資料・宛先を抽出して被害範囲を絞り込む。</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提供者へ事故通知・調査・保全を求め、未回答は窓口へエスカレーションする。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CSIRTが封じ込め、法務等が報告対象・期限を判断し、再発防止まで追跡する。</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R31  本人・対象版・モデル・指示版・実操作・結果・承認のつながりを確認する。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R32  停止命令ではなく、残プロセス・通信・再起動・課金の収束を確認する。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R33  発見から封じ込め・影響特定・報告判断までの経過と滞留を確認する。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参照：[A9][F3][G2][G1][P2]　｜　対策案。契約列は適用条件の確認、または外部委託時の調達・検収条件。</a:t>
            </a:r>
            <a:endParaRPr lang="en-US" sz="8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247970"/>
          </a:solidFill>
          <a:ln w="10160">
            <a:solidFill>
              <a:srgbClr val="247970"/>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04  導入後｜全体</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全体｜責任・権利・委託終了</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実際の利用・運用・変更で起きる事故と、継続的な予防・検知・対応。</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26 / 30</a:t>
            </a:r>
            <a:endParaRPr lang="en-US" sz="1150" dirty="0"/>
          </a:p>
        </p:txBody>
      </p:sp>
      <p:sp>
        <p:nvSpPr>
          <p:cNvPr id="10" name="Shape 8"/>
          <p:cNvSpPr/>
          <p:nvPr/>
        </p:nvSpPr>
        <p:spPr>
          <a:xfrm>
            <a:off x="566928" y="1920240"/>
            <a:ext cx="13496544" cy="310896"/>
          </a:xfrm>
          <a:prstGeom prst="roundRect">
            <a:avLst>
              <a:gd name="adj" fmla="val 23529"/>
            </a:avLst>
          </a:prstGeom>
          <a:solidFill>
            <a:srgbClr val="ECF6F4"/>
          </a:solidFill>
          <a:ln w="10160">
            <a:solidFill>
              <a:srgbClr val="ECF6F4"/>
            </a:solidFill>
            <a:prstDash val="solid"/>
          </a:ln>
        </p:spPr>
      </p:sp>
      <p:sp>
        <p:nvSpPr>
          <p:cNvPr id="11" name="Text 9"/>
          <p:cNvSpPr/>
          <p:nvPr/>
        </p:nvSpPr>
        <p:spPr>
          <a:xfrm>
            <a:off x="704088" y="1970532"/>
            <a:ext cx="11612880" cy="210312"/>
          </a:xfrm>
          <a:prstGeom prst="rect">
            <a:avLst/>
          </a:prstGeom>
          <a:noFill/>
          <a:ln/>
        </p:spPr>
        <p:txBody>
          <a:bodyPr wrap="square" lIns="0" tIns="0" rIns="0" bIns="0" rtlCol="0" anchor="ctr">
            <a:spAutoFit/>
          </a:bodyPr>
          <a:lstStyle/>
          <a:p>
            <a:pPr indent="0" marL="0">
              <a:buNone/>
            </a:pPr>
            <a:r>
              <a:rPr lang="en-US" sz="1240" b="1" dirty="0">
                <a:solidFill>
                  <a:srgbClr val="247970"/>
                </a:solidFill>
                <a:latin typeface="Noto Sans CJK JP" pitchFamily="34" charset="0"/>
                <a:ea typeface="Noto Sans CJK JP" pitchFamily="34" charset="-122"/>
                <a:cs typeface="Noto Sans CJK JP" pitchFamily="34" charset="-120"/>
              </a:rPr>
              <a:t>全体：銀行としての承認・法務判断・委託管理・安全な利用終了</a:t>
            </a:r>
            <a:endParaRPr lang="en-US" sz="1240" dirty="0"/>
          </a:p>
        </p:txBody>
      </p:sp>
      <p:sp>
        <p:nvSpPr>
          <p:cNvPr id="12" name="Text 10">
            <a:hlinkClick r:id="rId1" tooltip="対応する時点のページへ" action="ppaction://hlinksldjump"/>
          </p:cNvPr>
          <p:cNvSpPr/>
          <p:nvPr/>
        </p:nvSpPr>
        <p:spPr>
          <a:xfrm>
            <a:off x="12380976" y="1965960"/>
            <a:ext cx="1444752" cy="219456"/>
          </a:xfrm>
          <a:prstGeom prst="rect">
            <a:avLst/>
          </a:prstGeom>
          <a:noFill/>
          <a:ln/>
        </p:spPr>
        <p:txBody>
          <a:bodyPr wrap="square" lIns="0" tIns="0" rIns="0" bIns="0" rtlCol="0" anchor="ctr">
            <a:spAutoFit/>
          </a:bodyPr>
          <a:lstStyle/>
          <a:p>
            <a:pPr algn="r" indent="0" marL="0">
              <a:buNone/>
            </a:pPr>
            <a:r>
              <a:rPr lang="en-US" sz="1140" u="sng" dirty="0">
                <a:solidFill>
                  <a:srgbClr val="65748A"/>
                </a:solidFill>
                <a:latin typeface="Noto Sans CJK JP" pitchFamily="34" charset="0"/>
                <a:ea typeface="Noto Sans CJK JP" pitchFamily="34" charset="-122"/>
                <a:cs typeface="Noto Sans CJK JP" pitchFamily="34" charset="-120"/>
                <a:hlinkClick r:id="rId1" action="ppaction://hlinksldjump" tooltip="対応する時点のページへ">
                  <a:extLst>
                    <a:ext uri="{A12FA001-AC4F-418D-AE19-62706E023703}">
                      <ahyp:hlinkClr xmlns:ahyp="http://schemas.microsoft.com/office/drawing/2018/hyperlinkcolor" val="tx"/>
                    </a:ext>
                  </a:extLst>
                </a:hlinkClick>
              </a:rPr>
              <a:t>導入時 p.14</a:t>
            </a:r>
            <a:endParaRPr lang="en-US" sz="1140" dirty="0"/>
          </a:p>
        </p:txBody>
      </p:sp>
      <p:sp>
        <p:nvSpPr>
          <p:cNvPr id="13" name="Text 11"/>
          <p:cNvSpPr/>
          <p:nvPr/>
        </p:nvSpPr>
        <p:spPr>
          <a:xfrm>
            <a:off x="658368" y="2423160"/>
            <a:ext cx="4133088" cy="292608"/>
          </a:xfrm>
          <a:prstGeom prst="rect">
            <a:avLst/>
          </a:prstGeom>
          <a:noFill/>
          <a:ln/>
        </p:spPr>
        <p:txBody>
          <a:bodyPr wrap="square" lIns="0" tIns="0" rIns="0" bIns="0" rtlCol="0" anchor="ctr">
            <a:spAutoFit/>
          </a:bodyPr>
          <a:lstStyle/>
          <a:p>
            <a:pPr indent="0" marL="0">
              <a:buNone/>
            </a:pPr>
            <a:r>
              <a:rPr lang="en-US" sz="1380" b="1" dirty="0">
                <a:solidFill>
                  <a:srgbClr val="142D4E"/>
                </a:solidFill>
                <a:latin typeface="Noto Sans CJK JP" pitchFamily="34" charset="0"/>
                <a:ea typeface="Noto Sans CJK JP" pitchFamily="34" charset="-122"/>
                <a:cs typeface="Noto Sans CJK JP" pitchFamily="34" charset="-120"/>
              </a:rPr>
              <a:t>主要リスク｜利用・運用で何が起きるか</a:t>
            </a:r>
            <a:endParaRPr lang="en-US" sz="1380" dirty="0"/>
          </a:p>
        </p:txBody>
      </p:sp>
      <p:sp>
        <p:nvSpPr>
          <p:cNvPr id="14" name="Text 12"/>
          <p:cNvSpPr/>
          <p:nvPr/>
        </p:nvSpPr>
        <p:spPr>
          <a:xfrm>
            <a:off x="4956048" y="2423160"/>
            <a:ext cx="2990088" cy="292608"/>
          </a:xfrm>
          <a:prstGeom prst="rect">
            <a:avLst/>
          </a:prstGeom>
          <a:noFill/>
          <a:ln/>
        </p:spPr>
        <p:txBody>
          <a:bodyPr wrap="square" lIns="0" tIns="0" rIns="0" bIns="0" rtlCol="0" anchor="ctr">
            <a:spAutoFit/>
          </a:bodyPr>
          <a:lstStyle/>
          <a:p>
            <a:pPr indent="0" marL="0">
              <a:buNone/>
            </a:pPr>
            <a:r>
              <a:rPr lang="en-US" sz="1420" b="1" dirty="0">
                <a:solidFill>
                  <a:srgbClr val="376895"/>
                </a:solidFill>
                <a:latin typeface="Noto Sans CJK JP" pitchFamily="34" charset="0"/>
                <a:ea typeface="Noto Sans CJK JP" pitchFamily="34" charset="-122"/>
                <a:cs typeface="Noto Sans CJK JP" pitchFamily="34" charset="-120"/>
              </a:rPr>
              <a:t>技術｜仕組みで防ぐ</a:t>
            </a:r>
            <a:endParaRPr lang="en-US" sz="1420" dirty="0"/>
          </a:p>
        </p:txBody>
      </p:sp>
      <p:sp>
        <p:nvSpPr>
          <p:cNvPr id="15" name="Text 13"/>
          <p:cNvSpPr/>
          <p:nvPr/>
        </p:nvSpPr>
        <p:spPr>
          <a:xfrm>
            <a:off x="8110728" y="2423160"/>
            <a:ext cx="2670048" cy="292608"/>
          </a:xfrm>
          <a:prstGeom prst="rect">
            <a:avLst/>
          </a:prstGeom>
          <a:noFill/>
          <a:ln/>
        </p:spPr>
        <p:txBody>
          <a:bodyPr wrap="square" lIns="0" tIns="0" rIns="0" bIns="0" rtlCol="0" anchor="ctr">
            <a:spAutoFit/>
          </a:bodyPr>
          <a:lstStyle/>
          <a:p>
            <a:pPr indent="0" marL="0">
              <a:buNone/>
            </a:pPr>
            <a:r>
              <a:rPr lang="en-US" sz="1420" b="1" dirty="0">
                <a:solidFill>
                  <a:srgbClr val="726180"/>
                </a:solidFill>
                <a:latin typeface="Noto Sans CJK JP" pitchFamily="34" charset="0"/>
                <a:ea typeface="Noto Sans CJK JP" pitchFamily="34" charset="-122"/>
                <a:cs typeface="Noto Sans CJK JP" pitchFamily="34" charset="-120"/>
              </a:rPr>
              <a:t>契約｜対外条件を確認</a:t>
            </a:r>
            <a:endParaRPr lang="en-US" sz="1420" dirty="0"/>
          </a:p>
        </p:txBody>
      </p:sp>
      <p:sp>
        <p:nvSpPr>
          <p:cNvPr id="16" name="Text 14"/>
          <p:cNvSpPr/>
          <p:nvPr/>
        </p:nvSpPr>
        <p:spPr>
          <a:xfrm>
            <a:off x="10945368" y="2423160"/>
            <a:ext cx="3044952" cy="292608"/>
          </a:xfrm>
          <a:prstGeom prst="rect">
            <a:avLst/>
          </a:prstGeom>
          <a:noFill/>
          <a:ln/>
        </p:spPr>
        <p:txBody>
          <a:bodyPr wrap="square" lIns="0" tIns="0" rIns="0" bIns="0" rtlCol="0" anchor="ctr">
            <a:spAutoFit/>
          </a:bodyPr>
          <a:lstStyle/>
          <a:p>
            <a:pPr indent="0" marL="0">
              <a:buNone/>
            </a:pPr>
            <a:r>
              <a:rPr lang="en-US" sz="1420" b="1" dirty="0">
                <a:solidFill>
                  <a:srgbClr val="247970"/>
                </a:solidFill>
                <a:latin typeface="Noto Sans CJK JP" pitchFamily="34" charset="0"/>
                <a:ea typeface="Noto Sans CJK JP" pitchFamily="34" charset="-122"/>
                <a:cs typeface="Noto Sans CJK JP" pitchFamily="34" charset="-120"/>
              </a:rPr>
              <a:t>運用｜人・手順で管理</a:t>
            </a:r>
            <a:endParaRPr lang="en-US" sz="1420" dirty="0"/>
          </a:p>
        </p:txBody>
      </p:sp>
      <p:sp>
        <p:nvSpPr>
          <p:cNvPr id="17" name="Shape 15"/>
          <p:cNvSpPr/>
          <p:nvPr/>
        </p:nvSpPr>
        <p:spPr>
          <a:xfrm>
            <a:off x="566928" y="2852928"/>
            <a:ext cx="13496544" cy="1280160"/>
          </a:xfrm>
          <a:prstGeom prst="rect">
            <a:avLst>
              <a:gd name="adj" fmla="val 5714"/>
            </a:avLst>
          </a:prstGeom>
          <a:solidFill>
            <a:srgbClr val="FFFFFF"/>
          </a:solidFill>
          <a:ln w="10160">
            <a:solidFill>
              <a:srgbClr val="D6DFE9"/>
            </a:solidFill>
            <a:prstDash val="solid"/>
          </a:ln>
        </p:spPr>
      </p:sp>
      <p:sp>
        <p:nvSpPr>
          <p:cNvPr id="18" name="Shape 16"/>
          <p:cNvSpPr/>
          <p:nvPr/>
        </p:nvSpPr>
        <p:spPr>
          <a:xfrm>
            <a:off x="566928" y="2852928"/>
            <a:ext cx="4297680" cy="1280160"/>
          </a:xfrm>
          <a:prstGeom prst="rect">
            <a:avLst>
              <a:gd name="adj" fmla="val 5714"/>
            </a:avLst>
          </a:prstGeom>
          <a:solidFill>
            <a:srgbClr val="F3F6FA"/>
          </a:solidFill>
          <a:ln w="10160">
            <a:solidFill>
              <a:srgbClr val="F3F6FA"/>
            </a:solidFill>
            <a:prstDash val="solid"/>
          </a:ln>
        </p:spPr>
      </p:sp>
      <p:sp>
        <p:nvSpPr>
          <p:cNvPr id="19" name="Shape 17"/>
          <p:cNvSpPr/>
          <p:nvPr/>
        </p:nvSpPr>
        <p:spPr>
          <a:xfrm>
            <a:off x="566928" y="2852928"/>
            <a:ext cx="41148" cy="1280160"/>
          </a:xfrm>
          <a:prstGeom prst="rect">
            <a:avLst>
              <a:gd name="adj" fmla="val 177778"/>
            </a:avLst>
          </a:prstGeom>
          <a:solidFill>
            <a:srgbClr val="247970"/>
          </a:solidFill>
          <a:ln w="10160">
            <a:solidFill>
              <a:srgbClr val="247970"/>
            </a:solidFill>
            <a:prstDash val="solid"/>
          </a:ln>
        </p:spPr>
      </p:sp>
      <p:sp>
        <p:nvSpPr>
          <p:cNvPr id="20" name="Shape 18"/>
          <p:cNvSpPr/>
          <p:nvPr/>
        </p:nvSpPr>
        <p:spPr>
          <a:xfrm>
            <a:off x="4864608" y="2944368"/>
            <a:ext cx="0" cy="1097280"/>
          </a:xfrm>
          <a:prstGeom prst="line">
            <a:avLst/>
          </a:prstGeom>
          <a:noFill/>
          <a:ln w="8890">
            <a:solidFill>
              <a:srgbClr val="D6DFE9"/>
            </a:solidFill>
            <a:prstDash val="solid"/>
            <a:headEnd type="none"/>
            <a:tailEnd type="none"/>
          </a:ln>
        </p:spPr>
      </p:sp>
      <p:sp>
        <p:nvSpPr>
          <p:cNvPr id="21" name="Shape 19"/>
          <p:cNvSpPr/>
          <p:nvPr/>
        </p:nvSpPr>
        <p:spPr>
          <a:xfrm>
            <a:off x="8019288" y="2944368"/>
            <a:ext cx="0" cy="1097280"/>
          </a:xfrm>
          <a:prstGeom prst="line">
            <a:avLst/>
          </a:prstGeom>
          <a:noFill/>
          <a:ln w="8890">
            <a:solidFill>
              <a:srgbClr val="D6DFE9"/>
            </a:solidFill>
            <a:prstDash val="solid"/>
            <a:headEnd type="none"/>
            <a:tailEnd type="none"/>
          </a:ln>
        </p:spPr>
      </p:sp>
      <p:sp>
        <p:nvSpPr>
          <p:cNvPr id="22" name="Shape 20"/>
          <p:cNvSpPr/>
          <p:nvPr/>
        </p:nvSpPr>
        <p:spPr>
          <a:xfrm>
            <a:off x="10853928" y="2944368"/>
            <a:ext cx="0" cy="1097280"/>
          </a:xfrm>
          <a:prstGeom prst="line">
            <a:avLst/>
          </a:prstGeom>
          <a:noFill/>
          <a:ln w="8890">
            <a:solidFill>
              <a:srgbClr val="D6DFE9"/>
            </a:solidFill>
            <a:prstDash val="solid"/>
            <a:headEnd type="none"/>
            <a:tailEnd type="none"/>
          </a:ln>
        </p:spPr>
      </p:sp>
      <p:sp>
        <p:nvSpPr>
          <p:cNvPr id="23" name="Shape 21"/>
          <p:cNvSpPr/>
          <p:nvPr/>
        </p:nvSpPr>
        <p:spPr>
          <a:xfrm>
            <a:off x="713232" y="2944368"/>
            <a:ext cx="530352" cy="265176"/>
          </a:xfrm>
          <a:prstGeom prst="roundRect">
            <a:avLst>
              <a:gd name="adj" fmla="val 27586"/>
            </a:avLst>
          </a:prstGeom>
          <a:solidFill>
            <a:srgbClr val="ECF6F4"/>
          </a:solidFill>
          <a:ln w="10160">
            <a:solidFill>
              <a:srgbClr val="ECF6F4"/>
            </a:solidFill>
            <a:prstDash val="solid"/>
          </a:ln>
        </p:spPr>
      </p:sp>
      <p:sp>
        <p:nvSpPr>
          <p:cNvPr id="24" name="Text 22"/>
          <p:cNvSpPr/>
          <p:nvPr/>
        </p:nvSpPr>
        <p:spPr>
          <a:xfrm>
            <a:off x="777240" y="296265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R34</a:t>
            </a:r>
            <a:endParaRPr lang="en-US" sz="1080" dirty="0"/>
          </a:p>
        </p:txBody>
      </p:sp>
      <p:sp>
        <p:nvSpPr>
          <p:cNvPr id="25" name="Text 23"/>
          <p:cNvSpPr/>
          <p:nvPr/>
        </p:nvSpPr>
        <p:spPr>
          <a:xfrm>
            <a:off x="1362456" y="295351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全体｜導入承認・責任分担</a:t>
            </a:r>
            <a:endParaRPr lang="en-US" sz="1060" dirty="0"/>
          </a:p>
        </p:txBody>
      </p:sp>
      <p:sp>
        <p:nvSpPr>
          <p:cNvPr id="26" name="Text 24"/>
          <p:cNvSpPr/>
          <p:nvPr/>
        </p:nvSpPr>
        <p:spPr>
          <a:xfrm>
            <a:off x="713232" y="324612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例外が常態化し統制が外れる</a:t>
            </a:r>
            <a:endParaRPr lang="en-US" sz="1690" dirty="0"/>
          </a:p>
        </p:txBody>
      </p:sp>
      <p:sp>
        <p:nvSpPr>
          <p:cNvPr id="27" name="Text 25"/>
          <p:cNvSpPr/>
          <p:nvPr/>
        </p:nvSpPr>
        <p:spPr>
          <a:xfrm>
            <a:off x="713232" y="362102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管理者が単独で防御と証跡を解除し、無承認利用や期限切れの例外が放置される。</a:t>
            </a:r>
            <a:endParaRPr lang="en-US" sz="1420" dirty="0"/>
          </a:p>
        </p:txBody>
      </p:sp>
      <p:sp>
        <p:nvSpPr>
          <p:cNvPr id="28" name="Text 26"/>
          <p:cNvSpPr/>
          <p:nvPr/>
        </p:nvSpPr>
        <p:spPr>
          <a:xfrm>
            <a:off x="5029200" y="319125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職務分離と期限付き許可を維持し、設定差分・例外失効を検知する。</a:t>
            </a:r>
            <a:endParaRPr lang="en-US" sz="1600" dirty="0"/>
          </a:p>
        </p:txBody>
      </p:sp>
      <p:sp>
        <p:nvSpPr>
          <p:cNvPr id="29" name="Text 27"/>
          <p:cNvSpPr/>
          <p:nvPr/>
        </p:nvSpPr>
        <p:spPr>
          <a:xfrm>
            <a:off x="8183880" y="319125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運用委託の無承認変更・権限超過を点検し、是正を求める。</a:t>
            </a:r>
            <a:endParaRPr lang="en-US" sz="1600" dirty="0"/>
          </a:p>
        </p:txBody>
      </p:sp>
      <p:sp>
        <p:nvSpPr>
          <p:cNvPr id="30" name="Text 28"/>
          <p:cNvSpPr/>
          <p:nvPr/>
        </p:nvSpPr>
        <p:spPr>
          <a:xfrm>
            <a:off x="11018520" y="319125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責任者が残存リスクを再評価。リスク管理・内部監査が実効性を確認する。</a:t>
            </a:r>
            <a:endParaRPr lang="en-US" sz="1600" dirty="0"/>
          </a:p>
        </p:txBody>
      </p:sp>
      <p:sp>
        <p:nvSpPr>
          <p:cNvPr id="31" name="Shape 29"/>
          <p:cNvSpPr/>
          <p:nvPr/>
        </p:nvSpPr>
        <p:spPr>
          <a:xfrm>
            <a:off x="566928" y="4133088"/>
            <a:ext cx="13496544" cy="1280160"/>
          </a:xfrm>
          <a:prstGeom prst="rect">
            <a:avLst>
              <a:gd name="adj" fmla="val 5714"/>
            </a:avLst>
          </a:prstGeom>
          <a:solidFill>
            <a:srgbClr val="FFFFFF"/>
          </a:solidFill>
          <a:ln w="10160">
            <a:solidFill>
              <a:srgbClr val="D6DFE9"/>
            </a:solidFill>
            <a:prstDash val="solid"/>
          </a:ln>
        </p:spPr>
      </p:sp>
      <p:sp>
        <p:nvSpPr>
          <p:cNvPr id="32" name="Shape 30"/>
          <p:cNvSpPr/>
          <p:nvPr/>
        </p:nvSpPr>
        <p:spPr>
          <a:xfrm>
            <a:off x="566928" y="4133088"/>
            <a:ext cx="4297680" cy="1280160"/>
          </a:xfrm>
          <a:prstGeom prst="rect">
            <a:avLst>
              <a:gd name="adj" fmla="val 5714"/>
            </a:avLst>
          </a:prstGeom>
          <a:solidFill>
            <a:srgbClr val="F3F6FA"/>
          </a:solidFill>
          <a:ln w="10160">
            <a:solidFill>
              <a:srgbClr val="F3F6FA"/>
            </a:solidFill>
            <a:prstDash val="solid"/>
          </a:ln>
        </p:spPr>
      </p:sp>
      <p:sp>
        <p:nvSpPr>
          <p:cNvPr id="33" name="Shape 31"/>
          <p:cNvSpPr/>
          <p:nvPr/>
        </p:nvSpPr>
        <p:spPr>
          <a:xfrm>
            <a:off x="566928" y="4133088"/>
            <a:ext cx="41148" cy="1280160"/>
          </a:xfrm>
          <a:prstGeom prst="rect">
            <a:avLst>
              <a:gd name="adj" fmla="val 177778"/>
            </a:avLst>
          </a:prstGeom>
          <a:solidFill>
            <a:srgbClr val="247970"/>
          </a:solidFill>
          <a:ln w="10160">
            <a:solidFill>
              <a:srgbClr val="247970"/>
            </a:solidFill>
            <a:prstDash val="solid"/>
          </a:ln>
        </p:spPr>
      </p:sp>
      <p:sp>
        <p:nvSpPr>
          <p:cNvPr id="34" name="Shape 32"/>
          <p:cNvSpPr/>
          <p:nvPr/>
        </p:nvSpPr>
        <p:spPr>
          <a:xfrm>
            <a:off x="4864608" y="4224528"/>
            <a:ext cx="0" cy="1097280"/>
          </a:xfrm>
          <a:prstGeom prst="line">
            <a:avLst/>
          </a:prstGeom>
          <a:noFill/>
          <a:ln w="8890">
            <a:solidFill>
              <a:srgbClr val="D6DFE9"/>
            </a:solidFill>
            <a:prstDash val="solid"/>
            <a:headEnd type="none"/>
            <a:tailEnd type="none"/>
          </a:ln>
        </p:spPr>
      </p:sp>
      <p:sp>
        <p:nvSpPr>
          <p:cNvPr id="35" name="Shape 33"/>
          <p:cNvSpPr/>
          <p:nvPr/>
        </p:nvSpPr>
        <p:spPr>
          <a:xfrm>
            <a:off x="8019288" y="4224528"/>
            <a:ext cx="0" cy="1097280"/>
          </a:xfrm>
          <a:prstGeom prst="line">
            <a:avLst/>
          </a:prstGeom>
          <a:noFill/>
          <a:ln w="8890">
            <a:solidFill>
              <a:srgbClr val="D6DFE9"/>
            </a:solidFill>
            <a:prstDash val="solid"/>
            <a:headEnd type="none"/>
            <a:tailEnd type="none"/>
          </a:ln>
        </p:spPr>
      </p:sp>
      <p:sp>
        <p:nvSpPr>
          <p:cNvPr id="36" name="Shape 34"/>
          <p:cNvSpPr/>
          <p:nvPr/>
        </p:nvSpPr>
        <p:spPr>
          <a:xfrm>
            <a:off x="10853928" y="4224528"/>
            <a:ext cx="0" cy="1097280"/>
          </a:xfrm>
          <a:prstGeom prst="line">
            <a:avLst/>
          </a:prstGeom>
          <a:noFill/>
          <a:ln w="8890">
            <a:solidFill>
              <a:srgbClr val="D6DFE9"/>
            </a:solidFill>
            <a:prstDash val="solid"/>
            <a:headEnd type="none"/>
            <a:tailEnd type="none"/>
          </a:ln>
        </p:spPr>
      </p:sp>
      <p:sp>
        <p:nvSpPr>
          <p:cNvPr id="37" name="Shape 35"/>
          <p:cNvSpPr/>
          <p:nvPr/>
        </p:nvSpPr>
        <p:spPr>
          <a:xfrm>
            <a:off x="713232" y="4224528"/>
            <a:ext cx="530352" cy="265176"/>
          </a:xfrm>
          <a:prstGeom prst="roundRect">
            <a:avLst>
              <a:gd name="adj" fmla="val 27586"/>
            </a:avLst>
          </a:prstGeom>
          <a:solidFill>
            <a:srgbClr val="ECF6F4"/>
          </a:solidFill>
          <a:ln w="10160">
            <a:solidFill>
              <a:srgbClr val="ECF6F4"/>
            </a:solidFill>
            <a:prstDash val="solid"/>
          </a:ln>
        </p:spPr>
      </p:sp>
      <p:sp>
        <p:nvSpPr>
          <p:cNvPr id="38" name="Text 36"/>
          <p:cNvSpPr/>
          <p:nvPr/>
        </p:nvSpPr>
        <p:spPr>
          <a:xfrm>
            <a:off x="777240" y="424281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R35</a:t>
            </a:r>
            <a:endParaRPr lang="en-US" sz="1080" dirty="0"/>
          </a:p>
        </p:txBody>
      </p:sp>
      <p:sp>
        <p:nvSpPr>
          <p:cNvPr id="39" name="Text 37"/>
          <p:cNvSpPr/>
          <p:nvPr/>
        </p:nvSpPr>
        <p:spPr>
          <a:xfrm>
            <a:off x="1362456" y="423367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全体｜利用範囲・法務・知財</a:t>
            </a:r>
            <a:endParaRPr lang="en-US" sz="1060" dirty="0"/>
          </a:p>
        </p:txBody>
      </p:sp>
      <p:sp>
        <p:nvSpPr>
          <p:cNvPr id="40" name="Text 38"/>
          <p:cNvSpPr/>
          <p:nvPr/>
        </p:nvSpPr>
        <p:spPr>
          <a:xfrm>
            <a:off x="713232" y="452628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権利違反・用途逸脱が起きる</a:t>
            </a:r>
            <a:endParaRPr lang="en-US" sz="1690" dirty="0"/>
          </a:p>
        </p:txBody>
      </p:sp>
      <p:sp>
        <p:nvSpPr>
          <p:cNvPr id="41" name="Text 39"/>
          <p:cNvSpPr/>
          <p:nvPr/>
        </p:nvSpPr>
        <p:spPr>
          <a:xfrm>
            <a:off x="713232" y="490118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許諾のない設計書を入力し、条件違反の生成コードを配布する。顧客判断へ無断転用する。</a:t>
            </a:r>
            <a:endParaRPr lang="en-US" sz="1420" dirty="0"/>
          </a:p>
        </p:txBody>
      </p:sp>
      <p:sp>
        <p:nvSpPr>
          <p:cNvPr id="42" name="Text 40"/>
          <p:cNvSpPr/>
          <p:nvPr/>
        </p:nvSpPr>
        <p:spPr>
          <a:xfrm>
            <a:off x="5029200" y="447141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資料・成果物の許諾を追跡し、未承認のデータ持込・用途拡大を止める。</a:t>
            </a:r>
            <a:endParaRPr lang="en-US" sz="1600" dirty="0"/>
          </a:p>
        </p:txBody>
      </p:sp>
      <p:sp>
        <p:nvSpPr>
          <p:cNvPr id="43" name="Text 41"/>
          <p:cNvSpPr/>
          <p:nvPr/>
        </p:nvSpPr>
        <p:spPr>
          <a:xfrm>
            <a:off x="8183880" y="447141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権利者・委託先との許諾・修補条件を確認し、問題のある利用を是正する。</a:t>
            </a:r>
            <a:endParaRPr lang="en-US" sz="1600" dirty="0"/>
          </a:p>
        </p:txBody>
      </p:sp>
      <p:sp>
        <p:nvSpPr>
          <p:cNvPr id="44" name="Text 42"/>
          <p:cNvSpPr/>
          <p:nvPr/>
        </p:nvSpPr>
        <p:spPr>
          <a:xfrm>
            <a:off x="11018520" y="447141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法務審査と成果物検収を実施。顧客への影響・公平性を追加評価する。</a:t>
            </a:r>
            <a:endParaRPr lang="en-US" sz="1600" dirty="0"/>
          </a:p>
        </p:txBody>
      </p:sp>
      <p:sp>
        <p:nvSpPr>
          <p:cNvPr id="45" name="Shape 43"/>
          <p:cNvSpPr/>
          <p:nvPr/>
        </p:nvSpPr>
        <p:spPr>
          <a:xfrm>
            <a:off x="566928" y="5413248"/>
            <a:ext cx="13496544" cy="1280160"/>
          </a:xfrm>
          <a:prstGeom prst="rect">
            <a:avLst>
              <a:gd name="adj" fmla="val 5714"/>
            </a:avLst>
          </a:prstGeom>
          <a:solidFill>
            <a:srgbClr val="FFFFFF"/>
          </a:solidFill>
          <a:ln w="10160">
            <a:solidFill>
              <a:srgbClr val="D6DFE9"/>
            </a:solidFill>
            <a:prstDash val="solid"/>
          </a:ln>
        </p:spPr>
      </p:sp>
      <p:sp>
        <p:nvSpPr>
          <p:cNvPr id="46" name="Shape 44"/>
          <p:cNvSpPr/>
          <p:nvPr/>
        </p:nvSpPr>
        <p:spPr>
          <a:xfrm>
            <a:off x="566928" y="5413248"/>
            <a:ext cx="4297680" cy="1280160"/>
          </a:xfrm>
          <a:prstGeom prst="rect">
            <a:avLst>
              <a:gd name="adj" fmla="val 5714"/>
            </a:avLst>
          </a:prstGeom>
          <a:solidFill>
            <a:srgbClr val="F3F6FA"/>
          </a:solidFill>
          <a:ln w="10160">
            <a:solidFill>
              <a:srgbClr val="F3F6FA"/>
            </a:solidFill>
            <a:prstDash val="solid"/>
          </a:ln>
        </p:spPr>
      </p:sp>
      <p:sp>
        <p:nvSpPr>
          <p:cNvPr id="47" name="Shape 45"/>
          <p:cNvSpPr/>
          <p:nvPr/>
        </p:nvSpPr>
        <p:spPr>
          <a:xfrm>
            <a:off x="566928" y="5413248"/>
            <a:ext cx="41148" cy="1280160"/>
          </a:xfrm>
          <a:prstGeom prst="rect">
            <a:avLst>
              <a:gd name="adj" fmla="val 177778"/>
            </a:avLst>
          </a:prstGeom>
          <a:solidFill>
            <a:srgbClr val="247970"/>
          </a:solidFill>
          <a:ln w="10160">
            <a:solidFill>
              <a:srgbClr val="247970"/>
            </a:solidFill>
            <a:prstDash val="solid"/>
          </a:ln>
        </p:spPr>
      </p:sp>
      <p:sp>
        <p:nvSpPr>
          <p:cNvPr id="48" name="Shape 46"/>
          <p:cNvSpPr/>
          <p:nvPr/>
        </p:nvSpPr>
        <p:spPr>
          <a:xfrm>
            <a:off x="4864608" y="5504688"/>
            <a:ext cx="0" cy="1097280"/>
          </a:xfrm>
          <a:prstGeom prst="line">
            <a:avLst/>
          </a:prstGeom>
          <a:noFill/>
          <a:ln w="8890">
            <a:solidFill>
              <a:srgbClr val="D6DFE9"/>
            </a:solidFill>
            <a:prstDash val="solid"/>
            <a:headEnd type="none"/>
            <a:tailEnd type="none"/>
          </a:ln>
        </p:spPr>
      </p:sp>
      <p:sp>
        <p:nvSpPr>
          <p:cNvPr id="49" name="Shape 47"/>
          <p:cNvSpPr/>
          <p:nvPr/>
        </p:nvSpPr>
        <p:spPr>
          <a:xfrm>
            <a:off x="8019288" y="5504688"/>
            <a:ext cx="0" cy="1097280"/>
          </a:xfrm>
          <a:prstGeom prst="line">
            <a:avLst/>
          </a:prstGeom>
          <a:noFill/>
          <a:ln w="8890">
            <a:solidFill>
              <a:srgbClr val="D6DFE9"/>
            </a:solidFill>
            <a:prstDash val="solid"/>
            <a:headEnd type="none"/>
            <a:tailEnd type="none"/>
          </a:ln>
        </p:spPr>
      </p:sp>
      <p:sp>
        <p:nvSpPr>
          <p:cNvPr id="50" name="Shape 48"/>
          <p:cNvSpPr/>
          <p:nvPr/>
        </p:nvSpPr>
        <p:spPr>
          <a:xfrm>
            <a:off x="10853928" y="5504688"/>
            <a:ext cx="0" cy="1097280"/>
          </a:xfrm>
          <a:prstGeom prst="line">
            <a:avLst/>
          </a:prstGeom>
          <a:noFill/>
          <a:ln w="8890">
            <a:solidFill>
              <a:srgbClr val="D6DFE9"/>
            </a:solidFill>
            <a:prstDash val="solid"/>
            <a:headEnd type="none"/>
            <a:tailEnd type="none"/>
          </a:ln>
        </p:spPr>
      </p:sp>
      <p:sp>
        <p:nvSpPr>
          <p:cNvPr id="51" name="Shape 49"/>
          <p:cNvSpPr/>
          <p:nvPr/>
        </p:nvSpPr>
        <p:spPr>
          <a:xfrm>
            <a:off x="713232" y="5504688"/>
            <a:ext cx="530352" cy="265176"/>
          </a:xfrm>
          <a:prstGeom prst="roundRect">
            <a:avLst>
              <a:gd name="adj" fmla="val 27586"/>
            </a:avLst>
          </a:prstGeom>
          <a:solidFill>
            <a:srgbClr val="ECF6F4"/>
          </a:solidFill>
          <a:ln w="10160">
            <a:solidFill>
              <a:srgbClr val="ECF6F4"/>
            </a:solidFill>
            <a:prstDash val="solid"/>
          </a:ln>
        </p:spPr>
      </p:sp>
      <p:sp>
        <p:nvSpPr>
          <p:cNvPr id="52" name="Text 50"/>
          <p:cNvSpPr/>
          <p:nvPr/>
        </p:nvSpPr>
        <p:spPr>
          <a:xfrm>
            <a:off x="777240" y="5522976"/>
            <a:ext cx="402336" cy="219456"/>
          </a:xfrm>
          <a:prstGeom prst="rect">
            <a:avLst/>
          </a:prstGeom>
          <a:noFill/>
          <a:ln/>
        </p:spPr>
        <p:txBody>
          <a:bodyPr wrap="square" lIns="0" tIns="0" rIns="0" bIns="0" rtlCol="0" anchor="ctr">
            <a:spAutoFit/>
          </a:bodyPr>
          <a:lstStyle/>
          <a:p>
            <a:pPr algn="ctr" indent="0" marL="0">
              <a:buNone/>
            </a:pPr>
            <a:r>
              <a:rPr lang="en-US" sz="1080" b="1" dirty="0">
                <a:solidFill>
                  <a:srgbClr val="247970"/>
                </a:solidFill>
                <a:latin typeface="Noto Sans CJK JP" pitchFamily="34" charset="0"/>
                <a:ea typeface="Noto Sans CJK JP" pitchFamily="34" charset="-122"/>
                <a:cs typeface="Noto Sans CJK JP" pitchFamily="34" charset="-120"/>
              </a:rPr>
              <a:t>R36</a:t>
            </a:r>
            <a:endParaRPr lang="en-US" sz="1080" dirty="0"/>
          </a:p>
        </p:txBody>
      </p:sp>
      <p:sp>
        <p:nvSpPr>
          <p:cNvPr id="53" name="Text 51"/>
          <p:cNvSpPr/>
          <p:nvPr/>
        </p:nvSpPr>
        <p:spPr>
          <a:xfrm>
            <a:off x="1362456" y="5513832"/>
            <a:ext cx="3310128" cy="219456"/>
          </a:xfrm>
          <a:prstGeom prst="rect">
            <a:avLst/>
          </a:prstGeom>
          <a:noFill/>
          <a:ln/>
        </p:spPr>
        <p:txBody>
          <a:bodyPr wrap="square" lIns="0" tIns="0" rIns="0" bIns="0" rtlCol="0" anchor="ctr">
            <a:spAutoFit/>
          </a:bodyPr>
          <a:lstStyle/>
          <a:p>
            <a:pPr indent="0" marL="0">
              <a:buNone/>
            </a:pPr>
            <a:r>
              <a:rPr lang="en-US" sz="1060" dirty="0">
                <a:solidFill>
                  <a:srgbClr val="65748A"/>
                </a:solidFill>
                <a:latin typeface="Noto Sans CJK JP" pitchFamily="34" charset="0"/>
                <a:ea typeface="Noto Sans CJK JP" pitchFamily="34" charset="-122"/>
                <a:cs typeface="Noto Sans CJK JP" pitchFamily="34" charset="-120"/>
              </a:rPr>
              <a:t>全体｜委託管理・終了・移行</a:t>
            </a:r>
            <a:endParaRPr lang="en-US" sz="1060" dirty="0"/>
          </a:p>
        </p:txBody>
      </p:sp>
      <p:sp>
        <p:nvSpPr>
          <p:cNvPr id="54" name="Text 52"/>
          <p:cNvSpPr/>
          <p:nvPr/>
        </p:nvSpPr>
        <p:spPr>
          <a:xfrm>
            <a:off x="713232" y="5806440"/>
            <a:ext cx="4023360" cy="283464"/>
          </a:xfrm>
          <a:prstGeom prst="rect">
            <a:avLst/>
          </a:prstGeom>
          <a:noFill/>
          <a:ln/>
        </p:spPr>
        <p:txBody>
          <a:bodyPr wrap="square" lIns="0" tIns="0" rIns="0" bIns="0" rtlCol="0" anchor="ctr">
            <a:spAutoFit/>
          </a:bodyPr>
          <a:lstStyle/>
          <a:p>
            <a:pPr indent="0" marL="0">
              <a:buNone/>
            </a:pPr>
            <a:r>
              <a:rPr lang="en-US" sz="1690" b="1" dirty="0">
                <a:solidFill>
                  <a:srgbClr val="142D4E"/>
                </a:solidFill>
                <a:latin typeface="Noto Sans CJK JP" pitchFamily="34" charset="0"/>
                <a:ea typeface="Noto Sans CJK JP" pitchFamily="34" charset="-122"/>
                <a:cs typeface="Noto Sans CJK JP" pitchFamily="34" charset="-120"/>
              </a:rPr>
              <a:t>提供終了や契約不備で継続不能</a:t>
            </a:r>
            <a:endParaRPr lang="en-US" sz="1690" dirty="0"/>
          </a:p>
        </p:txBody>
      </p:sp>
      <p:sp>
        <p:nvSpPr>
          <p:cNvPr id="55" name="Text 53"/>
          <p:cNvSpPr/>
          <p:nvPr/>
        </p:nvSpPr>
        <p:spPr>
          <a:xfrm>
            <a:off x="713232" y="6181344"/>
            <a:ext cx="3977640" cy="457200"/>
          </a:xfrm>
          <a:prstGeom prst="rect">
            <a:avLst/>
          </a:prstGeom>
          <a:noFill/>
          <a:ln/>
        </p:spPr>
        <p:txBody>
          <a:bodyPr wrap="square" lIns="0" tIns="0" rIns="0" bIns="0" rtlCol="0" anchor="ctr">
            <a:spAutoFit/>
          </a:bodyPr>
          <a:lstStyle/>
          <a:p>
            <a:pPr indent="0" marL="0">
              <a:lnSpc>
                <a:spcPct val="104000"/>
              </a:lnSpc>
              <a:buNone/>
            </a:pPr>
            <a:r>
              <a:rPr lang="en-US" sz="1420" dirty="0">
                <a:solidFill>
                  <a:srgbClr val="253448"/>
                </a:solidFill>
                <a:latin typeface="Noto Sans CJK JP" pitchFamily="34" charset="0"/>
                <a:ea typeface="Noto Sans CJK JP" pitchFamily="34" charset="-122"/>
                <a:cs typeface="Noto Sans CJK JP" pitchFamily="34" charset="-120"/>
              </a:rPr>
              <a:t>廃止・停止・値上げや再委託変更に対応できず、情報の返却・削除・証拠保全も追跡できない。</a:t>
            </a:r>
            <a:endParaRPr lang="en-US" sz="1420" dirty="0"/>
          </a:p>
        </p:txBody>
      </p:sp>
      <p:sp>
        <p:nvSpPr>
          <p:cNvPr id="56" name="Text 54"/>
          <p:cNvSpPr/>
          <p:nvPr/>
        </p:nvSpPr>
        <p:spPr>
          <a:xfrm>
            <a:off x="5029200" y="5751576"/>
            <a:ext cx="282549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依存と変更を把握し、移行・停止・返却・削除の対象を追跡する。</a:t>
            </a:r>
            <a:endParaRPr lang="en-US" sz="1600" dirty="0"/>
          </a:p>
        </p:txBody>
      </p:sp>
      <p:sp>
        <p:nvSpPr>
          <p:cNvPr id="57" name="Text 55"/>
          <p:cNvSpPr/>
          <p:nvPr/>
        </p:nvSpPr>
        <p:spPr>
          <a:xfrm>
            <a:off x="8183880" y="5751576"/>
            <a:ext cx="2505456"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通知・返却・保全・削除を適用条件に従い求め、不足は正式に再判断する。</a:t>
            </a:r>
            <a:endParaRPr lang="en-US" sz="1600" dirty="0"/>
          </a:p>
        </p:txBody>
      </p:sp>
      <p:sp>
        <p:nvSpPr>
          <p:cNvPr id="58" name="Text 56"/>
          <p:cNvSpPr/>
          <p:nvPr/>
        </p:nvSpPr>
        <p:spPr>
          <a:xfrm>
            <a:off x="11018520" y="5751576"/>
            <a:ext cx="2880360" cy="822960"/>
          </a:xfrm>
          <a:prstGeom prst="rect">
            <a:avLst/>
          </a:prstGeom>
          <a:noFill/>
          <a:ln/>
        </p:spPr>
        <p:txBody>
          <a:bodyPr wrap="square" lIns="0" tIns="0" rIns="0" bIns="0" rtlCol="0" anchor="ctr">
            <a:spAutoFit/>
          </a:bodyPr>
          <a:lstStyle/>
          <a:p>
            <a:pPr indent="0" marL="0">
              <a:lnSpc>
                <a:spcPct val="110000"/>
              </a:lnSpc>
              <a:buNone/>
            </a:pPr>
            <a:r>
              <a:rPr lang="en-US" sz="1600" dirty="0">
                <a:solidFill>
                  <a:srgbClr val="253448"/>
                </a:solidFill>
                <a:latin typeface="Noto Sans CJK JP" pitchFamily="34" charset="0"/>
                <a:ea typeface="Noto Sans CJK JP" pitchFamily="34" charset="-122"/>
                <a:cs typeface="Noto Sans CJK JP" pitchFamily="34" charset="-120"/>
              </a:rPr>
              <a:t>委託先を再評価し、退出演習と終了確認を行う。条件外の継続を認めない。</a:t>
            </a:r>
            <a:endParaRPr lang="en-US" sz="1600" dirty="0"/>
          </a:p>
        </p:txBody>
      </p:sp>
      <p:sp>
        <p:nvSpPr>
          <p:cNvPr id="59" name="Shape 57"/>
          <p:cNvSpPr/>
          <p:nvPr/>
        </p:nvSpPr>
        <p:spPr>
          <a:xfrm>
            <a:off x="566928" y="6830568"/>
            <a:ext cx="13496544" cy="722376"/>
          </a:xfrm>
          <a:prstGeom prst="roundRect">
            <a:avLst>
              <a:gd name="adj" fmla="val 10127"/>
            </a:avLst>
          </a:prstGeom>
          <a:solidFill>
            <a:srgbClr val="FAF3E7"/>
          </a:solidFill>
          <a:ln w="10160">
            <a:solidFill>
              <a:srgbClr val="FAF3E7"/>
            </a:solidFill>
            <a:prstDash val="solid"/>
          </a:ln>
        </p:spPr>
      </p:sp>
      <p:sp>
        <p:nvSpPr>
          <p:cNvPr id="60" name="Text 58"/>
          <p:cNvSpPr/>
          <p:nvPr/>
        </p:nvSpPr>
        <p:spPr>
          <a:xfrm>
            <a:off x="713232" y="6894576"/>
            <a:ext cx="1554480" cy="219456"/>
          </a:xfrm>
          <a:prstGeom prst="rect">
            <a:avLst/>
          </a:prstGeom>
          <a:noFill/>
          <a:ln/>
        </p:spPr>
        <p:txBody>
          <a:bodyPr wrap="square" lIns="0" tIns="0" rIns="0" bIns="0" rtlCol="0" anchor="ctr">
            <a:spAutoFit/>
          </a:bodyPr>
          <a:lstStyle/>
          <a:p>
            <a:pPr indent="0" marL="0">
              <a:buNone/>
            </a:pPr>
            <a:r>
              <a:rPr lang="en-US" sz="1150" b="1" dirty="0">
                <a:solidFill>
                  <a:srgbClr val="A76B21"/>
                </a:solidFill>
                <a:latin typeface="Noto Sans CJK JP" pitchFamily="34" charset="0"/>
                <a:ea typeface="Noto Sans CJK JP" pitchFamily="34" charset="-122"/>
                <a:cs typeface="Noto Sans CJK JP" pitchFamily="34" charset="-120"/>
              </a:rPr>
              <a:t>運用での確認</a:t>
            </a:r>
            <a:endParaRPr lang="en-US" sz="1150" dirty="0"/>
          </a:p>
        </p:txBody>
      </p:sp>
      <p:sp>
        <p:nvSpPr>
          <p:cNvPr id="61" name="Text 59"/>
          <p:cNvSpPr/>
          <p:nvPr/>
        </p:nvSpPr>
        <p:spPr>
          <a:xfrm>
            <a:off x="2258568"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R34  単独の特権変更、無承認利用、期限切れ例外、継承統制の欠落を確認する。</a:t>
            </a:r>
            <a:endParaRPr lang="en-US" sz="1180" dirty="0"/>
          </a:p>
        </p:txBody>
      </p:sp>
      <p:sp>
        <p:nvSpPr>
          <p:cNvPr id="62" name="Text 60"/>
          <p:cNvSpPr/>
          <p:nvPr/>
        </p:nvSpPr>
        <p:spPr>
          <a:xfrm>
            <a:off x="6080760"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R35  入力元・ライセンス・配布先・業務への適用範囲を確認する。</a:t>
            </a:r>
            <a:endParaRPr lang="en-US" sz="1180" dirty="0"/>
          </a:p>
        </p:txBody>
      </p:sp>
      <p:sp>
        <p:nvSpPr>
          <p:cNvPr id="63" name="Shape 61"/>
          <p:cNvSpPr/>
          <p:nvPr/>
        </p:nvSpPr>
        <p:spPr>
          <a:xfrm>
            <a:off x="5989320" y="6949440"/>
            <a:ext cx="0" cy="466344"/>
          </a:xfrm>
          <a:prstGeom prst="line">
            <a:avLst/>
          </a:prstGeom>
          <a:noFill/>
          <a:ln w="7620">
            <a:solidFill>
              <a:srgbClr val="DFD3C0"/>
            </a:solidFill>
            <a:prstDash val="solid"/>
            <a:headEnd type="none"/>
            <a:tailEnd type="none"/>
          </a:ln>
        </p:spPr>
      </p:sp>
      <p:sp>
        <p:nvSpPr>
          <p:cNvPr id="64" name="Text 62"/>
          <p:cNvSpPr/>
          <p:nvPr/>
        </p:nvSpPr>
        <p:spPr>
          <a:xfrm>
            <a:off x="9902952" y="6903720"/>
            <a:ext cx="3666744" cy="594360"/>
          </a:xfrm>
          <a:prstGeom prst="rect">
            <a:avLst/>
          </a:prstGeom>
          <a:noFill/>
          <a:ln/>
        </p:spPr>
        <p:txBody>
          <a:bodyPr wrap="square" lIns="0" tIns="0" rIns="0" bIns="0" rtlCol="0" anchor="ctr">
            <a:spAutoFit/>
          </a:bodyPr>
          <a:lstStyle/>
          <a:p>
            <a:pPr indent="0" marL="0">
              <a:lnSpc>
                <a:spcPct val="103000"/>
              </a:lnSpc>
              <a:buNone/>
            </a:pPr>
            <a:r>
              <a:rPr lang="en-US" sz="1180" dirty="0">
                <a:solidFill>
                  <a:srgbClr val="253448"/>
                </a:solidFill>
                <a:latin typeface="Noto Sans CJK JP" pitchFamily="34" charset="0"/>
                <a:ea typeface="Noto Sans CJK JP" pitchFamily="34" charset="-122"/>
                <a:cs typeface="Noto Sans CJK JP" pitchFamily="34" charset="-120"/>
              </a:rPr>
              <a:t>R36  廃止通知、代替可否、集中依存、残存コピー、証跡保持を確認する。</a:t>
            </a:r>
            <a:endParaRPr lang="en-US" sz="1180" dirty="0"/>
          </a:p>
        </p:txBody>
      </p:sp>
      <p:sp>
        <p:nvSpPr>
          <p:cNvPr id="65" name="Shape 63"/>
          <p:cNvSpPr/>
          <p:nvPr/>
        </p:nvSpPr>
        <p:spPr>
          <a:xfrm>
            <a:off x="9811512" y="6949440"/>
            <a:ext cx="0" cy="466344"/>
          </a:xfrm>
          <a:prstGeom prst="line">
            <a:avLst/>
          </a:prstGeom>
          <a:noFill/>
          <a:ln w="7620">
            <a:solidFill>
              <a:srgbClr val="DFD3C0"/>
            </a:solidFill>
            <a:prstDash val="solid"/>
            <a:headEnd type="none"/>
            <a:tailEnd type="none"/>
          </a:ln>
        </p:spPr>
      </p:sp>
      <p:sp>
        <p:nvSpPr>
          <p:cNvPr id="66" name="Text 64"/>
          <p:cNvSpPr/>
          <p:nvPr/>
        </p:nvSpPr>
        <p:spPr>
          <a:xfrm>
            <a:off x="566928" y="7607808"/>
            <a:ext cx="13075920" cy="164592"/>
          </a:xfrm>
          <a:prstGeom prst="rect">
            <a:avLst/>
          </a:prstGeom>
          <a:noFill/>
          <a:ln/>
        </p:spPr>
        <p:txBody>
          <a:bodyPr wrap="square" lIns="0" tIns="0" rIns="0" bIns="0" rtlCol="0" anchor="ctr">
            <a:spAutoFit/>
          </a:bodyPr>
          <a:lstStyle/>
          <a:p>
            <a:pPr indent="0" marL="0">
              <a:buNone/>
            </a:pPr>
            <a:r>
              <a:rPr lang="en-US" sz="880" dirty="0">
                <a:solidFill>
                  <a:srgbClr val="65748A"/>
                </a:solidFill>
                <a:latin typeface="Noto Sans CJK JP" pitchFamily="34" charset="0"/>
                <a:ea typeface="Noto Sans CJK JP" pitchFamily="34" charset="-122"/>
                <a:cs typeface="Noto Sans CJK JP" pitchFamily="34" charset="-120"/>
              </a:rPr>
              <a:t>参照：[F2][F3][F4][P1][A7]　｜　対策案。契約列は適用条件の確認、または外部委託時の調達・検収条件。</a:t>
            </a:r>
            <a:endParaRPr lang="en-US" sz="8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導入判断に使う確認項目</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対策名ではなく、設定・契約・試験の証拠で判断する</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機密情報を使い始める前に、各責任者が確認する証拠と合格条件を確定します。現時点の試験結果ではありません。</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27 / 30</a:t>
            </a:r>
            <a:endParaRPr lang="en-US" sz="1150" dirty="0"/>
          </a:p>
        </p:txBody>
      </p:sp>
      <p:sp>
        <p:nvSpPr>
          <p:cNvPr id="10" name="Shape 8"/>
          <p:cNvSpPr/>
          <p:nvPr/>
        </p:nvSpPr>
        <p:spPr>
          <a:xfrm>
            <a:off x="585216" y="2103120"/>
            <a:ext cx="4361688" cy="1965960"/>
          </a:xfrm>
          <a:prstGeom prst="roundRect">
            <a:avLst>
              <a:gd name="adj" fmla="val 3721"/>
            </a:avLst>
          </a:prstGeom>
          <a:solidFill>
            <a:srgbClr val="F3F6FA"/>
          </a:solidFill>
          <a:ln w="10160">
            <a:solidFill>
              <a:srgbClr val="D6DFE9"/>
            </a:solidFill>
            <a:prstDash val="solid"/>
          </a:ln>
        </p:spPr>
      </p:sp>
      <p:sp>
        <p:nvSpPr>
          <p:cNvPr id="11" name="Shape 9"/>
          <p:cNvSpPr/>
          <p:nvPr/>
        </p:nvSpPr>
        <p:spPr>
          <a:xfrm>
            <a:off x="768096" y="2276856"/>
            <a:ext cx="429768" cy="265176"/>
          </a:xfrm>
          <a:prstGeom prst="roundRect">
            <a:avLst>
              <a:gd name="adj" fmla="val 27586"/>
            </a:avLst>
          </a:prstGeom>
          <a:solidFill>
            <a:srgbClr val="EDF3FA"/>
          </a:solidFill>
          <a:ln w="10160">
            <a:solidFill>
              <a:srgbClr val="EDF3FA"/>
            </a:solidFill>
            <a:prstDash val="solid"/>
          </a:ln>
        </p:spPr>
      </p:sp>
      <p:sp>
        <p:nvSpPr>
          <p:cNvPr id="12" name="Text 10"/>
          <p:cNvSpPr/>
          <p:nvPr/>
        </p:nvSpPr>
        <p:spPr>
          <a:xfrm>
            <a:off x="832104" y="2295144"/>
            <a:ext cx="301752" cy="219456"/>
          </a:xfrm>
          <a:prstGeom prst="rect">
            <a:avLst/>
          </a:prstGeom>
          <a:noFill/>
          <a:ln/>
        </p:spPr>
        <p:txBody>
          <a:bodyPr wrap="square" lIns="0" tIns="0" rIns="0" bIns="0" rtlCol="0" anchor="ctr">
            <a:spAutoFit/>
          </a:bodyPr>
          <a:lstStyle/>
          <a:p>
            <a:pPr algn="ctr" indent="0" marL="0">
              <a:buNone/>
            </a:pPr>
            <a:r>
              <a:rPr lang="en-US" sz="1200" b="1" dirty="0">
                <a:solidFill>
                  <a:srgbClr val="376895"/>
                </a:solidFill>
                <a:latin typeface="Noto Sans CJK JP" pitchFamily="34" charset="0"/>
                <a:ea typeface="Noto Sans CJK JP" pitchFamily="34" charset="-122"/>
                <a:cs typeface="Noto Sans CJK JP" pitchFamily="34" charset="-120"/>
              </a:rPr>
              <a:t>01</a:t>
            </a:r>
            <a:endParaRPr lang="en-US" sz="1200" dirty="0"/>
          </a:p>
        </p:txBody>
      </p:sp>
      <p:sp>
        <p:nvSpPr>
          <p:cNvPr id="13" name="Text 11"/>
          <p:cNvSpPr/>
          <p:nvPr/>
        </p:nvSpPr>
        <p:spPr>
          <a:xfrm>
            <a:off x="1371600" y="2267712"/>
            <a:ext cx="3355848" cy="338328"/>
          </a:xfrm>
          <a:prstGeom prst="rect">
            <a:avLst/>
          </a:prstGeom>
          <a:noFill/>
          <a:ln/>
        </p:spPr>
        <p:txBody>
          <a:bodyPr wrap="square" lIns="0" tIns="0" rIns="0" bIns="0" rtlCol="0" anchor="ctr">
            <a:spAutoFit/>
          </a:bodyPr>
          <a:lstStyle/>
          <a:p>
            <a:pPr indent="0" marL="0">
              <a:buNone/>
            </a:pPr>
            <a:r>
              <a:rPr lang="en-US" sz="1900" b="1" dirty="0">
                <a:solidFill>
                  <a:srgbClr val="142D4E"/>
                </a:solidFill>
                <a:latin typeface="Noto Sans CJK JP" pitchFamily="34" charset="0"/>
                <a:ea typeface="Noto Sans CJK JP" pitchFamily="34" charset="-122"/>
                <a:cs typeface="Noto Sans CJK JP" pitchFamily="34" charset="-120"/>
              </a:rPr>
              <a:t>情報・経路</a:t>
            </a:r>
            <a:endParaRPr lang="en-US" sz="1900" dirty="0"/>
          </a:p>
        </p:txBody>
      </p:sp>
      <p:sp>
        <p:nvSpPr>
          <p:cNvPr id="14" name="Text 12"/>
          <p:cNvSpPr/>
          <p:nvPr/>
        </p:nvSpPr>
        <p:spPr>
          <a:xfrm>
            <a:off x="795528" y="2807208"/>
            <a:ext cx="3941064" cy="594360"/>
          </a:xfrm>
          <a:prstGeom prst="rect">
            <a:avLst/>
          </a:prstGeom>
          <a:noFill/>
          <a:ln/>
        </p:spPr>
        <p:txBody>
          <a:bodyPr wrap="square" lIns="0" tIns="0" rIns="0" bIns="0" rtlCol="0" anchor="ctr">
            <a:spAutoFit/>
          </a:bodyPr>
          <a:lstStyle/>
          <a:p>
            <a:pPr indent="0" marL="0">
              <a:buNone/>
            </a:pPr>
            <a:r>
              <a:rPr lang="en-US" sz="1600" dirty="0">
                <a:solidFill>
                  <a:srgbClr val="253448"/>
                </a:solidFill>
                <a:latin typeface="Noto Sans CJK JP" pitchFamily="34" charset="0"/>
                <a:ea typeface="Noto Sans CJK JP" pitchFamily="34" charset="-122"/>
                <a:cs typeface="Noto Sans CJK JP" pitchFamily="34" charset="-120"/>
              </a:rPr>
              <a:t>許可情報／形式／地域を確定。</a:t>
            </a:r>
            <a:endParaRPr lang="en-US" sz="1600" dirty="0"/>
          </a:p>
          <a:p>
            <a:pPr indent="0" marL="0">
              <a:buNone/>
            </a:pPr>
            <a:r>
              <a:rPr lang="en-US" sz="1600" dirty="0">
                <a:solidFill>
                  <a:srgbClr val="253448"/>
                </a:solidFill>
                <a:latin typeface="Noto Sans CJK JP" pitchFamily="34" charset="0"/>
                <a:ea typeface="Noto Sans CJK JP" pitchFamily="34" charset="-122"/>
                <a:cs typeface="Noto Sans CJK JP" pitchFamily="34" charset="-120"/>
              </a:rPr>
              <a:t>検査迂回と未検査送信を拒否できる。</a:t>
            </a:r>
            <a:endParaRPr lang="en-US" sz="1600" dirty="0"/>
          </a:p>
        </p:txBody>
      </p:sp>
      <p:sp>
        <p:nvSpPr>
          <p:cNvPr id="15" name="Text 13"/>
          <p:cNvSpPr/>
          <p:nvPr/>
        </p:nvSpPr>
        <p:spPr>
          <a:xfrm>
            <a:off x="795528" y="3465576"/>
            <a:ext cx="3941064" cy="246888"/>
          </a:xfrm>
          <a:prstGeom prst="rect">
            <a:avLst/>
          </a:prstGeom>
          <a:noFill/>
          <a:ln/>
        </p:spPr>
        <p:txBody>
          <a:bodyPr wrap="square" lIns="0" tIns="0" rIns="0" bIns="0" rtlCol="0" anchor="ctr">
            <a:spAutoFit/>
          </a:bodyPr>
          <a:lstStyle/>
          <a:p>
            <a:pPr indent="0" marL="0">
              <a:buNone/>
            </a:pPr>
            <a:r>
              <a:rPr lang="en-US" sz="1270" b="1" dirty="0">
                <a:solidFill>
                  <a:srgbClr val="247970"/>
                </a:solidFill>
                <a:latin typeface="Noto Sans CJK JP" pitchFamily="34" charset="0"/>
                <a:ea typeface="Noto Sans CJK JP" pitchFamily="34" charset="-122"/>
                <a:cs typeface="Noto Sans CJK JP" pitchFamily="34" charset="-120"/>
              </a:rPr>
              <a:t>証拠：経路表・設定・拒否試験</a:t>
            </a:r>
            <a:endParaRPr lang="en-US" sz="1270" dirty="0"/>
          </a:p>
        </p:txBody>
      </p:sp>
      <p:sp>
        <p:nvSpPr>
          <p:cNvPr id="16" name="Text 14"/>
          <p:cNvSpPr/>
          <p:nvPr/>
        </p:nvSpPr>
        <p:spPr>
          <a:xfrm>
            <a:off x="795528" y="3803904"/>
            <a:ext cx="3941064" cy="192024"/>
          </a:xfrm>
          <a:prstGeom prst="rect">
            <a:avLst/>
          </a:prstGeom>
          <a:noFill/>
          <a:ln/>
        </p:spPr>
        <p:txBody>
          <a:bodyPr wrap="square" lIns="0" tIns="0" rIns="0" bIns="0" rtlCol="0" anchor="ctr">
            <a:spAutoFit/>
          </a:bodyPr>
          <a:lstStyle/>
          <a:p>
            <a:pPr indent="0" marL="0">
              <a:buNone/>
            </a:pPr>
            <a:r>
              <a:rPr lang="en-US" sz="1150" dirty="0">
                <a:solidFill>
                  <a:srgbClr val="65748A"/>
                </a:solidFill>
                <a:latin typeface="Noto Sans CJK JP" pitchFamily="34" charset="0"/>
                <a:ea typeface="Noto Sans CJK JP" pitchFamily="34" charset="-122"/>
                <a:cs typeface="Noto Sans CJK JP" pitchFamily="34" charset="-120"/>
              </a:rPr>
              <a:t>担当候補：情報管理／基盤</a:t>
            </a:r>
            <a:endParaRPr lang="en-US" sz="1150" dirty="0"/>
          </a:p>
        </p:txBody>
      </p:sp>
      <p:sp>
        <p:nvSpPr>
          <p:cNvPr id="17" name="Shape 15"/>
          <p:cNvSpPr/>
          <p:nvPr/>
        </p:nvSpPr>
        <p:spPr>
          <a:xfrm>
            <a:off x="5138928" y="2103120"/>
            <a:ext cx="4361688" cy="1965960"/>
          </a:xfrm>
          <a:prstGeom prst="roundRect">
            <a:avLst>
              <a:gd name="adj" fmla="val 3721"/>
            </a:avLst>
          </a:prstGeom>
          <a:solidFill>
            <a:srgbClr val="F3F6FA"/>
          </a:solidFill>
          <a:ln w="10160">
            <a:solidFill>
              <a:srgbClr val="D6DFE9"/>
            </a:solidFill>
            <a:prstDash val="solid"/>
          </a:ln>
        </p:spPr>
      </p:sp>
      <p:sp>
        <p:nvSpPr>
          <p:cNvPr id="18" name="Shape 16"/>
          <p:cNvSpPr/>
          <p:nvPr/>
        </p:nvSpPr>
        <p:spPr>
          <a:xfrm>
            <a:off x="5321808" y="2276856"/>
            <a:ext cx="429768" cy="265176"/>
          </a:xfrm>
          <a:prstGeom prst="roundRect">
            <a:avLst>
              <a:gd name="adj" fmla="val 27586"/>
            </a:avLst>
          </a:prstGeom>
          <a:solidFill>
            <a:srgbClr val="EDF3FA"/>
          </a:solidFill>
          <a:ln w="10160">
            <a:solidFill>
              <a:srgbClr val="EDF3FA"/>
            </a:solidFill>
            <a:prstDash val="solid"/>
          </a:ln>
        </p:spPr>
      </p:sp>
      <p:sp>
        <p:nvSpPr>
          <p:cNvPr id="19" name="Text 17"/>
          <p:cNvSpPr/>
          <p:nvPr/>
        </p:nvSpPr>
        <p:spPr>
          <a:xfrm>
            <a:off x="5385816" y="2295144"/>
            <a:ext cx="301752" cy="219456"/>
          </a:xfrm>
          <a:prstGeom prst="rect">
            <a:avLst/>
          </a:prstGeom>
          <a:noFill/>
          <a:ln/>
        </p:spPr>
        <p:txBody>
          <a:bodyPr wrap="square" lIns="0" tIns="0" rIns="0" bIns="0" rtlCol="0" anchor="ctr">
            <a:spAutoFit/>
          </a:bodyPr>
          <a:lstStyle/>
          <a:p>
            <a:pPr algn="ctr" indent="0" marL="0">
              <a:buNone/>
            </a:pPr>
            <a:r>
              <a:rPr lang="en-US" sz="1200" b="1" dirty="0">
                <a:solidFill>
                  <a:srgbClr val="376895"/>
                </a:solidFill>
                <a:latin typeface="Noto Sans CJK JP" pitchFamily="34" charset="0"/>
                <a:ea typeface="Noto Sans CJK JP" pitchFamily="34" charset="-122"/>
                <a:cs typeface="Noto Sans CJK JP" pitchFamily="34" charset="-120"/>
              </a:rPr>
              <a:t>02</a:t>
            </a:r>
            <a:endParaRPr lang="en-US" sz="1200" dirty="0"/>
          </a:p>
        </p:txBody>
      </p:sp>
      <p:sp>
        <p:nvSpPr>
          <p:cNvPr id="20" name="Text 18"/>
          <p:cNvSpPr/>
          <p:nvPr/>
        </p:nvSpPr>
        <p:spPr>
          <a:xfrm>
            <a:off x="5925312" y="2267712"/>
            <a:ext cx="3355848" cy="338328"/>
          </a:xfrm>
          <a:prstGeom prst="rect">
            <a:avLst/>
          </a:prstGeom>
          <a:noFill/>
          <a:ln/>
        </p:spPr>
        <p:txBody>
          <a:bodyPr wrap="square" lIns="0" tIns="0" rIns="0" bIns="0" rtlCol="0" anchor="ctr">
            <a:spAutoFit/>
          </a:bodyPr>
          <a:lstStyle/>
          <a:p>
            <a:pPr indent="0" marL="0">
              <a:buNone/>
            </a:pPr>
            <a:r>
              <a:rPr lang="en-US" sz="1900" b="1" dirty="0">
                <a:solidFill>
                  <a:srgbClr val="142D4E"/>
                </a:solidFill>
                <a:latin typeface="Noto Sans CJK JP" pitchFamily="34" charset="0"/>
                <a:ea typeface="Noto Sans CJK JP" pitchFamily="34" charset="-122"/>
                <a:cs typeface="Noto Sans CJK JP" pitchFamily="34" charset="-120"/>
              </a:rPr>
              <a:t>本人性・権限</a:t>
            </a:r>
            <a:endParaRPr lang="en-US" sz="1900" dirty="0"/>
          </a:p>
        </p:txBody>
      </p:sp>
      <p:sp>
        <p:nvSpPr>
          <p:cNvPr id="21" name="Text 19"/>
          <p:cNvSpPr/>
          <p:nvPr/>
        </p:nvSpPr>
        <p:spPr>
          <a:xfrm>
            <a:off x="5349240" y="2807208"/>
            <a:ext cx="3941064" cy="594360"/>
          </a:xfrm>
          <a:prstGeom prst="rect">
            <a:avLst/>
          </a:prstGeom>
          <a:noFill/>
          <a:ln/>
        </p:spPr>
        <p:txBody>
          <a:bodyPr wrap="square" lIns="0" tIns="0" rIns="0" bIns="0" rtlCol="0" anchor="ctr">
            <a:spAutoFit/>
          </a:bodyPr>
          <a:lstStyle/>
          <a:p>
            <a:pPr indent="0" marL="0">
              <a:buNone/>
            </a:pPr>
            <a:r>
              <a:rPr lang="en-US" sz="1600" dirty="0">
                <a:solidFill>
                  <a:srgbClr val="253448"/>
                </a:solidFill>
                <a:latin typeface="Noto Sans CJK JP" pitchFamily="34" charset="0"/>
                <a:ea typeface="Noto Sans CJK JP" pitchFamily="34" charset="-122"/>
                <a:cs typeface="Noto Sans CJK JP" pitchFamily="34" charset="-120"/>
              </a:rPr>
              <a:t>正規主体だけ認証。端末・Runnerから</a:t>
            </a:r>
            <a:endParaRPr lang="en-US" sz="1600" dirty="0"/>
          </a:p>
          <a:p>
            <a:pPr indent="0" marL="0">
              <a:buNone/>
            </a:pPr>
            <a:r>
              <a:rPr lang="en-US" sz="1600" dirty="0">
                <a:solidFill>
                  <a:srgbClr val="253448"/>
                </a:solidFill>
                <a:latin typeface="Noto Sans CJK JP" pitchFamily="34" charset="0"/>
                <a:ea typeface="Noto Sans CJK JP" pitchFamily="34" charset="-122"/>
                <a:cs typeface="Noto Sans CJK JP" pitchFamily="34" charset="-120"/>
              </a:rPr>
              <a:t>本番や投稿秘密へ到達できない。</a:t>
            </a:r>
            <a:endParaRPr lang="en-US" sz="1600" dirty="0"/>
          </a:p>
        </p:txBody>
      </p:sp>
      <p:sp>
        <p:nvSpPr>
          <p:cNvPr id="22" name="Text 20"/>
          <p:cNvSpPr/>
          <p:nvPr/>
        </p:nvSpPr>
        <p:spPr>
          <a:xfrm>
            <a:off x="5349240" y="3465576"/>
            <a:ext cx="3941064" cy="246888"/>
          </a:xfrm>
          <a:prstGeom prst="rect">
            <a:avLst/>
          </a:prstGeom>
          <a:noFill/>
          <a:ln/>
        </p:spPr>
        <p:txBody>
          <a:bodyPr wrap="square" lIns="0" tIns="0" rIns="0" bIns="0" rtlCol="0" anchor="ctr">
            <a:spAutoFit/>
          </a:bodyPr>
          <a:lstStyle/>
          <a:p>
            <a:pPr indent="0" marL="0">
              <a:buNone/>
            </a:pPr>
            <a:r>
              <a:rPr lang="en-US" sz="1270" b="1" dirty="0">
                <a:solidFill>
                  <a:srgbClr val="247970"/>
                </a:solidFill>
                <a:latin typeface="Noto Sans CJK JP" pitchFamily="34" charset="0"/>
                <a:ea typeface="Noto Sans CJK JP" pitchFamily="34" charset="-122"/>
                <a:cs typeface="Noto Sans CJK JP" pitchFamily="34" charset="-120"/>
              </a:rPr>
              <a:t>証拠：IAM・GitLab・OS設定／否定試験</a:t>
            </a:r>
            <a:endParaRPr lang="en-US" sz="1270" dirty="0"/>
          </a:p>
        </p:txBody>
      </p:sp>
      <p:sp>
        <p:nvSpPr>
          <p:cNvPr id="23" name="Text 21"/>
          <p:cNvSpPr/>
          <p:nvPr/>
        </p:nvSpPr>
        <p:spPr>
          <a:xfrm>
            <a:off x="5349240" y="3803904"/>
            <a:ext cx="3941064" cy="192024"/>
          </a:xfrm>
          <a:prstGeom prst="rect">
            <a:avLst/>
          </a:prstGeom>
          <a:noFill/>
          <a:ln/>
        </p:spPr>
        <p:txBody>
          <a:bodyPr wrap="square" lIns="0" tIns="0" rIns="0" bIns="0" rtlCol="0" anchor="ctr">
            <a:spAutoFit/>
          </a:bodyPr>
          <a:lstStyle/>
          <a:p>
            <a:pPr indent="0" marL="0">
              <a:buNone/>
            </a:pPr>
            <a:r>
              <a:rPr lang="en-US" sz="1150" dirty="0">
                <a:solidFill>
                  <a:srgbClr val="65748A"/>
                </a:solidFill>
                <a:latin typeface="Noto Sans CJK JP" pitchFamily="34" charset="0"/>
                <a:ea typeface="Noto Sans CJK JP" pitchFamily="34" charset="-122"/>
                <a:cs typeface="Noto Sans CJK JP" pitchFamily="34" charset="-120"/>
              </a:rPr>
              <a:t>担当候補：認証／CI／本番管理</a:t>
            </a:r>
            <a:endParaRPr lang="en-US" sz="1150" dirty="0"/>
          </a:p>
        </p:txBody>
      </p:sp>
      <p:sp>
        <p:nvSpPr>
          <p:cNvPr id="24" name="Shape 22"/>
          <p:cNvSpPr/>
          <p:nvPr/>
        </p:nvSpPr>
        <p:spPr>
          <a:xfrm>
            <a:off x="9692640" y="2103120"/>
            <a:ext cx="4361688" cy="1965960"/>
          </a:xfrm>
          <a:prstGeom prst="roundRect">
            <a:avLst>
              <a:gd name="adj" fmla="val 3721"/>
            </a:avLst>
          </a:prstGeom>
          <a:solidFill>
            <a:srgbClr val="F3F6FA"/>
          </a:solidFill>
          <a:ln w="10160">
            <a:solidFill>
              <a:srgbClr val="D6DFE9"/>
            </a:solidFill>
            <a:prstDash val="solid"/>
          </a:ln>
        </p:spPr>
      </p:sp>
      <p:sp>
        <p:nvSpPr>
          <p:cNvPr id="25" name="Shape 23"/>
          <p:cNvSpPr/>
          <p:nvPr/>
        </p:nvSpPr>
        <p:spPr>
          <a:xfrm>
            <a:off x="9875520" y="2276856"/>
            <a:ext cx="429768" cy="265176"/>
          </a:xfrm>
          <a:prstGeom prst="roundRect">
            <a:avLst>
              <a:gd name="adj" fmla="val 27586"/>
            </a:avLst>
          </a:prstGeom>
          <a:solidFill>
            <a:srgbClr val="EDF3FA"/>
          </a:solidFill>
          <a:ln w="10160">
            <a:solidFill>
              <a:srgbClr val="EDF3FA"/>
            </a:solidFill>
            <a:prstDash val="solid"/>
          </a:ln>
        </p:spPr>
      </p:sp>
      <p:sp>
        <p:nvSpPr>
          <p:cNvPr id="26" name="Text 24"/>
          <p:cNvSpPr/>
          <p:nvPr/>
        </p:nvSpPr>
        <p:spPr>
          <a:xfrm>
            <a:off x="9939528" y="2295144"/>
            <a:ext cx="301752" cy="219456"/>
          </a:xfrm>
          <a:prstGeom prst="rect">
            <a:avLst/>
          </a:prstGeom>
          <a:noFill/>
          <a:ln/>
        </p:spPr>
        <p:txBody>
          <a:bodyPr wrap="square" lIns="0" tIns="0" rIns="0" bIns="0" rtlCol="0" anchor="ctr">
            <a:spAutoFit/>
          </a:bodyPr>
          <a:lstStyle/>
          <a:p>
            <a:pPr algn="ctr" indent="0" marL="0">
              <a:buNone/>
            </a:pPr>
            <a:r>
              <a:rPr lang="en-US" sz="1200" b="1" dirty="0">
                <a:solidFill>
                  <a:srgbClr val="376895"/>
                </a:solidFill>
                <a:latin typeface="Noto Sans CJK JP" pitchFamily="34" charset="0"/>
                <a:ea typeface="Noto Sans CJK JP" pitchFamily="34" charset="-122"/>
                <a:cs typeface="Noto Sans CJK JP" pitchFamily="34" charset="-120"/>
              </a:rPr>
              <a:t>03</a:t>
            </a:r>
            <a:endParaRPr lang="en-US" sz="1200" dirty="0"/>
          </a:p>
        </p:txBody>
      </p:sp>
      <p:sp>
        <p:nvSpPr>
          <p:cNvPr id="27" name="Text 25"/>
          <p:cNvSpPr/>
          <p:nvPr/>
        </p:nvSpPr>
        <p:spPr>
          <a:xfrm>
            <a:off x="10479024" y="2267712"/>
            <a:ext cx="3355848" cy="338328"/>
          </a:xfrm>
          <a:prstGeom prst="rect">
            <a:avLst/>
          </a:prstGeom>
          <a:noFill/>
          <a:ln/>
        </p:spPr>
        <p:txBody>
          <a:bodyPr wrap="square" lIns="0" tIns="0" rIns="0" bIns="0" rtlCol="0" anchor="ctr">
            <a:spAutoFit/>
          </a:bodyPr>
          <a:lstStyle/>
          <a:p>
            <a:pPr indent="0" marL="0">
              <a:buNone/>
            </a:pPr>
            <a:r>
              <a:rPr lang="en-US" sz="1900" b="1" dirty="0">
                <a:solidFill>
                  <a:srgbClr val="142D4E"/>
                </a:solidFill>
                <a:latin typeface="Noto Sans CJK JP" pitchFamily="34" charset="0"/>
                <a:ea typeface="Noto Sans CJK JP" pitchFamily="34" charset="-122"/>
                <a:cs typeface="Noto Sans CJK JP" pitchFamily="34" charset="-120"/>
              </a:rPr>
              <a:t>二段階レビュー</a:t>
            </a:r>
            <a:endParaRPr lang="en-US" sz="1900" dirty="0"/>
          </a:p>
        </p:txBody>
      </p:sp>
      <p:sp>
        <p:nvSpPr>
          <p:cNvPr id="28" name="Text 26"/>
          <p:cNvSpPr/>
          <p:nvPr/>
        </p:nvSpPr>
        <p:spPr>
          <a:xfrm>
            <a:off x="9902952" y="2807208"/>
            <a:ext cx="3941064" cy="594360"/>
          </a:xfrm>
          <a:prstGeom prst="rect">
            <a:avLst/>
          </a:prstGeom>
          <a:noFill/>
          <a:ln/>
        </p:spPr>
        <p:txBody>
          <a:bodyPr wrap="square" lIns="0" tIns="0" rIns="0" bIns="0" rtlCol="0" anchor="ctr">
            <a:spAutoFit/>
          </a:bodyPr>
          <a:lstStyle/>
          <a:p>
            <a:pPr indent="0" marL="0">
              <a:buNone/>
            </a:pPr>
            <a:r>
              <a:rPr lang="en-US" sz="1600" dirty="0">
                <a:solidFill>
                  <a:srgbClr val="253448"/>
                </a:solidFill>
                <a:latin typeface="Noto Sans CJK JP" pitchFamily="34" charset="0"/>
                <a:ea typeface="Noto Sans CJK JP" pitchFamily="34" charset="-122"/>
                <a:cs typeface="Noto Sans CJK JP" pitchFamily="34" charset="-120"/>
              </a:rPr>
              <a:t>対象版が一致し、①②が完了。</a:t>
            </a:r>
            <a:endParaRPr lang="en-US" sz="1600" dirty="0"/>
          </a:p>
          <a:p>
            <a:pPr indent="0" marL="0">
              <a:buNone/>
            </a:pPr>
            <a:r>
              <a:rPr lang="en-US" sz="1600" dirty="0">
                <a:solidFill>
                  <a:srgbClr val="253448"/>
                </a:solidFill>
                <a:latin typeface="Noto Sans CJK JP" pitchFamily="34" charset="0"/>
                <a:ea typeface="Noto Sans CJK JP" pitchFamily="34" charset="-122"/>
                <a:cs typeface="Noto Sans CJK JP" pitchFamily="34" charset="-120"/>
              </a:rPr>
              <a:t>失敗・再Pushで古い合格が残らない。</a:t>
            </a:r>
            <a:endParaRPr lang="en-US" sz="1600" dirty="0"/>
          </a:p>
        </p:txBody>
      </p:sp>
      <p:sp>
        <p:nvSpPr>
          <p:cNvPr id="29" name="Text 27"/>
          <p:cNvSpPr/>
          <p:nvPr/>
        </p:nvSpPr>
        <p:spPr>
          <a:xfrm>
            <a:off x="9902952" y="3465576"/>
            <a:ext cx="3941064" cy="246888"/>
          </a:xfrm>
          <a:prstGeom prst="rect">
            <a:avLst/>
          </a:prstGeom>
          <a:noFill/>
          <a:ln/>
        </p:spPr>
        <p:txBody>
          <a:bodyPr wrap="square" lIns="0" tIns="0" rIns="0" bIns="0" rtlCol="0" anchor="ctr">
            <a:spAutoFit/>
          </a:bodyPr>
          <a:lstStyle/>
          <a:p>
            <a:pPr indent="0" marL="0">
              <a:buNone/>
            </a:pPr>
            <a:r>
              <a:rPr lang="en-US" sz="1270" b="1" dirty="0">
                <a:solidFill>
                  <a:srgbClr val="247970"/>
                </a:solidFill>
                <a:latin typeface="Noto Sans CJK JP" pitchFamily="34" charset="0"/>
                <a:ea typeface="Noto Sans CJK JP" pitchFamily="34" charset="-122"/>
                <a:cs typeface="Noto Sans CJK JP" pitchFamily="34" charset="-120"/>
              </a:rPr>
              <a:t>証拠：対象版一覧・異常系／失効試験</a:t>
            </a:r>
            <a:endParaRPr lang="en-US" sz="1270" dirty="0"/>
          </a:p>
        </p:txBody>
      </p:sp>
      <p:sp>
        <p:nvSpPr>
          <p:cNvPr id="30" name="Text 28"/>
          <p:cNvSpPr/>
          <p:nvPr/>
        </p:nvSpPr>
        <p:spPr>
          <a:xfrm>
            <a:off x="9902952" y="3803904"/>
            <a:ext cx="3941064" cy="192024"/>
          </a:xfrm>
          <a:prstGeom prst="rect">
            <a:avLst/>
          </a:prstGeom>
          <a:noFill/>
          <a:ln/>
        </p:spPr>
        <p:txBody>
          <a:bodyPr wrap="square" lIns="0" tIns="0" rIns="0" bIns="0" rtlCol="0" anchor="ctr">
            <a:spAutoFit/>
          </a:bodyPr>
          <a:lstStyle/>
          <a:p>
            <a:pPr indent="0" marL="0">
              <a:buNone/>
            </a:pPr>
            <a:r>
              <a:rPr lang="en-US" sz="1150" dirty="0">
                <a:solidFill>
                  <a:srgbClr val="65748A"/>
                </a:solidFill>
                <a:latin typeface="Noto Sans CJK JP" pitchFamily="34" charset="0"/>
                <a:ea typeface="Noto Sans CJK JP" pitchFamily="34" charset="-122"/>
                <a:cs typeface="Noto Sans CJK JP" pitchFamily="34" charset="-120"/>
              </a:rPr>
              <a:t>担当候補：CI／品質責任者</a:t>
            </a:r>
            <a:endParaRPr lang="en-US" sz="1150" dirty="0"/>
          </a:p>
        </p:txBody>
      </p:sp>
      <p:sp>
        <p:nvSpPr>
          <p:cNvPr id="31" name="Shape 29"/>
          <p:cNvSpPr/>
          <p:nvPr/>
        </p:nvSpPr>
        <p:spPr>
          <a:xfrm>
            <a:off x="585216" y="4270248"/>
            <a:ext cx="4361688" cy="1965960"/>
          </a:xfrm>
          <a:prstGeom prst="roundRect">
            <a:avLst>
              <a:gd name="adj" fmla="val 3721"/>
            </a:avLst>
          </a:prstGeom>
          <a:solidFill>
            <a:srgbClr val="F3F6FA"/>
          </a:solidFill>
          <a:ln w="10160">
            <a:solidFill>
              <a:srgbClr val="D6DFE9"/>
            </a:solidFill>
            <a:prstDash val="solid"/>
          </a:ln>
        </p:spPr>
      </p:sp>
      <p:sp>
        <p:nvSpPr>
          <p:cNvPr id="32" name="Shape 30"/>
          <p:cNvSpPr/>
          <p:nvPr/>
        </p:nvSpPr>
        <p:spPr>
          <a:xfrm>
            <a:off x="768096" y="4443984"/>
            <a:ext cx="429768" cy="265176"/>
          </a:xfrm>
          <a:prstGeom prst="roundRect">
            <a:avLst>
              <a:gd name="adj" fmla="val 27586"/>
            </a:avLst>
          </a:prstGeom>
          <a:solidFill>
            <a:srgbClr val="EDF3FA"/>
          </a:solidFill>
          <a:ln w="10160">
            <a:solidFill>
              <a:srgbClr val="EDF3FA"/>
            </a:solidFill>
            <a:prstDash val="solid"/>
          </a:ln>
        </p:spPr>
      </p:sp>
      <p:sp>
        <p:nvSpPr>
          <p:cNvPr id="33" name="Text 31"/>
          <p:cNvSpPr/>
          <p:nvPr/>
        </p:nvSpPr>
        <p:spPr>
          <a:xfrm>
            <a:off x="832104" y="4462272"/>
            <a:ext cx="301752" cy="219456"/>
          </a:xfrm>
          <a:prstGeom prst="rect">
            <a:avLst/>
          </a:prstGeom>
          <a:noFill/>
          <a:ln/>
        </p:spPr>
        <p:txBody>
          <a:bodyPr wrap="square" lIns="0" tIns="0" rIns="0" bIns="0" rtlCol="0" anchor="ctr">
            <a:spAutoFit/>
          </a:bodyPr>
          <a:lstStyle/>
          <a:p>
            <a:pPr algn="ctr" indent="0" marL="0">
              <a:buNone/>
            </a:pPr>
            <a:r>
              <a:rPr lang="en-US" sz="1200" b="1" dirty="0">
                <a:solidFill>
                  <a:srgbClr val="376895"/>
                </a:solidFill>
                <a:latin typeface="Noto Sans CJK JP" pitchFamily="34" charset="0"/>
                <a:ea typeface="Noto Sans CJK JP" pitchFamily="34" charset="-122"/>
                <a:cs typeface="Noto Sans CJK JP" pitchFamily="34" charset="-120"/>
              </a:rPr>
              <a:t>04</a:t>
            </a:r>
            <a:endParaRPr lang="en-US" sz="1200" dirty="0"/>
          </a:p>
        </p:txBody>
      </p:sp>
      <p:sp>
        <p:nvSpPr>
          <p:cNvPr id="34" name="Text 32"/>
          <p:cNvSpPr/>
          <p:nvPr/>
        </p:nvSpPr>
        <p:spPr>
          <a:xfrm>
            <a:off x="1371600" y="4434840"/>
            <a:ext cx="3355848" cy="338328"/>
          </a:xfrm>
          <a:prstGeom prst="rect">
            <a:avLst/>
          </a:prstGeom>
          <a:noFill/>
          <a:ln/>
        </p:spPr>
        <p:txBody>
          <a:bodyPr wrap="square" lIns="0" tIns="0" rIns="0" bIns="0" rtlCol="0" anchor="ctr">
            <a:spAutoFit/>
          </a:bodyPr>
          <a:lstStyle/>
          <a:p>
            <a:pPr indent="0" marL="0">
              <a:buNone/>
            </a:pPr>
            <a:r>
              <a:rPr lang="en-US" sz="1900" b="1" dirty="0">
                <a:solidFill>
                  <a:srgbClr val="142D4E"/>
                </a:solidFill>
                <a:latin typeface="Noto Sans CJK JP" pitchFamily="34" charset="0"/>
                <a:ea typeface="Noto Sans CJK JP" pitchFamily="34" charset="-122"/>
                <a:cs typeface="Noto Sans CJK JP" pitchFamily="34" charset="-120"/>
              </a:rPr>
              <a:t>品質・人の判断</a:t>
            </a:r>
            <a:endParaRPr lang="en-US" sz="1900" dirty="0"/>
          </a:p>
        </p:txBody>
      </p:sp>
      <p:sp>
        <p:nvSpPr>
          <p:cNvPr id="35" name="Text 33"/>
          <p:cNvSpPr/>
          <p:nvPr/>
        </p:nvSpPr>
        <p:spPr>
          <a:xfrm>
            <a:off x="795528" y="4974336"/>
            <a:ext cx="3941064" cy="594360"/>
          </a:xfrm>
          <a:prstGeom prst="rect">
            <a:avLst/>
          </a:prstGeom>
          <a:noFill/>
          <a:ln/>
        </p:spPr>
        <p:txBody>
          <a:bodyPr wrap="square" lIns="0" tIns="0" rIns="0" bIns="0" rtlCol="0" anchor="ctr">
            <a:spAutoFit/>
          </a:bodyPr>
          <a:lstStyle/>
          <a:p>
            <a:pPr indent="0" marL="0">
              <a:buNone/>
            </a:pPr>
            <a:r>
              <a:rPr lang="en-US" sz="1600" dirty="0">
                <a:solidFill>
                  <a:srgbClr val="253448"/>
                </a:solidFill>
                <a:latin typeface="Noto Sans CJK JP" pitchFamily="34" charset="0"/>
                <a:ea typeface="Noto Sans CJK JP" pitchFamily="34" charset="-122"/>
                <a:cs typeface="Noto Sans CJK JP" pitchFamily="34" charset="-120"/>
              </a:rPr>
              <a:t>独立した期待値と原本で検証。</a:t>
            </a:r>
            <a:endParaRPr lang="en-US" sz="1600" dirty="0"/>
          </a:p>
          <a:p>
            <a:pPr indent="0" marL="0">
              <a:buNone/>
            </a:pPr>
            <a:r>
              <a:rPr lang="en-US" sz="1600" dirty="0">
                <a:solidFill>
                  <a:srgbClr val="253448"/>
                </a:solidFill>
                <a:latin typeface="Noto Sans CJK JP" pitchFamily="34" charset="0"/>
                <a:ea typeface="Noto Sans CJK JP" pitchFamily="34" charset="-122"/>
                <a:cs typeface="Noto Sans CJK JP" pitchFamily="34" charset="-120"/>
              </a:rPr>
              <a:t>承認者の能力・時間・根拠を確保。</a:t>
            </a:r>
            <a:endParaRPr lang="en-US" sz="1600" dirty="0"/>
          </a:p>
        </p:txBody>
      </p:sp>
      <p:sp>
        <p:nvSpPr>
          <p:cNvPr id="36" name="Text 34"/>
          <p:cNvSpPr/>
          <p:nvPr/>
        </p:nvSpPr>
        <p:spPr>
          <a:xfrm>
            <a:off x="795528" y="5632704"/>
            <a:ext cx="3941064" cy="246888"/>
          </a:xfrm>
          <a:prstGeom prst="rect">
            <a:avLst/>
          </a:prstGeom>
          <a:noFill/>
          <a:ln/>
        </p:spPr>
        <p:txBody>
          <a:bodyPr wrap="square" lIns="0" tIns="0" rIns="0" bIns="0" rtlCol="0" anchor="ctr">
            <a:spAutoFit/>
          </a:bodyPr>
          <a:lstStyle/>
          <a:p>
            <a:pPr indent="0" marL="0">
              <a:buNone/>
            </a:pPr>
            <a:r>
              <a:rPr lang="en-US" sz="1270" b="1" dirty="0">
                <a:solidFill>
                  <a:srgbClr val="247970"/>
                </a:solidFill>
                <a:latin typeface="Noto Sans CJK JP" pitchFamily="34" charset="0"/>
                <a:ea typeface="Noto Sans CJK JP" pitchFamily="34" charset="-122"/>
                <a:cs typeface="Noto Sans CJK JP" pitchFamily="34" charset="-120"/>
              </a:rPr>
              <a:t>証拠：評価セット・受入基準・確認記録</a:t>
            </a:r>
            <a:endParaRPr lang="en-US" sz="1270" dirty="0"/>
          </a:p>
        </p:txBody>
      </p:sp>
      <p:sp>
        <p:nvSpPr>
          <p:cNvPr id="37" name="Text 35"/>
          <p:cNvSpPr/>
          <p:nvPr/>
        </p:nvSpPr>
        <p:spPr>
          <a:xfrm>
            <a:off x="795528" y="5971032"/>
            <a:ext cx="3941064" cy="192024"/>
          </a:xfrm>
          <a:prstGeom prst="rect">
            <a:avLst/>
          </a:prstGeom>
          <a:noFill/>
          <a:ln/>
        </p:spPr>
        <p:txBody>
          <a:bodyPr wrap="square" lIns="0" tIns="0" rIns="0" bIns="0" rtlCol="0" anchor="ctr">
            <a:spAutoFit/>
          </a:bodyPr>
          <a:lstStyle/>
          <a:p>
            <a:pPr indent="0" marL="0">
              <a:buNone/>
            </a:pPr>
            <a:r>
              <a:rPr lang="en-US" sz="1150" dirty="0">
                <a:solidFill>
                  <a:srgbClr val="65748A"/>
                </a:solidFill>
                <a:latin typeface="Noto Sans CJK JP" pitchFamily="34" charset="0"/>
                <a:ea typeface="Noto Sans CJK JP" pitchFamily="34" charset="-122"/>
                <a:cs typeface="Noto Sans CJK JP" pitchFamily="34" charset="-120"/>
              </a:rPr>
              <a:t>担当候補：設計／業務／品質</a:t>
            </a:r>
            <a:endParaRPr lang="en-US" sz="1150" dirty="0"/>
          </a:p>
        </p:txBody>
      </p:sp>
      <p:sp>
        <p:nvSpPr>
          <p:cNvPr id="38" name="Shape 36"/>
          <p:cNvSpPr/>
          <p:nvPr/>
        </p:nvSpPr>
        <p:spPr>
          <a:xfrm>
            <a:off x="5138928" y="4270248"/>
            <a:ext cx="4361688" cy="1965960"/>
          </a:xfrm>
          <a:prstGeom prst="roundRect">
            <a:avLst>
              <a:gd name="adj" fmla="val 3721"/>
            </a:avLst>
          </a:prstGeom>
          <a:solidFill>
            <a:srgbClr val="F3F6FA"/>
          </a:solidFill>
          <a:ln w="10160">
            <a:solidFill>
              <a:srgbClr val="D6DFE9"/>
            </a:solidFill>
            <a:prstDash val="solid"/>
          </a:ln>
        </p:spPr>
      </p:sp>
      <p:sp>
        <p:nvSpPr>
          <p:cNvPr id="39" name="Shape 37"/>
          <p:cNvSpPr/>
          <p:nvPr/>
        </p:nvSpPr>
        <p:spPr>
          <a:xfrm>
            <a:off x="5321808" y="4443984"/>
            <a:ext cx="429768" cy="265176"/>
          </a:xfrm>
          <a:prstGeom prst="roundRect">
            <a:avLst>
              <a:gd name="adj" fmla="val 27586"/>
            </a:avLst>
          </a:prstGeom>
          <a:solidFill>
            <a:srgbClr val="EDF3FA"/>
          </a:solidFill>
          <a:ln w="10160">
            <a:solidFill>
              <a:srgbClr val="EDF3FA"/>
            </a:solidFill>
            <a:prstDash val="solid"/>
          </a:ln>
        </p:spPr>
      </p:sp>
      <p:sp>
        <p:nvSpPr>
          <p:cNvPr id="40" name="Text 38"/>
          <p:cNvSpPr/>
          <p:nvPr/>
        </p:nvSpPr>
        <p:spPr>
          <a:xfrm>
            <a:off x="5385816" y="4462272"/>
            <a:ext cx="301752" cy="219456"/>
          </a:xfrm>
          <a:prstGeom prst="rect">
            <a:avLst/>
          </a:prstGeom>
          <a:noFill/>
          <a:ln/>
        </p:spPr>
        <p:txBody>
          <a:bodyPr wrap="square" lIns="0" tIns="0" rIns="0" bIns="0" rtlCol="0" anchor="ctr">
            <a:spAutoFit/>
          </a:bodyPr>
          <a:lstStyle/>
          <a:p>
            <a:pPr algn="ctr" indent="0" marL="0">
              <a:buNone/>
            </a:pPr>
            <a:r>
              <a:rPr lang="en-US" sz="1200" b="1" dirty="0">
                <a:solidFill>
                  <a:srgbClr val="376895"/>
                </a:solidFill>
                <a:latin typeface="Noto Sans CJK JP" pitchFamily="34" charset="0"/>
                <a:ea typeface="Noto Sans CJK JP" pitchFamily="34" charset="-122"/>
                <a:cs typeface="Noto Sans CJK JP" pitchFamily="34" charset="-120"/>
              </a:rPr>
              <a:t>05</a:t>
            </a:r>
            <a:endParaRPr lang="en-US" sz="1200" dirty="0"/>
          </a:p>
        </p:txBody>
      </p:sp>
      <p:sp>
        <p:nvSpPr>
          <p:cNvPr id="41" name="Text 39"/>
          <p:cNvSpPr/>
          <p:nvPr/>
        </p:nvSpPr>
        <p:spPr>
          <a:xfrm>
            <a:off x="5925312" y="4434840"/>
            <a:ext cx="3355848" cy="338328"/>
          </a:xfrm>
          <a:prstGeom prst="rect">
            <a:avLst/>
          </a:prstGeom>
          <a:noFill/>
          <a:ln/>
        </p:spPr>
        <p:txBody>
          <a:bodyPr wrap="square" lIns="0" tIns="0" rIns="0" bIns="0" rtlCol="0" anchor="ctr">
            <a:spAutoFit/>
          </a:bodyPr>
          <a:lstStyle/>
          <a:p>
            <a:pPr indent="0" marL="0">
              <a:buNone/>
            </a:pPr>
            <a:r>
              <a:rPr lang="en-US" sz="1900" b="1" dirty="0">
                <a:solidFill>
                  <a:srgbClr val="142D4E"/>
                </a:solidFill>
                <a:latin typeface="Noto Sans CJK JP" pitchFamily="34" charset="0"/>
                <a:ea typeface="Noto Sans CJK JP" pitchFamily="34" charset="-122"/>
                <a:cs typeface="Noto Sans CJK JP" pitchFamily="34" charset="-120"/>
              </a:rPr>
              <a:t>運用・継続・監査</a:t>
            </a:r>
            <a:endParaRPr lang="en-US" sz="1900" dirty="0"/>
          </a:p>
        </p:txBody>
      </p:sp>
      <p:sp>
        <p:nvSpPr>
          <p:cNvPr id="42" name="Text 40"/>
          <p:cNvSpPr/>
          <p:nvPr/>
        </p:nvSpPr>
        <p:spPr>
          <a:xfrm>
            <a:off x="5349240" y="4974336"/>
            <a:ext cx="3941064" cy="594360"/>
          </a:xfrm>
          <a:prstGeom prst="rect">
            <a:avLst/>
          </a:prstGeom>
          <a:noFill/>
          <a:ln/>
        </p:spPr>
        <p:txBody>
          <a:bodyPr wrap="square" lIns="0" tIns="0" rIns="0" bIns="0" rtlCol="0" anchor="ctr">
            <a:spAutoFit/>
          </a:bodyPr>
          <a:lstStyle/>
          <a:p>
            <a:pPr indent="0" marL="0">
              <a:buNone/>
            </a:pPr>
            <a:r>
              <a:rPr lang="en-US" sz="1600" dirty="0">
                <a:solidFill>
                  <a:srgbClr val="253448"/>
                </a:solidFill>
                <a:latin typeface="Noto Sans CJK JP" pitchFamily="34" charset="0"/>
                <a:ea typeface="Noto Sans CJK JP" pitchFamily="34" charset="-122"/>
                <a:cs typeface="Noto Sans CJK JP" pitchFamily="34" charset="-120"/>
              </a:rPr>
              <a:t>並列予算、停止、復旧、追跡、</a:t>
            </a:r>
            <a:endParaRPr lang="en-US" sz="1600" dirty="0"/>
          </a:p>
          <a:p>
            <a:pPr indent="0" marL="0">
              <a:buNone/>
            </a:pPr>
            <a:r>
              <a:rPr lang="en-US" sz="1600" dirty="0">
                <a:solidFill>
                  <a:srgbClr val="253448"/>
                </a:solidFill>
                <a:latin typeface="Noto Sans CJK JP" pitchFamily="34" charset="0"/>
                <a:ea typeface="Noto Sans CJK JP" pitchFamily="34" charset="-122"/>
                <a:cs typeface="Noto Sans CJK JP" pitchFamily="34" charset="-120"/>
              </a:rPr>
              <a:t>事故報告を複合条件で検証する。</a:t>
            </a:r>
            <a:endParaRPr lang="en-US" sz="1600" dirty="0"/>
          </a:p>
        </p:txBody>
      </p:sp>
      <p:sp>
        <p:nvSpPr>
          <p:cNvPr id="43" name="Text 41"/>
          <p:cNvSpPr/>
          <p:nvPr/>
        </p:nvSpPr>
        <p:spPr>
          <a:xfrm>
            <a:off x="5349240" y="5632704"/>
            <a:ext cx="3941064" cy="246888"/>
          </a:xfrm>
          <a:prstGeom prst="rect">
            <a:avLst/>
          </a:prstGeom>
          <a:noFill/>
          <a:ln/>
        </p:spPr>
        <p:txBody>
          <a:bodyPr wrap="square" lIns="0" tIns="0" rIns="0" bIns="0" rtlCol="0" anchor="ctr">
            <a:spAutoFit/>
          </a:bodyPr>
          <a:lstStyle/>
          <a:p>
            <a:pPr indent="0" marL="0">
              <a:buNone/>
            </a:pPr>
            <a:r>
              <a:rPr lang="en-US" sz="1270" b="1" dirty="0">
                <a:solidFill>
                  <a:srgbClr val="247970"/>
                </a:solidFill>
                <a:latin typeface="Noto Sans CJK JP" pitchFamily="34" charset="0"/>
                <a:ea typeface="Noto Sans CJK JP" pitchFamily="34" charset="-122"/>
                <a:cs typeface="Noto Sans CJK JP" pitchFamily="34" charset="-120"/>
              </a:rPr>
              <a:t>証拠：競合試験・停止／復旧／事故演習</a:t>
            </a:r>
            <a:endParaRPr lang="en-US" sz="1270" dirty="0"/>
          </a:p>
        </p:txBody>
      </p:sp>
      <p:sp>
        <p:nvSpPr>
          <p:cNvPr id="44" name="Text 42"/>
          <p:cNvSpPr/>
          <p:nvPr/>
        </p:nvSpPr>
        <p:spPr>
          <a:xfrm>
            <a:off x="5349240" y="5971032"/>
            <a:ext cx="3941064" cy="192024"/>
          </a:xfrm>
          <a:prstGeom prst="rect">
            <a:avLst/>
          </a:prstGeom>
          <a:noFill/>
          <a:ln/>
        </p:spPr>
        <p:txBody>
          <a:bodyPr wrap="square" lIns="0" tIns="0" rIns="0" bIns="0" rtlCol="0" anchor="ctr">
            <a:spAutoFit/>
          </a:bodyPr>
          <a:lstStyle/>
          <a:p>
            <a:pPr indent="0" marL="0">
              <a:buNone/>
            </a:pPr>
            <a:r>
              <a:rPr lang="en-US" sz="1150" dirty="0">
                <a:solidFill>
                  <a:srgbClr val="65748A"/>
                </a:solidFill>
                <a:latin typeface="Noto Sans CJK JP" pitchFamily="34" charset="0"/>
                <a:ea typeface="Noto Sans CJK JP" pitchFamily="34" charset="-122"/>
                <a:cs typeface="Noto Sans CJK JP" pitchFamily="34" charset="-120"/>
              </a:rPr>
              <a:t>担当候補：運用／CSIRT／費用管理</a:t>
            </a:r>
            <a:endParaRPr lang="en-US" sz="1150" dirty="0"/>
          </a:p>
        </p:txBody>
      </p:sp>
      <p:sp>
        <p:nvSpPr>
          <p:cNvPr id="45" name="Shape 43"/>
          <p:cNvSpPr/>
          <p:nvPr/>
        </p:nvSpPr>
        <p:spPr>
          <a:xfrm>
            <a:off x="9692640" y="4270248"/>
            <a:ext cx="4361688" cy="1965960"/>
          </a:xfrm>
          <a:prstGeom prst="roundRect">
            <a:avLst>
              <a:gd name="adj" fmla="val 3721"/>
            </a:avLst>
          </a:prstGeom>
          <a:solidFill>
            <a:srgbClr val="F3F6FA"/>
          </a:solidFill>
          <a:ln w="10160">
            <a:solidFill>
              <a:srgbClr val="D6DFE9"/>
            </a:solidFill>
            <a:prstDash val="solid"/>
          </a:ln>
        </p:spPr>
      </p:sp>
      <p:sp>
        <p:nvSpPr>
          <p:cNvPr id="46" name="Shape 44"/>
          <p:cNvSpPr/>
          <p:nvPr/>
        </p:nvSpPr>
        <p:spPr>
          <a:xfrm>
            <a:off x="9875520" y="4443984"/>
            <a:ext cx="429768" cy="265176"/>
          </a:xfrm>
          <a:prstGeom prst="roundRect">
            <a:avLst>
              <a:gd name="adj" fmla="val 27586"/>
            </a:avLst>
          </a:prstGeom>
          <a:solidFill>
            <a:srgbClr val="EDF3FA"/>
          </a:solidFill>
          <a:ln w="10160">
            <a:solidFill>
              <a:srgbClr val="EDF3FA"/>
            </a:solidFill>
            <a:prstDash val="solid"/>
          </a:ln>
        </p:spPr>
      </p:sp>
      <p:sp>
        <p:nvSpPr>
          <p:cNvPr id="47" name="Text 45"/>
          <p:cNvSpPr/>
          <p:nvPr/>
        </p:nvSpPr>
        <p:spPr>
          <a:xfrm>
            <a:off x="9939528" y="4462272"/>
            <a:ext cx="301752" cy="219456"/>
          </a:xfrm>
          <a:prstGeom prst="rect">
            <a:avLst/>
          </a:prstGeom>
          <a:noFill/>
          <a:ln/>
        </p:spPr>
        <p:txBody>
          <a:bodyPr wrap="square" lIns="0" tIns="0" rIns="0" bIns="0" rtlCol="0" anchor="ctr">
            <a:spAutoFit/>
          </a:bodyPr>
          <a:lstStyle/>
          <a:p>
            <a:pPr algn="ctr" indent="0" marL="0">
              <a:buNone/>
            </a:pPr>
            <a:r>
              <a:rPr lang="en-US" sz="1200" b="1" dirty="0">
                <a:solidFill>
                  <a:srgbClr val="376895"/>
                </a:solidFill>
                <a:latin typeface="Noto Sans CJK JP" pitchFamily="34" charset="0"/>
                <a:ea typeface="Noto Sans CJK JP" pitchFamily="34" charset="-122"/>
                <a:cs typeface="Noto Sans CJK JP" pitchFamily="34" charset="-120"/>
              </a:rPr>
              <a:t>06</a:t>
            </a:r>
            <a:endParaRPr lang="en-US" sz="1200" dirty="0"/>
          </a:p>
        </p:txBody>
      </p:sp>
      <p:sp>
        <p:nvSpPr>
          <p:cNvPr id="48" name="Text 46"/>
          <p:cNvSpPr/>
          <p:nvPr/>
        </p:nvSpPr>
        <p:spPr>
          <a:xfrm>
            <a:off x="10479024" y="4434840"/>
            <a:ext cx="3355848" cy="338328"/>
          </a:xfrm>
          <a:prstGeom prst="rect">
            <a:avLst/>
          </a:prstGeom>
          <a:noFill/>
          <a:ln/>
        </p:spPr>
        <p:txBody>
          <a:bodyPr wrap="square" lIns="0" tIns="0" rIns="0" bIns="0" rtlCol="0" anchor="ctr">
            <a:spAutoFit/>
          </a:bodyPr>
          <a:lstStyle/>
          <a:p>
            <a:pPr indent="0" marL="0">
              <a:buNone/>
            </a:pPr>
            <a:r>
              <a:rPr lang="en-US" sz="1900" b="1" dirty="0">
                <a:solidFill>
                  <a:srgbClr val="142D4E"/>
                </a:solidFill>
                <a:latin typeface="Noto Sans CJK JP" pitchFamily="34" charset="0"/>
                <a:ea typeface="Noto Sans CJK JP" pitchFamily="34" charset="-122"/>
                <a:cs typeface="Noto Sans CJK JP" pitchFamily="34" charset="-120"/>
              </a:rPr>
              <a:t>契約・統治・終了</a:t>
            </a:r>
            <a:endParaRPr lang="en-US" sz="1900" dirty="0"/>
          </a:p>
        </p:txBody>
      </p:sp>
      <p:sp>
        <p:nvSpPr>
          <p:cNvPr id="49" name="Text 47"/>
          <p:cNvSpPr/>
          <p:nvPr/>
        </p:nvSpPr>
        <p:spPr>
          <a:xfrm>
            <a:off x="9902952" y="4974336"/>
            <a:ext cx="3941064" cy="594360"/>
          </a:xfrm>
          <a:prstGeom prst="rect">
            <a:avLst/>
          </a:prstGeom>
          <a:noFill/>
          <a:ln/>
        </p:spPr>
        <p:txBody>
          <a:bodyPr wrap="square" lIns="0" tIns="0" rIns="0" bIns="0" rtlCol="0" anchor="ctr">
            <a:spAutoFit/>
          </a:bodyPr>
          <a:lstStyle/>
          <a:p>
            <a:pPr indent="0" marL="0">
              <a:buNone/>
            </a:pPr>
            <a:r>
              <a:rPr lang="en-US" sz="1600" dirty="0">
                <a:solidFill>
                  <a:srgbClr val="253448"/>
                </a:solidFill>
                <a:latin typeface="Noto Sans CJK JP" pitchFamily="34" charset="0"/>
                <a:ea typeface="Noto Sans CJK JP" pitchFamily="34" charset="-122"/>
                <a:cs typeface="Noto Sans CJK JP" pitchFamily="34" charset="-120"/>
              </a:rPr>
              <a:t>適用条件、責任、内部規程を照合。</a:t>
            </a:r>
            <a:endParaRPr lang="en-US" sz="1600" dirty="0"/>
          </a:p>
          <a:p>
            <a:pPr indent="0" marL="0">
              <a:buNone/>
            </a:pPr>
            <a:r>
              <a:rPr lang="en-US" sz="1600" dirty="0">
                <a:solidFill>
                  <a:srgbClr val="253448"/>
                </a:solidFill>
                <a:latin typeface="Noto Sans CJK JP" pitchFamily="34" charset="0"/>
                <a:ea typeface="Noto Sans CJK JP" pitchFamily="34" charset="-122"/>
                <a:cs typeface="Noto Sans CJK JP" pitchFamily="34" charset="-120"/>
              </a:rPr>
              <a:t>未充足・退出・削除を判断する。</a:t>
            </a:r>
            <a:endParaRPr lang="en-US" sz="1600" dirty="0"/>
          </a:p>
        </p:txBody>
      </p:sp>
      <p:sp>
        <p:nvSpPr>
          <p:cNvPr id="50" name="Text 48"/>
          <p:cNvSpPr/>
          <p:nvPr/>
        </p:nvSpPr>
        <p:spPr>
          <a:xfrm>
            <a:off x="9902952" y="5632704"/>
            <a:ext cx="3941064" cy="246888"/>
          </a:xfrm>
          <a:prstGeom prst="rect">
            <a:avLst/>
          </a:prstGeom>
          <a:noFill/>
          <a:ln/>
        </p:spPr>
        <p:txBody>
          <a:bodyPr wrap="square" lIns="0" tIns="0" rIns="0" bIns="0" rtlCol="0" anchor="ctr">
            <a:spAutoFit/>
          </a:bodyPr>
          <a:lstStyle/>
          <a:p>
            <a:pPr indent="0" marL="0">
              <a:buNone/>
            </a:pPr>
            <a:r>
              <a:rPr lang="en-US" sz="1270" b="1" dirty="0">
                <a:solidFill>
                  <a:srgbClr val="247970"/>
                </a:solidFill>
                <a:latin typeface="Noto Sans CJK JP" pitchFamily="34" charset="0"/>
                <a:ea typeface="Noto Sans CJK JP" pitchFamily="34" charset="-122"/>
                <a:cs typeface="Noto Sans CJK JP" pitchFamily="34" charset="-120"/>
              </a:rPr>
              <a:t>証拠：契約原本・基準対応表・承認記録</a:t>
            </a:r>
            <a:endParaRPr lang="en-US" sz="1270" dirty="0"/>
          </a:p>
        </p:txBody>
      </p:sp>
      <p:sp>
        <p:nvSpPr>
          <p:cNvPr id="51" name="Text 49"/>
          <p:cNvSpPr/>
          <p:nvPr/>
        </p:nvSpPr>
        <p:spPr>
          <a:xfrm>
            <a:off x="9902952" y="5971032"/>
            <a:ext cx="3941064" cy="192024"/>
          </a:xfrm>
          <a:prstGeom prst="rect">
            <a:avLst/>
          </a:prstGeom>
          <a:noFill/>
          <a:ln/>
        </p:spPr>
        <p:txBody>
          <a:bodyPr wrap="square" lIns="0" tIns="0" rIns="0" bIns="0" rtlCol="0" anchor="ctr">
            <a:spAutoFit/>
          </a:bodyPr>
          <a:lstStyle/>
          <a:p>
            <a:pPr indent="0" marL="0">
              <a:buNone/>
            </a:pPr>
            <a:r>
              <a:rPr lang="en-US" sz="1150" dirty="0">
                <a:solidFill>
                  <a:srgbClr val="65748A"/>
                </a:solidFill>
                <a:latin typeface="Noto Sans CJK JP" pitchFamily="34" charset="0"/>
                <a:ea typeface="Noto Sans CJK JP" pitchFamily="34" charset="-122"/>
                <a:cs typeface="Noto Sans CJK JP" pitchFamily="34" charset="-120"/>
              </a:rPr>
              <a:t>担当候補：調達法務／リスク管理</a:t>
            </a:r>
            <a:endParaRPr lang="en-US" sz="1150" dirty="0"/>
          </a:p>
        </p:txBody>
      </p:sp>
      <p:sp>
        <p:nvSpPr>
          <p:cNvPr id="52" name="Shape 50"/>
          <p:cNvSpPr/>
          <p:nvPr/>
        </p:nvSpPr>
        <p:spPr>
          <a:xfrm>
            <a:off x="585216" y="6720840"/>
            <a:ext cx="13469112" cy="612648"/>
          </a:xfrm>
          <a:prstGeom prst="roundRect">
            <a:avLst>
              <a:gd name="adj" fmla="val 11940"/>
            </a:avLst>
          </a:prstGeom>
          <a:solidFill>
            <a:srgbClr val="FAF3E7"/>
          </a:solidFill>
          <a:ln w="10160">
            <a:solidFill>
              <a:srgbClr val="FAF3E7"/>
            </a:solidFill>
            <a:prstDash val="solid"/>
          </a:ln>
        </p:spPr>
      </p:sp>
      <p:sp>
        <p:nvSpPr>
          <p:cNvPr id="53" name="Text 51"/>
          <p:cNvSpPr/>
          <p:nvPr/>
        </p:nvSpPr>
        <p:spPr>
          <a:xfrm>
            <a:off x="822960" y="6903720"/>
            <a:ext cx="12938760" cy="265176"/>
          </a:xfrm>
          <a:prstGeom prst="rect">
            <a:avLst/>
          </a:prstGeom>
          <a:noFill/>
          <a:ln/>
        </p:spPr>
        <p:txBody>
          <a:bodyPr wrap="square" lIns="0" tIns="0" rIns="0" bIns="0" rtlCol="0" anchor="ctr">
            <a:spAutoFit/>
          </a:bodyPr>
          <a:lstStyle/>
          <a:p>
            <a:pPr indent="0" marL="0">
              <a:buNone/>
            </a:pPr>
            <a:r>
              <a:rPr lang="en-US" sz="1470" dirty="0">
                <a:solidFill>
                  <a:srgbClr val="253448"/>
                </a:solidFill>
                <a:latin typeface="Noto Sans CJK JP" pitchFamily="34" charset="0"/>
                <a:ea typeface="Noto Sans CJK JP" pitchFamily="34" charset="-122"/>
                <a:cs typeface="Noto Sans CJK JP" pitchFamily="34" charset="-120"/>
              </a:rPr>
              <a:t>未充足は「改修」「利用範囲の限定」「権限者による残存リスク判断」へ。法令・契約の必須条件は内部承認で免除しません。</a:t>
            </a:r>
            <a:endParaRPr lang="en-US" sz="147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再点検・残る確認</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単体の対策だけでは止まらない、連鎖事故も確認する</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旧61件の確認事項は36シナリオへ対応づけて保持。以下は実機で確認すべき複合シナリオです。</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28 / 30</a:t>
            </a:r>
            <a:endParaRPr lang="en-US" sz="1150" dirty="0"/>
          </a:p>
        </p:txBody>
      </p:sp>
      <p:sp>
        <p:nvSpPr>
          <p:cNvPr id="10" name="Text 8"/>
          <p:cNvSpPr/>
          <p:nvPr/>
        </p:nvSpPr>
        <p:spPr>
          <a:xfrm>
            <a:off x="731520" y="2066544"/>
            <a:ext cx="1828800" cy="274320"/>
          </a:xfrm>
          <a:prstGeom prst="rect">
            <a:avLst/>
          </a:prstGeom>
          <a:noFill/>
          <a:ln/>
        </p:spPr>
        <p:txBody>
          <a:bodyPr wrap="square" lIns="0" tIns="0" rIns="0" bIns="0" rtlCol="0" anchor="ctr">
            <a:spAutoFit/>
          </a:bodyPr>
          <a:lstStyle/>
          <a:p>
            <a:pPr indent="0" marL="0">
              <a:buNone/>
            </a:pPr>
            <a:r>
              <a:rPr lang="en-US" sz="1500" b="1" dirty="0">
                <a:solidFill>
                  <a:srgbClr val="142D4E"/>
                </a:solidFill>
                <a:latin typeface="Noto Sans CJK JP" pitchFamily="34" charset="0"/>
                <a:ea typeface="Noto Sans CJK JP" pitchFamily="34" charset="-122"/>
                <a:cs typeface="Noto Sans CJK JP" pitchFamily="34" charset="-120"/>
              </a:rPr>
              <a:t>連鎖する箇所</a:t>
            </a:r>
            <a:endParaRPr lang="en-US" sz="1500" dirty="0"/>
          </a:p>
        </p:txBody>
      </p:sp>
      <p:sp>
        <p:nvSpPr>
          <p:cNvPr id="11" name="Text 9"/>
          <p:cNvSpPr/>
          <p:nvPr/>
        </p:nvSpPr>
        <p:spPr>
          <a:xfrm>
            <a:off x="2752344" y="2066544"/>
            <a:ext cx="5669280" cy="274320"/>
          </a:xfrm>
          <a:prstGeom prst="rect">
            <a:avLst/>
          </a:prstGeom>
          <a:noFill/>
          <a:ln/>
        </p:spPr>
        <p:txBody>
          <a:bodyPr wrap="square" lIns="0" tIns="0" rIns="0" bIns="0" rtlCol="0" anchor="ctr">
            <a:spAutoFit/>
          </a:bodyPr>
          <a:lstStyle/>
          <a:p>
            <a:pPr indent="0" marL="0">
              <a:buNone/>
            </a:pPr>
            <a:r>
              <a:rPr lang="en-US" sz="1500" b="1" dirty="0">
                <a:solidFill>
                  <a:srgbClr val="142D4E"/>
                </a:solidFill>
                <a:latin typeface="Noto Sans CJK JP" pitchFamily="34" charset="0"/>
                <a:ea typeface="Noto Sans CJK JP" pitchFamily="34" charset="-122"/>
                <a:cs typeface="Noto Sans CJK JP" pitchFamily="34" charset="-120"/>
              </a:rPr>
              <a:t>想定する事故のつながり</a:t>
            </a:r>
            <a:endParaRPr lang="en-US" sz="1500" dirty="0"/>
          </a:p>
        </p:txBody>
      </p:sp>
      <p:sp>
        <p:nvSpPr>
          <p:cNvPr id="12" name="Text 10"/>
          <p:cNvSpPr/>
          <p:nvPr/>
        </p:nvSpPr>
        <p:spPr>
          <a:xfrm>
            <a:off x="8732520" y="2066544"/>
            <a:ext cx="5074920" cy="274320"/>
          </a:xfrm>
          <a:prstGeom prst="rect">
            <a:avLst/>
          </a:prstGeom>
          <a:noFill/>
          <a:ln/>
        </p:spPr>
        <p:txBody>
          <a:bodyPr wrap="square" lIns="0" tIns="0" rIns="0" bIns="0" rtlCol="0" anchor="ctr">
            <a:spAutoFit/>
          </a:bodyPr>
          <a:lstStyle/>
          <a:p>
            <a:pPr indent="0" marL="0">
              <a:buNone/>
            </a:pPr>
            <a:r>
              <a:rPr lang="en-US" sz="1500" b="1" dirty="0">
                <a:solidFill>
                  <a:srgbClr val="142D4E"/>
                </a:solidFill>
                <a:latin typeface="Noto Sans CJK JP" pitchFamily="34" charset="0"/>
                <a:ea typeface="Noto Sans CJK JP" pitchFamily="34" charset="-122"/>
                <a:cs typeface="Noto Sans CJK JP" pitchFamily="34" charset="-120"/>
              </a:rPr>
              <a:t>異なる箇所で止める対策</a:t>
            </a:r>
            <a:endParaRPr lang="en-US" sz="1500" dirty="0"/>
          </a:p>
        </p:txBody>
      </p:sp>
      <p:sp>
        <p:nvSpPr>
          <p:cNvPr id="13" name="Shape 11"/>
          <p:cNvSpPr/>
          <p:nvPr/>
        </p:nvSpPr>
        <p:spPr>
          <a:xfrm>
            <a:off x="594360" y="2578608"/>
            <a:ext cx="13441680" cy="640080"/>
          </a:xfrm>
          <a:prstGeom prst="rect">
            <a:avLst>
              <a:gd name="adj" fmla="val 11429"/>
            </a:avLst>
          </a:prstGeom>
          <a:solidFill>
            <a:srgbClr val="F3F6FA"/>
          </a:solidFill>
          <a:ln w="10160">
            <a:solidFill>
              <a:srgbClr val="D6DFE9"/>
            </a:solidFill>
            <a:prstDash val="solid"/>
          </a:ln>
        </p:spPr>
      </p:sp>
      <p:sp>
        <p:nvSpPr>
          <p:cNvPr id="14" name="Text 12"/>
          <p:cNvSpPr/>
          <p:nvPr/>
        </p:nvSpPr>
        <p:spPr>
          <a:xfrm>
            <a:off x="758952" y="2734056"/>
            <a:ext cx="1847088" cy="292608"/>
          </a:xfrm>
          <a:prstGeom prst="rect">
            <a:avLst/>
          </a:prstGeom>
          <a:noFill/>
          <a:ln/>
        </p:spPr>
        <p:txBody>
          <a:bodyPr wrap="square" lIns="0" tIns="0" rIns="0" bIns="0" rtlCol="0" anchor="ctr">
            <a:spAutoFit/>
          </a:bodyPr>
          <a:lstStyle/>
          <a:p>
            <a:pPr indent="0" marL="0">
              <a:buNone/>
            </a:pPr>
            <a:r>
              <a:rPr lang="en-US" sz="1680" b="1" dirty="0">
                <a:solidFill>
                  <a:srgbClr val="142D4E"/>
                </a:solidFill>
                <a:latin typeface="Noto Sans CJK JP" pitchFamily="34" charset="0"/>
                <a:ea typeface="Noto Sans CJK JP" pitchFamily="34" charset="-122"/>
                <a:cs typeface="Noto Sans CJK JP" pitchFamily="34" charset="-120"/>
              </a:rPr>
              <a:t>資料→外送</a:t>
            </a:r>
            <a:endParaRPr lang="en-US" sz="1680" dirty="0"/>
          </a:p>
        </p:txBody>
      </p:sp>
      <p:sp>
        <p:nvSpPr>
          <p:cNvPr id="15" name="Text 13"/>
          <p:cNvSpPr/>
          <p:nvPr/>
        </p:nvSpPr>
        <p:spPr>
          <a:xfrm>
            <a:off x="2761488" y="2724912"/>
            <a:ext cx="5669280" cy="384048"/>
          </a:xfrm>
          <a:prstGeom prst="rect">
            <a:avLst/>
          </a:prstGeom>
          <a:noFill/>
          <a:ln/>
        </p:spPr>
        <p:txBody>
          <a:bodyPr wrap="square" lIns="0" tIns="0" rIns="0" bIns="0" rtlCol="0" anchor="ctr">
            <a:spAutoFit/>
          </a:bodyPr>
          <a:lstStyle/>
          <a:p>
            <a:pPr indent="0" marL="0">
              <a:buNone/>
            </a:pPr>
            <a:r>
              <a:rPr lang="en-US" sz="1490" dirty="0">
                <a:solidFill>
                  <a:srgbClr val="253448"/>
                </a:solidFill>
                <a:latin typeface="Noto Sans CJK JP" pitchFamily="34" charset="0"/>
                <a:ea typeface="Noto Sans CJK JP" pitchFamily="34" charset="-122"/>
                <a:cs typeface="Noto Sans CJK JP" pitchFamily="34" charset="-120"/>
              </a:rPr>
              <a:t>設計書の誘導 → 別ファイルを取得 → 診断・外部ツールで送信</a:t>
            </a:r>
            <a:endParaRPr lang="en-US" sz="1490" dirty="0"/>
          </a:p>
        </p:txBody>
      </p:sp>
      <p:sp>
        <p:nvSpPr>
          <p:cNvPr id="16" name="Text 14"/>
          <p:cNvSpPr/>
          <p:nvPr/>
        </p:nvSpPr>
        <p:spPr>
          <a:xfrm>
            <a:off x="8732520" y="2670048"/>
            <a:ext cx="4974336" cy="246888"/>
          </a:xfrm>
          <a:prstGeom prst="rect">
            <a:avLst/>
          </a:prstGeom>
          <a:noFill/>
          <a:ln/>
        </p:spPr>
        <p:txBody>
          <a:bodyPr wrap="square" lIns="0" tIns="0" rIns="0" bIns="0" rtlCol="0" anchor="ctr">
            <a:spAutoFit/>
          </a:bodyPr>
          <a:lstStyle/>
          <a:p>
            <a:pPr indent="0" marL="0">
              <a:buNone/>
            </a:pPr>
            <a:r>
              <a:rPr lang="en-US" sz="1450" dirty="0">
                <a:solidFill>
                  <a:srgbClr val="253448"/>
                </a:solidFill>
                <a:latin typeface="Noto Sans CJK JP" pitchFamily="34" charset="0"/>
                <a:ea typeface="Noto Sans CJK JP" pitchFamily="34" charset="-122"/>
                <a:cs typeface="Noto Sans CJK JP" pitchFamily="34" charset="-120"/>
              </a:rPr>
              <a:t>参照権限・実行権限・全通信を別々に制限</a:t>
            </a:r>
            <a:endParaRPr lang="en-US" sz="1450" dirty="0"/>
          </a:p>
        </p:txBody>
      </p:sp>
      <p:sp>
        <p:nvSpPr>
          <p:cNvPr id="17" name="Text 15"/>
          <p:cNvSpPr/>
          <p:nvPr/>
        </p:nvSpPr>
        <p:spPr>
          <a:xfrm>
            <a:off x="8732520" y="2962656"/>
            <a:ext cx="4974336" cy="192024"/>
          </a:xfrm>
          <a:prstGeom prst="rect">
            <a:avLst/>
          </a:prstGeom>
          <a:noFill/>
          <a:ln/>
        </p:spPr>
        <p:txBody>
          <a:bodyPr wrap="square" lIns="0" tIns="0" rIns="0" bIns="0" rtlCol="0" anchor="ctr">
            <a:spAutoFit/>
          </a:bodyPr>
          <a:lstStyle/>
          <a:p>
            <a:pPr indent="0" marL="0">
              <a:buNone/>
            </a:pPr>
            <a:r>
              <a:rPr lang="en-US" sz="1120" dirty="0">
                <a:solidFill>
                  <a:srgbClr val="65748A"/>
                </a:solidFill>
                <a:latin typeface="Noto Sans CJK JP" pitchFamily="34" charset="0"/>
                <a:ea typeface="Noto Sans CJK JP" pitchFamily="34" charset="-122"/>
                <a:cs typeface="Noto Sans CJK JP" pitchFamily="34" charset="-120"/>
              </a:rPr>
              <a:t>R01・R04・R10・R21</a:t>
            </a:r>
            <a:endParaRPr lang="en-US" sz="1120" dirty="0"/>
          </a:p>
        </p:txBody>
      </p:sp>
      <p:sp>
        <p:nvSpPr>
          <p:cNvPr id="18" name="Shape 16"/>
          <p:cNvSpPr/>
          <p:nvPr/>
        </p:nvSpPr>
        <p:spPr>
          <a:xfrm>
            <a:off x="594360" y="3218688"/>
            <a:ext cx="13441680" cy="640080"/>
          </a:xfrm>
          <a:prstGeom prst="rect">
            <a:avLst>
              <a:gd name="adj" fmla="val 11429"/>
            </a:avLst>
          </a:prstGeom>
          <a:solidFill>
            <a:srgbClr val="FFFFFF"/>
          </a:solidFill>
          <a:ln w="10160">
            <a:solidFill>
              <a:srgbClr val="D6DFE9"/>
            </a:solidFill>
            <a:prstDash val="solid"/>
          </a:ln>
        </p:spPr>
      </p:sp>
      <p:sp>
        <p:nvSpPr>
          <p:cNvPr id="19" name="Text 17"/>
          <p:cNvSpPr/>
          <p:nvPr/>
        </p:nvSpPr>
        <p:spPr>
          <a:xfrm>
            <a:off x="758952" y="3374136"/>
            <a:ext cx="1847088" cy="292608"/>
          </a:xfrm>
          <a:prstGeom prst="rect">
            <a:avLst/>
          </a:prstGeom>
          <a:noFill/>
          <a:ln/>
        </p:spPr>
        <p:txBody>
          <a:bodyPr wrap="square" lIns="0" tIns="0" rIns="0" bIns="0" rtlCol="0" anchor="ctr">
            <a:spAutoFit/>
          </a:bodyPr>
          <a:lstStyle/>
          <a:p>
            <a:pPr indent="0" marL="0">
              <a:buNone/>
            </a:pPr>
            <a:r>
              <a:rPr lang="en-US" sz="1680" b="1" dirty="0">
                <a:solidFill>
                  <a:srgbClr val="142D4E"/>
                </a:solidFill>
                <a:latin typeface="Noto Sans CJK JP" pitchFamily="34" charset="0"/>
                <a:ea typeface="Noto Sans CJK JP" pitchFamily="34" charset="-122"/>
                <a:cs typeface="Noto Sans CJK JP" pitchFamily="34" charset="-120"/>
              </a:rPr>
              <a:t>テスト→権限悪用</a:t>
            </a:r>
            <a:endParaRPr lang="en-US" sz="1680" dirty="0"/>
          </a:p>
        </p:txBody>
      </p:sp>
      <p:sp>
        <p:nvSpPr>
          <p:cNvPr id="20" name="Text 18"/>
          <p:cNvSpPr/>
          <p:nvPr/>
        </p:nvSpPr>
        <p:spPr>
          <a:xfrm>
            <a:off x="2761488" y="3364992"/>
            <a:ext cx="5669280" cy="384048"/>
          </a:xfrm>
          <a:prstGeom prst="rect">
            <a:avLst/>
          </a:prstGeom>
          <a:noFill/>
          <a:ln/>
        </p:spPr>
        <p:txBody>
          <a:bodyPr wrap="square" lIns="0" tIns="0" rIns="0" bIns="0" rtlCol="0" anchor="ctr">
            <a:spAutoFit/>
          </a:bodyPr>
          <a:lstStyle/>
          <a:p>
            <a:pPr indent="0" marL="0">
              <a:buNone/>
            </a:pPr>
            <a:r>
              <a:rPr lang="en-US" sz="1490" dirty="0">
                <a:solidFill>
                  <a:srgbClr val="253448"/>
                </a:solidFill>
                <a:latin typeface="Noto Sans CJK JP" pitchFamily="34" charset="0"/>
                <a:ea typeface="Noto Sans CJK JP" pitchFamily="34" charset="-122"/>
                <a:cs typeface="Noto Sans CJK JP" pitchFamily="34" charset="-120"/>
              </a:rPr>
              <a:t>生成テスト → 悪性依存物 → ホスト秘密 → 投稿権限を悪用</a:t>
            </a:r>
            <a:endParaRPr lang="en-US" sz="1490" dirty="0"/>
          </a:p>
        </p:txBody>
      </p:sp>
      <p:sp>
        <p:nvSpPr>
          <p:cNvPr id="21" name="Text 19"/>
          <p:cNvSpPr/>
          <p:nvPr/>
        </p:nvSpPr>
        <p:spPr>
          <a:xfrm>
            <a:off x="8732520" y="3310128"/>
            <a:ext cx="4974336" cy="246888"/>
          </a:xfrm>
          <a:prstGeom prst="rect">
            <a:avLst/>
          </a:prstGeom>
          <a:noFill/>
          <a:ln/>
        </p:spPr>
        <p:txBody>
          <a:bodyPr wrap="square" lIns="0" tIns="0" rIns="0" bIns="0" rtlCol="0" anchor="ctr">
            <a:spAutoFit/>
          </a:bodyPr>
          <a:lstStyle/>
          <a:p>
            <a:pPr indent="0" marL="0">
              <a:buNone/>
            </a:pPr>
            <a:r>
              <a:rPr lang="en-US" sz="1450" dirty="0">
                <a:solidFill>
                  <a:srgbClr val="253448"/>
                </a:solidFill>
                <a:latin typeface="Noto Sans CJK JP" pitchFamily="34" charset="0"/>
                <a:ea typeface="Noto Sans CJK JP" pitchFamily="34" charset="-122"/>
                <a:cs typeface="Noto Sans CJK JP" pitchFamily="34" charset="-120"/>
              </a:rPr>
              <a:t>依存物・実行環境・秘密・投稿APIを分離</a:t>
            </a:r>
            <a:endParaRPr lang="en-US" sz="1450" dirty="0"/>
          </a:p>
        </p:txBody>
      </p:sp>
      <p:sp>
        <p:nvSpPr>
          <p:cNvPr id="22" name="Text 20"/>
          <p:cNvSpPr/>
          <p:nvPr/>
        </p:nvSpPr>
        <p:spPr>
          <a:xfrm>
            <a:off x="8732520" y="3602736"/>
            <a:ext cx="4974336" cy="192024"/>
          </a:xfrm>
          <a:prstGeom prst="rect">
            <a:avLst/>
          </a:prstGeom>
          <a:noFill/>
          <a:ln/>
        </p:spPr>
        <p:txBody>
          <a:bodyPr wrap="square" lIns="0" tIns="0" rIns="0" bIns="0" rtlCol="0" anchor="ctr">
            <a:spAutoFit/>
          </a:bodyPr>
          <a:lstStyle/>
          <a:p>
            <a:pPr indent="0" marL="0">
              <a:buNone/>
            </a:pPr>
            <a:r>
              <a:rPr lang="en-US" sz="1120" dirty="0">
                <a:solidFill>
                  <a:srgbClr val="65748A"/>
                </a:solidFill>
                <a:latin typeface="Noto Sans CJK JP" pitchFamily="34" charset="0"/>
                <a:ea typeface="Noto Sans CJK JP" pitchFamily="34" charset="-122"/>
                <a:cs typeface="Noto Sans CJK JP" pitchFamily="34" charset="-120"/>
              </a:rPr>
              <a:t>R08–R12</a:t>
            </a:r>
            <a:endParaRPr lang="en-US" sz="1120" dirty="0"/>
          </a:p>
        </p:txBody>
      </p:sp>
      <p:sp>
        <p:nvSpPr>
          <p:cNvPr id="23" name="Shape 21"/>
          <p:cNvSpPr/>
          <p:nvPr/>
        </p:nvSpPr>
        <p:spPr>
          <a:xfrm>
            <a:off x="594360" y="3858768"/>
            <a:ext cx="13441680" cy="640080"/>
          </a:xfrm>
          <a:prstGeom prst="rect">
            <a:avLst>
              <a:gd name="adj" fmla="val 11429"/>
            </a:avLst>
          </a:prstGeom>
          <a:solidFill>
            <a:srgbClr val="F3F6FA"/>
          </a:solidFill>
          <a:ln w="10160">
            <a:solidFill>
              <a:srgbClr val="D6DFE9"/>
            </a:solidFill>
            <a:prstDash val="solid"/>
          </a:ln>
        </p:spPr>
      </p:sp>
      <p:sp>
        <p:nvSpPr>
          <p:cNvPr id="24" name="Text 22"/>
          <p:cNvSpPr/>
          <p:nvPr/>
        </p:nvSpPr>
        <p:spPr>
          <a:xfrm>
            <a:off x="758952" y="4014216"/>
            <a:ext cx="1847088" cy="292608"/>
          </a:xfrm>
          <a:prstGeom prst="rect">
            <a:avLst/>
          </a:prstGeom>
          <a:noFill/>
          <a:ln/>
        </p:spPr>
        <p:txBody>
          <a:bodyPr wrap="square" lIns="0" tIns="0" rIns="0" bIns="0" rtlCol="0" anchor="ctr">
            <a:spAutoFit/>
          </a:bodyPr>
          <a:lstStyle/>
          <a:p>
            <a:pPr indent="0" marL="0">
              <a:buNone/>
            </a:pPr>
            <a:r>
              <a:rPr lang="en-US" sz="1680" b="1" dirty="0">
                <a:solidFill>
                  <a:srgbClr val="142D4E"/>
                </a:solidFill>
                <a:latin typeface="Noto Sans CJK JP" pitchFamily="34" charset="0"/>
                <a:ea typeface="Noto Sans CJK JP" pitchFamily="34" charset="-122"/>
                <a:cs typeface="Noto Sans CJK JP" pitchFamily="34" charset="-120"/>
              </a:rPr>
              <a:t>レビュー→誤承認</a:t>
            </a:r>
            <a:endParaRPr lang="en-US" sz="1680" dirty="0"/>
          </a:p>
        </p:txBody>
      </p:sp>
      <p:sp>
        <p:nvSpPr>
          <p:cNvPr id="25" name="Text 23"/>
          <p:cNvSpPr/>
          <p:nvPr/>
        </p:nvSpPr>
        <p:spPr>
          <a:xfrm>
            <a:off x="2761488" y="4005072"/>
            <a:ext cx="5669280" cy="384048"/>
          </a:xfrm>
          <a:prstGeom prst="rect">
            <a:avLst/>
          </a:prstGeom>
          <a:noFill/>
          <a:ln/>
        </p:spPr>
        <p:txBody>
          <a:bodyPr wrap="square" lIns="0" tIns="0" rIns="0" bIns="0" rtlCol="0" anchor="ctr">
            <a:spAutoFit/>
          </a:bodyPr>
          <a:lstStyle/>
          <a:p>
            <a:pPr indent="0" marL="0">
              <a:buNone/>
            </a:pPr>
            <a:r>
              <a:rPr lang="en-US" sz="1490" dirty="0">
                <a:solidFill>
                  <a:srgbClr val="253448"/>
                </a:solidFill>
                <a:latin typeface="Noto Sans CJK JP" pitchFamily="34" charset="0"/>
                <a:ea typeface="Noto Sans CJK JP" pitchFamily="34" charset="-122"/>
                <a:cs typeface="Noto Sans CJK JP" pitchFamily="34" charset="-120"/>
              </a:rPr>
              <a:t>SHA-Aで完了 → SHA-Bへ更新 → 古い結果で人が承認</a:t>
            </a:r>
            <a:endParaRPr lang="en-US" sz="1490" dirty="0"/>
          </a:p>
        </p:txBody>
      </p:sp>
      <p:sp>
        <p:nvSpPr>
          <p:cNvPr id="26" name="Text 24"/>
          <p:cNvSpPr/>
          <p:nvPr/>
        </p:nvSpPr>
        <p:spPr>
          <a:xfrm>
            <a:off x="8732520" y="3950208"/>
            <a:ext cx="4974336" cy="246888"/>
          </a:xfrm>
          <a:prstGeom prst="rect">
            <a:avLst/>
          </a:prstGeom>
          <a:noFill/>
          <a:ln/>
        </p:spPr>
        <p:txBody>
          <a:bodyPr wrap="square" lIns="0" tIns="0" rIns="0" bIns="0" rtlCol="0" anchor="ctr">
            <a:spAutoFit/>
          </a:bodyPr>
          <a:lstStyle/>
          <a:p>
            <a:pPr indent="0" marL="0">
              <a:buNone/>
            </a:pPr>
            <a:r>
              <a:rPr lang="en-US" sz="1450" dirty="0">
                <a:solidFill>
                  <a:srgbClr val="253448"/>
                </a:solidFill>
                <a:latin typeface="Noto Sans CJK JP" pitchFamily="34" charset="0"/>
                <a:ea typeface="Noto Sans CJK JP" pitchFamily="34" charset="-122"/>
                <a:cs typeface="Noto Sans CJK JP" pitchFamily="34" charset="-120"/>
              </a:rPr>
              <a:t>対象版の結合・失効・マージ直前の照合</a:t>
            </a:r>
            <a:endParaRPr lang="en-US" sz="1450" dirty="0"/>
          </a:p>
        </p:txBody>
      </p:sp>
      <p:sp>
        <p:nvSpPr>
          <p:cNvPr id="27" name="Text 25"/>
          <p:cNvSpPr/>
          <p:nvPr/>
        </p:nvSpPr>
        <p:spPr>
          <a:xfrm>
            <a:off x="8732520" y="4242816"/>
            <a:ext cx="4974336" cy="192024"/>
          </a:xfrm>
          <a:prstGeom prst="rect">
            <a:avLst/>
          </a:prstGeom>
          <a:noFill/>
          <a:ln/>
        </p:spPr>
        <p:txBody>
          <a:bodyPr wrap="square" lIns="0" tIns="0" rIns="0" bIns="0" rtlCol="0" anchor="ctr">
            <a:spAutoFit/>
          </a:bodyPr>
          <a:lstStyle/>
          <a:p>
            <a:pPr indent="0" marL="0">
              <a:buNone/>
            </a:pPr>
            <a:r>
              <a:rPr lang="en-US" sz="1120" dirty="0">
                <a:solidFill>
                  <a:srgbClr val="65748A"/>
                </a:solidFill>
                <a:latin typeface="Noto Sans CJK JP" pitchFamily="34" charset="0"/>
                <a:ea typeface="Noto Sans CJK JP" pitchFamily="34" charset="-122"/>
                <a:cs typeface="Noto Sans CJK JP" pitchFamily="34" charset="-120"/>
              </a:rPr>
              <a:t>R14・R15・R26</a:t>
            </a:r>
            <a:endParaRPr lang="en-US" sz="1120" dirty="0"/>
          </a:p>
        </p:txBody>
      </p:sp>
      <p:sp>
        <p:nvSpPr>
          <p:cNvPr id="28" name="Shape 26"/>
          <p:cNvSpPr/>
          <p:nvPr/>
        </p:nvSpPr>
        <p:spPr>
          <a:xfrm>
            <a:off x="594360" y="4498848"/>
            <a:ext cx="13441680" cy="640080"/>
          </a:xfrm>
          <a:prstGeom prst="rect">
            <a:avLst>
              <a:gd name="adj" fmla="val 11429"/>
            </a:avLst>
          </a:prstGeom>
          <a:solidFill>
            <a:srgbClr val="FFFFFF"/>
          </a:solidFill>
          <a:ln w="10160">
            <a:solidFill>
              <a:srgbClr val="D6DFE9"/>
            </a:solidFill>
            <a:prstDash val="solid"/>
          </a:ln>
        </p:spPr>
      </p:sp>
      <p:sp>
        <p:nvSpPr>
          <p:cNvPr id="29" name="Text 27"/>
          <p:cNvSpPr/>
          <p:nvPr/>
        </p:nvSpPr>
        <p:spPr>
          <a:xfrm>
            <a:off x="758952" y="4654296"/>
            <a:ext cx="1847088" cy="292608"/>
          </a:xfrm>
          <a:prstGeom prst="rect">
            <a:avLst/>
          </a:prstGeom>
          <a:noFill/>
          <a:ln/>
        </p:spPr>
        <p:txBody>
          <a:bodyPr wrap="square" lIns="0" tIns="0" rIns="0" bIns="0" rtlCol="0" anchor="ctr">
            <a:spAutoFit/>
          </a:bodyPr>
          <a:lstStyle/>
          <a:p>
            <a:pPr indent="0" marL="0">
              <a:buNone/>
            </a:pPr>
            <a:r>
              <a:rPr lang="en-US" sz="1680" b="1" dirty="0">
                <a:solidFill>
                  <a:srgbClr val="142D4E"/>
                </a:solidFill>
                <a:latin typeface="Noto Sans CJK JP" pitchFamily="34" charset="0"/>
                <a:ea typeface="Noto Sans CJK JP" pitchFamily="34" charset="-122"/>
                <a:cs typeface="Noto Sans CJK JP" pitchFamily="34" charset="-120"/>
              </a:rPr>
              <a:t>障害→統制迂回</a:t>
            </a:r>
            <a:endParaRPr lang="en-US" sz="1680" dirty="0"/>
          </a:p>
        </p:txBody>
      </p:sp>
      <p:sp>
        <p:nvSpPr>
          <p:cNvPr id="30" name="Text 28"/>
          <p:cNvSpPr/>
          <p:nvPr/>
        </p:nvSpPr>
        <p:spPr>
          <a:xfrm>
            <a:off x="2761488" y="4645152"/>
            <a:ext cx="5669280" cy="384048"/>
          </a:xfrm>
          <a:prstGeom prst="rect">
            <a:avLst/>
          </a:prstGeom>
          <a:noFill/>
          <a:ln/>
        </p:spPr>
        <p:txBody>
          <a:bodyPr wrap="square" lIns="0" tIns="0" rIns="0" bIns="0" rtlCol="0" anchor="ctr">
            <a:spAutoFit/>
          </a:bodyPr>
          <a:lstStyle/>
          <a:p>
            <a:pPr indent="0" marL="0">
              <a:buNone/>
            </a:pPr>
            <a:r>
              <a:rPr lang="en-US" sz="1490" dirty="0">
                <a:solidFill>
                  <a:srgbClr val="253448"/>
                </a:solidFill>
                <a:latin typeface="Noto Sans CJK JP" pitchFamily="34" charset="0"/>
                <a:ea typeface="Noto Sans CJK JP" pitchFamily="34" charset="-122"/>
                <a:cs typeface="Noto Sans CJK JP" pitchFamily="34" charset="-120"/>
              </a:rPr>
              <a:t>国内の検査・推論が停止 → 別API・別地域へ自動退避</a:t>
            </a:r>
            <a:endParaRPr lang="en-US" sz="1490" dirty="0"/>
          </a:p>
        </p:txBody>
      </p:sp>
      <p:sp>
        <p:nvSpPr>
          <p:cNvPr id="31" name="Text 29"/>
          <p:cNvSpPr/>
          <p:nvPr/>
        </p:nvSpPr>
        <p:spPr>
          <a:xfrm>
            <a:off x="8732520" y="4590288"/>
            <a:ext cx="4974336" cy="246888"/>
          </a:xfrm>
          <a:prstGeom prst="rect">
            <a:avLst/>
          </a:prstGeom>
          <a:noFill/>
          <a:ln/>
        </p:spPr>
        <p:txBody>
          <a:bodyPr wrap="square" lIns="0" tIns="0" rIns="0" bIns="0" rtlCol="0" anchor="ctr">
            <a:spAutoFit/>
          </a:bodyPr>
          <a:lstStyle/>
          <a:p>
            <a:pPr indent="0" marL="0">
              <a:buNone/>
            </a:pPr>
            <a:r>
              <a:rPr lang="en-US" sz="1450" dirty="0">
                <a:solidFill>
                  <a:srgbClr val="253448"/>
                </a:solidFill>
                <a:latin typeface="Noto Sans CJK JP" pitchFamily="34" charset="0"/>
                <a:ea typeface="Noto Sans CJK JP" pitchFamily="34" charset="-122"/>
                <a:cs typeface="Noto Sans CJK JP" pitchFamily="34" charset="-120"/>
              </a:rPr>
              <a:t>許可組合せ・検査失敗時停止・代替の事前承認</a:t>
            </a:r>
            <a:endParaRPr lang="en-US" sz="1450" dirty="0"/>
          </a:p>
        </p:txBody>
      </p:sp>
      <p:sp>
        <p:nvSpPr>
          <p:cNvPr id="32" name="Text 30"/>
          <p:cNvSpPr/>
          <p:nvPr/>
        </p:nvSpPr>
        <p:spPr>
          <a:xfrm>
            <a:off x="8732520" y="4882896"/>
            <a:ext cx="4974336" cy="192024"/>
          </a:xfrm>
          <a:prstGeom prst="rect">
            <a:avLst/>
          </a:prstGeom>
          <a:noFill/>
          <a:ln/>
        </p:spPr>
        <p:txBody>
          <a:bodyPr wrap="square" lIns="0" tIns="0" rIns="0" bIns="0" rtlCol="0" anchor="ctr">
            <a:spAutoFit/>
          </a:bodyPr>
          <a:lstStyle/>
          <a:p>
            <a:pPr indent="0" marL="0">
              <a:buNone/>
            </a:pPr>
            <a:r>
              <a:rPr lang="en-US" sz="1120" dirty="0">
                <a:solidFill>
                  <a:srgbClr val="65748A"/>
                </a:solidFill>
                <a:latin typeface="Noto Sans CJK JP" pitchFamily="34" charset="0"/>
                <a:ea typeface="Noto Sans CJK JP" pitchFamily="34" charset="-122"/>
                <a:cs typeface="Noto Sans CJK JP" pitchFamily="34" charset="-120"/>
              </a:rPr>
              <a:t>R19・R22・R24・R30</a:t>
            </a:r>
            <a:endParaRPr lang="en-US" sz="1120" dirty="0"/>
          </a:p>
        </p:txBody>
      </p:sp>
      <p:sp>
        <p:nvSpPr>
          <p:cNvPr id="33" name="Shape 31"/>
          <p:cNvSpPr/>
          <p:nvPr/>
        </p:nvSpPr>
        <p:spPr>
          <a:xfrm>
            <a:off x="594360" y="5138928"/>
            <a:ext cx="13441680" cy="640080"/>
          </a:xfrm>
          <a:prstGeom prst="rect">
            <a:avLst>
              <a:gd name="adj" fmla="val 11429"/>
            </a:avLst>
          </a:prstGeom>
          <a:solidFill>
            <a:srgbClr val="F3F6FA"/>
          </a:solidFill>
          <a:ln w="10160">
            <a:solidFill>
              <a:srgbClr val="D6DFE9"/>
            </a:solidFill>
            <a:prstDash val="solid"/>
          </a:ln>
        </p:spPr>
      </p:sp>
      <p:sp>
        <p:nvSpPr>
          <p:cNvPr id="34" name="Text 32"/>
          <p:cNvSpPr/>
          <p:nvPr/>
        </p:nvSpPr>
        <p:spPr>
          <a:xfrm>
            <a:off x="758952" y="5294376"/>
            <a:ext cx="1847088" cy="292608"/>
          </a:xfrm>
          <a:prstGeom prst="rect">
            <a:avLst/>
          </a:prstGeom>
          <a:noFill/>
          <a:ln/>
        </p:spPr>
        <p:txBody>
          <a:bodyPr wrap="square" lIns="0" tIns="0" rIns="0" bIns="0" rtlCol="0" anchor="ctr">
            <a:spAutoFit/>
          </a:bodyPr>
          <a:lstStyle/>
          <a:p>
            <a:pPr indent="0" marL="0">
              <a:buNone/>
            </a:pPr>
            <a:r>
              <a:rPr lang="en-US" sz="1680" b="1" dirty="0">
                <a:solidFill>
                  <a:srgbClr val="142D4E"/>
                </a:solidFill>
                <a:latin typeface="Noto Sans CJK JP" pitchFamily="34" charset="0"/>
                <a:ea typeface="Noto Sans CJK JP" pitchFamily="34" charset="-122"/>
                <a:cs typeface="Noto Sans CJK JP" pitchFamily="34" charset="-120"/>
              </a:rPr>
              <a:t>停止→処理継続</a:t>
            </a:r>
            <a:endParaRPr lang="en-US" sz="1680" dirty="0"/>
          </a:p>
        </p:txBody>
      </p:sp>
      <p:sp>
        <p:nvSpPr>
          <p:cNvPr id="35" name="Text 33"/>
          <p:cNvSpPr/>
          <p:nvPr/>
        </p:nvSpPr>
        <p:spPr>
          <a:xfrm>
            <a:off x="2761488" y="5285232"/>
            <a:ext cx="5669280" cy="384048"/>
          </a:xfrm>
          <a:prstGeom prst="rect">
            <a:avLst/>
          </a:prstGeom>
          <a:noFill/>
          <a:ln/>
        </p:spPr>
        <p:txBody>
          <a:bodyPr wrap="square" lIns="0" tIns="0" rIns="0" bIns="0" rtlCol="0" anchor="ctr">
            <a:spAutoFit/>
          </a:bodyPr>
          <a:lstStyle/>
          <a:p>
            <a:pPr indent="0" marL="0">
              <a:buNone/>
            </a:pPr>
            <a:r>
              <a:rPr lang="en-US" sz="1490" dirty="0">
                <a:solidFill>
                  <a:srgbClr val="253448"/>
                </a:solidFill>
                <a:latin typeface="Noto Sans CJK JP" pitchFamily="34" charset="0"/>
                <a:ea typeface="Noto Sans CJK JP" pitchFamily="34" charset="-122"/>
                <a:cs typeface="Noto Sans CJK JP" pitchFamily="34" charset="-120"/>
              </a:rPr>
              <a:t>再試行が増幅 → 予算枯渇 → 新規停止 → 子処理は継続</a:t>
            </a:r>
            <a:endParaRPr lang="en-US" sz="1490" dirty="0"/>
          </a:p>
        </p:txBody>
      </p:sp>
      <p:sp>
        <p:nvSpPr>
          <p:cNvPr id="36" name="Text 34"/>
          <p:cNvSpPr/>
          <p:nvPr/>
        </p:nvSpPr>
        <p:spPr>
          <a:xfrm>
            <a:off x="8732520" y="5230368"/>
            <a:ext cx="4974336" cy="246888"/>
          </a:xfrm>
          <a:prstGeom prst="rect">
            <a:avLst/>
          </a:prstGeom>
          <a:noFill/>
          <a:ln/>
        </p:spPr>
        <p:txBody>
          <a:bodyPr wrap="square" lIns="0" tIns="0" rIns="0" bIns="0" rtlCol="0" anchor="ctr">
            <a:spAutoFit/>
          </a:bodyPr>
          <a:lstStyle/>
          <a:p>
            <a:pPr indent="0" marL="0">
              <a:buNone/>
            </a:pPr>
            <a:r>
              <a:rPr lang="en-US" sz="1450" dirty="0">
                <a:solidFill>
                  <a:srgbClr val="253448"/>
                </a:solidFill>
                <a:latin typeface="Noto Sans CJK JP" pitchFamily="34" charset="0"/>
                <a:ea typeface="Noto Sans CJK JP" pitchFamily="34" charset="-122"/>
                <a:cs typeface="Noto Sans CJK JP" pitchFamily="34" charset="-120"/>
              </a:rPr>
              <a:t>予算の事前確保・重複抑止・稼働処理の停止</a:t>
            </a:r>
            <a:endParaRPr lang="en-US" sz="1450" dirty="0"/>
          </a:p>
        </p:txBody>
      </p:sp>
      <p:sp>
        <p:nvSpPr>
          <p:cNvPr id="37" name="Text 35"/>
          <p:cNvSpPr/>
          <p:nvPr/>
        </p:nvSpPr>
        <p:spPr>
          <a:xfrm>
            <a:off x="8732520" y="5522976"/>
            <a:ext cx="4974336" cy="192024"/>
          </a:xfrm>
          <a:prstGeom prst="rect">
            <a:avLst/>
          </a:prstGeom>
          <a:noFill/>
          <a:ln/>
        </p:spPr>
        <p:txBody>
          <a:bodyPr wrap="square" lIns="0" tIns="0" rIns="0" bIns="0" rtlCol="0" anchor="ctr">
            <a:spAutoFit/>
          </a:bodyPr>
          <a:lstStyle/>
          <a:p>
            <a:pPr indent="0" marL="0">
              <a:buNone/>
            </a:pPr>
            <a:r>
              <a:rPr lang="en-US" sz="1120" dirty="0">
                <a:solidFill>
                  <a:srgbClr val="65748A"/>
                </a:solidFill>
                <a:latin typeface="Noto Sans CJK JP" pitchFamily="34" charset="0"/>
                <a:ea typeface="Noto Sans CJK JP" pitchFamily="34" charset="-122"/>
                <a:cs typeface="Noto Sans CJK JP" pitchFamily="34" charset="-120"/>
              </a:rPr>
              <a:t>R28・R29・R32</a:t>
            </a:r>
            <a:endParaRPr lang="en-US" sz="1120" dirty="0"/>
          </a:p>
        </p:txBody>
      </p:sp>
      <p:sp>
        <p:nvSpPr>
          <p:cNvPr id="38" name="Shape 36"/>
          <p:cNvSpPr/>
          <p:nvPr/>
        </p:nvSpPr>
        <p:spPr>
          <a:xfrm>
            <a:off x="594360" y="6016752"/>
            <a:ext cx="6601968" cy="1298448"/>
          </a:xfrm>
          <a:prstGeom prst="roundRect">
            <a:avLst>
              <a:gd name="adj" fmla="val 5634"/>
            </a:avLst>
          </a:prstGeom>
          <a:solidFill>
            <a:srgbClr val="ECF6F4"/>
          </a:solidFill>
          <a:ln w="10160">
            <a:solidFill>
              <a:srgbClr val="ECF6F4"/>
            </a:solidFill>
            <a:prstDash val="solid"/>
          </a:ln>
        </p:spPr>
      </p:sp>
      <p:sp>
        <p:nvSpPr>
          <p:cNvPr id="39" name="Shape 37"/>
          <p:cNvSpPr/>
          <p:nvPr/>
        </p:nvSpPr>
        <p:spPr>
          <a:xfrm>
            <a:off x="7406640" y="6016752"/>
            <a:ext cx="6629400" cy="1298448"/>
          </a:xfrm>
          <a:prstGeom prst="roundRect">
            <a:avLst>
              <a:gd name="adj" fmla="val 5634"/>
            </a:avLst>
          </a:prstGeom>
          <a:solidFill>
            <a:srgbClr val="FAF3E7"/>
          </a:solidFill>
          <a:ln w="10160">
            <a:solidFill>
              <a:srgbClr val="FAF3E7"/>
            </a:solidFill>
            <a:prstDash val="solid"/>
          </a:ln>
        </p:spPr>
      </p:sp>
      <p:sp>
        <p:nvSpPr>
          <p:cNvPr id="40" name="Text 38"/>
          <p:cNvSpPr/>
          <p:nvPr/>
        </p:nvSpPr>
        <p:spPr>
          <a:xfrm>
            <a:off x="832104" y="6199632"/>
            <a:ext cx="6035040" cy="283464"/>
          </a:xfrm>
          <a:prstGeom prst="rect">
            <a:avLst/>
          </a:prstGeom>
          <a:noFill/>
          <a:ln/>
        </p:spPr>
        <p:txBody>
          <a:bodyPr wrap="square" lIns="0" tIns="0" rIns="0" bIns="0" rtlCol="0" anchor="ctr">
            <a:spAutoFit/>
          </a:bodyPr>
          <a:lstStyle/>
          <a:p>
            <a:pPr indent="0" marL="0">
              <a:buNone/>
            </a:pPr>
            <a:r>
              <a:rPr lang="en-US" sz="1720" b="1" dirty="0">
                <a:solidFill>
                  <a:srgbClr val="247970"/>
                </a:solidFill>
                <a:latin typeface="Noto Sans CJK JP" pitchFamily="34" charset="0"/>
                <a:ea typeface="Noto Sans CJK JP" pitchFamily="34" charset="-122"/>
                <a:cs typeface="Noto Sans CJK JP" pitchFamily="34" charset="-120"/>
              </a:rPr>
              <a:t>資料上で確認したこと</a:t>
            </a:r>
            <a:endParaRPr lang="en-US" sz="1720" dirty="0"/>
          </a:p>
        </p:txBody>
      </p:sp>
      <p:sp>
        <p:nvSpPr>
          <p:cNvPr id="41" name="Text 39"/>
          <p:cNvSpPr/>
          <p:nvPr/>
        </p:nvSpPr>
        <p:spPr>
          <a:xfrm>
            <a:off x="832104" y="6638544"/>
            <a:ext cx="6035040" cy="557784"/>
          </a:xfrm>
          <a:prstGeom prst="rect">
            <a:avLst/>
          </a:prstGeom>
          <a:noFill/>
          <a:ln/>
        </p:spPr>
        <p:txBody>
          <a:bodyPr wrap="square" lIns="0" tIns="0" rIns="0" bIns="0" rtlCol="0" anchor="ctr">
            <a:spAutoFit/>
          </a:bodyPr>
          <a:lstStyle/>
          <a:p>
            <a:pPr indent="0" marL="0">
              <a:buNone/>
            </a:pPr>
            <a:r>
              <a:rPr lang="en-US" sz="1500" dirty="0">
                <a:solidFill>
                  <a:srgbClr val="253448"/>
                </a:solidFill>
                <a:latin typeface="Noto Sans CJK JP" pitchFamily="34" charset="0"/>
                <a:ea typeface="Noto Sans CJK JP" pitchFamily="34" charset="-122"/>
                <a:cs typeface="Noto Sans CJK JP" pitchFamily="34" charset="-120"/>
              </a:rPr>
              <a:t>36シナリオを両時点で記載／旧61件を対応づけ</a:t>
            </a:r>
            <a:endParaRPr lang="en-US" sz="1500" dirty="0"/>
          </a:p>
          <a:p>
            <a:pPr indent="0" marL="0">
              <a:buNone/>
            </a:pPr>
            <a:r>
              <a:rPr lang="en-US" sz="1500" dirty="0">
                <a:solidFill>
                  <a:srgbClr val="253448"/>
                </a:solidFill>
                <a:latin typeface="Noto Sans CJK JP" pitchFamily="34" charset="0"/>
                <a:ea typeface="Noto Sans CJK JP" pitchFamily="34" charset="-122"/>
                <a:cs typeface="Noto Sans CJK JP" pitchFamily="34" charset="-120"/>
              </a:rPr>
              <a:t>場所・三層対策・確認事項・参照先を保持</a:t>
            </a:r>
            <a:endParaRPr lang="en-US" sz="1500" dirty="0"/>
          </a:p>
        </p:txBody>
      </p:sp>
      <p:sp>
        <p:nvSpPr>
          <p:cNvPr id="42" name="Text 40"/>
          <p:cNvSpPr/>
          <p:nvPr/>
        </p:nvSpPr>
        <p:spPr>
          <a:xfrm>
            <a:off x="7635240" y="6199632"/>
            <a:ext cx="6099048" cy="283464"/>
          </a:xfrm>
          <a:prstGeom prst="rect">
            <a:avLst/>
          </a:prstGeom>
          <a:noFill/>
          <a:ln/>
        </p:spPr>
        <p:txBody>
          <a:bodyPr wrap="square" lIns="0" tIns="0" rIns="0" bIns="0" rtlCol="0" anchor="ctr">
            <a:spAutoFit/>
          </a:bodyPr>
          <a:lstStyle/>
          <a:p>
            <a:pPr indent="0" marL="0">
              <a:buNone/>
            </a:pPr>
            <a:r>
              <a:rPr lang="en-US" sz="1720" b="1" dirty="0">
                <a:solidFill>
                  <a:srgbClr val="A76B21"/>
                </a:solidFill>
                <a:latin typeface="Noto Sans CJK JP" pitchFamily="34" charset="0"/>
                <a:ea typeface="Noto Sans CJK JP" pitchFamily="34" charset="-122"/>
                <a:cs typeface="Noto Sans CJK JP" pitchFamily="34" charset="-120"/>
              </a:rPr>
              <a:t>実環境で残る確認</a:t>
            </a:r>
            <a:endParaRPr lang="en-US" sz="1720" dirty="0"/>
          </a:p>
        </p:txBody>
      </p:sp>
      <p:sp>
        <p:nvSpPr>
          <p:cNvPr id="43" name="Text 41"/>
          <p:cNvSpPr/>
          <p:nvPr/>
        </p:nvSpPr>
        <p:spPr>
          <a:xfrm>
            <a:off x="7635240" y="6638544"/>
            <a:ext cx="6099048" cy="557784"/>
          </a:xfrm>
          <a:prstGeom prst="rect">
            <a:avLst/>
          </a:prstGeom>
          <a:noFill/>
          <a:ln/>
        </p:spPr>
        <p:txBody>
          <a:bodyPr wrap="square" lIns="0" tIns="0" rIns="0" bIns="0" rtlCol="0" anchor="ctr">
            <a:spAutoFit/>
          </a:bodyPr>
          <a:lstStyle/>
          <a:p>
            <a:pPr indent="0" marL="0">
              <a:buNone/>
            </a:pPr>
            <a:r>
              <a:rPr lang="en-US" sz="1500" dirty="0">
                <a:solidFill>
                  <a:srgbClr val="253448"/>
                </a:solidFill>
                <a:latin typeface="Noto Sans CJK JP" pitchFamily="34" charset="0"/>
                <a:ea typeface="Noto Sans CJK JP" pitchFamily="34" charset="-122"/>
                <a:cs typeface="Noto Sans CJK JP" pitchFamily="34" charset="-120"/>
              </a:rPr>
              <a:t>FISC本文・内部規程／採用製品・設定・契約</a:t>
            </a:r>
            <a:endParaRPr lang="en-US" sz="1500" dirty="0"/>
          </a:p>
          <a:p>
            <a:pPr indent="0" marL="0">
              <a:buNone/>
            </a:pPr>
            <a:r>
              <a:rPr lang="en-US" sz="1500" dirty="0">
                <a:solidFill>
                  <a:srgbClr val="253448"/>
                </a:solidFill>
                <a:latin typeface="Noto Sans CJK JP" pitchFamily="34" charset="0"/>
                <a:ea typeface="Noto Sans CJK JP" pitchFamily="34" charset="-122"/>
                <a:cs typeface="Noto Sans CJK JP" pitchFamily="34" charset="-120"/>
              </a:rPr>
              <a:t>拒否・負荷・停止・復旧・品質の実機試験</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根拠資料・適用判断</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金融機関の判断基準と、本資料での確認範囲</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公開資料から論点を具体化しています。FISC基準本文・銀行内部規程・実契約との適用照合は別途必要です。</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29 / 30</a:t>
            </a:r>
            <a:endParaRPr lang="en-US" sz="1150" dirty="0"/>
          </a:p>
        </p:txBody>
      </p:sp>
      <p:sp>
        <p:nvSpPr>
          <p:cNvPr id="10" name="Text 8"/>
          <p:cNvSpPr/>
          <p:nvPr/>
        </p:nvSpPr>
        <p:spPr>
          <a:xfrm>
            <a:off x="777240" y="2048256"/>
            <a:ext cx="5669280" cy="283464"/>
          </a:xfrm>
          <a:prstGeom prst="rect">
            <a:avLst/>
          </a:prstGeom>
          <a:noFill/>
          <a:ln/>
        </p:spPr>
        <p:txBody>
          <a:bodyPr wrap="square" lIns="0" tIns="0" rIns="0" bIns="0" rtlCol="0" anchor="ctr">
            <a:spAutoFit/>
          </a:bodyPr>
          <a:lstStyle/>
          <a:p>
            <a:pPr indent="0" marL="0">
              <a:buNone/>
            </a:pPr>
            <a:r>
              <a:rPr lang="en-US" sz="1500" b="1" dirty="0">
                <a:solidFill>
                  <a:srgbClr val="142D4E"/>
                </a:solidFill>
                <a:latin typeface="Noto Sans CJK JP" pitchFamily="34" charset="0"/>
                <a:ea typeface="Noto Sans CJK JP" pitchFamily="34" charset="-122"/>
                <a:cs typeface="Noto Sans CJK JP" pitchFamily="34" charset="-120"/>
              </a:rPr>
              <a:t>基準・資料</a:t>
            </a:r>
            <a:endParaRPr lang="en-US" sz="1500" dirty="0"/>
          </a:p>
        </p:txBody>
      </p:sp>
      <p:sp>
        <p:nvSpPr>
          <p:cNvPr id="11" name="Text 9"/>
          <p:cNvSpPr/>
          <p:nvPr/>
        </p:nvSpPr>
        <p:spPr>
          <a:xfrm>
            <a:off x="6592824" y="2048256"/>
            <a:ext cx="2103120" cy="283464"/>
          </a:xfrm>
          <a:prstGeom prst="rect">
            <a:avLst/>
          </a:prstGeom>
          <a:noFill/>
          <a:ln/>
        </p:spPr>
        <p:txBody>
          <a:bodyPr wrap="square" lIns="0" tIns="0" rIns="0" bIns="0" rtlCol="0" anchor="ctr">
            <a:spAutoFit/>
          </a:bodyPr>
          <a:lstStyle/>
          <a:p>
            <a:pPr indent="0" marL="0">
              <a:buNone/>
            </a:pPr>
            <a:r>
              <a:rPr lang="en-US" sz="1500" b="1" dirty="0">
                <a:solidFill>
                  <a:srgbClr val="142D4E"/>
                </a:solidFill>
                <a:latin typeface="Noto Sans CJK JP" pitchFamily="34" charset="0"/>
                <a:ea typeface="Noto Sans CJK JP" pitchFamily="34" charset="-122"/>
                <a:cs typeface="Noto Sans CJK JP" pitchFamily="34" charset="-120"/>
              </a:rPr>
              <a:t>確認状況</a:t>
            </a:r>
            <a:endParaRPr lang="en-US" sz="1500" dirty="0"/>
          </a:p>
        </p:txBody>
      </p:sp>
      <p:sp>
        <p:nvSpPr>
          <p:cNvPr id="12" name="Text 10"/>
          <p:cNvSpPr/>
          <p:nvPr/>
        </p:nvSpPr>
        <p:spPr>
          <a:xfrm>
            <a:off x="9098280" y="2048256"/>
            <a:ext cx="4754880" cy="283464"/>
          </a:xfrm>
          <a:prstGeom prst="rect">
            <a:avLst/>
          </a:prstGeom>
          <a:noFill/>
          <a:ln/>
        </p:spPr>
        <p:txBody>
          <a:bodyPr wrap="square" lIns="0" tIns="0" rIns="0" bIns="0" rtlCol="0" anchor="ctr">
            <a:spAutoFit/>
          </a:bodyPr>
          <a:lstStyle/>
          <a:p>
            <a:pPr indent="0" marL="0">
              <a:buNone/>
            </a:pPr>
            <a:r>
              <a:rPr lang="en-US" sz="1500" b="1" dirty="0">
                <a:solidFill>
                  <a:srgbClr val="142D4E"/>
                </a:solidFill>
                <a:latin typeface="Noto Sans CJK JP" pitchFamily="34" charset="0"/>
                <a:ea typeface="Noto Sans CJK JP" pitchFamily="34" charset="-122"/>
                <a:cs typeface="Noto Sans CJK JP" pitchFamily="34" charset="-120"/>
              </a:rPr>
              <a:t>本資料での使い方／残る判断</a:t>
            </a:r>
            <a:endParaRPr lang="en-US" sz="1500" dirty="0"/>
          </a:p>
        </p:txBody>
      </p:sp>
      <p:sp>
        <p:nvSpPr>
          <p:cNvPr id="13" name="Shape 11"/>
          <p:cNvSpPr/>
          <p:nvPr/>
        </p:nvSpPr>
        <p:spPr>
          <a:xfrm>
            <a:off x="594360" y="2578608"/>
            <a:ext cx="13441680" cy="694944"/>
          </a:xfrm>
          <a:prstGeom prst="rect">
            <a:avLst>
              <a:gd name="adj" fmla="val 10526"/>
            </a:avLst>
          </a:prstGeom>
          <a:solidFill>
            <a:srgbClr val="F3F6FA"/>
          </a:solidFill>
          <a:ln w="10160">
            <a:solidFill>
              <a:srgbClr val="D6DFE9"/>
            </a:solidFill>
            <a:prstDash val="solid"/>
          </a:ln>
        </p:spPr>
      </p:sp>
      <p:sp>
        <p:nvSpPr>
          <p:cNvPr id="14" name="Shape 12"/>
          <p:cNvSpPr/>
          <p:nvPr/>
        </p:nvSpPr>
        <p:spPr>
          <a:xfrm>
            <a:off x="740664" y="2761488"/>
            <a:ext cx="612648" cy="265176"/>
          </a:xfrm>
          <a:prstGeom prst="roundRect">
            <a:avLst>
              <a:gd name="adj" fmla="val 27586"/>
            </a:avLst>
          </a:prstGeom>
          <a:solidFill>
            <a:srgbClr val="EDF3FA"/>
          </a:solidFill>
          <a:ln w="10160">
            <a:solidFill>
              <a:srgbClr val="EDF3FA"/>
            </a:solidFill>
            <a:prstDash val="solid"/>
          </a:ln>
        </p:spPr>
      </p:sp>
      <p:sp>
        <p:nvSpPr>
          <p:cNvPr id="15" name="Text 13"/>
          <p:cNvSpPr/>
          <p:nvPr/>
        </p:nvSpPr>
        <p:spPr>
          <a:xfrm>
            <a:off x="804672" y="2779776"/>
            <a:ext cx="484632" cy="219456"/>
          </a:xfrm>
          <a:prstGeom prst="rect">
            <a:avLst/>
          </a:prstGeom>
          <a:noFill/>
          <a:ln/>
        </p:spPr>
        <p:txBody>
          <a:bodyPr wrap="square" lIns="0" tIns="0" rIns="0" bIns="0" rtlCol="0" anchor="ctr">
            <a:spAutoFit/>
          </a:bodyPr>
          <a:lstStyle/>
          <a:p>
            <a:pPr algn="ctr" indent="0" marL="0">
              <a:buNone/>
            </a:pPr>
            <a:r>
              <a:rPr lang="en-US" sz="1090" b="1" dirty="0">
                <a:solidFill>
                  <a:srgbClr val="376895"/>
                </a:solidFill>
                <a:latin typeface="Noto Sans CJK JP" pitchFamily="34" charset="0"/>
                <a:ea typeface="Noto Sans CJK JP" pitchFamily="34" charset="-122"/>
                <a:cs typeface="Noto Sans CJK JP" pitchFamily="34" charset="-120"/>
              </a:rPr>
              <a:t>F1</a:t>
            </a:r>
            <a:endParaRPr lang="en-US" sz="1090" dirty="0"/>
          </a:p>
        </p:txBody>
      </p:sp>
      <p:sp>
        <p:nvSpPr>
          <p:cNvPr id="16" name="Text 14">
            <a:hlinkClick r:id="rId1" tooltip=""/>
          </p:cNvPr>
          <p:cNvSpPr/>
          <p:nvPr/>
        </p:nvSpPr>
        <p:spPr>
          <a:xfrm>
            <a:off x="1517904" y="2734056"/>
            <a:ext cx="4791456" cy="411480"/>
          </a:xfrm>
          <a:prstGeom prst="rect">
            <a:avLst/>
          </a:prstGeom>
          <a:noFill/>
          <a:ln/>
        </p:spPr>
        <p:txBody>
          <a:bodyPr wrap="square" lIns="0" tIns="0" rIns="0" bIns="0" rtlCol="0" anchor="ctr">
            <a:spAutoFit/>
          </a:bodyPr>
          <a:lstStyle/>
          <a:p>
            <a:pPr indent="0" marL="0">
              <a:buNone/>
            </a:pPr>
            <a:r>
              <a:rPr lang="en-US" sz="1600" b="1" u="sng" dirty="0">
                <a:solidFill>
                  <a:srgbClr val="142D4E"/>
                </a:solidFill>
                <a:latin typeface="Noto Sans CJK JP" pitchFamily="34" charset="0"/>
                <a:ea typeface="Noto Sans CJK JP" pitchFamily="34" charset="-122"/>
                <a:cs typeface="Noto Sans CJK JP" pitchFamily="34" charset="-120"/>
                <a:hlinkClick r:id="rId1" invalidUrl="" action="" tgtFrame="" tooltip="" history="1" highlightClick="0" endSnd="0">
                  <a:extLst>
                    <a:ext uri="{A12FA001-AC4F-418D-AE19-62706E023703}">
                      <ahyp:hlinkClr xmlns:ahyp="http://schemas.microsoft.com/office/drawing/2018/hyperlinkcolor" val="tx"/>
                    </a:ext>
                  </a:extLst>
                </a:hlinkClick>
              </a:rPr>
              <a:t>FISC 安全対策基準・解説書 第14版</a:t>
            </a:r>
            <a:endParaRPr lang="en-US" sz="1600" dirty="0"/>
          </a:p>
        </p:txBody>
      </p:sp>
      <p:sp>
        <p:nvSpPr>
          <p:cNvPr id="17" name="Text 15"/>
          <p:cNvSpPr/>
          <p:nvPr/>
        </p:nvSpPr>
        <p:spPr>
          <a:xfrm>
            <a:off x="6583680" y="2779776"/>
            <a:ext cx="2286000" cy="365760"/>
          </a:xfrm>
          <a:prstGeom prst="rect">
            <a:avLst/>
          </a:prstGeom>
          <a:noFill/>
          <a:ln/>
        </p:spPr>
        <p:txBody>
          <a:bodyPr wrap="square" lIns="0" tIns="0" rIns="0" bIns="0" rtlCol="0" anchor="ctr">
            <a:spAutoFit/>
          </a:bodyPr>
          <a:lstStyle/>
          <a:p>
            <a:pPr indent="0" marL="0">
              <a:buNone/>
            </a:pPr>
            <a:r>
              <a:rPr lang="en-US" sz="1480" b="1" dirty="0">
                <a:solidFill>
                  <a:srgbClr val="A76B21"/>
                </a:solidFill>
                <a:latin typeface="Noto Sans CJK JP" pitchFamily="34" charset="0"/>
                <a:ea typeface="Noto Sans CJK JP" pitchFamily="34" charset="-122"/>
                <a:cs typeface="Noto Sans CJK JP" pitchFamily="34" charset="-120"/>
              </a:rPr>
              <a:t>公表・改訂情報を確認</a:t>
            </a:r>
            <a:endParaRPr lang="en-US" sz="1480" dirty="0"/>
          </a:p>
        </p:txBody>
      </p:sp>
      <p:sp>
        <p:nvSpPr>
          <p:cNvPr id="18" name="Text 16"/>
          <p:cNvSpPr/>
          <p:nvPr/>
        </p:nvSpPr>
        <p:spPr>
          <a:xfrm>
            <a:off x="9098280" y="2706624"/>
            <a:ext cx="4663440" cy="484632"/>
          </a:xfrm>
          <a:prstGeom prst="rect">
            <a:avLst/>
          </a:prstGeom>
          <a:noFill/>
          <a:ln/>
        </p:spPr>
        <p:txBody>
          <a:bodyPr wrap="square" lIns="0" tIns="0" rIns="0" bIns="0" rtlCol="0" anchor="ctr">
            <a:spAutoFit/>
          </a:bodyPr>
          <a:lstStyle/>
          <a:p>
            <a:pPr indent="0" marL="0">
              <a:buNone/>
            </a:pPr>
            <a:r>
              <a:rPr lang="en-US" sz="1350" dirty="0">
                <a:solidFill>
                  <a:srgbClr val="253448"/>
                </a:solidFill>
                <a:latin typeface="Noto Sans CJK JP" pitchFamily="34" charset="0"/>
                <a:ea typeface="Noto Sans CJK JP" pitchFamily="34" charset="-122"/>
                <a:cs typeface="Noto Sans CJK JP" pitchFamily="34" charset="-120"/>
              </a:rPr>
              <a:t>本文の逐条照合は未実施。銀行側で適用項目・証拠・不足を確定。</a:t>
            </a:r>
            <a:endParaRPr lang="en-US" sz="1350" dirty="0"/>
          </a:p>
        </p:txBody>
      </p:sp>
      <p:sp>
        <p:nvSpPr>
          <p:cNvPr id="19" name="Shape 17"/>
          <p:cNvSpPr/>
          <p:nvPr/>
        </p:nvSpPr>
        <p:spPr>
          <a:xfrm>
            <a:off x="594360" y="3273552"/>
            <a:ext cx="13441680" cy="694944"/>
          </a:xfrm>
          <a:prstGeom prst="rect">
            <a:avLst>
              <a:gd name="adj" fmla="val 10526"/>
            </a:avLst>
          </a:prstGeom>
          <a:solidFill>
            <a:srgbClr val="FFFFFF"/>
          </a:solidFill>
          <a:ln w="10160">
            <a:solidFill>
              <a:srgbClr val="D6DFE9"/>
            </a:solidFill>
            <a:prstDash val="solid"/>
          </a:ln>
        </p:spPr>
      </p:sp>
      <p:sp>
        <p:nvSpPr>
          <p:cNvPr id="20" name="Shape 18"/>
          <p:cNvSpPr/>
          <p:nvPr/>
        </p:nvSpPr>
        <p:spPr>
          <a:xfrm>
            <a:off x="740664" y="3456432"/>
            <a:ext cx="612648" cy="265176"/>
          </a:xfrm>
          <a:prstGeom prst="roundRect">
            <a:avLst>
              <a:gd name="adj" fmla="val 27586"/>
            </a:avLst>
          </a:prstGeom>
          <a:solidFill>
            <a:srgbClr val="EDF3FA"/>
          </a:solidFill>
          <a:ln w="10160">
            <a:solidFill>
              <a:srgbClr val="EDF3FA"/>
            </a:solidFill>
            <a:prstDash val="solid"/>
          </a:ln>
        </p:spPr>
      </p:sp>
      <p:sp>
        <p:nvSpPr>
          <p:cNvPr id="21" name="Text 19"/>
          <p:cNvSpPr/>
          <p:nvPr/>
        </p:nvSpPr>
        <p:spPr>
          <a:xfrm>
            <a:off x="804672" y="3474720"/>
            <a:ext cx="484632" cy="219456"/>
          </a:xfrm>
          <a:prstGeom prst="rect">
            <a:avLst/>
          </a:prstGeom>
          <a:noFill/>
          <a:ln/>
        </p:spPr>
        <p:txBody>
          <a:bodyPr wrap="square" lIns="0" tIns="0" rIns="0" bIns="0" rtlCol="0" anchor="ctr">
            <a:spAutoFit/>
          </a:bodyPr>
          <a:lstStyle/>
          <a:p>
            <a:pPr algn="ctr" indent="0" marL="0">
              <a:buNone/>
            </a:pPr>
            <a:r>
              <a:rPr lang="en-US" sz="1090" b="1" dirty="0">
                <a:solidFill>
                  <a:srgbClr val="376895"/>
                </a:solidFill>
                <a:latin typeface="Noto Sans CJK JP" pitchFamily="34" charset="0"/>
                <a:ea typeface="Noto Sans CJK JP" pitchFamily="34" charset="-122"/>
                <a:cs typeface="Noto Sans CJK JP" pitchFamily="34" charset="-120"/>
              </a:rPr>
              <a:t>F2</a:t>
            </a:r>
            <a:endParaRPr lang="en-US" sz="1090" dirty="0"/>
          </a:p>
        </p:txBody>
      </p:sp>
      <p:sp>
        <p:nvSpPr>
          <p:cNvPr id="22" name="Text 20">
            <a:hlinkClick r:id="rId2" tooltip=""/>
          </p:cNvPr>
          <p:cNvSpPr/>
          <p:nvPr/>
        </p:nvSpPr>
        <p:spPr>
          <a:xfrm>
            <a:off x="1517904" y="3429000"/>
            <a:ext cx="4791456" cy="411480"/>
          </a:xfrm>
          <a:prstGeom prst="rect">
            <a:avLst/>
          </a:prstGeom>
          <a:noFill/>
          <a:ln/>
        </p:spPr>
        <p:txBody>
          <a:bodyPr wrap="square" lIns="0" tIns="0" rIns="0" bIns="0" rtlCol="0" anchor="ctr">
            <a:spAutoFit/>
          </a:bodyPr>
          <a:lstStyle/>
          <a:p>
            <a:pPr indent="0" marL="0">
              <a:buNone/>
            </a:pPr>
            <a:r>
              <a:rPr lang="en-US" sz="1600" b="1" u="sng" dirty="0">
                <a:solidFill>
                  <a:srgbClr val="142D4E"/>
                </a:solidFill>
                <a:latin typeface="Noto Sans CJK JP" pitchFamily="34" charset="0"/>
                <a:ea typeface="Noto Sans CJK JP" pitchFamily="34" charset="-122"/>
                <a:cs typeface="Noto Sans CJK JP" pitchFamily="34" charset="-120"/>
                <a:hlinkClick r:id="rId2" invalidUrl="" action="" tgtFrame="" tooltip="" history="1" highlightClick="0" endSnd="0">
                  <a:extLst>
                    <a:ext uri="{A12FA001-AC4F-418D-AE19-62706E023703}">
                      <ahyp:hlinkClr xmlns:ahyp="http://schemas.microsoft.com/office/drawing/2018/hyperlinkcolor" val="tx"/>
                    </a:ext>
                  </a:extLst>
                </a:hlinkClick>
              </a:rPr>
              <a:t>FISC AI安全対策の観点からの考察</a:t>
            </a:r>
            <a:endParaRPr lang="en-US" sz="1600" dirty="0"/>
          </a:p>
        </p:txBody>
      </p:sp>
      <p:sp>
        <p:nvSpPr>
          <p:cNvPr id="23" name="Text 21"/>
          <p:cNvSpPr/>
          <p:nvPr/>
        </p:nvSpPr>
        <p:spPr>
          <a:xfrm>
            <a:off x="6583680" y="3474720"/>
            <a:ext cx="2286000" cy="365760"/>
          </a:xfrm>
          <a:prstGeom prst="rect">
            <a:avLst/>
          </a:prstGeom>
          <a:noFill/>
          <a:ln/>
        </p:spPr>
        <p:txBody>
          <a:bodyPr wrap="square" lIns="0" tIns="0" rIns="0" bIns="0" rtlCol="0" anchor="ctr">
            <a:spAutoFit/>
          </a:bodyPr>
          <a:lstStyle/>
          <a:p>
            <a:pPr indent="0" marL="0">
              <a:buNone/>
            </a:pPr>
            <a:r>
              <a:rPr lang="en-US" sz="1480" b="1" dirty="0">
                <a:solidFill>
                  <a:srgbClr val="247970"/>
                </a:solidFill>
                <a:latin typeface="Noto Sans CJK JP" pitchFamily="34" charset="0"/>
                <a:ea typeface="Noto Sans CJK JP" pitchFamily="34" charset="-122"/>
                <a:cs typeface="Noto Sans CJK JP" pitchFamily="34" charset="-120"/>
              </a:rPr>
              <a:t>公開本文を参照</a:t>
            </a:r>
            <a:endParaRPr lang="en-US" sz="1480" dirty="0"/>
          </a:p>
        </p:txBody>
      </p:sp>
      <p:sp>
        <p:nvSpPr>
          <p:cNvPr id="24" name="Text 22"/>
          <p:cNvSpPr/>
          <p:nvPr/>
        </p:nvSpPr>
        <p:spPr>
          <a:xfrm>
            <a:off x="9098280" y="3401568"/>
            <a:ext cx="4663440" cy="484632"/>
          </a:xfrm>
          <a:prstGeom prst="rect">
            <a:avLst/>
          </a:prstGeom>
          <a:noFill/>
          <a:ln/>
        </p:spPr>
        <p:txBody>
          <a:bodyPr wrap="square" lIns="0" tIns="0" rIns="0" bIns="0" rtlCol="0" anchor="ctr">
            <a:spAutoFit/>
          </a:bodyPr>
          <a:lstStyle/>
          <a:p>
            <a:pPr indent="0" marL="0">
              <a:buNone/>
            </a:pPr>
            <a:r>
              <a:rPr lang="en-US" sz="1350" dirty="0">
                <a:solidFill>
                  <a:srgbClr val="253448"/>
                </a:solidFill>
                <a:latin typeface="Noto Sans CJK JP" pitchFamily="34" charset="0"/>
                <a:ea typeface="Noto Sans CJK JP" pitchFamily="34" charset="-122"/>
                <a:cs typeface="Noto Sans CJK JP" pitchFamily="34" charset="-120"/>
              </a:rPr>
              <a:t>仕様・設定、情報保護、出力妥当性、態勢、利用管理・教育の観点。</a:t>
            </a:r>
            <a:endParaRPr lang="en-US" sz="1350" dirty="0"/>
          </a:p>
        </p:txBody>
      </p:sp>
      <p:sp>
        <p:nvSpPr>
          <p:cNvPr id="25" name="Shape 23"/>
          <p:cNvSpPr/>
          <p:nvPr/>
        </p:nvSpPr>
        <p:spPr>
          <a:xfrm>
            <a:off x="594360" y="3968496"/>
            <a:ext cx="13441680" cy="694944"/>
          </a:xfrm>
          <a:prstGeom prst="rect">
            <a:avLst>
              <a:gd name="adj" fmla="val 10526"/>
            </a:avLst>
          </a:prstGeom>
          <a:solidFill>
            <a:srgbClr val="F3F6FA"/>
          </a:solidFill>
          <a:ln w="10160">
            <a:solidFill>
              <a:srgbClr val="D6DFE9"/>
            </a:solidFill>
            <a:prstDash val="solid"/>
          </a:ln>
        </p:spPr>
      </p:sp>
      <p:sp>
        <p:nvSpPr>
          <p:cNvPr id="26" name="Shape 24"/>
          <p:cNvSpPr/>
          <p:nvPr/>
        </p:nvSpPr>
        <p:spPr>
          <a:xfrm>
            <a:off x="740664" y="4151376"/>
            <a:ext cx="612648" cy="265176"/>
          </a:xfrm>
          <a:prstGeom prst="roundRect">
            <a:avLst>
              <a:gd name="adj" fmla="val 27586"/>
            </a:avLst>
          </a:prstGeom>
          <a:solidFill>
            <a:srgbClr val="EDF3FA"/>
          </a:solidFill>
          <a:ln w="10160">
            <a:solidFill>
              <a:srgbClr val="EDF3FA"/>
            </a:solidFill>
            <a:prstDash val="solid"/>
          </a:ln>
        </p:spPr>
      </p:sp>
      <p:sp>
        <p:nvSpPr>
          <p:cNvPr id="27" name="Text 25"/>
          <p:cNvSpPr/>
          <p:nvPr/>
        </p:nvSpPr>
        <p:spPr>
          <a:xfrm>
            <a:off x="804672" y="4169664"/>
            <a:ext cx="484632" cy="219456"/>
          </a:xfrm>
          <a:prstGeom prst="rect">
            <a:avLst/>
          </a:prstGeom>
          <a:noFill/>
          <a:ln/>
        </p:spPr>
        <p:txBody>
          <a:bodyPr wrap="square" lIns="0" tIns="0" rIns="0" bIns="0" rtlCol="0" anchor="ctr">
            <a:spAutoFit/>
          </a:bodyPr>
          <a:lstStyle/>
          <a:p>
            <a:pPr algn="ctr" indent="0" marL="0">
              <a:buNone/>
            </a:pPr>
            <a:r>
              <a:rPr lang="en-US" sz="1090" b="1" dirty="0">
                <a:solidFill>
                  <a:srgbClr val="376895"/>
                </a:solidFill>
                <a:latin typeface="Noto Sans CJK JP" pitchFamily="34" charset="0"/>
                <a:ea typeface="Noto Sans CJK JP" pitchFamily="34" charset="-122"/>
                <a:cs typeface="Noto Sans CJK JP" pitchFamily="34" charset="-120"/>
              </a:rPr>
              <a:t>F3</a:t>
            </a:r>
            <a:endParaRPr lang="en-US" sz="1090" dirty="0"/>
          </a:p>
        </p:txBody>
      </p:sp>
      <p:sp>
        <p:nvSpPr>
          <p:cNvPr id="28" name="Text 26">
            <a:hlinkClick r:id="rId3" tooltip=""/>
          </p:cNvPr>
          <p:cNvSpPr/>
          <p:nvPr/>
        </p:nvSpPr>
        <p:spPr>
          <a:xfrm>
            <a:off x="1517904" y="4123944"/>
            <a:ext cx="4791456" cy="411480"/>
          </a:xfrm>
          <a:prstGeom prst="rect">
            <a:avLst/>
          </a:prstGeom>
          <a:noFill/>
          <a:ln/>
        </p:spPr>
        <p:txBody>
          <a:bodyPr wrap="square" lIns="0" tIns="0" rIns="0" bIns="0" rtlCol="0" anchor="ctr">
            <a:spAutoFit/>
          </a:bodyPr>
          <a:lstStyle/>
          <a:p>
            <a:pPr indent="0" marL="0">
              <a:buNone/>
            </a:pPr>
            <a:r>
              <a:rPr lang="en-US" sz="1600" b="1" u="sng" dirty="0">
                <a:solidFill>
                  <a:srgbClr val="142D4E"/>
                </a:solidFill>
                <a:latin typeface="Noto Sans CJK JP" pitchFamily="34" charset="0"/>
                <a:ea typeface="Noto Sans CJK JP" pitchFamily="34" charset="-122"/>
                <a:cs typeface="Noto Sans CJK JP" pitchFamily="34" charset="-120"/>
                <a:hlinkClick r:id="rId3" invalidUrl="" action="" tgtFrame="" tooltip="" history="1" highlightClick="0" endSnd="0">
                  <a:extLst>
                    <a:ext uri="{A12FA001-AC4F-418D-AE19-62706E023703}">
                      <ahyp:hlinkClr xmlns:ahyp="http://schemas.microsoft.com/office/drawing/2018/hyperlinkcolor" val="tx"/>
                    </a:ext>
                  </a:extLst>
                </a:hlinkClick>
              </a:rPr>
              <a:t>金融庁 サイバーセキュリティガイドライン</a:t>
            </a:r>
            <a:endParaRPr lang="en-US" sz="1600" dirty="0"/>
          </a:p>
        </p:txBody>
      </p:sp>
      <p:sp>
        <p:nvSpPr>
          <p:cNvPr id="29" name="Text 27"/>
          <p:cNvSpPr/>
          <p:nvPr/>
        </p:nvSpPr>
        <p:spPr>
          <a:xfrm>
            <a:off x="6583680" y="4169664"/>
            <a:ext cx="2286000" cy="365760"/>
          </a:xfrm>
          <a:prstGeom prst="rect">
            <a:avLst/>
          </a:prstGeom>
          <a:noFill/>
          <a:ln/>
        </p:spPr>
        <p:txBody>
          <a:bodyPr wrap="square" lIns="0" tIns="0" rIns="0" bIns="0" rtlCol="0" anchor="ctr">
            <a:spAutoFit/>
          </a:bodyPr>
          <a:lstStyle/>
          <a:p>
            <a:pPr indent="0" marL="0">
              <a:buNone/>
            </a:pPr>
            <a:r>
              <a:rPr lang="en-US" sz="1480" b="1" dirty="0">
                <a:solidFill>
                  <a:srgbClr val="247970"/>
                </a:solidFill>
                <a:latin typeface="Noto Sans CJK JP" pitchFamily="34" charset="0"/>
                <a:ea typeface="Noto Sans CJK JP" pitchFamily="34" charset="-122"/>
                <a:cs typeface="Noto Sans CJK JP" pitchFamily="34" charset="-120"/>
              </a:rPr>
              <a:t>公開本文を参照</a:t>
            </a:r>
            <a:endParaRPr lang="en-US" sz="1480" dirty="0"/>
          </a:p>
        </p:txBody>
      </p:sp>
      <p:sp>
        <p:nvSpPr>
          <p:cNvPr id="30" name="Text 28"/>
          <p:cNvSpPr/>
          <p:nvPr/>
        </p:nvSpPr>
        <p:spPr>
          <a:xfrm>
            <a:off x="9098280" y="4096512"/>
            <a:ext cx="4663440" cy="484632"/>
          </a:xfrm>
          <a:prstGeom prst="rect">
            <a:avLst/>
          </a:prstGeom>
          <a:noFill/>
          <a:ln/>
        </p:spPr>
        <p:txBody>
          <a:bodyPr wrap="square" lIns="0" tIns="0" rIns="0" bIns="0" rtlCol="0" anchor="ctr">
            <a:spAutoFit/>
          </a:bodyPr>
          <a:lstStyle/>
          <a:p>
            <a:pPr indent="0" marL="0">
              <a:buNone/>
            </a:pPr>
            <a:r>
              <a:rPr lang="en-US" sz="1350" dirty="0">
                <a:solidFill>
                  <a:srgbClr val="253448"/>
                </a:solidFill>
                <a:latin typeface="Noto Sans CJK JP" pitchFamily="34" charset="0"/>
                <a:ea typeface="Noto Sans CJK JP" pitchFamily="34" charset="-122"/>
                <a:cs typeface="Noto Sans CJK JP" pitchFamily="34" charset="-120"/>
              </a:rPr>
              <a:t>2.1態勢／2.2資産・境界／2.3防御／2.4検知／2.5復旧／2.6委託。</a:t>
            </a:r>
            <a:endParaRPr lang="en-US" sz="1350" dirty="0"/>
          </a:p>
        </p:txBody>
      </p:sp>
      <p:sp>
        <p:nvSpPr>
          <p:cNvPr id="31" name="Shape 29"/>
          <p:cNvSpPr/>
          <p:nvPr/>
        </p:nvSpPr>
        <p:spPr>
          <a:xfrm>
            <a:off x="594360" y="4663440"/>
            <a:ext cx="13441680" cy="694944"/>
          </a:xfrm>
          <a:prstGeom prst="rect">
            <a:avLst>
              <a:gd name="adj" fmla="val 10526"/>
            </a:avLst>
          </a:prstGeom>
          <a:solidFill>
            <a:srgbClr val="FFFFFF"/>
          </a:solidFill>
          <a:ln w="10160">
            <a:solidFill>
              <a:srgbClr val="D6DFE9"/>
            </a:solidFill>
            <a:prstDash val="solid"/>
          </a:ln>
        </p:spPr>
      </p:sp>
      <p:sp>
        <p:nvSpPr>
          <p:cNvPr id="32" name="Shape 30"/>
          <p:cNvSpPr/>
          <p:nvPr/>
        </p:nvSpPr>
        <p:spPr>
          <a:xfrm>
            <a:off x="740664" y="4846320"/>
            <a:ext cx="612648" cy="265176"/>
          </a:xfrm>
          <a:prstGeom prst="roundRect">
            <a:avLst>
              <a:gd name="adj" fmla="val 27586"/>
            </a:avLst>
          </a:prstGeom>
          <a:solidFill>
            <a:srgbClr val="EDF3FA"/>
          </a:solidFill>
          <a:ln w="10160">
            <a:solidFill>
              <a:srgbClr val="EDF3FA"/>
            </a:solidFill>
            <a:prstDash val="solid"/>
          </a:ln>
        </p:spPr>
      </p:sp>
      <p:sp>
        <p:nvSpPr>
          <p:cNvPr id="33" name="Text 31"/>
          <p:cNvSpPr/>
          <p:nvPr/>
        </p:nvSpPr>
        <p:spPr>
          <a:xfrm>
            <a:off x="804672" y="4864608"/>
            <a:ext cx="484632" cy="219456"/>
          </a:xfrm>
          <a:prstGeom prst="rect">
            <a:avLst/>
          </a:prstGeom>
          <a:noFill/>
          <a:ln/>
        </p:spPr>
        <p:txBody>
          <a:bodyPr wrap="square" lIns="0" tIns="0" rIns="0" bIns="0" rtlCol="0" anchor="ctr">
            <a:spAutoFit/>
          </a:bodyPr>
          <a:lstStyle/>
          <a:p>
            <a:pPr algn="ctr" indent="0" marL="0">
              <a:buNone/>
            </a:pPr>
            <a:r>
              <a:rPr lang="en-US" sz="1090" b="1" dirty="0">
                <a:solidFill>
                  <a:srgbClr val="376895"/>
                </a:solidFill>
                <a:latin typeface="Noto Sans CJK JP" pitchFamily="34" charset="0"/>
                <a:ea typeface="Noto Sans CJK JP" pitchFamily="34" charset="-122"/>
                <a:cs typeface="Noto Sans CJK JP" pitchFamily="34" charset="-120"/>
              </a:rPr>
              <a:t>F4</a:t>
            </a:r>
            <a:endParaRPr lang="en-US" sz="1090" dirty="0"/>
          </a:p>
        </p:txBody>
      </p:sp>
      <p:sp>
        <p:nvSpPr>
          <p:cNvPr id="34" name="Text 32">
            <a:hlinkClick r:id="rId4" tooltip=""/>
          </p:cNvPr>
          <p:cNvSpPr/>
          <p:nvPr/>
        </p:nvSpPr>
        <p:spPr>
          <a:xfrm>
            <a:off x="1517904" y="4818888"/>
            <a:ext cx="4791456" cy="411480"/>
          </a:xfrm>
          <a:prstGeom prst="rect">
            <a:avLst/>
          </a:prstGeom>
          <a:noFill/>
          <a:ln/>
        </p:spPr>
        <p:txBody>
          <a:bodyPr wrap="square" lIns="0" tIns="0" rIns="0" bIns="0" rtlCol="0" anchor="ctr">
            <a:spAutoFit/>
          </a:bodyPr>
          <a:lstStyle/>
          <a:p>
            <a:pPr indent="0" marL="0">
              <a:buNone/>
            </a:pPr>
            <a:r>
              <a:rPr lang="en-US" sz="1600" b="1" u="sng" dirty="0">
                <a:solidFill>
                  <a:srgbClr val="142D4E"/>
                </a:solidFill>
                <a:latin typeface="Noto Sans CJK JP" pitchFamily="34" charset="0"/>
                <a:ea typeface="Noto Sans CJK JP" pitchFamily="34" charset="-122"/>
                <a:cs typeface="Noto Sans CJK JP" pitchFamily="34" charset="-120"/>
                <a:hlinkClick r:id="rId4" invalidUrl="" action="" tgtFrame="" tooltip="" history="1" highlightClick="0" endSnd="0">
                  <a:extLst>
                    <a:ext uri="{A12FA001-AC4F-418D-AE19-62706E023703}">
                      <ahyp:hlinkClr xmlns:ahyp="http://schemas.microsoft.com/office/drawing/2018/hyperlinkcolor" val="tx"/>
                    </a:ext>
                  </a:extLst>
                </a:hlinkClick>
              </a:rPr>
              <a:t>金融庁 AIディスカッションペーパー 1.1</a:t>
            </a:r>
            <a:endParaRPr lang="en-US" sz="1600" dirty="0"/>
          </a:p>
        </p:txBody>
      </p:sp>
      <p:sp>
        <p:nvSpPr>
          <p:cNvPr id="35" name="Text 33"/>
          <p:cNvSpPr/>
          <p:nvPr/>
        </p:nvSpPr>
        <p:spPr>
          <a:xfrm>
            <a:off x="6583680" y="4864608"/>
            <a:ext cx="2286000" cy="365760"/>
          </a:xfrm>
          <a:prstGeom prst="rect">
            <a:avLst/>
          </a:prstGeom>
          <a:noFill/>
          <a:ln/>
        </p:spPr>
        <p:txBody>
          <a:bodyPr wrap="square" lIns="0" tIns="0" rIns="0" bIns="0" rtlCol="0" anchor="ctr">
            <a:spAutoFit/>
          </a:bodyPr>
          <a:lstStyle/>
          <a:p>
            <a:pPr indent="0" marL="0">
              <a:buNone/>
            </a:pPr>
            <a:r>
              <a:rPr lang="en-US" sz="1480" b="1" dirty="0">
                <a:solidFill>
                  <a:srgbClr val="247970"/>
                </a:solidFill>
                <a:latin typeface="Noto Sans CJK JP" pitchFamily="34" charset="0"/>
                <a:ea typeface="Noto Sans CJK JP" pitchFamily="34" charset="-122"/>
                <a:cs typeface="Noto Sans CJK JP" pitchFamily="34" charset="-120"/>
              </a:rPr>
              <a:t>公開本文を参照</a:t>
            </a:r>
            <a:endParaRPr lang="en-US" sz="1480" dirty="0"/>
          </a:p>
        </p:txBody>
      </p:sp>
      <p:sp>
        <p:nvSpPr>
          <p:cNvPr id="36" name="Text 34"/>
          <p:cNvSpPr/>
          <p:nvPr/>
        </p:nvSpPr>
        <p:spPr>
          <a:xfrm>
            <a:off x="9098280" y="4791456"/>
            <a:ext cx="4663440" cy="484632"/>
          </a:xfrm>
          <a:prstGeom prst="rect">
            <a:avLst/>
          </a:prstGeom>
          <a:noFill/>
          <a:ln/>
        </p:spPr>
        <p:txBody>
          <a:bodyPr wrap="square" lIns="0" tIns="0" rIns="0" bIns="0" rtlCol="0" anchor="ctr">
            <a:spAutoFit/>
          </a:bodyPr>
          <a:lstStyle/>
          <a:p>
            <a:pPr indent="0" marL="0">
              <a:buNone/>
            </a:pPr>
            <a:r>
              <a:rPr lang="en-US" sz="1350" dirty="0">
                <a:solidFill>
                  <a:srgbClr val="253448"/>
                </a:solidFill>
                <a:latin typeface="Noto Sans CJK JP" pitchFamily="34" charset="0"/>
                <a:ea typeface="Noto Sans CJK JP" pitchFamily="34" charset="-122"/>
                <a:cs typeface="Noto Sans CJK JP" pitchFamily="34" charset="-120"/>
              </a:rPr>
              <a:t>AI固有の品質・人の関与・人材・法務等を補完。一律の新規義務としない。</a:t>
            </a:r>
            <a:endParaRPr lang="en-US" sz="1350" dirty="0"/>
          </a:p>
        </p:txBody>
      </p:sp>
      <p:sp>
        <p:nvSpPr>
          <p:cNvPr id="37" name="Shape 35"/>
          <p:cNvSpPr/>
          <p:nvPr/>
        </p:nvSpPr>
        <p:spPr>
          <a:xfrm>
            <a:off x="594360" y="5358384"/>
            <a:ext cx="13441680" cy="694944"/>
          </a:xfrm>
          <a:prstGeom prst="rect">
            <a:avLst>
              <a:gd name="adj" fmla="val 10526"/>
            </a:avLst>
          </a:prstGeom>
          <a:solidFill>
            <a:srgbClr val="F3F6FA"/>
          </a:solidFill>
          <a:ln w="10160">
            <a:solidFill>
              <a:srgbClr val="D6DFE9"/>
            </a:solidFill>
            <a:prstDash val="solid"/>
          </a:ln>
        </p:spPr>
      </p:sp>
      <p:sp>
        <p:nvSpPr>
          <p:cNvPr id="38" name="Shape 36"/>
          <p:cNvSpPr/>
          <p:nvPr/>
        </p:nvSpPr>
        <p:spPr>
          <a:xfrm>
            <a:off x="740664" y="5541264"/>
            <a:ext cx="612648" cy="265176"/>
          </a:xfrm>
          <a:prstGeom prst="roundRect">
            <a:avLst>
              <a:gd name="adj" fmla="val 27586"/>
            </a:avLst>
          </a:prstGeom>
          <a:solidFill>
            <a:srgbClr val="EDF3FA"/>
          </a:solidFill>
          <a:ln w="10160">
            <a:solidFill>
              <a:srgbClr val="EDF3FA"/>
            </a:solidFill>
            <a:prstDash val="solid"/>
          </a:ln>
        </p:spPr>
      </p:sp>
      <p:sp>
        <p:nvSpPr>
          <p:cNvPr id="39" name="Text 37"/>
          <p:cNvSpPr/>
          <p:nvPr/>
        </p:nvSpPr>
        <p:spPr>
          <a:xfrm>
            <a:off x="804672" y="5559552"/>
            <a:ext cx="484632" cy="219456"/>
          </a:xfrm>
          <a:prstGeom prst="rect">
            <a:avLst/>
          </a:prstGeom>
          <a:noFill/>
          <a:ln/>
        </p:spPr>
        <p:txBody>
          <a:bodyPr wrap="square" lIns="0" tIns="0" rIns="0" bIns="0" rtlCol="0" anchor="ctr">
            <a:spAutoFit/>
          </a:bodyPr>
          <a:lstStyle/>
          <a:p>
            <a:pPr algn="ctr" indent="0" marL="0">
              <a:buNone/>
            </a:pPr>
            <a:r>
              <a:rPr lang="en-US" sz="1090" b="1" dirty="0">
                <a:solidFill>
                  <a:srgbClr val="376895"/>
                </a:solidFill>
                <a:latin typeface="Noto Sans CJK JP" pitchFamily="34" charset="0"/>
                <a:ea typeface="Noto Sans CJK JP" pitchFamily="34" charset="-122"/>
                <a:cs typeface="Noto Sans CJK JP" pitchFamily="34" charset="-120"/>
              </a:rPr>
              <a:t>P1/P2</a:t>
            </a:r>
            <a:endParaRPr lang="en-US" sz="1090" dirty="0"/>
          </a:p>
        </p:txBody>
      </p:sp>
      <p:sp>
        <p:nvSpPr>
          <p:cNvPr id="40" name="Text 38"/>
          <p:cNvSpPr/>
          <p:nvPr/>
        </p:nvSpPr>
        <p:spPr>
          <a:xfrm>
            <a:off x="1517904" y="5513832"/>
            <a:ext cx="4791456" cy="411480"/>
          </a:xfrm>
          <a:prstGeom prst="rect">
            <a:avLst/>
          </a:prstGeom>
          <a:noFill/>
          <a:ln/>
        </p:spPr>
        <p:txBody>
          <a:bodyPr wrap="square" lIns="0" tIns="0" rIns="0" bIns="0" rtlCol="0" anchor="ctr">
            <a:spAutoFit/>
          </a:bodyPr>
          <a:lstStyle/>
          <a:p>
            <a:pPr indent="0" marL="0">
              <a:buNone/>
            </a:pPr>
            <a:r>
              <a:rPr lang="en-US" sz="1600" b="1" dirty="0">
                <a:solidFill>
                  <a:srgbClr val="142D4E"/>
                </a:solidFill>
                <a:latin typeface="Noto Sans CJK JP" pitchFamily="34" charset="0"/>
                <a:ea typeface="Noto Sans CJK JP" pitchFamily="34" charset="-122"/>
                <a:cs typeface="Noto Sans CJK JP" pitchFamily="34" charset="-120"/>
              </a:rPr>
              <a:t>個人情報保護委員会 FAQ・漏えい対応</a:t>
            </a:r>
            <a:endParaRPr lang="en-US" sz="1600" dirty="0"/>
          </a:p>
        </p:txBody>
      </p:sp>
      <p:sp>
        <p:nvSpPr>
          <p:cNvPr id="41" name="Text 39"/>
          <p:cNvSpPr/>
          <p:nvPr/>
        </p:nvSpPr>
        <p:spPr>
          <a:xfrm>
            <a:off x="6583680" y="5559552"/>
            <a:ext cx="2286000" cy="365760"/>
          </a:xfrm>
          <a:prstGeom prst="rect">
            <a:avLst/>
          </a:prstGeom>
          <a:noFill/>
          <a:ln/>
        </p:spPr>
        <p:txBody>
          <a:bodyPr wrap="square" lIns="0" tIns="0" rIns="0" bIns="0" rtlCol="0" anchor="ctr">
            <a:spAutoFit/>
          </a:bodyPr>
          <a:lstStyle/>
          <a:p>
            <a:pPr indent="0" marL="0">
              <a:buNone/>
            </a:pPr>
            <a:r>
              <a:rPr lang="en-US" sz="1480" b="1" dirty="0">
                <a:solidFill>
                  <a:srgbClr val="247970"/>
                </a:solidFill>
                <a:latin typeface="Noto Sans CJK JP" pitchFamily="34" charset="0"/>
                <a:ea typeface="Noto Sans CJK JP" pitchFamily="34" charset="-122"/>
                <a:cs typeface="Noto Sans CJK JP" pitchFamily="34" charset="-120"/>
              </a:rPr>
              <a:t>公開資料を参照</a:t>
            </a:r>
            <a:endParaRPr lang="en-US" sz="1480" dirty="0"/>
          </a:p>
        </p:txBody>
      </p:sp>
      <p:sp>
        <p:nvSpPr>
          <p:cNvPr id="42" name="Text 40"/>
          <p:cNvSpPr/>
          <p:nvPr/>
        </p:nvSpPr>
        <p:spPr>
          <a:xfrm>
            <a:off x="9098280" y="5486400"/>
            <a:ext cx="4663440" cy="484632"/>
          </a:xfrm>
          <a:prstGeom prst="rect">
            <a:avLst/>
          </a:prstGeom>
          <a:noFill/>
          <a:ln/>
        </p:spPr>
        <p:txBody>
          <a:bodyPr wrap="square" lIns="0" tIns="0" rIns="0" bIns="0" rtlCol="0" anchor="ctr">
            <a:spAutoFit/>
          </a:bodyPr>
          <a:lstStyle/>
          <a:p>
            <a:pPr indent="0" marL="0">
              <a:buNone/>
            </a:pPr>
            <a:r>
              <a:rPr lang="en-US" sz="1350" dirty="0">
                <a:solidFill>
                  <a:srgbClr val="253448"/>
                </a:solidFill>
                <a:latin typeface="Noto Sans CJK JP" pitchFamily="34" charset="0"/>
                <a:ea typeface="Noto Sans CJK JP" pitchFamily="34" charset="-122"/>
                <a:cs typeface="Noto Sans CJK JP" pitchFamily="34" charset="-120"/>
              </a:rPr>
              <a:t>委託・第三者提供・報告等はデータ取扱いの実態と適用条件で個別判断。</a:t>
            </a:r>
            <a:endParaRPr lang="en-US" sz="1350" dirty="0"/>
          </a:p>
        </p:txBody>
      </p:sp>
      <p:sp>
        <p:nvSpPr>
          <p:cNvPr id="43" name="Shape 41"/>
          <p:cNvSpPr/>
          <p:nvPr/>
        </p:nvSpPr>
        <p:spPr>
          <a:xfrm>
            <a:off x="594360" y="6053328"/>
            <a:ext cx="13441680" cy="694944"/>
          </a:xfrm>
          <a:prstGeom prst="rect">
            <a:avLst>
              <a:gd name="adj" fmla="val 10526"/>
            </a:avLst>
          </a:prstGeom>
          <a:solidFill>
            <a:srgbClr val="FFFFFF"/>
          </a:solidFill>
          <a:ln w="10160">
            <a:solidFill>
              <a:srgbClr val="D6DFE9"/>
            </a:solidFill>
            <a:prstDash val="solid"/>
          </a:ln>
        </p:spPr>
      </p:sp>
      <p:sp>
        <p:nvSpPr>
          <p:cNvPr id="44" name="Shape 42"/>
          <p:cNvSpPr/>
          <p:nvPr/>
        </p:nvSpPr>
        <p:spPr>
          <a:xfrm>
            <a:off x="740664" y="6236208"/>
            <a:ext cx="612648" cy="265176"/>
          </a:xfrm>
          <a:prstGeom prst="roundRect">
            <a:avLst>
              <a:gd name="adj" fmla="val 27586"/>
            </a:avLst>
          </a:prstGeom>
          <a:solidFill>
            <a:srgbClr val="EDF3FA"/>
          </a:solidFill>
          <a:ln w="10160">
            <a:solidFill>
              <a:srgbClr val="EDF3FA"/>
            </a:solidFill>
            <a:prstDash val="solid"/>
          </a:ln>
        </p:spPr>
      </p:sp>
      <p:sp>
        <p:nvSpPr>
          <p:cNvPr id="45" name="Text 43"/>
          <p:cNvSpPr/>
          <p:nvPr/>
        </p:nvSpPr>
        <p:spPr>
          <a:xfrm>
            <a:off x="804672" y="6254496"/>
            <a:ext cx="484632" cy="219456"/>
          </a:xfrm>
          <a:prstGeom prst="rect">
            <a:avLst/>
          </a:prstGeom>
          <a:noFill/>
          <a:ln/>
        </p:spPr>
        <p:txBody>
          <a:bodyPr wrap="square" lIns="0" tIns="0" rIns="0" bIns="0" rtlCol="0" anchor="ctr">
            <a:spAutoFit/>
          </a:bodyPr>
          <a:lstStyle/>
          <a:p>
            <a:pPr algn="ctr" indent="0" marL="0">
              <a:buNone/>
            </a:pPr>
            <a:r>
              <a:rPr lang="en-US" sz="1090" b="1" dirty="0">
                <a:solidFill>
                  <a:srgbClr val="376895"/>
                </a:solidFill>
                <a:latin typeface="Noto Sans CJK JP" pitchFamily="34" charset="0"/>
                <a:ea typeface="Noto Sans CJK JP" pitchFamily="34" charset="-122"/>
                <a:cs typeface="Noto Sans CJK JP" pitchFamily="34" charset="-120"/>
              </a:rPr>
              <a:t>当行</a:t>
            </a:r>
            <a:endParaRPr lang="en-US" sz="1090" dirty="0"/>
          </a:p>
        </p:txBody>
      </p:sp>
      <p:sp>
        <p:nvSpPr>
          <p:cNvPr id="46" name="Text 44"/>
          <p:cNvSpPr/>
          <p:nvPr/>
        </p:nvSpPr>
        <p:spPr>
          <a:xfrm>
            <a:off x="1517904" y="6208776"/>
            <a:ext cx="4791456" cy="411480"/>
          </a:xfrm>
          <a:prstGeom prst="rect">
            <a:avLst/>
          </a:prstGeom>
          <a:noFill/>
          <a:ln/>
        </p:spPr>
        <p:txBody>
          <a:bodyPr wrap="square" lIns="0" tIns="0" rIns="0" bIns="0" rtlCol="0" anchor="ctr">
            <a:spAutoFit/>
          </a:bodyPr>
          <a:lstStyle/>
          <a:p>
            <a:pPr indent="0" marL="0">
              <a:buNone/>
            </a:pPr>
            <a:r>
              <a:rPr lang="en-US" sz="1600" b="1" dirty="0">
                <a:solidFill>
                  <a:srgbClr val="142D4E"/>
                </a:solidFill>
                <a:latin typeface="Noto Sans CJK JP" pitchFamily="34" charset="0"/>
                <a:ea typeface="Noto Sans CJK JP" pitchFamily="34" charset="-122"/>
                <a:cs typeface="Noto Sans CJK JP" pitchFamily="34" charset="-120"/>
              </a:rPr>
              <a:t>内部規程・委託契約・既存統制</a:t>
            </a:r>
            <a:endParaRPr lang="en-US" sz="1600" dirty="0"/>
          </a:p>
        </p:txBody>
      </p:sp>
      <p:sp>
        <p:nvSpPr>
          <p:cNvPr id="47" name="Text 45"/>
          <p:cNvSpPr/>
          <p:nvPr/>
        </p:nvSpPr>
        <p:spPr>
          <a:xfrm>
            <a:off x="6583680" y="6254496"/>
            <a:ext cx="2286000" cy="365760"/>
          </a:xfrm>
          <a:prstGeom prst="rect">
            <a:avLst/>
          </a:prstGeom>
          <a:noFill/>
          <a:ln/>
        </p:spPr>
        <p:txBody>
          <a:bodyPr wrap="square" lIns="0" tIns="0" rIns="0" bIns="0" rtlCol="0" anchor="ctr">
            <a:spAutoFit/>
          </a:bodyPr>
          <a:lstStyle/>
          <a:p>
            <a:pPr indent="0" marL="0">
              <a:buNone/>
            </a:pPr>
            <a:r>
              <a:rPr lang="en-US" sz="1480" b="1" dirty="0">
                <a:solidFill>
                  <a:srgbClr val="A76B21"/>
                </a:solidFill>
                <a:latin typeface="Noto Sans CJK JP" pitchFamily="34" charset="0"/>
                <a:ea typeface="Noto Sans CJK JP" pitchFamily="34" charset="-122"/>
                <a:cs typeface="Noto Sans CJK JP" pitchFamily="34" charset="-120"/>
              </a:rPr>
              <a:t>未提供／未照合</a:t>
            </a:r>
            <a:endParaRPr lang="en-US" sz="1480" dirty="0"/>
          </a:p>
        </p:txBody>
      </p:sp>
      <p:sp>
        <p:nvSpPr>
          <p:cNvPr id="48" name="Text 46"/>
          <p:cNvSpPr/>
          <p:nvPr/>
        </p:nvSpPr>
        <p:spPr>
          <a:xfrm>
            <a:off x="9098280" y="6181344"/>
            <a:ext cx="4663440" cy="484632"/>
          </a:xfrm>
          <a:prstGeom prst="rect">
            <a:avLst/>
          </a:prstGeom>
          <a:noFill/>
          <a:ln/>
        </p:spPr>
        <p:txBody>
          <a:bodyPr wrap="square" lIns="0" tIns="0" rIns="0" bIns="0" rtlCol="0" anchor="ctr">
            <a:spAutoFit/>
          </a:bodyPr>
          <a:lstStyle/>
          <a:p>
            <a:pPr indent="0" marL="0">
              <a:buNone/>
            </a:pPr>
            <a:r>
              <a:rPr lang="en-US" sz="1350" dirty="0">
                <a:solidFill>
                  <a:srgbClr val="253448"/>
                </a:solidFill>
                <a:latin typeface="Noto Sans CJK JP" pitchFamily="34" charset="0"/>
                <a:ea typeface="Noto Sans CJK JP" pitchFamily="34" charset="-122"/>
                <a:cs typeface="Noto Sans CJK JP" pitchFamily="34" charset="-120"/>
              </a:rPr>
              <a:t>情報区分、クラウド・委託管理、開発変更、特権、監査、設備・BCPを照合。</a:t>
            </a:r>
            <a:endParaRPr lang="en-US" sz="1350" dirty="0"/>
          </a:p>
        </p:txBody>
      </p:sp>
      <p:sp>
        <p:nvSpPr>
          <p:cNvPr id="49" name="Text 47"/>
          <p:cNvSpPr/>
          <p:nvPr/>
        </p:nvSpPr>
        <p:spPr>
          <a:xfrm>
            <a:off x="704088" y="7104888"/>
            <a:ext cx="13258800" cy="393192"/>
          </a:xfrm>
          <a:prstGeom prst="rect">
            <a:avLst/>
          </a:prstGeom>
          <a:noFill/>
          <a:ln/>
        </p:spPr>
        <p:txBody>
          <a:bodyPr wrap="square" lIns="0" tIns="0" rIns="0" bIns="0" rtlCol="0" anchor="ctr">
            <a:spAutoFit/>
          </a:bodyPr>
          <a:lstStyle/>
          <a:p>
            <a:pPr indent="0" marL="0">
              <a:buNone/>
            </a:pPr>
            <a:r>
              <a:rPr lang="en-US" sz="1430" dirty="0">
                <a:solidFill>
                  <a:srgbClr val="65748A"/>
                </a:solidFill>
                <a:latin typeface="Noto Sans CJK JP" pitchFamily="34" charset="0"/>
                <a:ea typeface="Noto Sans CJK JP" pitchFamily="34" charset="-122"/>
                <a:cs typeface="Noto Sans CJK JP" pitchFamily="34" charset="-120"/>
              </a:rPr>
              <a:t>具体的な事故シナリオと対策は本構成への適用案であり、FISCの条項引用・準拠認定・法的適合性の確定ではありません。</a:t>
            </a:r>
            <a:endParaRPr lang="en-US" sz="14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64008" cy="274320"/>
          </a:xfrm>
          <a:prstGeom prst="rect">
            <a:avLst>
              <a:gd name="adj" fmla="val 114286"/>
            </a:avLst>
          </a:prstGeom>
          <a:solidFill>
            <a:srgbClr val="142D4E"/>
          </a:solidFill>
          <a:ln w="10160">
            <a:solidFill>
              <a:srgbClr val="142D4E"/>
            </a:solidFill>
            <a:prstDash val="solid"/>
          </a:ln>
        </p:spPr>
      </p:sp>
      <p:sp>
        <p:nvSpPr>
          <p:cNvPr id="3" name="Text 1"/>
          <p:cNvSpPr/>
          <p:nvPr/>
        </p:nvSpPr>
        <p:spPr>
          <a:xfrm>
            <a:off x="758952" y="374904"/>
            <a:ext cx="10789920" cy="274320"/>
          </a:xfrm>
          <a:prstGeom prst="rect">
            <a:avLst/>
          </a:prstGeom>
          <a:noFill/>
          <a:ln/>
        </p:spPr>
        <p:txBody>
          <a:bodyPr wrap="square" lIns="0" tIns="0" rIns="0" bIns="0" rtlCol="0" anchor="ctr">
            <a:spAutoFit/>
          </a:bodyPr>
          <a:lstStyle/>
          <a:p>
            <a:pPr indent="0" marL="0">
              <a:buNone/>
            </a:pPr>
            <a:r>
              <a:rPr lang="en-US" sz="1240" b="1" dirty="0">
                <a:solidFill>
                  <a:srgbClr val="142D4E"/>
                </a:solidFill>
                <a:latin typeface="Noto Sans CJK JP" pitchFamily="34" charset="0"/>
                <a:ea typeface="Noto Sans CJK JP" pitchFamily="34" charset="-122"/>
                <a:cs typeface="Noto Sans CJK JP" pitchFamily="34" charset="-120"/>
              </a:rPr>
              <a:t>技術仕様・参照先</a:t>
            </a:r>
            <a:endParaRPr lang="en-US" sz="1240" dirty="0"/>
          </a:p>
        </p:txBody>
      </p:sp>
      <p:sp>
        <p:nvSpPr>
          <p:cNvPr id="4" name="Text 2"/>
          <p:cNvSpPr/>
          <p:nvPr/>
        </p:nvSpPr>
        <p:spPr>
          <a:xfrm>
            <a:off x="11155680" y="384048"/>
            <a:ext cx="2926080" cy="256032"/>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AI開発・レビュー基盤</a:t>
            </a:r>
            <a:endParaRPr lang="en-US" sz="1150" dirty="0"/>
          </a:p>
        </p:txBody>
      </p:sp>
      <p:sp>
        <p:nvSpPr>
          <p:cNvPr id="5" name="Text 3"/>
          <p:cNvSpPr/>
          <p:nvPr/>
        </p:nvSpPr>
        <p:spPr>
          <a:xfrm>
            <a:off x="548640" y="832104"/>
            <a:ext cx="13533120" cy="548640"/>
          </a:xfrm>
          <a:prstGeom prst="rect">
            <a:avLst/>
          </a:prstGeom>
          <a:noFill/>
          <a:ln/>
        </p:spPr>
        <p:txBody>
          <a:bodyPr wrap="square" lIns="0" tIns="0" rIns="0" bIns="0" rtlCol="0" anchor="ctr">
            <a:spAutoFit/>
          </a:bodyPr>
          <a:lstStyle/>
          <a:p>
            <a:pPr indent="0" marL="0">
              <a:buNone/>
            </a:pPr>
            <a:r>
              <a:rPr lang="en-US" sz="3000" b="1" dirty="0">
                <a:solidFill>
                  <a:srgbClr val="142D4E"/>
                </a:solidFill>
                <a:latin typeface="Noto Sans CJK JP" pitchFamily="34" charset="0"/>
                <a:ea typeface="Noto Sans CJK JP" pitchFamily="34" charset="-122"/>
                <a:cs typeface="Noto Sans CJK JP" pitchFamily="34" charset="-120"/>
              </a:rPr>
              <a:t>採用する製品・API・設定の組合せを、一次情報で確認する</a:t>
            </a:r>
            <a:endParaRPr lang="en-US" sz="3000" dirty="0"/>
          </a:p>
        </p:txBody>
      </p:sp>
      <p:sp>
        <p:nvSpPr>
          <p:cNvPr id="6" name="Text 4"/>
          <p:cNvSpPr/>
          <p:nvPr/>
        </p:nvSpPr>
        <p:spPr>
          <a:xfrm>
            <a:off x="566928" y="1426464"/>
            <a:ext cx="13487400" cy="411480"/>
          </a:xfrm>
          <a:prstGeom prst="rect">
            <a:avLst/>
          </a:prstGeom>
          <a:noFill/>
          <a:ln/>
        </p:spPr>
        <p:txBody>
          <a:bodyPr wrap="square" lIns="0" tIns="0" rIns="0" bIns="0" rtlCol="0" anchor="ctr">
            <a:spAutoFit/>
          </a:bodyPr>
          <a:lstStyle/>
          <a:p>
            <a:pPr indent="0" marL="0">
              <a:buNone/>
            </a:pPr>
            <a:r>
              <a:rPr lang="en-US" sz="1600" dirty="0">
                <a:solidFill>
                  <a:srgbClr val="65748A"/>
                </a:solidFill>
                <a:latin typeface="Noto Sans CJK JP" pitchFamily="34" charset="0"/>
                <a:ea typeface="Noto Sans CJK JP" pitchFamily="34" charset="-122"/>
                <a:cs typeface="Noto Sans CJK JP" pitchFamily="34" charset="-120"/>
              </a:rPr>
              <a:t>リンクは各資料名に設定しています。仕様は更新されるため、採用版と導入判定日の情報で再確認します。</a:t>
            </a:r>
            <a:endParaRPr lang="en-US" sz="1600" dirty="0"/>
          </a:p>
        </p:txBody>
      </p:sp>
      <p:sp>
        <p:nvSpPr>
          <p:cNvPr id="7" name="Shape 5"/>
          <p:cNvSpPr/>
          <p:nvPr/>
        </p:nvSpPr>
        <p:spPr>
          <a:xfrm>
            <a:off x="548640" y="7726680"/>
            <a:ext cx="13533120" cy="0"/>
          </a:xfrm>
          <a:prstGeom prst="line">
            <a:avLst/>
          </a:prstGeom>
          <a:noFill/>
          <a:ln w="10160">
            <a:solidFill>
              <a:srgbClr val="D6DFE9"/>
            </a:solidFill>
            <a:prstDash val="solid"/>
            <a:headEnd type="none"/>
            <a:tailEnd type="none"/>
          </a:ln>
        </p:spPr>
      </p:sp>
      <p:sp>
        <p:nvSpPr>
          <p:cNvPr id="8" name="Text 6"/>
          <p:cNvSpPr/>
          <p:nvPr/>
        </p:nvSpPr>
        <p:spPr>
          <a:xfrm>
            <a:off x="566928" y="7836408"/>
            <a:ext cx="5486400" cy="201168"/>
          </a:xfrm>
          <a:prstGeom prst="rect">
            <a:avLst/>
          </a:prstGeom>
          <a:noFill/>
          <a:ln/>
        </p:spPr>
        <p:txBody>
          <a:bodyPr wrap="square" lIns="0" tIns="0" rIns="0" bIns="0" rtlCol="0" anchor="ctr">
            <a:spAutoFit/>
          </a:bodyPr>
          <a:lstStyle/>
          <a:p>
            <a:pPr indent="0" marL="0">
              <a:buNone/>
            </a:pPr>
            <a:r>
              <a:rPr lang="en-US" sz="1040" dirty="0">
                <a:solidFill>
                  <a:srgbClr val="65748A"/>
                </a:solidFill>
                <a:latin typeface="Noto Sans CJK JP" pitchFamily="34" charset="0"/>
                <a:ea typeface="Noto Sans CJK JP" pitchFamily="34" charset="-122"/>
                <a:cs typeface="Noto Sans CJK JP" pitchFamily="34" charset="-120"/>
              </a:rPr>
              <a:t>2026.09.22  |  リスク・対策検討案</a:t>
            </a:r>
            <a:endParaRPr lang="en-US" sz="1040" dirty="0"/>
          </a:p>
        </p:txBody>
      </p:sp>
      <p:sp>
        <p:nvSpPr>
          <p:cNvPr id="9" name="Text 7"/>
          <p:cNvSpPr/>
          <p:nvPr/>
        </p:nvSpPr>
        <p:spPr>
          <a:xfrm>
            <a:off x="12893040" y="7818120"/>
            <a:ext cx="1143000" cy="246888"/>
          </a:xfrm>
          <a:prstGeom prst="rect">
            <a:avLst/>
          </a:prstGeom>
          <a:noFill/>
          <a:ln/>
        </p:spPr>
        <p:txBody>
          <a:bodyPr wrap="square" lIns="0" tIns="0" rIns="0" bIns="0" rtlCol="0" anchor="ctr">
            <a:spAutoFit/>
          </a:bodyPr>
          <a:lstStyle/>
          <a:p>
            <a:pPr algn="r" indent="0" marL="0">
              <a:buNone/>
            </a:pPr>
            <a:r>
              <a:rPr lang="en-US" sz="1150" dirty="0">
                <a:solidFill>
                  <a:srgbClr val="65748A"/>
                </a:solidFill>
                <a:latin typeface="Noto Sans CJK JP" pitchFamily="34" charset="0"/>
                <a:ea typeface="Noto Sans CJK JP" pitchFamily="34" charset="-122"/>
                <a:cs typeface="Noto Sans CJK JP" pitchFamily="34" charset="-120"/>
              </a:rPr>
              <a:t>30 / 30</a:t>
            </a:r>
            <a:endParaRPr lang="en-US" sz="1150" dirty="0"/>
          </a:p>
        </p:txBody>
      </p:sp>
      <p:sp>
        <p:nvSpPr>
          <p:cNvPr id="10" name="Shape 8"/>
          <p:cNvSpPr/>
          <p:nvPr/>
        </p:nvSpPr>
        <p:spPr>
          <a:xfrm>
            <a:off x="603504" y="2075688"/>
            <a:ext cx="6565392" cy="557784"/>
          </a:xfrm>
          <a:prstGeom prst="roundRect">
            <a:avLst>
              <a:gd name="adj" fmla="val 13115"/>
            </a:avLst>
          </a:prstGeom>
          <a:solidFill>
            <a:srgbClr val="F3F6FA"/>
          </a:solidFill>
          <a:ln w="10160">
            <a:solidFill>
              <a:srgbClr val="F3F6FA"/>
            </a:solidFill>
            <a:prstDash val="solid"/>
          </a:ln>
        </p:spPr>
      </p:sp>
      <p:sp>
        <p:nvSpPr>
          <p:cNvPr id="11" name="Shape 9"/>
          <p:cNvSpPr/>
          <p:nvPr/>
        </p:nvSpPr>
        <p:spPr>
          <a:xfrm>
            <a:off x="722376" y="2221992"/>
            <a:ext cx="585216" cy="265176"/>
          </a:xfrm>
          <a:prstGeom prst="roundRect">
            <a:avLst>
              <a:gd name="adj" fmla="val 27586"/>
            </a:avLst>
          </a:prstGeom>
          <a:solidFill>
            <a:srgbClr val="EDF3FA"/>
          </a:solidFill>
          <a:ln w="10160">
            <a:solidFill>
              <a:srgbClr val="EDF3FA"/>
            </a:solidFill>
            <a:prstDash val="solid"/>
          </a:ln>
        </p:spPr>
      </p:sp>
      <p:sp>
        <p:nvSpPr>
          <p:cNvPr id="12" name="Text 10"/>
          <p:cNvSpPr/>
          <p:nvPr/>
        </p:nvSpPr>
        <p:spPr>
          <a:xfrm>
            <a:off x="786384" y="2240280"/>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A1</a:t>
            </a:r>
            <a:endParaRPr lang="en-US" sz="1100" dirty="0"/>
          </a:p>
        </p:txBody>
      </p:sp>
      <p:sp>
        <p:nvSpPr>
          <p:cNvPr id="13" name="Text 11">
            <a:hlinkClick r:id="rId1" tooltip=""/>
          </p:cNvPr>
          <p:cNvSpPr/>
          <p:nvPr/>
        </p:nvSpPr>
        <p:spPr>
          <a:xfrm>
            <a:off x="1463040" y="2148840"/>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1" invalidUrl="" action="" tgtFrame="" tooltip="" history="1" highlightClick="0" endSnd="0">
                  <a:extLst>
                    <a:ext uri="{A12FA001-AC4F-418D-AE19-62706E023703}">
                      <ahyp:hlinkClr xmlns:ahyp="http://schemas.microsoft.com/office/drawing/2018/hyperlinkcolor" val="tx"/>
                    </a:ext>
                  </a:extLst>
                </a:hlinkClick>
              </a:rPr>
              <a:t>AWS Bedrock VPCエンドポイント</a:t>
            </a:r>
            <a:endParaRPr lang="en-US" sz="1440" dirty="0"/>
          </a:p>
        </p:txBody>
      </p:sp>
      <p:sp>
        <p:nvSpPr>
          <p:cNvPr id="14" name="Text 12"/>
          <p:cNvSpPr/>
          <p:nvPr/>
        </p:nvSpPr>
        <p:spPr>
          <a:xfrm>
            <a:off x="1463040" y="2423160"/>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閉域接続と経路強制は別</a:t>
            </a:r>
            <a:endParaRPr lang="en-US" sz="1140" dirty="0"/>
          </a:p>
        </p:txBody>
      </p:sp>
      <p:sp>
        <p:nvSpPr>
          <p:cNvPr id="15" name="Shape 13"/>
          <p:cNvSpPr/>
          <p:nvPr/>
        </p:nvSpPr>
        <p:spPr>
          <a:xfrm>
            <a:off x="603504" y="2706624"/>
            <a:ext cx="6565392" cy="557784"/>
          </a:xfrm>
          <a:prstGeom prst="roundRect">
            <a:avLst>
              <a:gd name="adj" fmla="val 13115"/>
            </a:avLst>
          </a:prstGeom>
          <a:solidFill>
            <a:srgbClr val="F3F6FA"/>
          </a:solidFill>
          <a:ln w="10160">
            <a:solidFill>
              <a:srgbClr val="F3F6FA"/>
            </a:solidFill>
            <a:prstDash val="solid"/>
          </a:ln>
        </p:spPr>
      </p:sp>
      <p:sp>
        <p:nvSpPr>
          <p:cNvPr id="16" name="Shape 14"/>
          <p:cNvSpPr/>
          <p:nvPr/>
        </p:nvSpPr>
        <p:spPr>
          <a:xfrm>
            <a:off x="722376" y="2852928"/>
            <a:ext cx="585216" cy="265176"/>
          </a:xfrm>
          <a:prstGeom prst="roundRect">
            <a:avLst>
              <a:gd name="adj" fmla="val 27586"/>
            </a:avLst>
          </a:prstGeom>
          <a:solidFill>
            <a:srgbClr val="EDF3FA"/>
          </a:solidFill>
          <a:ln w="10160">
            <a:solidFill>
              <a:srgbClr val="EDF3FA"/>
            </a:solidFill>
            <a:prstDash val="solid"/>
          </a:ln>
        </p:spPr>
      </p:sp>
      <p:sp>
        <p:nvSpPr>
          <p:cNvPr id="17" name="Text 15"/>
          <p:cNvSpPr/>
          <p:nvPr/>
        </p:nvSpPr>
        <p:spPr>
          <a:xfrm>
            <a:off x="786384" y="2871216"/>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A2</a:t>
            </a:r>
            <a:endParaRPr lang="en-US" sz="1100" dirty="0"/>
          </a:p>
        </p:txBody>
      </p:sp>
      <p:sp>
        <p:nvSpPr>
          <p:cNvPr id="18" name="Text 16">
            <a:hlinkClick r:id="rId2" tooltip=""/>
          </p:cNvPr>
          <p:cNvSpPr/>
          <p:nvPr/>
        </p:nvSpPr>
        <p:spPr>
          <a:xfrm>
            <a:off x="1463040" y="2779776"/>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2" invalidUrl="" action="" tgtFrame="" tooltip="" history="1" highlightClick="0" endSnd="0">
                  <a:extLst>
                    <a:ext uri="{A12FA001-AC4F-418D-AE19-62706E023703}">
                      <ahyp:hlinkClr xmlns:ahyp="http://schemas.microsoft.com/office/drawing/2018/hyperlinkcolor" val="tx"/>
                    </a:ext>
                  </a:extLst>
                </a:hlinkClick>
              </a:rPr>
              <a:t>AWS Bedrock クロスリージョン推論</a:t>
            </a:r>
            <a:endParaRPr lang="en-US" sz="1440" dirty="0"/>
          </a:p>
        </p:txBody>
      </p:sp>
      <p:sp>
        <p:nvSpPr>
          <p:cNvPr id="19" name="Text 17"/>
          <p:cNvSpPr/>
          <p:nvPr/>
        </p:nvSpPr>
        <p:spPr>
          <a:xfrm>
            <a:off x="1463040" y="3054096"/>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推論プロファイルと実転送先</a:t>
            </a:r>
            <a:endParaRPr lang="en-US" sz="1140" dirty="0"/>
          </a:p>
        </p:txBody>
      </p:sp>
      <p:sp>
        <p:nvSpPr>
          <p:cNvPr id="20" name="Shape 18"/>
          <p:cNvSpPr/>
          <p:nvPr/>
        </p:nvSpPr>
        <p:spPr>
          <a:xfrm>
            <a:off x="603504" y="3337560"/>
            <a:ext cx="6565392" cy="557784"/>
          </a:xfrm>
          <a:prstGeom prst="roundRect">
            <a:avLst>
              <a:gd name="adj" fmla="val 13115"/>
            </a:avLst>
          </a:prstGeom>
          <a:solidFill>
            <a:srgbClr val="F3F6FA"/>
          </a:solidFill>
          <a:ln w="10160">
            <a:solidFill>
              <a:srgbClr val="F3F6FA"/>
            </a:solidFill>
            <a:prstDash val="solid"/>
          </a:ln>
        </p:spPr>
      </p:sp>
      <p:sp>
        <p:nvSpPr>
          <p:cNvPr id="21" name="Shape 19"/>
          <p:cNvSpPr/>
          <p:nvPr/>
        </p:nvSpPr>
        <p:spPr>
          <a:xfrm>
            <a:off x="722376" y="3483864"/>
            <a:ext cx="585216" cy="265176"/>
          </a:xfrm>
          <a:prstGeom prst="roundRect">
            <a:avLst>
              <a:gd name="adj" fmla="val 27586"/>
            </a:avLst>
          </a:prstGeom>
          <a:solidFill>
            <a:srgbClr val="EDF3FA"/>
          </a:solidFill>
          <a:ln w="10160">
            <a:solidFill>
              <a:srgbClr val="EDF3FA"/>
            </a:solidFill>
            <a:prstDash val="solid"/>
          </a:ln>
        </p:spPr>
      </p:sp>
      <p:sp>
        <p:nvSpPr>
          <p:cNvPr id="22" name="Text 20"/>
          <p:cNvSpPr/>
          <p:nvPr/>
        </p:nvSpPr>
        <p:spPr>
          <a:xfrm>
            <a:off x="786384" y="3502152"/>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A3</a:t>
            </a:r>
            <a:endParaRPr lang="en-US" sz="1100" dirty="0"/>
          </a:p>
        </p:txBody>
      </p:sp>
      <p:sp>
        <p:nvSpPr>
          <p:cNvPr id="23" name="Text 21">
            <a:hlinkClick r:id="rId3" tooltip=""/>
          </p:cNvPr>
          <p:cNvSpPr/>
          <p:nvPr/>
        </p:nvSpPr>
        <p:spPr>
          <a:xfrm>
            <a:off x="1463040" y="3410712"/>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3" invalidUrl="" action="" tgtFrame="" tooltip="" history="1" highlightClick="0" endSnd="0">
                  <a:extLst>
                    <a:ext uri="{A12FA001-AC4F-418D-AE19-62706E023703}">
                      <ahyp:hlinkClr xmlns:ahyp="http://schemas.microsoft.com/office/drawing/2018/hyperlinkcolor" val="tx"/>
                    </a:ext>
                  </a:extLst>
                </a:hlinkClick>
              </a:rPr>
              <a:t>AWS Guardrails クロスリージョン推論</a:t>
            </a:r>
            <a:endParaRPr lang="en-US" sz="1440" dirty="0"/>
          </a:p>
        </p:txBody>
      </p:sp>
      <p:sp>
        <p:nvSpPr>
          <p:cNvPr id="24" name="Text 22"/>
          <p:cNvSpPr/>
          <p:nvPr/>
        </p:nvSpPr>
        <p:spPr>
          <a:xfrm>
            <a:off x="1463040" y="3685032"/>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モデル以外の検査地域</a:t>
            </a:r>
            <a:endParaRPr lang="en-US" sz="1140" dirty="0"/>
          </a:p>
        </p:txBody>
      </p:sp>
      <p:sp>
        <p:nvSpPr>
          <p:cNvPr id="25" name="Shape 23"/>
          <p:cNvSpPr/>
          <p:nvPr/>
        </p:nvSpPr>
        <p:spPr>
          <a:xfrm>
            <a:off x="603504" y="3968496"/>
            <a:ext cx="6565392" cy="557784"/>
          </a:xfrm>
          <a:prstGeom prst="roundRect">
            <a:avLst>
              <a:gd name="adj" fmla="val 13115"/>
            </a:avLst>
          </a:prstGeom>
          <a:solidFill>
            <a:srgbClr val="F3F6FA"/>
          </a:solidFill>
          <a:ln w="10160">
            <a:solidFill>
              <a:srgbClr val="F3F6FA"/>
            </a:solidFill>
            <a:prstDash val="solid"/>
          </a:ln>
        </p:spPr>
      </p:sp>
      <p:sp>
        <p:nvSpPr>
          <p:cNvPr id="26" name="Shape 24"/>
          <p:cNvSpPr/>
          <p:nvPr/>
        </p:nvSpPr>
        <p:spPr>
          <a:xfrm>
            <a:off x="722376" y="4114800"/>
            <a:ext cx="585216" cy="265176"/>
          </a:xfrm>
          <a:prstGeom prst="roundRect">
            <a:avLst>
              <a:gd name="adj" fmla="val 27586"/>
            </a:avLst>
          </a:prstGeom>
          <a:solidFill>
            <a:srgbClr val="EDF3FA"/>
          </a:solidFill>
          <a:ln w="10160">
            <a:solidFill>
              <a:srgbClr val="EDF3FA"/>
            </a:solidFill>
            <a:prstDash val="solid"/>
          </a:ln>
        </p:spPr>
      </p:sp>
      <p:sp>
        <p:nvSpPr>
          <p:cNvPr id="27" name="Text 25"/>
          <p:cNvSpPr/>
          <p:nvPr/>
        </p:nvSpPr>
        <p:spPr>
          <a:xfrm>
            <a:off x="786384" y="4133088"/>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A4</a:t>
            </a:r>
            <a:endParaRPr lang="en-US" sz="1100" dirty="0"/>
          </a:p>
        </p:txBody>
      </p:sp>
      <p:sp>
        <p:nvSpPr>
          <p:cNvPr id="28" name="Text 26">
            <a:hlinkClick r:id="rId4" tooltip=""/>
          </p:cNvPr>
          <p:cNvSpPr/>
          <p:nvPr/>
        </p:nvSpPr>
        <p:spPr>
          <a:xfrm>
            <a:off x="1463040" y="4041648"/>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4" invalidUrl="" action="" tgtFrame="" tooltip="" history="1" highlightClick="0" endSnd="0">
                  <a:extLst>
                    <a:ext uri="{A12FA001-AC4F-418D-AE19-62706E023703}">
                      <ahyp:hlinkClr xmlns:ahyp="http://schemas.microsoft.com/office/drawing/2018/hyperlinkcolor" val="tx"/>
                    </a:ext>
                  </a:extLst>
                </a:hlinkClick>
              </a:rPr>
              <a:t>AWS Guardrails ストリーミング</a:t>
            </a:r>
            <a:endParaRPr lang="en-US" sz="1440" dirty="0"/>
          </a:p>
        </p:txBody>
      </p:sp>
      <p:sp>
        <p:nvSpPr>
          <p:cNvPr id="29" name="Text 27"/>
          <p:cNvSpPr/>
          <p:nvPr/>
        </p:nvSpPr>
        <p:spPr>
          <a:xfrm>
            <a:off x="1463040" y="4315968"/>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検査前返却と同期・非同期の違い</a:t>
            </a:r>
            <a:endParaRPr lang="en-US" sz="1140" dirty="0"/>
          </a:p>
        </p:txBody>
      </p:sp>
      <p:sp>
        <p:nvSpPr>
          <p:cNvPr id="30" name="Shape 28"/>
          <p:cNvSpPr/>
          <p:nvPr/>
        </p:nvSpPr>
        <p:spPr>
          <a:xfrm>
            <a:off x="603504" y="4599432"/>
            <a:ext cx="6565392" cy="557784"/>
          </a:xfrm>
          <a:prstGeom prst="roundRect">
            <a:avLst>
              <a:gd name="adj" fmla="val 13115"/>
            </a:avLst>
          </a:prstGeom>
          <a:solidFill>
            <a:srgbClr val="F3F6FA"/>
          </a:solidFill>
          <a:ln w="10160">
            <a:solidFill>
              <a:srgbClr val="F3F6FA"/>
            </a:solidFill>
            <a:prstDash val="solid"/>
          </a:ln>
        </p:spPr>
      </p:sp>
      <p:sp>
        <p:nvSpPr>
          <p:cNvPr id="31" name="Shape 29"/>
          <p:cNvSpPr/>
          <p:nvPr/>
        </p:nvSpPr>
        <p:spPr>
          <a:xfrm>
            <a:off x="722376" y="4745736"/>
            <a:ext cx="585216" cy="265176"/>
          </a:xfrm>
          <a:prstGeom prst="roundRect">
            <a:avLst>
              <a:gd name="adj" fmla="val 27586"/>
            </a:avLst>
          </a:prstGeom>
          <a:solidFill>
            <a:srgbClr val="EDF3FA"/>
          </a:solidFill>
          <a:ln w="10160">
            <a:solidFill>
              <a:srgbClr val="EDF3FA"/>
            </a:solidFill>
            <a:prstDash val="solid"/>
          </a:ln>
        </p:spPr>
      </p:sp>
      <p:sp>
        <p:nvSpPr>
          <p:cNvPr id="32" name="Text 30"/>
          <p:cNvSpPr/>
          <p:nvPr/>
        </p:nvSpPr>
        <p:spPr>
          <a:xfrm>
            <a:off x="786384" y="4764024"/>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A6</a:t>
            </a:r>
            <a:endParaRPr lang="en-US" sz="1100" dirty="0"/>
          </a:p>
        </p:txBody>
      </p:sp>
      <p:sp>
        <p:nvSpPr>
          <p:cNvPr id="33" name="Text 31">
            <a:hlinkClick r:id="rId5" tooltip=""/>
          </p:cNvPr>
          <p:cNvSpPr/>
          <p:nvPr/>
        </p:nvSpPr>
        <p:spPr>
          <a:xfrm>
            <a:off x="1463040" y="4672584"/>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5" invalidUrl="" action="" tgtFrame="" tooltip="" history="1" highlightClick="0" endSnd="0">
                  <a:extLst>
                    <a:ext uri="{A12FA001-AC4F-418D-AE19-62706E023703}">
                      <ahyp:hlinkClr xmlns:ahyp="http://schemas.microsoft.com/office/drawing/2018/hyperlinkcolor" val="tx"/>
                    </a:ext>
                  </a:extLst>
                </a:hlinkClick>
              </a:rPr>
              <a:t>AWS Bedrock データ保護</a:t>
            </a:r>
            <a:endParaRPr lang="en-US" sz="1440" dirty="0"/>
          </a:p>
        </p:txBody>
      </p:sp>
      <p:sp>
        <p:nvSpPr>
          <p:cNvPr id="34" name="Text 32"/>
          <p:cNvSpPr/>
          <p:nvPr/>
        </p:nvSpPr>
        <p:spPr>
          <a:xfrm>
            <a:off x="1463040" y="4946904"/>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責任共有・資格情報・メタデータ保護</a:t>
            </a:r>
            <a:endParaRPr lang="en-US" sz="1140" dirty="0"/>
          </a:p>
        </p:txBody>
      </p:sp>
      <p:sp>
        <p:nvSpPr>
          <p:cNvPr id="35" name="Shape 33"/>
          <p:cNvSpPr/>
          <p:nvPr/>
        </p:nvSpPr>
        <p:spPr>
          <a:xfrm>
            <a:off x="603504" y="5230368"/>
            <a:ext cx="6565392" cy="557784"/>
          </a:xfrm>
          <a:prstGeom prst="roundRect">
            <a:avLst>
              <a:gd name="adj" fmla="val 13115"/>
            </a:avLst>
          </a:prstGeom>
          <a:solidFill>
            <a:srgbClr val="F3F6FA"/>
          </a:solidFill>
          <a:ln w="10160">
            <a:solidFill>
              <a:srgbClr val="F3F6FA"/>
            </a:solidFill>
            <a:prstDash val="solid"/>
          </a:ln>
        </p:spPr>
      </p:sp>
      <p:sp>
        <p:nvSpPr>
          <p:cNvPr id="36" name="Shape 34"/>
          <p:cNvSpPr/>
          <p:nvPr/>
        </p:nvSpPr>
        <p:spPr>
          <a:xfrm>
            <a:off x="722376" y="5376672"/>
            <a:ext cx="585216" cy="265176"/>
          </a:xfrm>
          <a:prstGeom prst="roundRect">
            <a:avLst>
              <a:gd name="adj" fmla="val 27586"/>
            </a:avLst>
          </a:prstGeom>
          <a:solidFill>
            <a:srgbClr val="EDF3FA"/>
          </a:solidFill>
          <a:ln w="10160">
            <a:solidFill>
              <a:srgbClr val="EDF3FA"/>
            </a:solidFill>
            <a:prstDash val="solid"/>
          </a:ln>
        </p:spPr>
      </p:sp>
      <p:sp>
        <p:nvSpPr>
          <p:cNvPr id="37" name="Text 35"/>
          <p:cNvSpPr/>
          <p:nvPr/>
        </p:nvSpPr>
        <p:spPr>
          <a:xfrm>
            <a:off x="786384" y="5394960"/>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A7</a:t>
            </a:r>
            <a:endParaRPr lang="en-US" sz="1100" dirty="0"/>
          </a:p>
        </p:txBody>
      </p:sp>
      <p:sp>
        <p:nvSpPr>
          <p:cNvPr id="38" name="Text 36">
            <a:hlinkClick r:id="rId6" tooltip=""/>
          </p:cNvPr>
          <p:cNvSpPr/>
          <p:nvPr/>
        </p:nvSpPr>
        <p:spPr>
          <a:xfrm>
            <a:off x="1463040" y="5303520"/>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6" invalidUrl="" action="" tgtFrame="" tooltip="" history="1" highlightClick="0" endSnd="0">
                  <a:extLst>
                    <a:ext uri="{A12FA001-AC4F-418D-AE19-62706E023703}">
                      <ahyp:hlinkClr xmlns:ahyp="http://schemas.microsoft.com/office/drawing/2018/hyperlinkcolor" val="tx"/>
                    </a:ext>
                  </a:extLst>
                </a:hlinkClick>
              </a:rPr>
              <a:t>AWS Bedrock データ保持</a:t>
            </a:r>
            <a:endParaRPr lang="en-US" sz="1440" dirty="0"/>
          </a:p>
        </p:txBody>
      </p:sp>
      <p:sp>
        <p:nvSpPr>
          <p:cNvPr id="39" name="Text 37"/>
          <p:cNvSpPr/>
          <p:nvPr/>
        </p:nvSpPr>
        <p:spPr>
          <a:xfrm>
            <a:off x="1463040" y="5577840"/>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モデル・API・保持設定の違い</a:t>
            </a:r>
            <a:endParaRPr lang="en-US" sz="1140" dirty="0"/>
          </a:p>
        </p:txBody>
      </p:sp>
      <p:sp>
        <p:nvSpPr>
          <p:cNvPr id="40" name="Shape 38"/>
          <p:cNvSpPr/>
          <p:nvPr/>
        </p:nvSpPr>
        <p:spPr>
          <a:xfrm>
            <a:off x="603504" y="5861304"/>
            <a:ext cx="6565392" cy="557784"/>
          </a:xfrm>
          <a:prstGeom prst="roundRect">
            <a:avLst>
              <a:gd name="adj" fmla="val 13115"/>
            </a:avLst>
          </a:prstGeom>
          <a:solidFill>
            <a:srgbClr val="F3F6FA"/>
          </a:solidFill>
          <a:ln w="10160">
            <a:solidFill>
              <a:srgbClr val="F3F6FA"/>
            </a:solidFill>
            <a:prstDash val="solid"/>
          </a:ln>
        </p:spPr>
      </p:sp>
      <p:sp>
        <p:nvSpPr>
          <p:cNvPr id="41" name="Shape 39"/>
          <p:cNvSpPr/>
          <p:nvPr/>
        </p:nvSpPr>
        <p:spPr>
          <a:xfrm>
            <a:off x="722376" y="6007608"/>
            <a:ext cx="585216" cy="265176"/>
          </a:xfrm>
          <a:prstGeom prst="roundRect">
            <a:avLst>
              <a:gd name="adj" fmla="val 27586"/>
            </a:avLst>
          </a:prstGeom>
          <a:solidFill>
            <a:srgbClr val="EDF3FA"/>
          </a:solidFill>
          <a:ln w="10160">
            <a:solidFill>
              <a:srgbClr val="EDF3FA"/>
            </a:solidFill>
            <a:prstDash val="solid"/>
          </a:ln>
        </p:spPr>
      </p:sp>
      <p:sp>
        <p:nvSpPr>
          <p:cNvPr id="42" name="Text 40"/>
          <p:cNvSpPr/>
          <p:nvPr/>
        </p:nvSpPr>
        <p:spPr>
          <a:xfrm>
            <a:off x="786384" y="6025896"/>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A8</a:t>
            </a:r>
            <a:endParaRPr lang="en-US" sz="1100" dirty="0"/>
          </a:p>
        </p:txBody>
      </p:sp>
      <p:sp>
        <p:nvSpPr>
          <p:cNvPr id="43" name="Text 41">
            <a:hlinkClick r:id="rId7" tooltip=""/>
          </p:cNvPr>
          <p:cNvSpPr/>
          <p:nvPr/>
        </p:nvSpPr>
        <p:spPr>
          <a:xfrm>
            <a:off x="1463040" y="5934456"/>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7" invalidUrl="" action="" tgtFrame="" tooltip="" history="1" highlightClick="0" endSnd="0">
                  <a:extLst>
                    <a:ext uri="{A12FA001-AC4F-418D-AE19-62706E023703}">
                      <ahyp:hlinkClr xmlns:ahyp="http://schemas.microsoft.com/office/drawing/2018/hyperlinkcolor" val="tx"/>
                    </a:ext>
                  </a:extLst>
                </a:hlinkClick>
              </a:rPr>
              <a:t>AWS Bedrock 不正利用検知</a:t>
            </a:r>
            <a:endParaRPr lang="en-US" sz="1440" dirty="0"/>
          </a:p>
        </p:txBody>
      </p:sp>
      <p:sp>
        <p:nvSpPr>
          <p:cNvPr id="44" name="Text 42"/>
          <p:cNvSpPr/>
          <p:nvPr/>
        </p:nvSpPr>
        <p:spPr>
          <a:xfrm>
            <a:off x="1463040" y="6208776"/>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不正利用監視・保持・人手確認条件</a:t>
            </a:r>
            <a:endParaRPr lang="en-US" sz="1140" dirty="0"/>
          </a:p>
        </p:txBody>
      </p:sp>
      <p:sp>
        <p:nvSpPr>
          <p:cNvPr id="45" name="Shape 43"/>
          <p:cNvSpPr/>
          <p:nvPr/>
        </p:nvSpPr>
        <p:spPr>
          <a:xfrm>
            <a:off x="603504" y="6492240"/>
            <a:ext cx="6565392" cy="557784"/>
          </a:xfrm>
          <a:prstGeom prst="roundRect">
            <a:avLst>
              <a:gd name="adj" fmla="val 13115"/>
            </a:avLst>
          </a:prstGeom>
          <a:solidFill>
            <a:srgbClr val="F3F6FA"/>
          </a:solidFill>
          <a:ln w="10160">
            <a:solidFill>
              <a:srgbClr val="F3F6FA"/>
            </a:solidFill>
            <a:prstDash val="solid"/>
          </a:ln>
        </p:spPr>
      </p:sp>
      <p:sp>
        <p:nvSpPr>
          <p:cNvPr id="46" name="Shape 44"/>
          <p:cNvSpPr/>
          <p:nvPr/>
        </p:nvSpPr>
        <p:spPr>
          <a:xfrm>
            <a:off x="722376" y="6638544"/>
            <a:ext cx="585216" cy="265176"/>
          </a:xfrm>
          <a:prstGeom prst="roundRect">
            <a:avLst>
              <a:gd name="adj" fmla="val 27586"/>
            </a:avLst>
          </a:prstGeom>
          <a:solidFill>
            <a:srgbClr val="EDF3FA"/>
          </a:solidFill>
          <a:ln w="10160">
            <a:solidFill>
              <a:srgbClr val="EDF3FA"/>
            </a:solidFill>
            <a:prstDash val="solid"/>
          </a:ln>
        </p:spPr>
      </p:sp>
      <p:sp>
        <p:nvSpPr>
          <p:cNvPr id="47" name="Text 45"/>
          <p:cNvSpPr/>
          <p:nvPr/>
        </p:nvSpPr>
        <p:spPr>
          <a:xfrm>
            <a:off x="786384" y="6656832"/>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A9</a:t>
            </a:r>
            <a:endParaRPr lang="en-US" sz="1100" dirty="0"/>
          </a:p>
        </p:txBody>
      </p:sp>
      <p:sp>
        <p:nvSpPr>
          <p:cNvPr id="48" name="Text 46">
            <a:hlinkClick r:id="rId8" tooltip=""/>
          </p:cNvPr>
          <p:cNvSpPr/>
          <p:nvPr/>
        </p:nvSpPr>
        <p:spPr>
          <a:xfrm>
            <a:off x="1463040" y="6565392"/>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8" invalidUrl="" action="" tgtFrame="" tooltip="" history="1" highlightClick="0" endSnd="0">
                  <a:extLst>
                    <a:ext uri="{A12FA001-AC4F-418D-AE19-62706E023703}">
                      <ahyp:hlinkClr xmlns:ahyp="http://schemas.microsoft.com/office/drawing/2018/hyperlinkcolor" val="tx"/>
                    </a:ext>
                  </a:extLst>
                </a:hlinkClick>
              </a:rPr>
              <a:t>AWS Bedrock モデル呼出しログ</a:t>
            </a:r>
            <a:endParaRPr lang="en-US" sz="1440" dirty="0"/>
          </a:p>
        </p:txBody>
      </p:sp>
      <p:sp>
        <p:nvSpPr>
          <p:cNvPr id="49" name="Text 47"/>
          <p:cNvSpPr/>
          <p:nvPr/>
        </p:nvSpPr>
        <p:spPr>
          <a:xfrm>
            <a:off x="1463040" y="6839712"/>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記録API・内容・保存先の違い</a:t>
            </a:r>
            <a:endParaRPr lang="en-US" sz="1140" dirty="0"/>
          </a:p>
        </p:txBody>
      </p:sp>
      <p:sp>
        <p:nvSpPr>
          <p:cNvPr id="50" name="Shape 48"/>
          <p:cNvSpPr/>
          <p:nvPr/>
        </p:nvSpPr>
        <p:spPr>
          <a:xfrm>
            <a:off x="7479792" y="2075688"/>
            <a:ext cx="6565392" cy="557784"/>
          </a:xfrm>
          <a:prstGeom prst="roundRect">
            <a:avLst>
              <a:gd name="adj" fmla="val 13115"/>
            </a:avLst>
          </a:prstGeom>
          <a:solidFill>
            <a:srgbClr val="F3F6FA"/>
          </a:solidFill>
          <a:ln w="10160">
            <a:solidFill>
              <a:srgbClr val="F3F6FA"/>
            </a:solidFill>
            <a:prstDash val="solid"/>
          </a:ln>
        </p:spPr>
      </p:sp>
      <p:sp>
        <p:nvSpPr>
          <p:cNvPr id="51" name="Shape 49"/>
          <p:cNvSpPr/>
          <p:nvPr/>
        </p:nvSpPr>
        <p:spPr>
          <a:xfrm>
            <a:off x="7598664" y="2221992"/>
            <a:ext cx="585216" cy="265176"/>
          </a:xfrm>
          <a:prstGeom prst="roundRect">
            <a:avLst>
              <a:gd name="adj" fmla="val 27586"/>
            </a:avLst>
          </a:prstGeom>
          <a:solidFill>
            <a:srgbClr val="EDF3FA"/>
          </a:solidFill>
          <a:ln w="10160">
            <a:solidFill>
              <a:srgbClr val="EDF3FA"/>
            </a:solidFill>
            <a:prstDash val="solid"/>
          </a:ln>
        </p:spPr>
      </p:sp>
      <p:sp>
        <p:nvSpPr>
          <p:cNvPr id="52" name="Text 50"/>
          <p:cNvSpPr/>
          <p:nvPr/>
        </p:nvSpPr>
        <p:spPr>
          <a:xfrm>
            <a:off x="7662672" y="2240280"/>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A10</a:t>
            </a:r>
            <a:endParaRPr lang="en-US" sz="1100" dirty="0"/>
          </a:p>
        </p:txBody>
      </p:sp>
      <p:sp>
        <p:nvSpPr>
          <p:cNvPr id="53" name="Text 51">
            <a:hlinkClick r:id="rId9" tooltip=""/>
          </p:cNvPr>
          <p:cNvSpPr/>
          <p:nvPr/>
        </p:nvSpPr>
        <p:spPr>
          <a:xfrm>
            <a:off x="8339328" y="2148840"/>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9" invalidUrl="" action="" tgtFrame="" tooltip="" history="1" highlightClick="0" endSnd="0">
                  <a:extLst>
                    <a:ext uri="{A12FA001-AC4F-418D-AE19-62706E023703}">
                      <ahyp:hlinkClr xmlns:ahyp="http://schemas.microsoft.com/office/drawing/2018/hyperlinkcolor" val="tx"/>
                    </a:ext>
                  </a:extLst>
                </a:hlinkClick>
              </a:rPr>
              <a:t>AWS Budgets</a:t>
            </a:r>
            <a:endParaRPr lang="en-US" sz="1440" dirty="0"/>
          </a:p>
        </p:txBody>
      </p:sp>
      <p:sp>
        <p:nvSpPr>
          <p:cNvPr id="54" name="Text 52"/>
          <p:cNvSpPr/>
          <p:nvPr/>
        </p:nvSpPr>
        <p:spPr>
          <a:xfrm>
            <a:off x="8339328" y="2423160"/>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通知遅延と事前上限制御の区別</a:t>
            </a:r>
            <a:endParaRPr lang="en-US" sz="1140" dirty="0"/>
          </a:p>
        </p:txBody>
      </p:sp>
      <p:sp>
        <p:nvSpPr>
          <p:cNvPr id="55" name="Shape 53"/>
          <p:cNvSpPr/>
          <p:nvPr/>
        </p:nvSpPr>
        <p:spPr>
          <a:xfrm>
            <a:off x="7479792" y="2706624"/>
            <a:ext cx="6565392" cy="557784"/>
          </a:xfrm>
          <a:prstGeom prst="roundRect">
            <a:avLst>
              <a:gd name="adj" fmla="val 13115"/>
            </a:avLst>
          </a:prstGeom>
          <a:solidFill>
            <a:srgbClr val="F3F6FA"/>
          </a:solidFill>
          <a:ln w="10160">
            <a:solidFill>
              <a:srgbClr val="F3F6FA"/>
            </a:solidFill>
            <a:prstDash val="solid"/>
          </a:ln>
        </p:spPr>
      </p:sp>
      <p:sp>
        <p:nvSpPr>
          <p:cNvPr id="56" name="Shape 54"/>
          <p:cNvSpPr/>
          <p:nvPr/>
        </p:nvSpPr>
        <p:spPr>
          <a:xfrm>
            <a:off x="7598664" y="2852928"/>
            <a:ext cx="585216" cy="265176"/>
          </a:xfrm>
          <a:prstGeom prst="roundRect">
            <a:avLst>
              <a:gd name="adj" fmla="val 27586"/>
            </a:avLst>
          </a:prstGeom>
          <a:solidFill>
            <a:srgbClr val="EDF3FA"/>
          </a:solidFill>
          <a:ln w="10160">
            <a:solidFill>
              <a:srgbClr val="EDF3FA"/>
            </a:solidFill>
            <a:prstDash val="solid"/>
          </a:ln>
        </p:spPr>
      </p:sp>
      <p:sp>
        <p:nvSpPr>
          <p:cNvPr id="57" name="Text 55"/>
          <p:cNvSpPr/>
          <p:nvPr/>
        </p:nvSpPr>
        <p:spPr>
          <a:xfrm>
            <a:off x="7662672" y="2871216"/>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G1</a:t>
            </a:r>
            <a:endParaRPr lang="en-US" sz="1100" dirty="0"/>
          </a:p>
        </p:txBody>
      </p:sp>
      <p:sp>
        <p:nvSpPr>
          <p:cNvPr id="58" name="Text 56">
            <a:hlinkClick r:id="rId10" tooltip=""/>
          </p:cNvPr>
          <p:cNvSpPr/>
          <p:nvPr/>
        </p:nvSpPr>
        <p:spPr>
          <a:xfrm>
            <a:off x="8339328" y="2779776"/>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10" invalidUrl="" action="" tgtFrame="" tooltip="" history="1" highlightClick="0" endSnd="0">
                  <a:extLst>
                    <a:ext uri="{A12FA001-AC4F-418D-AE19-62706E023703}">
                      <ahyp:hlinkClr xmlns:ahyp="http://schemas.microsoft.com/office/drawing/2018/hyperlinkcolor" val="tx"/>
                    </a:ext>
                  </a:extLst>
                </a:hlinkClick>
              </a:rPr>
              <a:t>GitLab AWS OIDC</a:t>
            </a:r>
            <a:endParaRPr lang="en-US" sz="1440" dirty="0"/>
          </a:p>
        </p:txBody>
      </p:sp>
      <p:sp>
        <p:nvSpPr>
          <p:cNvPr id="59" name="Text 57"/>
          <p:cNvSpPr/>
          <p:nvPr/>
        </p:nvSpPr>
        <p:spPr>
          <a:xfrm>
            <a:off x="8339328" y="3054096"/>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非公開GitLab・署名鍵・信頼条件</a:t>
            </a:r>
            <a:endParaRPr lang="en-US" sz="1140" dirty="0"/>
          </a:p>
        </p:txBody>
      </p:sp>
      <p:sp>
        <p:nvSpPr>
          <p:cNvPr id="60" name="Shape 58"/>
          <p:cNvSpPr/>
          <p:nvPr/>
        </p:nvSpPr>
        <p:spPr>
          <a:xfrm>
            <a:off x="7479792" y="3337560"/>
            <a:ext cx="6565392" cy="557784"/>
          </a:xfrm>
          <a:prstGeom prst="roundRect">
            <a:avLst>
              <a:gd name="adj" fmla="val 13115"/>
            </a:avLst>
          </a:prstGeom>
          <a:solidFill>
            <a:srgbClr val="F3F6FA"/>
          </a:solidFill>
          <a:ln w="10160">
            <a:solidFill>
              <a:srgbClr val="F3F6FA"/>
            </a:solidFill>
            <a:prstDash val="solid"/>
          </a:ln>
        </p:spPr>
      </p:sp>
      <p:sp>
        <p:nvSpPr>
          <p:cNvPr id="61" name="Shape 59"/>
          <p:cNvSpPr/>
          <p:nvPr/>
        </p:nvSpPr>
        <p:spPr>
          <a:xfrm>
            <a:off x="7598664" y="3483864"/>
            <a:ext cx="585216" cy="265176"/>
          </a:xfrm>
          <a:prstGeom prst="roundRect">
            <a:avLst>
              <a:gd name="adj" fmla="val 27586"/>
            </a:avLst>
          </a:prstGeom>
          <a:solidFill>
            <a:srgbClr val="EDF3FA"/>
          </a:solidFill>
          <a:ln w="10160">
            <a:solidFill>
              <a:srgbClr val="EDF3FA"/>
            </a:solidFill>
            <a:prstDash val="solid"/>
          </a:ln>
        </p:spPr>
      </p:sp>
      <p:sp>
        <p:nvSpPr>
          <p:cNvPr id="62" name="Text 60"/>
          <p:cNvSpPr/>
          <p:nvPr/>
        </p:nvSpPr>
        <p:spPr>
          <a:xfrm>
            <a:off x="7662672" y="3502152"/>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G2</a:t>
            </a:r>
            <a:endParaRPr lang="en-US" sz="1100" dirty="0"/>
          </a:p>
        </p:txBody>
      </p:sp>
      <p:sp>
        <p:nvSpPr>
          <p:cNvPr id="63" name="Text 61">
            <a:hlinkClick r:id="rId11" tooltip=""/>
          </p:cNvPr>
          <p:cNvSpPr/>
          <p:nvPr/>
        </p:nvSpPr>
        <p:spPr>
          <a:xfrm>
            <a:off x="8339328" y="3410712"/>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GitLab Runner Security</a:t>
            </a:r>
            <a:endParaRPr lang="en-US" sz="1440" dirty="0"/>
          </a:p>
        </p:txBody>
      </p:sp>
      <p:sp>
        <p:nvSpPr>
          <p:cNvPr id="64" name="Text 62"/>
          <p:cNvSpPr/>
          <p:nvPr/>
        </p:nvSpPr>
        <p:spPr>
          <a:xfrm>
            <a:off x="8339328" y="3685032"/>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任意コード・共有ホスト・特権</a:t>
            </a:r>
            <a:endParaRPr lang="en-US" sz="1140" dirty="0"/>
          </a:p>
        </p:txBody>
      </p:sp>
      <p:sp>
        <p:nvSpPr>
          <p:cNvPr id="65" name="Shape 63"/>
          <p:cNvSpPr/>
          <p:nvPr/>
        </p:nvSpPr>
        <p:spPr>
          <a:xfrm>
            <a:off x="7479792" y="3968496"/>
            <a:ext cx="6565392" cy="557784"/>
          </a:xfrm>
          <a:prstGeom prst="roundRect">
            <a:avLst>
              <a:gd name="adj" fmla="val 13115"/>
            </a:avLst>
          </a:prstGeom>
          <a:solidFill>
            <a:srgbClr val="F3F6FA"/>
          </a:solidFill>
          <a:ln w="10160">
            <a:solidFill>
              <a:srgbClr val="F3F6FA"/>
            </a:solidFill>
            <a:prstDash val="solid"/>
          </a:ln>
        </p:spPr>
      </p:sp>
      <p:sp>
        <p:nvSpPr>
          <p:cNvPr id="66" name="Shape 64"/>
          <p:cNvSpPr/>
          <p:nvPr/>
        </p:nvSpPr>
        <p:spPr>
          <a:xfrm>
            <a:off x="7598664" y="4114800"/>
            <a:ext cx="585216" cy="265176"/>
          </a:xfrm>
          <a:prstGeom prst="roundRect">
            <a:avLst>
              <a:gd name="adj" fmla="val 27586"/>
            </a:avLst>
          </a:prstGeom>
          <a:solidFill>
            <a:srgbClr val="EDF3FA"/>
          </a:solidFill>
          <a:ln w="10160">
            <a:solidFill>
              <a:srgbClr val="EDF3FA"/>
            </a:solidFill>
            <a:prstDash val="solid"/>
          </a:ln>
        </p:spPr>
      </p:sp>
      <p:sp>
        <p:nvSpPr>
          <p:cNvPr id="67" name="Text 65"/>
          <p:cNvSpPr/>
          <p:nvPr/>
        </p:nvSpPr>
        <p:spPr>
          <a:xfrm>
            <a:off x="7662672" y="4133088"/>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G3</a:t>
            </a:r>
            <a:endParaRPr lang="en-US" sz="1100" dirty="0"/>
          </a:p>
        </p:txBody>
      </p:sp>
      <p:sp>
        <p:nvSpPr>
          <p:cNvPr id="68" name="Text 66">
            <a:hlinkClick r:id="rId12" tooltip=""/>
          </p:cNvPr>
          <p:cNvSpPr/>
          <p:nvPr/>
        </p:nvSpPr>
        <p:spPr>
          <a:xfrm>
            <a:off x="8339328" y="4041648"/>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GitLab MR pipelines</a:t>
            </a:r>
            <a:endParaRPr lang="en-US" sz="1440" dirty="0"/>
          </a:p>
        </p:txBody>
      </p:sp>
      <p:sp>
        <p:nvSpPr>
          <p:cNvPr id="69" name="Text 67"/>
          <p:cNvSpPr/>
          <p:nvPr/>
        </p:nvSpPr>
        <p:spPr>
          <a:xfrm>
            <a:off x="8339328" y="4315968"/>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起動条件・保護資源・対象ブランチ</a:t>
            </a:r>
            <a:endParaRPr lang="en-US" sz="1140" dirty="0"/>
          </a:p>
        </p:txBody>
      </p:sp>
      <p:sp>
        <p:nvSpPr>
          <p:cNvPr id="70" name="Shape 68"/>
          <p:cNvSpPr/>
          <p:nvPr/>
        </p:nvSpPr>
        <p:spPr>
          <a:xfrm>
            <a:off x="7479792" y="4599432"/>
            <a:ext cx="6565392" cy="557784"/>
          </a:xfrm>
          <a:prstGeom prst="roundRect">
            <a:avLst>
              <a:gd name="adj" fmla="val 13115"/>
            </a:avLst>
          </a:prstGeom>
          <a:solidFill>
            <a:srgbClr val="F3F6FA"/>
          </a:solidFill>
          <a:ln w="10160">
            <a:solidFill>
              <a:srgbClr val="F3F6FA"/>
            </a:solidFill>
            <a:prstDash val="solid"/>
          </a:ln>
        </p:spPr>
      </p:sp>
      <p:sp>
        <p:nvSpPr>
          <p:cNvPr id="71" name="Shape 69"/>
          <p:cNvSpPr/>
          <p:nvPr/>
        </p:nvSpPr>
        <p:spPr>
          <a:xfrm>
            <a:off x="7598664" y="4745736"/>
            <a:ext cx="585216" cy="265176"/>
          </a:xfrm>
          <a:prstGeom prst="roundRect">
            <a:avLst>
              <a:gd name="adj" fmla="val 27586"/>
            </a:avLst>
          </a:prstGeom>
          <a:solidFill>
            <a:srgbClr val="EDF3FA"/>
          </a:solidFill>
          <a:ln w="10160">
            <a:solidFill>
              <a:srgbClr val="EDF3FA"/>
            </a:solidFill>
            <a:prstDash val="solid"/>
          </a:ln>
        </p:spPr>
      </p:sp>
      <p:sp>
        <p:nvSpPr>
          <p:cNvPr id="72" name="Text 70"/>
          <p:cNvSpPr/>
          <p:nvPr/>
        </p:nvSpPr>
        <p:spPr>
          <a:xfrm>
            <a:off x="7662672" y="4764024"/>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G4</a:t>
            </a:r>
            <a:endParaRPr lang="en-US" sz="1100" dirty="0"/>
          </a:p>
        </p:txBody>
      </p:sp>
      <p:sp>
        <p:nvSpPr>
          <p:cNvPr id="73" name="Text 71">
            <a:hlinkClick r:id="rId13" tooltip=""/>
          </p:cNvPr>
          <p:cNvSpPr/>
          <p:nvPr/>
        </p:nvSpPr>
        <p:spPr>
          <a:xfrm>
            <a:off x="8339328" y="4672584"/>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GitLab Project access tokens</a:t>
            </a:r>
            <a:endParaRPr lang="en-US" sz="1440" dirty="0"/>
          </a:p>
        </p:txBody>
      </p:sp>
      <p:sp>
        <p:nvSpPr>
          <p:cNvPr id="74" name="Text 72"/>
          <p:cNvSpPr/>
          <p:nvPr/>
        </p:nvSpPr>
        <p:spPr>
          <a:xfrm>
            <a:off x="8339328" y="4946904"/>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ロール・スコープ・実際の許可操作</a:t>
            </a:r>
            <a:endParaRPr lang="en-US" sz="1140" dirty="0"/>
          </a:p>
        </p:txBody>
      </p:sp>
      <p:sp>
        <p:nvSpPr>
          <p:cNvPr id="75" name="Shape 73"/>
          <p:cNvSpPr/>
          <p:nvPr/>
        </p:nvSpPr>
        <p:spPr>
          <a:xfrm>
            <a:off x="7479792" y="5230368"/>
            <a:ext cx="6565392" cy="557784"/>
          </a:xfrm>
          <a:prstGeom prst="roundRect">
            <a:avLst>
              <a:gd name="adj" fmla="val 13115"/>
            </a:avLst>
          </a:prstGeom>
          <a:solidFill>
            <a:srgbClr val="F3F6FA"/>
          </a:solidFill>
          <a:ln w="10160">
            <a:solidFill>
              <a:srgbClr val="F3F6FA"/>
            </a:solidFill>
            <a:prstDash val="solid"/>
          </a:ln>
        </p:spPr>
      </p:sp>
      <p:sp>
        <p:nvSpPr>
          <p:cNvPr id="76" name="Shape 74"/>
          <p:cNvSpPr/>
          <p:nvPr/>
        </p:nvSpPr>
        <p:spPr>
          <a:xfrm>
            <a:off x="7598664" y="5376672"/>
            <a:ext cx="585216" cy="265176"/>
          </a:xfrm>
          <a:prstGeom prst="roundRect">
            <a:avLst>
              <a:gd name="adj" fmla="val 27586"/>
            </a:avLst>
          </a:prstGeom>
          <a:solidFill>
            <a:srgbClr val="EDF3FA"/>
          </a:solidFill>
          <a:ln w="10160">
            <a:solidFill>
              <a:srgbClr val="EDF3FA"/>
            </a:solidFill>
            <a:prstDash val="solid"/>
          </a:ln>
        </p:spPr>
      </p:sp>
      <p:sp>
        <p:nvSpPr>
          <p:cNvPr id="77" name="Text 75"/>
          <p:cNvSpPr/>
          <p:nvPr/>
        </p:nvSpPr>
        <p:spPr>
          <a:xfrm>
            <a:off x="7662672" y="5394960"/>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C1</a:t>
            </a:r>
            <a:endParaRPr lang="en-US" sz="1100" dirty="0"/>
          </a:p>
        </p:txBody>
      </p:sp>
      <p:sp>
        <p:nvSpPr>
          <p:cNvPr id="78" name="Text 76">
            <a:hlinkClick r:id="rId14" tooltip=""/>
          </p:cNvPr>
          <p:cNvSpPr/>
          <p:nvPr/>
        </p:nvSpPr>
        <p:spPr>
          <a:xfrm>
            <a:off x="8339328" y="5303520"/>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14" invalidUrl="" action="" tgtFrame="" tooltip="" history="1" highlightClick="0" endSnd="0">
                  <a:extLst>
                    <a:ext uri="{A12FA001-AC4F-418D-AE19-62706E023703}">
                      <ahyp:hlinkClr xmlns:ahyp="http://schemas.microsoft.com/office/drawing/2018/hyperlinkcolor" val="tx"/>
                    </a:ext>
                  </a:extLst>
                </a:hlinkClick>
              </a:rPr>
              <a:t>Claude Code on Amazon Bedrock</a:t>
            </a:r>
            <a:endParaRPr lang="en-US" sz="1440" dirty="0"/>
          </a:p>
        </p:txBody>
      </p:sp>
      <p:sp>
        <p:nvSpPr>
          <p:cNvPr id="79" name="Text 77"/>
          <p:cNvSpPr/>
          <p:nvPr/>
        </p:nvSpPr>
        <p:spPr>
          <a:xfrm>
            <a:off x="8339328" y="5577840"/>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採用版とGateway経路の結合試験</a:t>
            </a:r>
            <a:endParaRPr lang="en-US" sz="1140" dirty="0"/>
          </a:p>
        </p:txBody>
      </p:sp>
      <p:sp>
        <p:nvSpPr>
          <p:cNvPr id="80" name="Shape 78"/>
          <p:cNvSpPr/>
          <p:nvPr/>
        </p:nvSpPr>
        <p:spPr>
          <a:xfrm>
            <a:off x="7479792" y="5861304"/>
            <a:ext cx="6565392" cy="557784"/>
          </a:xfrm>
          <a:prstGeom prst="roundRect">
            <a:avLst>
              <a:gd name="adj" fmla="val 13115"/>
            </a:avLst>
          </a:prstGeom>
          <a:solidFill>
            <a:srgbClr val="F3F6FA"/>
          </a:solidFill>
          <a:ln w="10160">
            <a:solidFill>
              <a:srgbClr val="F3F6FA"/>
            </a:solidFill>
            <a:prstDash val="solid"/>
          </a:ln>
        </p:spPr>
      </p:sp>
      <p:sp>
        <p:nvSpPr>
          <p:cNvPr id="81" name="Shape 79"/>
          <p:cNvSpPr/>
          <p:nvPr/>
        </p:nvSpPr>
        <p:spPr>
          <a:xfrm>
            <a:off x="7598664" y="6007608"/>
            <a:ext cx="585216" cy="265176"/>
          </a:xfrm>
          <a:prstGeom prst="roundRect">
            <a:avLst>
              <a:gd name="adj" fmla="val 27586"/>
            </a:avLst>
          </a:prstGeom>
          <a:solidFill>
            <a:srgbClr val="EDF3FA"/>
          </a:solidFill>
          <a:ln w="10160">
            <a:solidFill>
              <a:srgbClr val="EDF3FA"/>
            </a:solidFill>
            <a:prstDash val="solid"/>
          </a:ln>
        </p:spPr>
      </p:sp>
      <p:sp>
        <p:nvSpPr>
          <p:cNvPr id="82" name="Text 80"/>
          <p:cNvSpPr/>
          <p:nvPr/>
        </p:nvSpPr>
        <p:spPr>
          <a:xfrm>
            <a:off x="7662672" y="6025896"/>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C2</a:t>
            </a:r>
            <a:endParaRPr lang="en-US" sz="1100" dirty="0"/>
          </a:p>
        </p:txBody>
      </p:sp>
      <p:sp>
        <p:nvSpPr>
          <p:cNvPr id="83" name="Text 81">
            <a:hlinkClick r:id="rId15" tooltip=""/>
          </p:cNvPr>
          <p:cNvSpPr/>
          <p:nvPr/>
        </p:nvSpPr>
        <p:spPr>
          <a:xfrm>
            <a:off x="8339328" y="5934456"/>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15" invalidUrl="" action="" tgtFrame="" tooltip="" history="1" highlightClick="0" endSnd="0">
                  <a:extLst>
                    <a:ext uri="{A12FA001-AC4F-418D-AE19-62706E023703}">
                      <ahyp:hlinkClr xmlns:ahyp="http://schemas.microsoft.com/office/drawing/2018/hyperlinkcolor" val="tx"/>
                    </a:ext>
                  </a:extLst>
                </a:hlinkClick>
              </a:rPr>
              <a:t>Codex Configuration Reference</a:t>
            </a:r>
            <a:endParaRPr lang="en-US" sz="1440" dirty="0"/>
          </a:p>
        </p:txBody>
      </p:sp>
      <p:sp>
        <p:nvSpPr>
          <p:cNvPr id="84" name="Text 82"/>
          <p:cNvSpPr/>
          <p:nvPr/>
        </p:nvSpPr>
        <p:spPr>
          <a:xfrm>
            <a:off x="8339328" y="6208776"/>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モデル/API互換性と統制の成立確認</a:t>
            </a:r>
            <a:endParaRPr lang="en-US" sz="1140" dirty="0"/>
          </a:p>
        </p:txBody>
      </p:sp>
      <p:sp>
        <p:nvSpPr>
          <p:cNvPr id="85" name="Shape 83"/>
          <p:cNvSpPr/>
          <p:nvPr/>
        </p:nvSpPr>
        <p:spPr>
          <a:xfrm>
            <a:off x="7479792" y="6492240"/>
            <a:ext cx="6565392" cy="557784"/>
          </a:xfrm>
          <a:prstGeom prst="roundRect">
            <a:avLst>
              <a:gd name="adj" fmla="val 13115"/>
            </a:avLst>
          </a:prstGeom>
          <a:solidFill>
            <a:srgbClr val="F3F6FA"/>
          </a:solidFill>
          <a:ln w="10160">
            <a:solidFill>
              <a:srgbClr val="F3F6FA"/>
            </a:solidFill>
            <a:prstDash val="solid"/>
          </a:ln>
        </p:spPr>
      </p:sp>
      <p:sp>
        <p:nvSpPr>
          <p:cNvPr id="86" name="Shape 84"/>
          <p:cNvSpPr/>
          <p:nvPr/>
        </p:nvSpPr>
        <p:spPr>
          <a:xfrm>
            <a:off x="7598664" y="6638544"/>
            <a:ext cx="585216" cy="265176"/>
          </a:xfrm>
          <a:prstGeom prst="roundRect">
            <a:avLst>
              <a:gd name="adj" fmla="val 27586"/>
            </a:avLst>
          </a:prstGeom>
          <a:solidFill>
            <a:srgbClr val="EDF3FA"/>
          </a:solidFill>
          <a:ln w="10160">
            <a:solidFill>
              <a:srgbClr val="EDF3FA"/>
            </a:solidFill>
            <a:prstDash val="solid"/>
          </a:ln>
        </p:spPr>
      </p:sp>
      <p:sp>
        <p:nvSpPr>
          <p:cNvPr id="87" name="Text 85"/>
          <p:cNvSpPr/>
          <p:nvPr/>
        </p:nvSpPr>
        <p:spPr>
          <a:xfrm>
            <a:off x="7662672" y="6656832"/>
            <a:ext cx="457200" cy="219456"/>
          </a:xfrm>
          <a:prstGeom prst="rect">
            <a:avLst/>
          </a:prstGeom>
          <a:noFill/>
          <a:ln/>
        </p:spPr>
        <p:txBody>
          <a:bodyPr wrap="square" lIns="0" tIns="0" rIns="0" bIns="0" rtlCol="0" anchor="ctr">
            <a:spAutoFit/>
          </a:bodyPr>
          <a:lstStyle/>
          <a:p>
            <a:pPr algn="ctr" indent="0" marL="0">
              <a:buNone/>
            </a:pPr>
            <a:r>
              <a:rPr lang="en-US" sz="1100" b="1" dirty="0">
                <a:solidFill>
                  <a:srgbClr val="376895"/>
                </a:solidFill>
                <a:latin typeface="Noto Sans CJK JP" pitchFamily="34" charset="0"/>
                <a:ea typeface="Noto Sans CJK JP" pitchFamily="34" charset="-122"/>
                <a:cs typeface="Noto Sans CJK JP" pitchFamily="34" charset="-120"/>
              </a:rPr>
              <a:t>A5</a:t>
            </a:r>
            <a:endParaRPr lang="en-US" sz="1100" dirty="0"/>
          </a:p>
        </p:txBody>
      </p:sp>
      <p:sp>
        <p:nvSpPr>
          <p:cNvPr id="88" name="Text 86">
            <a:hlinkClick r:id="rId16" tooltip=""/>
          </p:cNvPr>
          <p:cNvSpPr/>
          <p:nvPr/>
        </p:nvSpPr>
        <p:spPr>
          <a:xfrm>
            <a:off x="8339328" y="6565392"/>
            <a:ext cx="5504688" cy="246888"/>
          </a:xfrm>
          <a:prstGeom prst="rect">
            <a:avLst/>
          </a:prstGeom>
          <a:noFill/>
          <a:ln/>
        </p:spPr>
        <p:txBody>
          <a:bodyPr wrap="square" lIns="0" tIns="0" rIns="0" bIns="0" rtlCol="0" anchor="ctr">
            <a:spAutoFit/>
          </a:bodyPr>
          <a:lstStyle/>
          <a:p>
            <a:pPr indent="0" marL="0">
              <a:buNone/>
            </a:pPr>
            <a:r>
              <a:rPr lang="en-US" sz="1440" b="1" u="sng" dirty="0">
                <a:solidFill>
                  <a:srgbClr val="142D4E"/>
                </a:solidFill>
                <a:latin typeface="Noto Sans CJK JP" pitchFamily="34" charset="0"/>
                <a:ea typeface="Noto Sans CJK JP" pitchFamily="34" charset="-122"/>
                <a:cs typeface="Noto Sans CJK JP" pitchFamily="34" charset="-120"/>
                <a:hlinkClick r:id="rId16" invalidUrl="" action="" tgtFrame="" tooltip="" history="1" highlightClick="0" endSnd="0">
                  <a:extLst>
                    <a:ext uri="{A12FA001-AC4F-418D-AE19-62706E023703}">
                      <ahyp:hlinkClr xmlns:ahyp="http://schemas.microsoft.com/office/drawing/2018/hyperlinkcolor" val="tx"/>
                    </a:ext>
                  </a:extLst>
                </a:hlinkClick>
              </a:rPr>
              <a:t>AWS GuardrailのIAM強制</a:t>
            </a:r>
            <a:endParaRPr lang="en-US" sz="1440" dirty="0"/>
          </a:p>
        </p:txBody>
      </p:sp>
      <p:sp>
        <p:nvSpPr>
          <p:cNvPr id="89" name="Text 87"/>
          <p:cNvSpPr/>
          <p:nvPr/>
        </p:nvSpPr>
        <p:spPr>
          <a:xfrm>
            <a:off x="8339328" y="6839712"/>
            <a:ext cx="5449824" cy="182880"/>
          </a:xfrm>
          <a:prstGeom prst="rect">
            <a:avLst/>
          </a:prstGeom>
          <a:noFill/>
          <a:ln/>
        </p:spPr>
        <p:txBody>
          <a:bodyPr wrap="square" lIns="0" tIns="0" rIns="0" bIns="0" rtlCol="0" anchor="ctr">
            <a:spAutoFit/>
          </a:bodyPr>
          <a:lstStyle/>
          <a:p>
            <a:pPr indent="0" marL="0">
              <a:buNone/>
            </a:pPr>
            <a:r>
              <a:rPr lang="en-US" sz="1140" dirty="0">
                <a:solidFill>
                  <a:srgbClr val="65748A"/>
                </a:solidFill>
                <a:latin typeface="Noto Sans CJK JP" pitchFamily="34" charset="0"/>
                <a:ea typeface="Noto Sans CJK JP" pitchFamily="34" charset="-122"/>
                <a:cs typeface="Noto Sans CJK JP" pitchFamily="34" charset="-120"/>
              </a:rPr>
              <a:t>対象API・条件・版の適用確認</a:t>
            </a:r>
            <a:endParaRPr lang="en-US" sz="1140" dirty="0"/>
          </a:p>
        </p:txBody>
      </p:sp>
      <p:sp>
        <p:nvSpPr>
          <p:cNvPr id="90" name="Text 88"/>
          <p:cNvSpPr/>
          <p:nvPr/>
        </p:nvSpPr>
        <p:spPr>
          <a:xfrm>
            <a:off x="704088" y="7342632"/>
            <a:ext cx="13258800" cy="228600"/>
          </a:xfrm>
          <a:prstGeom prst="rect">
            <a:avLst/>
          </a:prstGeom>
          <a:noFill/>
          <a:ln/>
        </p:spPr>
        <p:txBody>
          <a:bodyPr wrap="square" lIns="0" tIns="0" rIns="0" bIns="0" rtlCol="0" anchor="ctr">
            <a:spAutoFit/>
          </a:bodyPr>
          <a:lstStyle/>
          <a:p>
            <a:pPr indent="0" marL="0">
              <a:buNone/>
            </a:pPr>
            <a:r>
              <a:rPr lang="en-US" sz="1300" dirty="0">
                <a:solidFill>
                  <a:srgbClr val="65748A"/>
                </a:solidFill>
                <a:latin typeface="Noto Sans CJK JP" pitchFamily="34" charset="0"/>
                <a:ea typeface="Noto Sans CJK JP" pitchFamily="34" charset="-122"/>
                <a:cs typeface="Noto Sans CJK JP" pitchFamily="34" charset="-120"/>
              </a:rPr>
              <a:t>全出典URL・旧61件との対応・受入試験の詳細は、各ページのノートと別添「対応台帳・根拠」に収録しています。</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銀行向けAI開発・レビュー基盤｜リスクと対応</dc:title>
  <dc:subject>導入時／導入後 × 構成要素・境界／全体のリスクと技術・契約・運用の対応</dc:subject>
  <dc:creator>AI開発基盤 検討資料</dc:creator>
  <cp:lastModifiedBy>AI開発基盤 検討資料</cp:lastModifiedBy>
  <cp:revision>1</cp:revision>
  <dcterms:created xsi:type="dcterms:W3CDTF">2026-09-21T16:54:47Z</dcterms:created>
  <dcterms:modified xsi:type="dcterms:W3CDTF">2026-09-21T16:54:47Z</dcterms:modified>
</cp:coreProperties>
</file>