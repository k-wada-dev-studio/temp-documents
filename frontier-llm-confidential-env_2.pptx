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B3A2F"/>
                </a:solidFill>
                <a:latin typeface="Meiryo"/>
              </a:defRPr>
            </a:pPr>
            <a:r>
              <a:rPr sz="1000" b="0" i="0" u="none" strike="noStrike">
                <a:solidFill>
                  <a:srgbClr val="1B3A2F"/>
                </a:solidFill>
                <a:latin typeface="Meiryo"/>
              </a:rPr>
              <a:t>生成 AI 利用状況（150 先）</a:t>
            </a:r>
          </a:p>
        </c:rich>
      </c:tx>
      <c:layout/>
      <c:overlay val="0"/>
    </c:title>
    <c:autoTitleDeleted val="0"/>
    <c:plotArea>
      <c:layout/>
      <c:doughnutChart>
        <c:varyColors val="1"/>
        <c:ser>
          <c:idx val="0"/>
          <c:order val="0"/>
          <c:tx>
            <c:strRef>
              <c:f>Sheet1!$B$1</c:f>
              <c:strCache>
                <c:ptCount val="1"/>
                <c:pt idx="0">
                  <c:v>生成AI利用状況</c:v>
                </c:pt>
              </c:strCache>
            </c:strRef>
          </c:tx>
          <c:spPr>
            <a:solidFill>
              <a:schemeClr val="accent1"/>
            </a:solidFill>
            <a:ln w="9525" cap="flat">
              <a:solidFill>
                <a:srgbClr val="F9F9F9"/>
              </a:solidFill>
              <a:prstDash val="solid"/>
              <a:round/>
            </a:ln>
            <a:effectLst/>
          </c:spPr>
          <c:dPt>
            <c:idx val="0"/>
            <c:bubble3D val="0"/>
            <c:spPr>
              <a:solidFill>
                <a:srgbClr val="1B3A2F"/>
              </a:solidFill>
              <a:effectLst/>
            </c:spPr>
          </c:dPt>
          <c:dPt>
            <c:idx val="1"/>
            <c:bubble3D val="0"/>
            <c:spPr>
              <a:solidFill>
                <a:srgbClr val="C8891A"/>
              </a:solidFill>
              <a:effectLst/>
            </c:spPr>
          </c:dPt>
          <c:dPt>
            <c:idx val="2"/>
            <c:bubble3D val="0"/>
            <c:spPr>
              <a:solidFill>
                <a:srgbClr val="C9D6CF"/>
              </a:solidFill>
              <a:effectLst/>
            </c:spPr>
          </c:dPt>
          <c:dLbls>
            <c:dLbl>
              <c:idx val="0"/>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2"/>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利用中</c:v>
                </c:pt>
                <c:pt idx="1">
                  <c:v>試行中</c:v>
                </c:pt>
                <c:pt idx="2">
                  <c:v>未利用</c:v>
                </c:pt>
              </c:strCache>
            </c:strRef>
          </c:cat>
          <c:val>
            <c:numRef>
              <c:f>Sheet1!$B$2:$B$4</c:f>
              <c:numCache>
                <c:ptCount val="3"/>
                <c:pt idx="0">
                  <c:v>79.3</c:v>
                </c:pt>
                <c:pt idx="1">
                  <c:v>11.3</c:v>
                </c:pt>
                <c:pt idx="2">
                  <c:v>9.3</c:v>
                </c:pt>
              </c:numCache>
            </c:numRef>
          </c:val>
        </c:ser>
        <c:firstSliceAng val="0"/>
        <c:holeSize val="55"/>
      </c:doughnutChart>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B3A2F"/>
                </a:solidFill>
                <a:latin typeface="Meiryo"/>
              </a:defRPr>
            </a:pPr>
            <a:r>
              <a:rPr sz="1000" b="0" i="0" u="none" strike="noStrike">
                <a:solidFill>
                  <a:srgbClr val="1B3A2F"/>
                </a:solidFill>
                <a:latin typeface="Meiryo"/>
              </a:rPr>
              <a:t>入力を許容している情報区分</a:t>
            </a:r>
          </a:p>
        </c:rich>
      </c:tx>
      <c:layout/>
      <c:overlay val="0"/>
    </c:title>
    <c:autoTitleDeleted val="0"/>
    <c:plotArea>
      <c:layout/>
      <c:doughnutChart>
        <c:varyColors val="1"/>
        <c:ser>
          <c:idx val="0"/>
          <c:order val="0"/>
          <c:tx>
            <c:strRef>
              <c:f>Sheet1!$B$1</c:f>
              <c:strCache>
                <c:ptCount val="1"/>
                <c:pt idx="0">
                  <c:v>入力可能な情報区分</c:v>
                </c:pt>
              </c:strCache>
            </c:strRef>
          </c:tx>
          <c:spPr>
            <a:solidFill>
              <a:schemeClr val="accent1"/>
            </a:solidFill>
            <a:ln w="9525" cap="flat">
              <a:solidFill>
                <a:srgbClr val="F9F9F9"/>
              </a:solidFill>
              <a:prstDash val="solid"/>
              <a:round/>
            </a:ln>
            <a:effectLst/>
          </c:spPr>
          <c:dPt>
            <c:idx val="0"/>
            <c:bubble3D val="0"/>
            <c:spPr>
              <a:solidFill>
                <a:srgbClr val="1B3A2F"/>
              </a:solidFill>
              <a:effectLst/>
            </c:spPr>
          </c:dPt>
          <c:dPt>
            <c:idx val="1"/>
            <c:bubble3D val="0"/>
            <c:spPr>
              <a:solidFill>
                <a:srgbClr val="C8891A"/>
              </a:solidFill>
              <a:effectLst/>
            </c:spPr>
          </c:dPt>
          <c:dPt>
            <c:idx val="2"/>
            <c:bubble3D val="0"/>
            <c:spPr>
              <a:solidFill>
                <a:srgbClr val="C9D6CF"/>
              </a:solidFill>
              <a:effectLst/>
            </c:spPr>
          </c:dPt>
          <c:dLbls>
            <c:dLbl>
              <c:idx val="0"/>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2"/>
              <c:numFmt formatCode="0.0&quot;%&quot;"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機密性が高い情報まで</c:v>
                </c:pt>
                <c:pt idx="1">
                  <c:v>非機密の内部情報まで</c:v>
                </c:pt>
                <c:pt idx="2">
                  <c:v>公開情報のみ</c:v>
                </c:pt>
              </c:strCache>
            </c:strRef>
          </c:cat>
          <c:val>
            <c:numRef>
              <c:f>Sheet1!$B$2:$B$4</c:f>
              <c:numCache>
                <c:ptCount val="3"/>
                <c:pt idx="0">
                  <c:v>55.1</c:v>
                </c:pt>
                <c:pt idx="1">
                  <c:v>37.5</c:v>
                </c:pt>
                <c:pt idx="2">
                  <c:v>7.4</c:v>
                </c:pt>
              </c:numCache>
            </c:numRef>
          </c:val>
        </c:ser>
        <c:firstSliceAng val="0"/>
        <c:holeSize val="55"/>
      </c:doughnutChart>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本資料の事実関係は各スライドのノート欄に記載した一次ソースに基づく。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各スライドのノート欄に一次ソース URL を記載している。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AWS Bedrock データ取扱い: https://docs.aws.amazon.com/bedrock/latest/userguide/data-protection.html
Japan cross-region inference: https://aws.amazon.com/blogs/machine-learning/introducing-amazon-bedrock-cross-region-inference-for-claude-sonnet-4-5-and-haiku-4-5-in-japan-and-australia
金融庁 AIディスカッションペーパー 1.1 (2026-03-03): https://www.fsa.go.jp/news/r7/sonota/20260303/aidp.html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第1部はベンダー非依存の要件定義。他の CSP・将来のベンダー・open-weight の評価にもそのまま使える枠組みとして作る。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Bedrock 専有・TEE なし: https://docs.aws.amazon.com/bedrock/latest/userguide/data-protection.html / https://aws.amazon.com/confidential-computing/
Provisioned Throughput 対応モデル: https://docs.aws.amazon.com/bedrock/latest/userguide/prov-thru-supported.html
SageMaker JumpStart open-weight: https://docs.aws.amazon.com/sagemaker/latest/dg/jumpstart-foundation-models-latest.html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各要件の根拠は第 1 部（p.11〜18）および第 2 部（p.22〜30）の各スライドとノートを参照。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本マトリクスはベンダー非依存の整理。統制の様式と強度は p.9〜10、個別要件は p.11〜18 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統制の三様式（技術・契約・運用）と三機能（予防・検知・是正）は一般的なリスク管理の枠組み。本資料では、要件ごとにどの様式でどの機能を持てるかを p.18 の統制マップで整理する。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到達強度 L1〜L5 は p.9 の階梯（L1 構造的に不可能／L2 技術的に強制／L3 手続で規律／L4 契約＋独立検証／L5 契約のみ）に対応。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本スライドはベンダー非依存の要件定義。関連する法令の一次ソースは p.19〜20 および参考文献（p.55）を参照。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本スライドはベンダー非依存の要件定義。令和8年改正個人情報保護法の該当箇所は p.20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本スライドはベンダー非依存の要件定義。委託先の内部不正の国内先例は付録 p.46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本スライドはベンダー非依存の要件定義。漏えい時の報告義務の詳細は p.35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本スライドはベンダー非依存の要件定義。国内の委託先起因事案と当局対応は付録 p.46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本スライドはベンダー非依存の要件定義。具体的な数値と契約条件は A：p.23 と付録 p.47〜50、B：p.26〜27、C：p.29〜30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銀行法施行規則 13条の6の8: https://www.japaneselawtranslation.go.jp/ja/laws/view/2691
主要行等向け総合的な監督指針: https://www.fsa.go.jp/common/law/guide/city/index.html（2026-02-27 改正: https://www.fsa.go.jp/news/r7/sonota/20260227/20260227.html）
サイバーセキュリティGL: https://www.fsa.go.jp/common/law/cybersecurity_guideline.pdf
FISC 第14版: https://www.fisc.or.jp/topics/007222.php ／ 第13版: https://www.fisc.or.jp/topics/006665.php
AWS FISC リファレンス第13版対応 (2025-11-27): https://aws.amazon.com/jp/blogs/news/fiscreference-and-lens-fisc13-update/
AWS 金融リファレンスアーキテクチャ日本版 2025: https://aws.amazon.com/jp/blogs/news/fin-reference-arch-v1-6-genai/
ISMAP: https://aws.amazon.com/compliance/services-in-scope/ISMAP/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PPC Q&amp;A: https://www.ppc.go.jp/all_faq_index/faq1-q7-53/ , https://www.ppc.go.jp/all_faq_index/faq1-q12-3/ , https://www.ppc.go.jp/all_faq_index/faq1-q10-25/
令和8年改正法: https://www.ppc.go.jp/news/press/2026/260717/
金融分野GL: https://www.ppc.go.jp/files/pdf/240312_kinyubunya_GL.pdf ／ 実務指針: https://www.fsa.go.jp/common/law/kj-hogo/04.pdf
経済安保 金融庁解説: https://www.fsa.go.jp/news/r5/economicsecurity/infra_kaisetsu_financesector.pdf ／ 内閣府: https://www.cao.go.jp/keizai_anzen_hosho/suishinhou/infra/infra.html
AWS 経済安保討議資料 (2025-06): https://d1.awsstatic.com/whitepapers/ja_JP/Economic_Security_Act_Discussion_Paper.pdf
アクセスFSA 271: https://www.fsa.go.jp/access/r7/271/271_04.pdf
AI DP 1.1: https://www.fsa.go.jp/news/r7/sonota/20260303/aidp.html
フロンティアAI要請: https://www.fsa.go.jp/news/r7/sonota/20260522-5/20260522.html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VPC endpoints: https://docs.aws.amazon.com/bedrock/latest/userguide/vpc-interface-endpoints.html
IAM condition keys: https://docs.aws.amazon.com/service-authorization/latest/reference/list_amazonbedrock.html
Data retention mode / SCP: https://docs.aws.amazon.com/bedrock/latest/userguide/data-retention.html
CMK: https://docs.aws.amazon.com/bedrock/latest/userguide/data-encryption.html
Invocation logging: https://docs.aws.amazon.com/bedrock/latest/userguide/model-invocation-logging.html
AWS 金融リファレンスアーキテクチャ日本版 2025 生成AI編: https://aws.amazon.com/jp/blogs/news/fin-reference-arch-v1-6-genai/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根拠は付録 p.40〜47 の各スライドとそのノートを参照。
https://docs.aws.amazon.com/bedrock/latest/userguide/abuse-detection.html
https://docs.aws.amazon.com/bedrock/latest/userguide/data-retention.html
https://aws.amazon.com/blogs/machine-learning/exploring-the-zero-operator-access-design-of-mantle/
https://aws.amazon.com/bedrock/sla/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Guardrails tiers: https://docs.aws.amazon.com/bedrock/latest/userguide/guardrails-tiers.html
Guardrails cross-region (apac.guardrail.v1:0): https://docs.aws.amazon.com/bedrock/latest/userguide/guardrails-cross-region-support.html
Guardrails 日本語対応 (AWS Japan blog 2025-06-26): https://aws.amazon.com/jp/blogs/news/amazon-bedrock-guardrails-supports-japanese
Sensitive information filters: https://docs.aws.amazon.com/bedrock/latest/userguide/guardrails-sensitive-filters.html
Data retention: https://docs.aws.amazon.com/bedrock/latest/userguide/data-retention.html
Nitro Enclaves: https://aws.amazon.com/ec2/nitro/nitro-enclaves/
Model invocation logging: https://docs.aws.amazon.com/bedrock/latest/userguide/model-invocation-logging.html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Deployment types: https://learn.microsoft.com/en-us/azure/foundry/foundry-models/concepts/deployment-types
Private Link: https://learn.microsoft.com/en-us/azure/ai-foundry/how-to/configure-private-link
CMK: https://learn.microsoft.com/en-us/azure/foundry/concepts/customer-managed-keys
Azure Policy（モデルデプロイ統制）: https://learn.microsoft.com/en-us/azure/foundry/how-to/model-deployment-policy
Content Safety のリージョン内完結: https://learn.microsoft.com/en-us/legal/cognitive-services/content-safety/data-privacy
PII エンティティ（日本固有）: https://learn.microsoft.com/en-us/azure/ai-services/language-service/personally-identifiable-information/concepts/entity-categories
abuse monitoring: https://learn.microsoft.com/en-us/azure/foundry/responsible-ai/openai/data-privacy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data-privacy: https://learn.microsoft.com/en-us/azure/foundry/responsible-ai/openai/data-privacy
limited-access（modified abuse monitoring）: https://learn.microsoft.com/en-us/azure/foundry/responsible-ai/openai/limited-access
deployment types: https://learn.microsoft.com/en-us/azure/foundry/foundry-models/concepts/deployment-types
CMK: https://learn.microsoft.com/en-us/azure/foundry/concepts/customer-managed-keys
tracing の content recording: https://learn.microsoft.com/en-us/azure/foundry/observability/how-to/trace-agent-client-side
Stored completions 廃止: https://learn.microsoft.com/en-us/azure/foundry-classic/openai/how-to/stored-completions
PTU 容量: https://learn.microsoft.com/en-us/azure/ai-foundry/openai/concepts/provisioned-throughput
モデル廃止: https://learn.microsoft.com/en-us/azure/ai-foundry/openai/concepts/model-retirements
Financial Services Amendment: https://learn.microsoft.com/en-us/compliance/regulatory/offering-eba-eu
FISC: https://learn.microsoft.com/en-us/compliance/regulatory/offering-fisc-japan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Region availability: https://learn.microsoft.com/en-us/azure/foundry/foundry-models/concepts/models-sold-directly-by-azure-region-availability
Deployment types（APAC Data Zone の但し書き）: https://learn.microsoft.com/en-us/azure/foundry/foundry-models/concepts/deployment-types
Provisioned throughput（容量保証なし）: https://learn.microsoft.com/en-us/azure/ai-foundry/openai/concepts/provisioned-throughput
Monitor reference: https://learn.microsoft.com/en-us/azure/foundry-classic/openai/monitor-openai-reference
Tracing content recording: https://learn.microsoft.com/en-us/azure/foundry/observability/how-to/trace-agent-client-side
Stored completions 廃止: https://learn.microsoft.com/en-us/azure/foundry-classic/openai/how-to/stored-completions
Model retirements: https://learn.microsoft.com/en-us/azure/ai-foundry/openai/concepts/model-retirements
Claude on Foundry: https://learn.microsoft.com/en-us/azure/foundry/responsible-ai/claude-models/data-privacy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restrictEndpointUsage: https://docs.cloud.google.com/docs/security/compliance/restrict-endpoint-usage
resourceLocations の適用範囲（SDK/REST に効かない）: https://docs.cloud.google.com/organization-policy/reference/restrict-locations-supported-services
VPC Service Controls: https://docs.cloud.google.com/vpc-service-controls/docs/supported-products
Private Service Connect: https://docs.cloud.google.com/vertex-ai/docs/general/vertex-psc-gen-ai
request-response logging: https://docs.cloud.google.com/vertex-ai/generative-ai/docs/multimodal/request-response-logging
abuse monitoring: https://docs.cloud.google.com/vertex-ai/generative-ai/docs/learn/abuse-monitoring
data residency の除外（RAG Engine / Grounding with Google Search）: https://cloud.google.com/terms/data-residency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abuse monitoring: https://docs.cloud.google.com/vertex-ai/generative-ai/docs/learn/abuse-monitoring
Access Transparency 対応表と但し書き: https://docs.cloud.google.com/assured-workloads/access-transparency/docs/supported-services
Access Approval 対応表: https://docs.cloud.google.com/assured-workloads/access-approval/docs/supported-services
KAJ 対応表: https://docs.cloud.google.com/assured-workloads/key-access-justifications/docs/supported-services
VPC-SC 対応: https://docs.cloud.google.com/vpc-service-controls/docs/supported-products
resourceLocations: https://docs.cloud.google.com/organization-policy/reference/restrict-locations-supported-services
request-response logging: https://docs.cloud.google.com/vertex-ai/generative-ai/docs/multimodal/request-response-logging
CDPA（Data Incident・監査・削除）: https://cloud.google.com/terms/data-processing-addendum
GCP TOS（責任制限・準拠法）: https://cloud.google.com/terms
Gemini Online Inference SLA: https://cloud.google.com/vertex-ai/generative-ai/sla
ISMAP: https://cloud.google.com/blog/ja/products/identity-security/completed-ismap-registration-for-vertex-ai/
FISC リファレンス（Jagu'e'r 作成・第11版）: https://cloud.google.com/blog/ja/topics/financial-services/security-reference-for-google-cloud-and-google-workspace-for-financial-institutions/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GCP TOS 14.12(c): https://cloud.google.com/terms
resourceLocations の適用範囲: https://docs.cloud.google.com/organization-policy/reference/restrict-locations-supported-services
Access Transparency 対応表の但し書き: https://docs.cloud.google.com/assured-workloads/access-transparency/docs/supported-services
KAJ 対応表: https://docs.cloud.google.com/assured-workloads/key-access-justifications/docs/supported-services
Assured Workloads control packages: https://docs.cloud.google.com/assured-workloads/docs/control-packages
Gemini Online Inference SLA: https://cloud.google.com/vertex-ai/generative-ai/sla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各項目の根拠は A：p.22〜24 と付録 p.40〜50、B：p.25〜27、C：p.28〜30 の各スライドとノートを参照。
Microsoft の 72 時間: https://learn.microsoft.com/en-us/compliance/regulatory/gdpr-breach-notification（“no more than 72 hours from the time it declared a breach”）。DPA 原本（docx）での条項位置は法務レビューで確認。
AWS DPA §9.1（時間の定めなし）／Google CDPA 7.2.1（同）
GCP TOS 14.12(c)（準拠法）: https://cloud.google.com/terms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階層名・例は仮置き。当行の情報分類規程を受領後に差し替える。
日銀 2026-08 調査で「機密性が高い情報まで入力可」と回答した金融機関は 55.1%（付録 p.54）。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※「4 つの局面」の区分は当行整理。AI DP 1.1 本文はユースケースを社内利用／間接利用／直接利用で分類しており、4 局面という枠組みそのものの記載はない。
金融庁 AIディスカッションペーパー 1.1 (2026-03-03): https://www.fsa.go.jp/news/r7/sonota/20260303/aidp_version1.1.pdf
概要: https://www.fsa.go.jp/news/r7/sonota/20260303/aidp_version1.1_summary.pdf
FISC 第14版（2026-03 公表、AI 利用ポリシー周知等）: https://www.fisc.or.jp/topics/007222.php（一次ソース本文は未取得、二次情報で補完）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PPC 漏えい等報告: https://www.ppc.go.jp/personalinfo/legal/leakAction/
委託先で漏えいした場合（法26条1項ただし書・規則9条）: https://www.ppc.go.jp/all_faq_index/faq3-qb3-8/
金融分野GL 第11条: https://www.ppc.go.jp/files/pdf/240312_kinyubunya_GL.pdf
監督指針 III-3-7-1／銀行法53条: https://www.fsa.go.jp/common/law/guide/city/03c1.html
共通様式化（2025-09-26）: https://www.fsa.go.jp/news/r7/sonota/20250926/20250926-2.html
サイバーセキュリティGL 2.6: https://www.fsa.go.jp/common/law/cybersecurity_guideline.pdf
AWS DPA §9: https://d1.awsstatic.com/legal/aws-dpa/aws-dpa.pdf
※銀行法施行規則35条の不祥事件該当性は未確認。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日本銀行 FSR 別冊 2026-08-06: https://www.boj.or.jp/research/brp/fsr/fsrb260806.htm
金融庁 AIディスカッションペーパー 1.1: https://www.fsa.go.jp/news/r7/sonota/20260303/aidp.html
統制マップは p.10、漏えい時の報告義務は p.35。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Geographic cross-region inference: https://docs.aws.amazon.com/bedrock/latest/userguide/geographic-cross-region-inference.html
Securing CRIS（global は aws:RequestedRegion = unspecified）: https://aws.amazon.com/blogs/machine-learning/securing-amazon-bedrock-cross-region-inference-geographic-and-global/
Japan CRIS launch: https://aws.amazon.com/blogs/machine-learning/introducing-amazon-bedrock-cross-region-inference-for-claude-sonnet-4-5-and-haiku-4-5-in-japan-and-australia/
Guardrails cross-region: https://docs.aws.amazon.com/bedrock/latest/userguide/guardrails-cross-region-support.html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Abuse detection / ZOA・ZDR・モデル別例外: https://docs.aws.amazon.com/bedrock/latest/userguide/abuse-detection.html
Data retention modes と SCP 例: https://docs.aws.amazon.com/bedrock/latest/userguide/data-retention.html
AWS Customer Agreement §9: https://aws.amazon.com/agreement/
令和8年改正個人情報保護法: https://www.ppc.go.jp/files/pdf/260717_kaiseihounitsuite.pdf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Bedrock FAQ: https://aws.amazon.com/bedrock/faqs/
Anthropic on Bedrock Commercial Terms（AWS legal 掲載）: https://aws.amazon.com/legal/bedrock/third-party-models/
Anthropic Commercial Terms: https://www.anthropic.com/legal/commercial-terms
Abuse detection: https://docs.aws.amazon.com/bedrock/latest/userguide/abuse-detection.html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Abuse detection（ZOA）: https://docs.aws.amazon.com/bedrock/latest/userguide/abuse-detection.html
Mantle の zero operator access: https://aws.amazon.com/blogs/machine-learning/exploring-the-zero-operator-access-design-of-mantle/
Nitro System — No AWS operator access: https://docs.aws.amazon.com/whitepapers/latest/security-design-of-aws-nitro-system/no-aws-operator-access.html
NCC Group 評価: https://www.nccgroup.com/research/public-report-aws-nitro-system-api-security-claims/
CLOUD Act: https://aws.amazon.com/compliance/cloud-act/
Sub-processors: https://aws.amazon.com/compliance/sub-processors/ ／ Third-party models: https://aws.amazon.com/legal/bedrock/third-party-models/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VPC endpoints: https://docs.aws.amazon.com/bedrock/latest/userguide/vpc-interface-endpoints.html
aws:SourceVpce のキー不在挙動: https://docs.aws.amazon.com/IAM/latest/UserGuide/reference_policies_condition-keys.html
AWS Config managed rules（Bedrock 関連は AgentCore 中心）: https://docs.aws.amazon.com/config/latest/developerguide/managed-rules-by-aws-config.html
CloudTrail（management event、本文は含まれない）: https://docs.aws.amazon.com/bedrock/latest/userguide/logging-using-cloudtrail.html
GuardDuty AI Protection: https://docs.aws.amazon.com/guardduty/latest/ug/findings-ai-protection.html
AgentCore VPC: https://docs.aws.amazon.com/bedrock-agentcore/latest/devguide/agentcore-vpc.html
AWS DPA §9: https://d1.awsstatic.com/legal/aws-dpa/aws-dpa.pdf
PPC 漏えい報告: https://www.ppc.go.jp/personalinfo/legal/leakAction/ ／ 委託先の場合: https://www.ppc.go.jp/all_faq_index/faq3-qb3-8/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Model invocation logging: https://docs.aws.amazon.com/bedrock/latest/userguide/model-invocation-logging.html
CloudTrail: https://docs.aws.amazon.com/bedrock/latest/userguide/logging-using-cloudtrail.html
Data protection（Macie 推奨、TLS）: https://docs.aws.amazon.com/bedrock/latest/userguide/data-protection.html
Security Hub Bedrock controls: https://docs.aws.amazon.com/securityhub/latest/userguide/bedrock-controls.html ／ AI Security Best Practices: https://docs.aws.amazon.com/securityhub/latest/userguide/standards-ai-security.html
責任共有モデル: https://aws.amazon.com/compliance/shared-responsibility-model/
金融分野GL 第11条: https://www.ppc.go.jp/files/pdf/240312_kinyubunya_GL.pdf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AWS DPA §6・§10・§11: https://d1.awsstatic.com/legal/aws-dpa/aws-dpa.pdf
Sub-processors: https://aws.amazon.com/compliance/sub-processors/
Third-party models（Anthropic on Bedrock 条項）: https://aws.amazon.com/legal/bedrock/third-party-models/
ISMAP: https://aws.amazon.com/compliance/services-in-scope/ISMAP/
AWS FISC リファレンス: https://aws.amazon.com/jp/blogs/news/fiscreference-and-lens-fisc13-update/
PPC 報道発表: https://www.ppc.go.jp/files/pdf/240124_houdou.pdf ／ https://www.ppc.go.jp/files/pdf/240328_houdou.pdf ／ https://www.ppc.go.jp/files/pdf/250319_houdou.pdf
OCC: https://www.occ.gov/news-issuances/news-releases/2020/nr-occ-2020-101.html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Bedrock SLA: https://aws.amazon.com/bedrock/sla/
Service tiers: https://docs.aws.amazon.com/bedrock/latest/userguide/service-tiers-inference.html
CRIS は DR ではない: https://aws.amazon.com/blogs/machine-learning/optimize-your-applications-for-scale-and-reliability-on-amazon-bedrock/
Model lifecycle: https://docs.aws.amazon.com/bedrock/latest/userguide/model-lifecycle.html
監督指針 III-3-7-1: https://www.fsa.go.jp/common/law/guide/city/03c1.html
共通様式化（2025-09-26）: https://www.fsa.go.jp/news/r7/sonota/20250926/20250926-2.html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Bedrock SLA: https://aws.amazon.com/bedrock/sla/
Service tiers: https://docs.aws.amazon.com/bedrock/latest/userguide/service-tiers-inference.html ／ Reserved tier: https://aws.amazon.com/about-aws/whats-new/2025/11/amazon-bedrock-reserved-service-tier
CRIS は DR ではない（AWS blog 2026-02）: https://aws.amazon.com/blogs/machine-learning/optimize-your-applications-for-scale-and-reliability-on-amazon-bedrock/
Quotas / burndown: https://docs.aws.amazon.com/bedrock/latest/userguide/quotas-token-burndown.html
OpenSearch Serverless 制限: https://docs.aws.amazon.com/opensearch-service/latest/developerguide/serverless-overview.html
Model lifecycle: https://docs.aws.amazon.com/bedrock/latest/userguide/model-lifecycle.html ／ Sonnet 4.5 model card: https://docs.aws.amazon.com/bedrock/latest/userguide/model-card-anthropic-claude-sonnet-4-5.html
Well-Architected GenAI Lens Reliability (GENREL01-06): https://docs.aws.amazon.com/wellarchitected/latest/generative-ai-lens/reliability.html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AWS Japan 契約主体: https://aws.amazon.com/jp/legal/awsjp/
請求書・消費税（Anthropic 媒介者交付特例）: https://aws.amazon.com/jp/local/invoice-faq
Bedrock pricing: https://aws.amazon.com/bedrock/pricing/ ／ global 比 10% 安: https://docs.aws.amazon.com/bedrock/latest/userguide/global-cross-region-inference.html
Anthropic 標準価格: https://platform.claude.com/docs/en/about-claude/pricing
Reserved tier: https://aws.amazon.com/about-aws/whats-new/2025/11/amazon-bedrock-reserved-service-tier ／ Provisioned Throughput: https://docs.aws.amazon.com/bedrock/latest/userguide/prov-throughput.html
Model access / use case form / EULA: https://docs.aws.amazon.com/bedrock/latest/userguide/model-access.html
Support pricing: https://aws.amazon.com/premiumsupport/pricing/
Model lifecycle pricing: https://aws.amazon.com/blogs/machine-learning/understanding-amazon-bedrock-model-lifecycle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CloudWatch metrics: https://docs.aws.amazon.com/bedrock/latest/userguide/monitoring-cw.html
Model invocation logging: https://docs.aws.amazon.com/bedrock/latest/userguide/model-invocation-logging.html
AWS Health planned lifecycle events: https://docs.aws.amazon.com/health/latest/ug/aws-health-planned-lifecycle-events.html
Application inference profiles: https://docs.aws.amazon.com/bedrock/latest/userguide/inference-profiles-create.html
Prompt management: https://docs.aws.amazon.com/bedrock/latest/userguide/prompt-management.html
Throttling guide: https://aws.amazon.com/blogs/machine-learning/optimize-your-applications-for-scale-and-reliability-on-amazon-bedrock/
Well-Architected GenAI Lens: https://docs.aws.amazon.com/wellarchitected/latest/generative-ai-lens/operational-excellence.html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Data protection in Amazon Bedrock（Model Deployment Account）: https://docs.aws.amazon.com/bedrock/latest/userguide/data-protection.html
AWS KC: https://repost.aws/knowledge-center/amazon-bedrock-model-data-use
Anthropic Commercial Terms: https://www.anthropic.com/legal/commercial-terms
Anthropic on Bedrock Terms (2023-12): https://www-cdn.anthropic.com/6b68a6508f0210c5fe08f0199caa05c4ee6fb4dc/Anthropic-on-Bedrock-Commercial-Terms-of-Service_Dec_2023.pdf
Compliance in scope: https://aws.amazon.com/compliance/services-in-scope/ISMAP/ , https://aws.amazon.com/compliance/services-in-scope/SOC/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https://repost.aws/knowledge-center/amazon-bedrock-model-data-use
https://docs.aws.amazon.com/bedrock/latest/userguide/data-protection.html
https://docs.aws.amazon.com/bedrock/latest/userguide/data-retention.html
https://docs.aws.amazon.com/bedrock/latest/userguide/abuse-detection.html
https://www.anthropic.com/legal/commercial-terms
https://platform.claude.com/docs/en/build-with-claude/claude-in-amazon-bedrock
https://privacy.claude.com/en/articles/15425996-data-retention-practices-for-covered-models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Model cards（Regional availability / Inference profile IDs）: https://docs.aws.amazon.com/bedrock/latest/userguide/model-cards.html
Opus 4.8: https://docs.aws.amazon.com/bedrock/latest/userguide/model-card-anthropic-claude-opus-4-8.html
Sonnet 5: https://docs.aws.amazon.com/bedrock/latest/userguide/model-card-anthropic-claude-sonnet-5.html
Fable 5: https://docs.aws.amazon.com/bedrock/latest/userguide/model-card-anthropic-claude-fable-5.html
Japan CRIS launch blog (2025-10-31): https://aws.amazon.com/blogs/machine-learning/introducing-amazon-bedrock-cross-region-inference-for-claude-sonnet-4-5-and-haiku-4-5-in-japan-and-australia
Cross-region inference: https://docs.aws.amazon.com/bedrock/latest/userguide/cross-region-inference.html
Service tiers: https://docs.aws.amazon.com/bedrock/latest/userguide/service-tiers-inference.html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日銀 FSR 別冊 2026-08-06: https://www.boj.or.jp/research/brp/fsr/fsrb260806.htm （PDF: https://www.boj.or.jp/research/brp/fsr/data/fsrb260806.pdf）
みずほFG 2025-12-01: https://www.mizuho-fg.co.jp/release/pdf/20251201release_jp.pdf
MUFG 2025-11-12: https://www.mufg.jp/dam/pressrelease/2025/pdf/news-20251112-001_ja.pdf ／ AWS Japan blog 2025-01-29: https://aws.amazon.com/jp/blogs/news/generativeai-interview-finance-team/
野村 AWS 事例: https://aws.amazon.com/solutions/case-studies/bedrock-nomura/
SMBC AI オペレーター (IBM 2026-02-18): https://jp.newsroom.ibm.com/2026-02-18-SMBC-AI-Operator
※MUFG の Bedrock 利用詳細は AWS ブログ・報道ベース。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www.fsa.go.jp/news/r7/sonota/20260303/aidp.html" TargetMode="External"/><Relationship Id="rId2" Type="http://schemas.openxmlformats.org/officeDocument/2006/relationships/hyperlink" Target="https://www.fsa.go.jp/news/r7/sonota/20260522-5/20260522.html" TargetMode="External"/><Relationship Id="rId3" Type="http://schemas.openxmlformats.org/officeDocument/2006/relationships/hyperlink" Target="https://www.fsa.go.jp/common/law/guide/city/index.html" TargetMode="External"/><Relationship Id="rId4" Type="http://schemas.openxmlformats.org/officeDocument/2006/relationships/hyperlink" Target="https://www.japaneselawtranslation.go.jp/ja/laws/view/2691" TargetMode="External"/><Relationship Id="rId5" Type="http://schemas.openxmlformats.org/officeDocument/2006/relationships/hyperlink" Target="https://www.fsa.go.jp/common/law/cybersecurity_guideline.pdf" TargetMode="External"/><Relationship Id="rId6" Type="http://schemas.openxmlformats.org/officeDocument/2006/relationships/hyperlink" Target="https://www.fisc.or.jp/topics/007222.php" TargetMode="External"/><Relationship Id="rId7" Type="http://schemas.openxmlformats.org/officeDocument/2006/relationships/hyperlink" Target="https://www.fisc.or.jp/document/public/file/ai_opinion_20240924.pdf" TargetMode="External"/><Relationship Id="rId8" Type="http://schemas.openxmlformats.org/officeDocument/2006/relationships/hyperlink" Target="https://www.ppc.go.jp/all_faq_index/faq1-q7-53/" TargetMode="External"/><Relationship Id="rId9" Type="http://schemas.openxmlformats.org/officeDocument/2006/relationships/hyperlink" Target="https://www.ppc.go.jp/news/press/2026/260717/" TargetMode="External"/><Relationship Id="rId10" Type="http://schemas.openxmlformats.org/officeDocument/2006/relationships/hyperlink" Target="https://www.ppc.go.jp/files/pdf/240312_kinyubunya_GL.pdf" TargetMode="External"/><Relationship Id="rId11" Type="http://schemas.openxmlformats.org/officeDocument/2006/relationships/hyperlink" Target="https://www.fsa.go.jp/news/r5/economicsecurity/infra_kaisetsu_financesector.pdf" TargetMode="External"/><Relationship Id="rId12" Type="http://schemas.openxmlformats.org/officeDocument/2006/relationships/hyperlink" Target="https://www.fsa.go.jp/access/r7/271/271_04.pdf" TargetMode="External"/><Relationship Id="rId13" Type="http://schemas.openxmlformats.org/officeDocument/2006/relationships/hyperlink" Target="https://www.boj.or.jp/research/brp/fsr/fsrb260806.htm" TargetMode="External"/><Relationship Id="rId14" Type="http://schemas.openxmlformats.org/officeDocument/2006/relationships/hyperlink" Target="https://www.ppc.go.jp/personalinfo/legal/leakAction/" TargetMode="External"/><Relationship Id="rId15" Type="http://schemas.openxmlformats.org/officeDocument/2006/relationships/hyperlink" Target="https://www.ppc.go.jp/all_faq_index/faq3-qb3-8/" TargetMode="External"/><Relationship Id="rId16" Type="http://schemas.openxmlformats.org/officeDocument/2006/relationships/hyperlink" Target="https://www.ppc.go.jp/files/pdf/240124_houdou.pdf" TargetMode="External"/><Relationship Id="rId17" Type="http://schemas.openxmlformats.org/officeDocument/2006/relationships/hyperlink" Target="https://www.ppc.go.jp/files/pdf/240328_houdou.pdf" TargetMode="External"/><Relationship Id="rId18" Type="http://schemas.openxmlformats.org/officeDocument/2006/relationships/hyperlink" Target="https://www.occ.gov/news-issuances/news-releases/2020/nr-occ-2020-101.html" TargetMode="External"/><Relationship Id="rId19" Type="http://schemas.openxmlformats.org/officeDocument/2006/relationships/hyperlink" Target="https://genai.owasp.org/llm-top-10/" TargetMode="External"/><Relationship Id="rId20" Type="http://schemas.openxmlformats.org/officeDocument/2006/relationships/slideLayout" Target="../slideLayouts/slideLayout1.xml"/><Relationship Id="rId21"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docs.aws.amazon.com/bedrock/latest/userguide/data-protection.html" TargetMode="External"/><Relationship Id="rId2" Type="http://schemas.openxmlformats.org/officeDocument/2006/relationships/hyperlink" Target="https://repost.aws/knowledge-center/amazon-bedrock-model-data-use" TargetMode="External"/><Relationship Id="rId3" Type="http://schemas.openxmlformats.org/officeDocument/2006/relationships/hyperlink" Target="https://docs.aws.amazon.com/bedrock/latest/userguide/data-retention.html" TargetMode="External"/><Relationship Id="rId4" Type="http://schemas.openxmlformats.org/officeDocument/2006/relationships/hyperlink" Target="https://docs.aws.amazon.com/bedrock/latest/userguide/abuse-detection.html" TargetMode="External"/><Relationship Id="rId5" Type="http://schemas.openxmlformats.org/officeDocument/2006/relationships/hyperlink" Target="https://aws.amazon.com/blogs/machine-learning/introducing-amazon-bedrock-cross-region-inference-for-claude-sonnet-4-5-and-haiku-4-5-in-japan-and-australia" TargetMode="External"/><Relationship Id="rId6" Type="http://schemas.openxmlformats.org/officeDocument/2006/relationships/hyperlink" Target="https://docs.aws.amazon.com/bedrock/latest/userguide/model-cards.html" TargetMode="External"/><Relationship Id="rId7" Type="http://schemas.openxmlformats.org/officeDocument/2006/relationships/hyperlink" Target="https://docs.aws.amazon.com/bedrock/latest/userguide/vpc-interface-endpoints.html" TargetMode="External"/><Relationship Id="rId8" Type="http://schemas.openxmlformats.org/officeDocument/2006/relationships/hyperlink" Target="https://docs.aws.amazon.com/service-authorization/latest/reference/list_amazonbedrock.html" TargetMode="External"/><Relationship Id="rId9" Type="http://schemas.openxmlformats.org/officeDocument/2006/relationships/hyperlink" Target="https://docs.aws.amazon.com/bedrock/latest/userguide/guardrails-cross-region-support.html" TargetMode="External"/><Relationship Id="rId10" Type="http://schemas.openxmlformats.org/officeDocument/2006/relationships/hyperlink" Target="https://docs.aws.amazon.com/bedrock/latest/userguide/model-invocation-logging.html" TargetMode="External"/><Relationship Id="rId11" Type="http://schemas.openxmlformats.org/officeDocument/2006/relationships/hyperlink" Target="https://aws.amazon.com/compliance/services-in-scope/ISMAP/" TargetMode="External"/><Relationship Id="rId12" Type="http://schemas.openxmlformats.org/officeDocument/2006/relationships/hyperlink" Target="https://aws.amazon.com/jp/blogs/news/fiscreference-and-lens-fisc13-update/" TargetMode="External"/><Relationship Id="rId13" Type="http://schemas.openxmlformats.org/officeDocument/2006/relationships/hyperlink" Target="https://aws.amazon.com/jp/blogs/news/fin-reference-arch-v1-6-genai/" TargetMode="External"/><Relationship Id="rId14" Type="http://schemas.openxmlformats.org/officeDocument/2006/relationships/hyperlink" Target="https://d1.awsstatic.com/whitepapers/ja_JP/Economic_Security_Act_Discussion_Paper.pdf" TargetMode="External"/><Relationship Id="rId15" Type="http://schemas.openxmlformats.org/officeDocument/2006/relationships/hyperlink" Target="https://www.anthropic.com/legal/commercial-terms" TargetMode="External"/><Relationship Id="rId16" Type="http://schemas.openxmlformats.org/officeDocument/2006/relationships/hyperlink" Target="https://privacy.claude.com/en/articles/15425996-data-retention-practices-for-covered-models" TargetMode="External"/><Relationship Id="rId17" Type="http://schemas.openxmlformats.org/officeDocument/2006/relationships/slideLayout" Target="../slideLayouts/slideLayout1.xml"/><Relationship Id="rId1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aws.amazon.com/bedrock/sla/" TargetMode="External"/><Relationship Id="rId2" Type="http://schemas.openxmlformats.org/officeDocument/2006/relationships/hyperlink" Target="https://docs.aws.amazon.com/bedrock/latest/userguide/service-tiers-inference.html" TargetMode="External"/><Relationship Id="rId3" Type="http://schemas.openxmlformats.org/officeDocument/2006/relationships/hyperlink" Target="https://docs.aws.amazon.com/bedrock/latest/userguide/quotas-token-burndown.html" TargetMode="External"/><Relationship Id="rId4" Type="http://schemas.openxmlformats.org/officeDocument/2006/relationships/hyperlink" Target="https://docs.aws.amazon.com/bedrock/latest/userguide/model-lifecycle.html" TargetMode="External"/><Relationship Id="rId5" Type="http://schemas.openxmlformats.org/officeDocument/2006/relationships/hyperlink" Target="https://aws.amazon.com/blogs/machine-learning/optimize-your-applications-for-scale-and-reliability-on-amazon-bedrock/" TargetMode="External"/><Relationship Id="rId6" Type="http://schemas.openxmlformats.org/officeDocument/2006/relationships/hyperlink" Target="https://aws.amazon.com/agreement/" TargetMode="External"/><Relationship Id="rId7" Type="http://schemas.openxmlformats.org/officeDocument/2006/relationships/hyperlink" Target="https://d1.awsstatic.com/legal/aws-dpa/aws-dpa.pdf" TargetMode="External"/><Relationship Id="rId8" Type="http://schemas.openxmlformats.org/officeDocument/2006/relationships/hyperlink" Target="https://aws.amazon.com/compliance/sub-processors/" TargetMode="External"/><Relationship Id="rId9" Type="http://schemas.openxmlformats.org/officeDocument/2006/relationships/hyperlink" Target="https://aws.amazon.com/legal/bedrock/third-party-models/" TargetMode="External"/><Relationship Id="rId10" Type="http://schemas.openxmlformats.org/officeDocument/2006/relationships/hyperlink" Target="https://aws.amazon.com/compliance/cloud-act/" TargetMode="External"/><Relationship Id="rId11" Type="http://schemas.openxmlformats.org/officeDocument/2006/relationships/hyperlink" Target="https://aws.amazon.com/compliance/shared-responsibility-model/" TargetMode="External"/><Relationship Id="rId12" Type="http://schemas.openxmlformats.org/officeDocument/2006/relationships/hyperlink" Target="https://docs.aws.amazon.com/whitepapers/latest/security-design-of-aws-nitro-system/no-aws-operator-access.html" TargetMode="External"/><Relationship Id="rId13" Type="http://schemas.openxmlformats.org/officeDocument/2006/relationships/hyperlink" Target="https://aws.amazon.com/blogs/machine-learning/exploring-the-zero-operator-access-design-of-mantle/" TargetMode="External"/><Relationship Id="rId14" Type="http://schemas.openxmlformats.org/officeDocument/2006/relationships/hyperlink" Target="https://www.nccgroup.com/research/public-report-aws-nitro-system-api-security-claims/" TargetMode="External"/><Relationship Id="rId15" Type="http://schemas.openxmlformats.org/officeDocument/2006/relationships/hyperlink" Target="https://aws.amazon.com/blogs/machine-learning/securing-amazon-bedrock-cross-region-inference-geographic-and-global/" TargetMode="External"/><Relationship Id="rId16" Type="http://schemas.openxmlformats.org/officeDocument/2006/relationships/hyperlink" Target="https://docs.aws.amazon.com/bedrock/latest/userguide/logging-using-cloudtrail.html" TargetMode="External"/><Relationship Id="rId17" Type="http://schemas.openxmlformats.org/officeDocument/2006/relationships/hyperlink" Target="https://docs.aws.amazon.com/guardduty/latest/ug/findings-ai-protection.html" TargetMode="External"/><Relationship Id="rId18" Type="http://schemas.openxmlformats.org/officeDocument/2006/relationships/hyperlink" Target="https://docs.aws.amazon.com/config/latest/developerguide/managed-rules-by-aws-config.html" TargetMode="External"/><Relationship Id="rId19" Type="http://schemas.openxmlformats.org/officeDocument/2006/relationships/hyperlink" Target="https://docs.aws.amazon.com/securityhub/latest/userguide/standards-ai-security.html" TargetMode="External"/><Relationship Id="rId20" Type="http://schemas.openxmlformats.org/officeDocument/2006/relationships/hyperlink" Target="https://docs.aws.amazon.com/bedrock-agentcore/latest/devguide/agentcore-vpc.html" TargetMode="External"/><Relationship Id="rId21" Type="http://schemas.openxmlformats.org/officeDocument/2006/relationships/hyperlink" Target="https://aws.amazon.com/jp/local/invoice-faq" TargetMode="External"/><Relationship Id="rId22" Type="http://schemas.openxmlformats.org/officeDocument/2006/relationships/hyperlink" Target="https://aws.amazon.com/premiumsupport/pricing/" TargetMode="External"/><Relationship Id="rId23" Type="http://schemas.openxmlformats.org/officeDocument/2006/relationships/slideLayout" Target="../slideLayouts/slideLayout1.xml"/><Relationship Id="rId2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s://learn.microsoft.com/en-us/azure/foundry/responsible-ai/openai/data-privacy" TargetMode="External"/><Relationship Id="rId2" Type="http://schemas.openxmlformats.org/officeDocument/2006/relationships/hyperlink" Target="https://learn.microsoft.com/en-us/azure/foundry/responsible-ai/openai/limited-access" TargetMode="External"/><Relationship Id="rId3" Type="http://schemas.openxmlformats.org/officeDocument/2006/relationships/hyperlink" Target="https://learn.microsoft.com/en-us/azure/foundry/foundry-models/concepts/deployment-types" TargetMode="External"/><Relationship Id="rId4" Type="http://schemas.openxmlformats.org/officeDocument/2006/relationships/hyperlink" Target="https://learn.microsoft.com/en-us/azure/foundry/foundry-models/concepts/models-sold-directly-by-azure-region-availability" TargetMode="External"/><Relationship Id="rId5" Type="http://schemas.openxmlformats.org/officeDocument/2006/relationships/hyperlink" Target="https://learn.microsoft.com/en-us/azure/ai-foundry/how-to/configure-private-link" TargetMode="External"/><Relationship Id="rId6" Type="http://schemas.openxmlformats.org/officeDocument/2006/relationships/hyperlink" Target="https://learn.microsoft.com/en-us/azure/foundry/concepts/customer-managed-keys" TargetMode="External"/><Relationship Id="rId7" Type="http://schemas.openxmlformats.org/officeDocument/2006/relationships/hyperlink" Target="https://learn.microsoft.com/en-us/azure/foundry/how-to/model-deployment-policy" TargetMode="External"/><Relationship Id="rId8" Type="http://schemas.openxmlformats.org/officeDocument/2006/relationships/hyperlink" Target="https://learn.microsoft.com/en-us/azure/ai-services/policy-reference" TargetMode="External"/><Relationship Id="rId9" Type="http://schemas.openxmlformats.org/officeDocument/2006/relationships/hyperlink" Target="https://learn.microsoft.com/en-us/azure/ai-services/disable-local-auth" TargetMode="External"/><Relationship Id="rId10" Type="http://schemas.openxmlformats.org/officeDocument/2006/relationships/hyperlink" Target="https://learn.microsoft.com/en-us/azure/foundry-classic/openai/monitor-openai-reference" TargetMode="External"/><Relationship Id="rId11" Type="http://schemas.openxmlformats.org/officeDocument/2006/relationships/hyperlink" Target="https://learn.microsoft.com/en-us/azure/foundry/observability/how-to/trace-agent-client-side" TargetMode="External"/><Relationship Id="rId12" Type="http://schemas.openxmlformats.org/officeDocument/2006/relationships/hyperlink" Target="https://learn.microsoft.com/en-us/azure/foundry-classic/openai/how-to/stored-completions" TargetMode="External"/><Relationship Id="rId13" Type="http://schemas.openxmlformats.org/officeDocument/2006/relationships/hyperlink" Target="https://learn.microsoft.com/en-us/legal/cognitive-services/content-safety/data-privacy" TargetMode="External"/><Relationship Id="rId14" Type="http://schemas.openxmlformats.org/officeDocument/2006/relationships/hyperlink" Target="https://learn.microsoft.com/en-us/azure/ai-services/content-safety/language-support" TargetMode="External"/><Relationship Id="rId15" Type="http://schemas.openxmlformats.org/officeDocument/2006/relationships/hyperlink" Target="https://learn.microsoft.com/en-us/azure/ai-services/language-service/personally-identifiable-information/concepts/entity-categories" TargetMode="External"/><Relationship Id="rId16" Type="http://schemas.openxmlformats.org/officeDocument/2006/relationships/hyperlink" Target="https://learn.microsoft.com/en-us/azure/ai-foundry/openai/concepts/provisioned-throughput" TargetMode="External"/><Relationship Id="rId17" Type="http://schemas.openxmlformats.org/officeDocument/2006/relationships/hyperlink" Target="https://learn.microsoft.com/en-us/azure/ai-foundry/openai/concepts/model-retirements" TargetMode="External"/><Relationship Id="rId18" Type="http://schemas.openxmlformats.org/officeDocument/2006/relationships/hyperlink" Target="https://www.microsoft.com/licensing/docs/view/Microsoft-Products-and-Services-Data-Protection-Addendum-DPA" TargetMode="External"/><Relationship Id="rId19" Type="http://schemas.openxmlformats.org/officeDocument/2006/relationships/hyperlink" Target="https://www.microsoft.com/licensing/docs/view/Microsoft-Customer-Agreement---Samples" TargetMode="External"/><Relationship Id="rId20" Type="http://schemas.openxmlformats.org/officeDocument/2006/relationships/hyperlink" Target="https://learn.microsoft.com/en-us/compliance/regulatory/offering-eba-eu" TargetMode="External"/><Relationship Id="rId21" Type="http://schemas.openxmlformats.org/officeDocument/2006/relationships/hyperlink" Target="https://learn.microsoft.com/en-us/compliance/regulatory/offering-fisc-japan" TargetMode="External"/><Relationship Id="rId22" Type="http://schemas.openxmlformats.org/officeDocument/2006/relationships/hyperlink" Target="https://learn.microsoft.com/en-us/azure/foundry/responsible-ai/claude-models/data-privacy" TargetMode="External"/><Relationship Id="rId23" Type="http://schemas.openxmlformats.org/officeDocument/2006/relationships/slideLayout" Target="../slideLayouts/slideLayout1.xml"/><Relationship Id="rId2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docs.cloud.google.com/vertex-ai/generative-ai/docs/learn/abuse-monitoring" TargetMode="External"/><Relationship Id="rId2" Type="http://schemas.openxmlformats.org/officeDocument/2006/relationships/hyperlink" Target="https://cloud.google.com/terms/service-terms" TargetMode="External"/><Relationship Id="rId3" Type="http://schemas.openxmlformats.org/officeDocument/2006/relationships/hyperlink" Target="https://cloud.google.com/terms/data-residency" TargetMode="External"/><Relationship Id="rId4" Type="http://schemas.openxmlformats.org/officeDocument/2006/relationships/hyperlink" Target="https://docs.cloud.google.com/docs/security/compliance/restrict-endpoint-usage" TargetMode="External"/><Relationship Id="rId5" Type="http://schemas.openxmlformats.org/officeDocument/2006/relationships/hyperlink" Target="https://docs.cloud.google.com/organization-policy/reference/restrict-locations-supported-services" TargetMode="External"/><Relationship Id="rId6" Type="http://schemas.openxmlformats.org/officeDocument/2006/relationships/hyperlink" Target="https://docs.cloud.google.com/vpc-service-controls/docs/supported-products" TargetMode="External"/><Relationship Id="rId7" Type="http://schemas.openxmlformats.org/officeDocument/2006/relationships/hyperlink" Target="https://docs.cloud.google.com/vertex-ai/docs/general/vertex-psc-gen-ai" TargetMode="External"/><Relationship Id="rId8" Type="http://schemas.openxmlformats.org/officeDocument/2006/relationships/hyperlink" Target="https://docs.cloud.google.com/assured-workloads/access-transparency/docs/supported-services" TargetMode="External"/><Relationship Id="rId9" Type="http://schemas.openxmlformats.org/officeDocument/2006/relationships/hyperlink" Target="https://docs.cloud.google.com/assured-workloads/access-approval/docs/supported-services" TargetMode="External"/><Relationship Id="rId10" Type="http://schemas.openxmlformats.org/officeDocument/2006/relationships/hyperlink" Target="https://docs.cloud.google.com/assured-workloads/key-access-justifications/docs/supported-services" TargetMode="External"/><Relationship Id="rId11" Type="http://schemas.openxmlformats.org/officeDocument/2006/relationships/hyperlink" Target="https://docs.cloud.google.com/assured-workloads/docs/control-packages" TargetMode="External"/><Relationship Id="rId12" Type="http://schemas.openxmlformats.org/officeDocument/2006/relationships/hyperlink" Target="https://docs.cloud.google.com/vertex-ai/generative-ai/docs/multimodal/request-response-logging" TargetMode="External"/><Relationship Id="rId13" Type="http://schemas.openxmlformats.org/officeDocument/2006/relationships/hyperlink" Target="https://cloud.google.com/terms/data-processing-addendum" TargetMode="External"/><Relationship Id="rId14" Type="http://schemas.openxmlformats.org/officeDocument/2006/relationships/hyperlink" Target="https://cloud.google.com/terms" TargetMode="External"/><Relationship Id="rId15" Type="http://schemas.openxmlformats.org/officeDocument/2006/relationships/hyperlink" Target="https://cloud.google.com/terms/subprocessors" TargetMode="External"/><Relationship Id="rId16" Type="http://schemas.openxmlformats.org/officeDocument/2006/relationships/hyperlink" Target="https://cloud.google.com/vertex-ai/generative-ai/sla" TargetMode="External"/><Relationship Id="rId17" Type="http://schemas.openxmlformats.org/officeDocument/2006/relationships/hyperlink" Target="https://cloud.google.com/vertex-ai/sla" TargetMode="External"/><Relationship Id="rId18" Type="http://schemas.openxmlformats.org/officeDocument/2006/relationships/hyperlink" Target="https://docs.cloud.google.com/vertex-ai/generative-ai/docs/provisioned-throughput/overview" TargetMode="External"/><Relationship Id="rId19" Type="http://schemas.openxmlformats.org/officeDocument/2006/relationships/hyperlink" Target="https://cloud.google.com/security/products/confidential-computing" TargetMode="External"/><Relationship Id="rId20" Type="http://schemas.openxmlformats.org/officeDocument/2006/relationships/hyperlink" Target="https://services.google.com/fh/files/misc/google_cloud_governmentrequestsfor_cloud_customer_data_v2_1018.pdf" TargetMode="External"/><Relationship Id="rId21" Type="http://schemas.openxmlformats.org/officeDocument/2006/relationships/hyperlink" Target="https://cloud.google.com/blog/ja/products/identity-security/completed-ismap-registration-for-vertex-ai/" TargetMode="External"/><Relationship Id="rId22" Type="http://schemas.openxmlformats.org/officeDocument/2006/relationships/hyperlink" Target="https://cloud.google.com/blog/ja/topics/financial-services/security-reference-for-google-cloud-and-google-workspace-for-financial-institutions/" TargetMode="External"/><Relationship Id="rId23" Type="http://schemas.openxmlformats.org/officeDocument/2006/relationships/slideLayout" Target="../slideLayouts/slideLayout1.xml"/><Relationship Id="rId24"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731520" y="1371600"/>
            <a:ext cx="10515600" cy="1737360"/>
          </a:xfrm>
          <a:prstGeom prst="rect">
            <a:avLst/>
          </a:prstGeom>
          <a:noFill/>
          <a:ln/>
        </p:spPr>
        <p:txBody>
          <a:bodyPr wrap="square" lIns="0" tIns="0" rIns="0" bIns="0" rtlCol="0" anchor="ctr"/>
          <a:lstStyle/>
          <a:p>
            <a:pPr indent="0" marL="0">
              <a:lnSpc>
                <a:spcPct val="120000"/>
              </a:lnSpc>
              <a:buNone/>
            </a:pPr>
            <a:r>
              <a:rPr lang="en-US" sz="3600" b="1" dirty="0">
                <a:solidFill>
                  <a:srgbClr val="FFFFFF"/>
                </a:solidFill>
                <a:latin typeface="Meiryo" pitchFamily="34" charset="0"/>
                <a:ea typeface="Meiryo" pitchFamily="34" charset="-122"/>
                <a:cs typeface="Meiryo" pitchFamily="34" charset="-120"/>
              </a:rPr>
              <a:t>フロンティア級 LLM を</a:t>
            </a:r>
            <a:endParaRPr lang="en-US" sz="3600" dirty="0"/>
          </a:p>
          <a:p>
            <a:pPr indent="0" marL="0">
              <a:lnSpc>
                <a:spcPct val="120000"/>
              </a:lnSpc>
              <a:buNone/>
            </a:pPr>
            <a:r>
              <a:rPr lang="en-US" sz="3600" b="1" dirty="0">
                <a:solidFill>
                  <a:srgbClr val="FFFFFF"/>
                </a:solidFill>
                <a:latin typeface="Meiryo" pitchFamily="34" charset="0"/>
                <a:ea typeface="Meiryo" pitchFamily="34" charset="-122"/>
                <a:cs typeface="Meiryo" pitchFamily="34" charset="-120"/>
              </a:rPr>
              <a:t>機密情報で利用するための環境と根拠</a:t>
            </a:r>
            <a:endParaRPr lang="en-US" sz="3600" dirty="0"/>
          </a:p>
        </p:txBody>
      </p:sp>
      <p:sp>
        <p:nvSpPr>
          <p:cNvPr id="3" name="Text 1"/>
          <p:cNvSpPr txBox="1"/>
          <p:nvPr/>
        </p:nvSpPr>
        <p:spPr>
          <a:xfrm>
            <a:off x="731520" y="3246120"/>
            <a:ext cx="10515600" cy="457200"/>
          </a:xfrm>
          <a:prstGeom prst="rect">
            <a:avLst/>
          </a:prstGeom>
          <a:noFill/>
          <a:ln/>
        </p:spPr>
        <p:txBody>
          <a:bodyPr wrap="square" lIns="0" tIns="0" rIns="0" bIns="0" rtlCol="0" anchor="ctr"/>
          <a:lstStyle/>
          <a:p>
            <a:pPr indent="0" marL="0">
              <a:buNone/>
            </a:pPr>
            <a:r>
              <a:rPr lang="en-US" sz="1500" dirty="0">
                <a:solidFill>
                  <a:srgbClr val="BFD0C7"/>
                </a:solidFill>
                <a:latin typeface="Meiryo" pitchFamily="34" charset="0"/>
                <a:ea typeface="Meiryo" pitchFamily="34" charset="-122"/>
                <a:cs typeface="Meiryo" pitchFamily="34" charset="-120"/>
              </a:rPr>
              <a:t>機密情報を扱える環境の要件定義、3 つの構成パターンの評価、金融機関固有の準拠法との対応</a:t>
            </a:r>
            <a:endParaRPr lang="en-US" sz="1500" dirty="0"/>
          </a:p>
        </p:txBody>
      </p:sp>
      <p:sp>
        <p:nvSpPr>
          <p:cNvPr id="4" name="Shape 2"/>
          <p:cNvSpPr/>
          <p:nvPr/>
        </p:nvSpPr>
        <p:spPr>
          <a:xfrm>
            <a:off x="731520" y="4206240"/>
            <a:ext cx="5120640" cy="1417320"/>
          </a:xfrm>
          <a:prstGeom prst="rect">
            <a:avLst/>
          </a:prstGeom>
          <a:solidFill>
            <a:srgbClr val="1E3D31"/>
          </a:solidFill>
          <a:ln w="12700">
            <a:solidFill>
              <a:srgbClr val="1E3D31"/>
            </a:solidFill>
            <a:prstDash val="solid"/>
          </a:ln>
        </p:spPr>
      </p:sp>
      <p:sp>
        <p:nvSpPr>
          <p:cNvPr id="5" name="Text 3"/>
          <p:cNvSpPr txBox="1"/>
          <p:nvPr/>
        </p:nvSpPr>
        <p:spPr>
          <a:xfrm>
            <a:off x="914400" y="4315968"/>
            <a:ext cx="4754880" cy="1234440"/>
          </a:xfrm>
          <a:prstGeom prst="rect">
            <a:avLst/>
          </a:prstGeom>
          <a:noFill/>
          <a:ln/>
        </p:spPr>
        <p:txBody>
          <a:bodyPr wrap="square" lIns="0" tIns="0" rIns="0" bIns="0" rtlCol="0" anchor="t"/>
          <a:lstStyle/>
          <a:p>
            <a:pPr indent="0" marL="0">
              <a:spcAft>
                <a:spcPts val="400"/>
              </a:spcAft>
              <a:buNone/>
            </a:pPr>
            <a:r>
              <a:rPr lang="en-US" sz="1100" b="1" dirty="0">
                <a:solidFill>
                  <a:srgbClr val="C8891A"/>
                </a:solidFill>
                <a:latin typeface="Meiryo" pitchFamily="34" charset="0"/>
                <a:ea typeface="Meiryo" pitchFamily="34" charset="-122"/>
                <a:cs typeface="Meiryo" pitchFamily="34" charset="-120"/>
              </a:rPr>
              <a:t>本資料の位置づけ</a:t>
            </a:r>
            <a:endParaRPr lang="en-US" sz="1100" dirty="0"/>
          </a:p>
          <a:p>
            <a:pPr indent="0" marL="0">
              <a:spcAft>
                <a:spcPts val="400"/>
              </a:spcAft>
              <a:buNone/>
            </a:pPr>
            <a:r>
              <a:rPr lang="en-US" sz="1100" dirty="0">
                <a:solidFill>
                  <a:srgbClr val="DCE6E0"/>
                </a:solidFill>
                <a:latin typeface="Meiryo" pitchFamily="34" charset="0"/>
                <a:ea typeface="Meiryo" pitchFamily="34" charset="-122"/>
                <a:cs typeface="Meiryo" pitchFamily="34" charset="-120"/>
              </a:rPr>
              <a:t>AI導入検討資料（DRAFT）。事実関係は 2026-08-26 時点の一次ソースで確認。</a:t>
            </a:r>
            <a:endParaRPr lang="en-US" sz="1100" dirty="0"/>
          </a:p>
          <a:p>
            <a:pPr indent="0" marL="0">
              <a:spcAft>
                <a:spcPts val="400"/>
              </a:spcAft>
              <a:buNone/>
            </a:pPr>
            <a:r>
              <a:rPr lang="en-US" sz="1100" dirty="0">
                <a:solidFill>
                  <a:srgbClr val="DCE6E0"/>
                </a:solidFill>
                <a:latin typeface="Meiryo" pitchFamily="34" charset="0"/>
                <a:ea typeface="Meiryo" pitchFamily="34" charset="-122"/>
                <a:cs typeface="Meiryo" pitchFamily="34" charset="-120"/>
              </a:rPr>
              <a:t>情報分類とのマッピング（p.33）は当行分類規程に合わせて差し替える前提の仮置き。</a:t>
            </a:r>
            <a:endParaRPr lang="en-US" sz="1100" dirty="0"/>
          </a:p>
        </p:txBody>
      </p:sp>
      <p:sp>
        <p:nvSpPr>
          <p:cNvPr id="6" name="Text 4"/>
          <p:cNvSpPr txBox="1"/>
          <p:nvPr/>
        </p:nvSpPr>
        <p:spPr>
          <a:xfrm>
            <a:off x="731520" y="5943600"/>
            <a:ext cx="7315200" cy="365760"/>
          </a:xfrm>
          <a:prstGeom prst="rect">
            <a:avLst/>
          </a:prstGeom>
          <a:noFill/>
          <a:ln/>
        </p:spPr>
        <p:txBody>
          <a:bodyPr wrap="square" lIns="0" tIns="0" rIns="0" bIns="0" rtlCol="0" anchor="ctr"/>
          <a:lstStyle/>
          <a:p>
            <a:pPr indent="0" marL="0">
              <a:buNone/>
            </a:pPr>
            <a:r>
              <a:rPr lang="en-US" sz="1200" dirty="0">
                <a:solidFill>
                  <a:srgbClr val="9FB5AA"/>
                </a:solidFill>
                <a:latin typeface="Meiryo" pitchFamily="34" charset="0"/>
                <a:ea typeface="Meiryo" pitchFamily="34" charset="-122"/>
                <a:cs typeface="Meiryo" pitchFamily="34" charset="-120"/>
              </a:rPr>
              <a:t>2026年8月26日 ｜ © 2026 k-wada@Legacy Tools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目次</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本編は第 1 部〜第 3 部（p.5〜38）。付録は論点が深まったときに参照する</a:t>
            </a:r>
            <a:endParaRPr lang="en-US" sz="1200" dirty="0"/>
          </a:p>
        </p:txBody>
      </p:sp>
      <p:sp>
        <p:nvSpPr>
          <p:cNvPr id="4" name="Shape 2"/>
          <p:cNvSpPr/>
          <p:nvPr/>
        </p:nvSpPr>
        <p:spPr>
          <a:xfrm>
            <a:off x="548640" y="1371600"/>
            <a:ext cx="11091672" cy="713232"/>
          </a:xfrm>
          <a:prstGeom prst="roundRect">
            <a:avLst>
              <a:gd name="adj" fmla="val 10256"/>
            </a:avLst>
          </a:prstGeom>
          <a:solidFill>
            <a:srgbClr val="E9F0EC"/>
          </a:solidFill>
          <a:ln w="9525">
            <a:solidFill>
              <a:srgbClr val="E9F0EC"/>
            </a:solidFill>
            <a:prstDash val="solid"/>
          </a:ln>
        </p:spPr>
      </p:sp>
      <p:sp>
        <p:nvSpPr>
          <p:cNvPr id="5" name="Text 3"/>
          <p:cNvSpPr txBox="1"/>
          <p:nvPr/>
        </p:nvSpPr>
        <p:spPr>
          <a:xfrm>
            <a:off x="713232" y="1444752"/>
            <a:ext cx="457200" cy="274320"/>
          </a:xfrm>
          <a:prstGeom prst="rect">
            <a:avLst/>
          </a:prstGeom>
          <a:noFill/>
          <a:ln/>
        </p:spPr>
        <p:txBody>
          <a:bodyPr wrap="square" lIns="0" tIns="0" rIns="0" bIns="0" rtlCol="0" anchor="ctr"/>
          <a:lstStyle/>
          <a:p>
            <a:pPr indent="0" marL="0">
              <a:buNone/>
            </a:pPr>
            <a:r>
              <a:rPr lang="en-US" sz="1400" b="1" dirty="0">
                <a:solidFill>
                  <a:srgbClr val="C8891A"/>
                </a:solidFill>
                <a:latin typeface="Meiryo" pitchFamily="34" charset="0"/>
                <a:ea typeface="Meiryo" pitchFamily="34" charset="-122"/>
                <a:cs typeface="Meiryo" pitchFamily="34" charset="-120"/>
              </a:rPr>
              <a:t>Ⅰ</a:t>
            </a:r>
            <a:endParaRPr lang="en-US" sz="1400" dirty="0"/>
          </a:p>
        </p:txBody>
      </p:sp>
      <p:sp>
        <p:nvSpPr>
          <p:cNvPr id="6" name="Text 4"/>
          <p:cNvSpPr txBox="1"/>
          <p:nvPr/>
        </p:nvSpPr>
        <p:spPr>
          <a:xfrm>
            <a:off x="1188720" y="1444752"/>
            <a:ext cx="7498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サマリ</a:t>
            </a:r>
            <a:endParaRPr lang="en-US" sz="1300" dirty="0"/>
          </a:p>
        </p:txBody>
      </p:sp>
      <p:sp>
        <p:nvSpPr>
          <p:cNvPr id="7" name="Text 5"/>
          <p:cNvSpPr txBox="1"/>
          <p:nvPr/>
        </p:nvSpPr>
        <p:spPr>
          <a:xfrm>
            <a:off x="10058400" y="1444752"/>
            <a:ext cx="1371600" cy="274320"/>
          </a:xfrm>
          <a:prstGeom prst="rect">
            <a:avLst/>
          </a:prstGeom>
          <a:noFill/>
          <a:ln/>
        </p:spPr>
        <p:txBody>
          <a:bodyPr wrap="square" lIns="0" tIns="0" rIns="0" bIns="0" rtlCol="0" anchor="ctr"/>
          <a:lstStyle/>
          <a:p>
            <a:pPr algn="r" indent="0" marL="0">
              <a:buNone/>
            </a:pPr>
            <a:r>
              <a:rPr lang="en-US" sz="1200" b="1" dirty="0">
                <a:solidFill>
                  <a:srgbClr val="5B6B63"/>
                </a:solidFill>
                <a:latin typeface="Meiryo" pitchFamily="34" charset="0"/>
                <a:ea typeface="Meiryo" pitchFamily="34" charset="-122"/>
                <a:cs typeface="Meiryo" pitchFamily="34" charset="-120"/>
              </a:rPr>
              <a:t>p.1〜4</a:t>
            </a:r>
            <a:endParaRPr lang="en-US" sz="1200" dirty="0"/>
          </a:p>
        </p:txBody>
      </p:sp>
      <p:sp>
        <p:nvSpPr>
          <p:cNvPr id="8" name="Text 6"/>
          <p:cNvSpPr txBox="1"/>
          <p:nvPr/>
        </p:nvSpPr>
        <p:spPr>
          <a:xfrm>
            <a:off x="1188720" y="1737360"/>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・表紙</a:t>
            </a:r>
            <a:endParaRPr lang="en-US" sz="950" dirty="0"/>
          </a:p>
        </p:txBody>
      </p:sp>
      <p:sp>
        <p:nvSpPr>
          <p:cNvPr id="9" name="Text 7"/>
          <p:cNvSpPr txBox="1"/>
          <p:nvPr/>
        </p:nvSpPr>
        <p:spPr>
          <a:xfrm>
            <a:off x="6309360" y="1737360"/>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・目次</a:t>
            </a:r>
            <a:endParaRPr lang="en-US" sz="950" dirty="0"/>
          </a:p>
        </p:txBody>
      </p:sp>
      <p:sp>
        <p:nvSpPr>
          <p:cNvPr id="10" name="Text 8"/>
          <p:cNvSpPr txBox="1"/>
          <p:nvPr/>
        </p:nvSpPr>
        <p:spPr>
          <a:xfrm>
            <a:off x="1188720" y="1920240"/>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・結論</a:t>
            </a:r>
            <a:endParaRPr lang="en-US" sz="950" dirty="0"/>
          </a:p>
        </p:txBody>
      </p:sp>
      <p:sp>
        <p:nvSpPr>
          <p:cNvPr id="11" name="Text 9"/>
          <p:cNvSpPr txBox="1"/>
          <p:nvPr/>
        </p:nvSpPr>
        <p:spPr>
          <a:xfrm>
            <a:off x="6309360" y="1920240"/>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・本資料の構成と読み方</a:t>
            </a:r>
            <a:endParaRPr lang="en-US" sz="950" dirty="0"/>
          </a:p>
        </p:txBody>
      </p:sp>
      <p:sp>
        <p:nvSpPr>
          <p:cNvPr id="12" name="Shape 10"/>
          <p:cNvSpPr/>
          <p:nvPr/>
        </p:nvSpPr>
        <p:spPr>
          <a:xfrm>
            <a:off x="548640" y="2176272"/>
            <a:ext cx="11091672" cy="1078992"/>
          </a:xfrm>
          <a:prstGeom prst="roundRect">
            <a:avLst>
              <a:gd name="adj" fmla="val 6780"/>
            </a:avLst>
          </a:prstGeom>
          <a:solidFill>
            <a:srgbClr val="E9F0EC"/>
          </a:solidFill>
          <a:ln w="9525">
            <a:solidFill>
              <a:srgbClr val="E9F0EC"/>
            </a:solidFill>
            <a:prstDash val="solid"/>
          </a:ln>
        </p:spPr>
      </p:sp>
      <p:sp>
        <p:nvSpPr>
          <p:cNvPr id="13" name="Text 11"/>
          <p:cNvSpPr txBox="1"/>
          <p:nvPr/>
        </p:nvSpPr>
        <p:spPr>
          <a:xfrm>
            <a:off x="713232" y="2249424"/>
            <a:ext cx="457200" cy="274320"/>
          </a:xfrm>
          <a:prstGeom prst="rect">
            <a:avLst/>
          </a:prstGeom>
          <a:noFill/>
          <a:ln/>
        </p:spPr>
        <p:txBody>
          <a:bodyPr wrap="square" lIns="0" tIns="0" rIns="0" bIns="0" rtlCol="0" anchor="ctr"/>
          <a:lstStyle/>
          <a:p>
            <a:pPr indent="0" marL="0">
              <a:buNone/>
            </a:pPr>
            <a:r>
              <a:rPr lang="en-US" sz="1400" b="1" dirty="0">
                <a:solidFill>
                  <a:srgbClr val="C8891A"/>
                </a:solidFill>
                <a:latin typeface="Meiryo" pitchFamily="34" charset="0"/>
                <a:ea typeface="Meiryo" pitchFamily="34" charset="-122"/>
                <a:cs typeface="Meiryo" pitchFamily="34" charset="-120"/>
              </a:rPr>
              <a:t>Ⅱ</a:t>
            </a:r>
            <a:endParaRPr lang="en-US" sz="1400" dirty="0"/>
          </a:p>
        </p:txBody>
      </p:sp>
      <p:sp>
        <p:nvSpPr>
          <p:cNvPr id="14" name="Text 12"/>
          <p:cNvSpPr txBox="1"/>
          <p:nvPr/>
        </p:nvSpPr>
        <p:spPr>
          <a:xfrm>
            <a:off x="1188720" y="2249424"/>
            <a:ext cx="7498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第 1 部　要件の定義（ベンダー非依存）</a:t>
            </a:r>
            <a:endParaRPr lang="en-US" sz="1300" dirty="0"/>
          </a:p>
        </p:txBody>
      </p:sp>
      <p:sp>
        <p:nvSpPr>
          <p:cNvPr id="15" name="Text 13"/>
          <p:cNvSpPr txBox="1"/>
          <p:nvPr/>
        </p:nvSpPr>
        <p:spPr>
          <a:xfrm>
            <a:off x="10058400" y="2249424"/>
            <a:ext cx="1371600" cy="274320"/>
          </a:xfrm>
          <a:prstGeom prst="rect">
            <a:avLst/>
          </a:prstGeom>
          <a:noFill/>
          <a:ln/>
        </p:spPr>
        <p:txBody>
          <a:bodyPr wrap="square" lIns="0" tIns="0" rIns="0" bIns="0" rtlCol="0" anchor="ctr"/>
          <a:lstStyle/>
          <a:p>
            <a:pPr algn="r" indent="0" marL="0">
              <a:buNone/>
            </a:pPr>
            <a:r>
              <a:rPr lang="en-US" sz="1200" b="1" dirty="0">
                <a:solidFill>
                  <a:srgbClr val="5B6B63"/>
                </a:solidFill>
                <a:latin typeface="Meiryo" pitchFamily="34" charset="0"/>
                <a:ea typeface="Meiryo" pitchFamily="34" charset="-122"/>
                <a:cs typeface="Meiryo" pitchFamily="34" charset="-120"/>
              </a:rPr>
              <a:t>p.5〜20</a:t>
            </a:r>
            <a:endParaRPr lang="en-US" sz="1200" dirty="0"/>
          </a:p>
        </p:txBody>
      </p:sp>
      <p:sp>
        <p:nvSpPr>
          <p:cNvPr id="16" name="Text 14"/>
          <p:cNvSpPr txBox="1"/>
          <p:nvPr/>
        </p:nvSpPr>
        <p:spPr>
          <a:xfrm>
            <a:off x="1188720" y="254203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・選択肢の類型</a:t>
            </a:r>
            <a:endParaRPr lang="en-US" sz="950" dirty="0"/>
          </a:p>
        </p:txBody>
      </p:sp>
      <p:sp>
        <p:nvSpPr>
          <p:cNvPr id="17" name="Text 15"/>
          <p:cNvSpPr txBox="1"/>
          <p:nvPr/>
        </p:nvSpPr>
        <p:spPr>
          <a:xfrm>
            <a:off x="6309360" y="254203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・「機密情報を扱える環境」を構成する 8 要件</a:t>
            </a:r>
            <a:endParaRPr lang="en-US" sz="950" dirty="0"/>
          </a:p>
        </p:txBody>
      </p:sp>
      <p:sp>
        <p:nvSpPr>
          <p:cNvPr id="18" name="Text 16"/>
          <p:cNvSpPr txBox="1"/>
          <p:nvPr/>
        </p:nvSpPr>
        <p:spPr>
          <a:xfrm>
            <a:off x="1188720" y="272491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・8 要件は性質が違う</a:t>
            </a:r>
            <a:endParaRPr lang="en-US" sz="950" dirty="0"/>
          </a:p>
        </p:txBody>
      </p:sp>
      <p:sp>
        <p:nvSpPr>
          <p:cNvPr id="19" name="Text 17"/>
          <p:cNvSpPr txBox="1"/>
          <p:nvPr/>
        </p:nvSpPr>
        <p:spPr>
          <a:xfrm>
            <a:off x="6309360" y="272491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・統制の三様式 × 三機能 × 強度</a:t>
            </a:r>
            <a:endParaRPr lang="en-US" sz="950" dirty="0"/>
          </a:p>
        </p:txBody>
      </p:sp>
      <p:sp>
        <p:nvSpPr>
          <p:cNvPr id="20" name="Text 18"/>
          <p:cNvSpPr txBox="1"/>
          <p:nvPr/>
        </p:nvSpPr>
        <p:spPr>
          <a:xfrm>
            <a:off x="1188720" y="290779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・統制マップ</a:t>
            </a:r>
            <a:endParaRPr lang="en-US" sz="950" dirty="0"/>
          </a:p>
        </p:txBody>
      </p:sp>
      <p:sp>
        <p:nvSpPr>
          <p:cNvPr id="21" name="Text 19"/>
          <p:cNvSpPr txBox="1"/>
          <p:nvPr/>
        </p:nvSpPr>
        <p:spPr>
          <a:xfrm>
            <a:off x="6309360" y="290779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・要件①〜⑧の定義（8 枚）</a:t>
            </a:r>
            <a:endParaRPr lang="en-US" sz="950" dirty="0"/>
          </a:p>
        </p:txBody>
      </p:sp>
      <p:sp>
        <p:nvSpPr>
          <p:cNvPr id="22" name="Text 20"/>
          <p:cNvSpPr txBox="1"/>
          <p:nvPr/>
        </p:nvSpPr>
        <p:spPr>
          <a:xfrm>
            <a:off x="1188720" y="3090672"/>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・準拠法・規制との対応（2 枚）</a:t>
            </a:r>
            <a:endParaRPr lang="en-US" sz="950" dirty="0"/>
          </a:p>
        </p:txBody>
      </p:sp>
      <p:sp>
        <p:nvSpPr>
          <p:cNvPr id="23" name="Shape 21"/>
          <p:cNvSpPr/>
          <p:nvPr/>
        </p:nvSpPr>
        <p:spPr>
          <a:xfrm>
            <a:off x="548640" y="3346704"/>
            <a:ext cx="11091672" cy="713232"/>
          </a:xfrm>
          <a:prstGeom prst="roundRect">
            <a:avLst>
              <a:gd name="adj" fmla="val 10256"/>
            </a:avLst>
          </a:prstGeom>
          <a:solidFill>
            <a:srgbClr val="E9F0EC"/>
          </a:solidFill>
          <a:ln w="9525">
            <a:solidFill>
              <a:srgbClr val="E9F0EC"/>
            </a:solidFill>
            <a:prstDash val="solid"/>
          </a:ln>
        </p:spPr>
      </p:sp>
      <p:sp>
        <p:nvSpPr>
          <p:cNvPr id="24" name="Text 22"/>
          <p:cNvSpPr txBox="1"/>
          <p:nvPr/>
        </p:nvSpPr>
        <p:spPr>
          <a:xfrm>
            <a:off x="713232" y="3419856"/>
            <a:ext cx="457200" cy="274320"/>
          </a:xfrm>
          <a:prstGeom prst="rect">
            <a:avLst/>
          </a:prstGeom>
          <a:noFill/>
          <a:ln/>
        </p:spPr>
        <p:txBody>
          <a:bodyPr wrap="square" lIns="0" tIns="0" rIns="0" bIns="0" rtlCol="0" anchor="ctr"/>
          <a:lstStyle/>
          <a:p>
            <a:pPr indent="0" marL="0">
              <a:buNone/>
            </a:pPr>
            <a:r>
              <a:rPr lang="en-US" sz="1400" b="1" dirty="0">
                <a:solidFill>
                  <a:srgbClr val="C8891A"/>
                </a:solidFill>
                <a:latin typeface="Meiryo" pitchFamily="34" charset="0"/>
                <a:ea typeface="Meiryo" pitchFamily="34" charset="-122"/>
                <a:cs typeface="Meiryo" pitchFamily="34" charset="-120"/>
              </a:rPr>
              <a:t>Ⅲ</a:t>
            </a:r>
            <a:endParaRPr lang="en-US" sz="1400" dirty="0"/>
          </a:p>
        </p:txBody>
      </p:sp>
      <p:sp>
        <p:nvSpPr>
          <p:cNvPr id="25" name="Text 23"/>
          <p:cNvSpPr txBox="1"/>
          <p:nvPr/>
        </p:nvSpPr>
        <p:spPr>
          <a:xfrm>
            <a:off x="1188720" y="3419856"/>
            <a:ext cx="7498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第 2 部　3 パターンの評価</a:t>
            </a:r>
            <a:endParaRPr lang="en-US" sz="1300" dirty="0"/>
          </a:p>
        </p:txBody>
      </p:sp>
      <p:sp>
        <p:nvSpPr>
          <p:cNvPr id="26" name="Text 24"/>
          <p:cNvSpPr txBox="1"/>
          <p:nvPr/>
        </p:nvSpPr>
        <p:spPr>
          <a:xfrm>
            <a:off x="10058400" y="3419856"/>
            <a:ext cx="1371600" cy="274320"/>
          </a:xfrm>
          <a:prstGeom prst="rect">
            <a:avLst/>
          </a:prstGeom>
          <a:noFill/>
          <a:ln/>
        </p:spPr>
        <p:txBody>
          <a:bodyPr wrap="square" lIns="0" tIns="0" rIns="0" bIns="0" rtlCol="0" anchor="ctr"/>
          <a:lstStyle/>
          <a:p>
            <a:pPr algn="r" indent="0" marL="0">
              <a:buNone/>
            </a:pPr>
            <a:r>
              <a:rPr lang="en-US" sz="1200" b="1" dirty="0">
                <a:solidFill>
                  <a:srgbClr val="5B6B63"/>
                </a:solidFill>
                <a:latin typeface="Meiryo" pitchFamily="34" charset="0"/>
                <a:ea typeface="Meiryo" pitchFamily="34" charset="-122"/>
                <a:cs typeface="Meiryo" pitchFamily="34" charset="-120"/>
              </a:rPr>
              <a:t>p.21〜31</a:t>
            </a:r>
            <a:endParaRPr lang="en-US" sz="1200" dirty="0"/>
          </a:p>
        </p:txBody>
      </p:sp>
      <p:sp>
        <p:nvSpPr>
          <p:cNvPr id="27" name="Text 25"/>
          <p:cNvSpPr txBox="1"/>
          <p:nvPr/>
        </p:nvSpPr>
        <p:spPr>
          <a:xfrm>
            <a:off x="1188720" y="3712464"/>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・パターン A：Amazon Bedrock（環境図／8 要件充足／落とし穴）</a:t>
            </a:r>
            <a:endParaRPr lang="en-US" sz="950" dirty="0"/>
          </a:p>
        </p:txBody>
      </p:sp>
      <p:sp>
        <p:nvSpPr>
          <p:cNvPr id="28" name="Text 26"/>
          <p:cNvSpPr txBox="1"/>
          <p:nvPr/>
        </p:nvSpPr>
        <p:spPr>
          <a:xfrm>
            <a:off x="6309360" y="3712464"/>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・パターン B：Microsoft Foundry（同）</a:t>
            </a:r>
            <a:endParaRPr lang="en-US" sz="950" dirty="0"/>
          </a:p>
        </p:txBody>
      </p:sp>
      <p:sp>
        <p:nvSpPr>
          <p:cNvPr id="29" name="Text 27"/>
          <p:cNvSpPr txBox="1"/>
          <p:nvPr/>
        </p:nvSpPr>
        <p:spPr>
          <a:xfrm>
            <a:off x="1188720" y="3895344"/>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・パターン C：Google Vertex AI（同）</a:t>
            </a:r>
            <a:endParaRPr lang="en-US" sz="950" dirty="0"/>
          </a:p>
        </p:txBody>
      </p:sp>
      <p:sp>
        <p:nvSpPr>
          <p:cNvPr id="30" name="Text 28"/>
          <p:cNvSpPr txBox="1"/>
          <p:nvPr/>
        </p:nvSpPr>
        <p:spPr>
          <a:xfrm>
            <a:off x="6309360" y="3895344"/>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・3 パターンの比較 ― 決定に効く 8 点</a:t>
            </a:r>
            <a:endParaRPr lang="en-US" sz="950" dirty="0"/>
          </a:p>
        </p:txBody>
      </p:sp>
      <p:sp>
        <p:nvSpPr>
          <p:cNvPr id="31" name="Shape 29"/>
          <p:cNvSpPr/>
          <p:nvPr/>
        </p:nvSpPr>
        <p:spPr>
          <a:xfrm>
            <a:off x="548640" y="4151376"/>
            <a:ext cx="11091672" cy="896112"/>
          </a:xfrm>
          <a:prstGeom prst="roundRect">
            <a:avLst>
              <a:gd name="adj" fmla="val 8163"/>
            </a:avLst>
          </a:prstGeom>
          <a:solidFill>
            <a:srgbClr val="E9F0EC"/>
          </a:solidFill>
          <a:ln w="9525">
            <a:solidFill>
              <a:srgbClr val="E9F0EC"/>
            </a:solidFill>
            <a:prstDash val="solid"/>
          </a:ln>
        </p:spPr>
      </p:sp>
      <p:sp>
        <p:nvSpPr>
          <p:cNvPr id="32" name="Text 30"/>
          <p:cNvSpPr txBox="1"/>
          <p:nvPr/>
        </p:nvSpPr>
        <p:spPr>
          <a:xfrm>
            <a:off x="713232" y="4224528"/>
            <a:ext cx="457200" cy="274320"/>
          </a:xfrm>
          <a:prstGeom prst="rect">
            <a:avLst/>
          </a:prstGeom>
          <a:noFill/>
          <a:ln/>
        </p:spPr>
        <p:txBody>
          <a:bodyPr wrap="square" lIns="0" tIns="0" rIns="0" bIns="0" rtlCol="0" anchor="ctr"/>
          <a:lstStyle/>
          <a:p>
            <a:pPr indent="0" marL="0">
              <a:buNone/>
            </a:pPr>
            <a:r>
              <a:rPr lang="en-US" sz="1400" b="1" dirty="0">
                <a:solidFill>
                  <a:srgbClr val="C8891A"/>
                </a:solidFill>
                <a:latin typeface="Meiryo" pitchFamily="34" charset="0"/>
                <a:ea typeface="Meiryo" pitchFamily="34" charset="-122"/>
                <a:cs typeface="Meiryo" pitchFamily="34" charset="-120"/>
              </a:rPr>
              <a:t>Ⅳ</a:t>
            </a:r>
            <a:endParaRPr lang="en-US" sz="1400" dirty="0"/>
          </a:p>
        </p:txBody>
      </p:sp>
      <p:sp>
        <p:nvSpPr>
          <p:cNvPr id="33" name="Text 31"/>
          <p:cNvSpPr txBox="1"/>
          <p:nvPr/>
        </p:nvSpPr>
        <p:spPr>
          <a:xfrm>
            <a:off x="1188720" y="4224528"/>
            <a:ext cx="7498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第 3 部　実行に向けて</a:t>
            </a:r>
            <a:endParaRPr lang="en-US" sz="1300" dirty="0"/>
          </a:p>
        </p:txBody>
      </p:sp>
      <p:sp>
        <p:nvSpPr>
          <p:cNvPr id="34" name="Text 32"/>
          <p:cNvSpPr txBox="1"/>
          <p:nvPr/>
        </p:nvSpPr>
        <p:spPr>
          <a:xfrm>
            <a:off x="10058400" y="4224528"/>
            <a:ext cx="1371600" cy="274320"/>
          </a:xfrm>
          <a:prstGeom prst="rect">
            <a:avLst/>
          </a:prstGeom>
          <a:noFill/>
          <a:ln/>
        </p:spPr>
        <p:txBody>
          <a:bodyPr wrap="square" lIns="0" tIns="0" rIns="0" bIns="0" rtlCol="0" anchor="ctr"/>
          <a:lstStyle/>
          <a:p>
            <a:pPr algn="r" indent="0" marL="0">
              <a:buNone/>
            </a:pPr>
            <a:r>
              <a:rPr lang="en-US" sz="1200" b="1" dirty="0">
                <a:solidFill>
                  <a:srgbClr val="5B6B63"/>
                </a:solidFill>
                <a:latin typeface="Meiryo" pitchFamily="34" charset="0"/>
                <a:ea typeface="Meiryo" pitchFamily="34" charset="-122"/>
                <a:cs typeface="Meiryo" pitchFamily="34" charset="-120"/>
              </a:rPr>
              <a:t>p.32〜38</a:t>
            </a:r>
            <a:endParaRPr lang="en-US" sz="1200" dirty="0"/>
          </a:p>
        </p:txBody>
      </p:sp>
      <p:sp>
        <p:nvSpPr>
          <p:cNvPr id="35" name="Text 33"/>
          <p:cNvSpPr txBox="1"/>
          <p:nvPr/>
        </p:nvSpPr>
        <p:spPr>
          <a:xfrm>
            <a:off x="1188720" y="451713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・情報分類 × 許容環境</a:t>
            </a:r>
            <a:endParaRPr lang="en-US" sz="950" dirty="0"/>
          </a:p>
        </p:txBody>
      </p:sp>
      <p:sp>
        <p:nvSpPr>
          <p:cNvPr id="36" name="Text 34"/>
          <p:cNvSpPr txBox="1"/>
          <p:nvPr/>
        </p:nvSpPr>
        <p:spPr>
          <a:xfrm>
            <a:off x="6309360" y="451713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・ハルシネーション対策</a:t>
            </a:r>
            <a:endParaRPr lang="en-US" sz="950" dirty="0"/>
          </a:p>
        </p:txBody>
      </p:sp>
      <p:sp>
        <p:nvSpPr>
          <p:cNvPr id="37" name="Text 35"/>
          <p:cNvSpPr txBox="1"/>
          <p:nvPr/>
        </p:nvSpPr>
        <p:spPr>
          <a:xfrm>
            <a:off x="1188720" y="470001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・漏えい時の報告フロー</a:t>
            </a:r>
            <a:endParaRPr lang="en-US" sz="950" dirty="0"/>
          </a:p>
        </p:txBody>
      </p:sp>
      <p:sp>
        <p:nvSpPr>
          <p:cNvPr id="38" name="Text 36"/>
          <p:cNvSpPr txBox="1"/>
          <p:nvPr/>
        </p:nvSpPr>
        <p:spPr>
          <a:xfrm>
            <a:off x="6309360" y="470001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・リスク受容の作法</a:t>
            </a:r>
            <a:endParaRPr lang="en-US" sz="950" dirty="0"/>
          </a:p>
        </p:txBody>
      </p:sp>
      <p:sp>
        <p:nvSpPr>
          <p:cNvPr id="39" name="Text 37"/>
          <p:cNvSpPr txBox="1"/>
          <p:nvPr/>
        </p:nvSpPr>
        <p:spPr>
          <a:xfrm>
            <a:off x="1188720" y="488289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・AI導入組織で決めること</a:t>
            </a:r>
            <a:endParaRPr lang="en-US" sz="950" dirty="0"/>
          </a:p>
        </p:txBody>
      </p:sp>
      <p:sp>
        <p:nvSpPr>
          <p:cNvPr id="40" name="Text 38"/>
          <p:cNvSpPr txBox="1"/>
          <p:nvPr/>
        </p:nvSpPr>
        <p:spPr>
          <a:xfrm>
            <a:off x="6309360" y="4882896"/>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・次の 90 日</a:t>
            </a:r>
            <a:endParaRPr lang="en-US" sz="950" dirty="0"/>
          </a:p>
        </p:txBody>
      </p:sp>
      <p:sp>
        <p:nvSpPr>
          <p:cNvPr id="41" name="Shape 39"/>
          <p:cNvSpPr/>
          <p:nvPr/>
        </p:nvSpPr>
        <p:spPr>
          <a:xfrm>
            <a:off x="548640" y="5138928"/>
            <a:ext cx="11091672" cy="713232"/>
          </a:xfrm>
          <a:prstGeom prst="roundRect">
            <a:avLst>
              <a:gd name="adj" fmla="val 10256"/>
            </a:avLst>
          </a:prstGeom>
          <a:solidFill>
            <a:srgbClr val="F4F7F5"/>
          </a:solidFill>
          <a:ln w="9525">
            <a:solidFill>
              <a:srgbClr val="C9D6CF"/>
            </a:solidFill>
            <a:prstDash val="solid"/>
          </a:ln>
        </p:spPr>
      </p:sp>
      <p:sp>
        <p:nvSpPr>
          <p:cNvPr id="42" name="Text 40"/>
          <p:cNvSpPr txBox="1"/>
          <p:nvPr/>
        </p:nvSpPr>
        <p:spPr>
          <a:xfrm>
            <a:off x="713232" y="5212080"/>
            <a:ext cx="457200" cy="274320"/>
          </a:xfrm>
          <a:prstGeom prst="rect">
            <a:avLst/>
          </a:prstGeom>
          <a:noFill/>
          <a:ln/>
        </p:spPr>
        <p:txBody>
          <a:bodyPr wrap="square" lIns="0" tIns="0" rIns="0" bIns="0" rtlCol="0" anchor="ctr"/>
          <a:lstStyle/>
          <a:p>
            <a:pPr indent="0" marL="0">
              <a:buNone/>
            </a:pPr>
            <a:r>
              <a:rPr lang="en-US" sz="1400" b="1" dirty="0">
                <a:solidFill>
                  <a:srgbClr val="C8891A"/>
                </a:solidFill>
                <a:latin typeface="Meiryo" pitchFamily="34" charset="0"/>
                <a:ea typeface="Meiryo" pitchFamily="34" charset="-122"/>
                <a:cs typeface="Meiryo" pitchFamily="34" charset="-120"/>
              </a:rPr>
              <a:t>Ⅴ</a:t>
            </a:r>
            <a:endParaRPr lang="en-US" sz="1400" dirty="0"/>
          </a:p>
        </p:txBody>
      </p:sp>
      <p:sp>
        <p:nvSpPr>
          <p:cNvPr id="43" name="Text 41"/>
          <p:cNvSpPr txBox="1"/>
          <p:nvPr/>
        </p:nvSpPr>
        <p:spPr>
          <a:xfrm>
            <a:off x="1188720" y="5212080"/>
            <a:ext cx="7498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付録</a:t>
            </a:r>
            <a:endParaRPr lang="en-US" sz="1300" dirty="0"/>
          </a:p>
        </p:txBody>
      </p:sp>
      <p:sp>
        <p:nvSpPr>
          <p:cNvPr id="44" name="Text 42"/>
          <p:cNvSpPr txBox="1"/>
          <p:nvPr/>
        </p:nvSpPr>
        <p:spPr>
          <a:xfrm>
            <a:off x="10058400" y="5212080"/>
            <a:ext cx="1371600" cy="274320"/>
          </a:xfrm>
          <a:prstGeom prst="rect">
            <a:avLst/>
          </a:prstGeom>
          <a:noFill/>
          <a:ln/>
        </p:spPr>
        <p:txBody>
          <a:bodyPr wrap="square" lIns="0" tIns="0" rIns="0" bIns="0" rtlCol="0" anchor="ctr"/>
          <a:lstStyle/>
          <a:p>
            <a:pPr algn="r" indent="0" marL="0">
              <a:buNone/>
            </a:pPr>
            <a:r>
              <a:rPr lang="en-US" sz="1200" b="1" dirty="0">
                <a:solidFill>
                  <a:srgbClr val="5B6B63"/>
                </a:solidFill>
                <a:latin typeface="Meiryo" pitchFamily="34" charset="0"/>
                <a:ea typeface="Meiryo" pitchFamily="34" charset="-122"/>
                <a:cs typeface="Meiryo" pitchFamily="34" charset="-120"/>
              </a:rPr>
              <a:t>p.39〜59</a:t>
            </a:r>
            <a:endParaRPr lang="en-US" sz="1200" dirty="0"/>
          </a:p>
        </p:txBody>
      </p:sp>
      <p:sp>
        <p:nvSpPr>
          <p:cNvPr id="45" name="Text 43"/>
          <p:cNvSpPr txBox="1"/>
          <p:nvPr/>
        </p:nvSpPr>
        <p:spPr>
          <a:xfrm>
            <a:off x="1188720" y="5504688"/>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・パターン A の要件別 詳細（8 枚）</a:t>
            </a:r>
            <a:endParaRPr lang="en-US" sz="950" dirty="0"/>
          </a:p>
        </p:txBody>
      </p:sp>
      <p:sp>
        <p:nvSpPr>
          <p:cNvPr id="46" name="Text 44"/>
          <p:cNvSpPr txBox="1"/>
          <p:nvPr/>
        </p:nvSpPr>
        <p:spPr>
          <a:xfrm>
            <a:off x="6309360" y="5504688"/>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・パターン A の可用性・調達・運用（3 枚）</a:t>
            </a:r>
            <a:endParaRPr lang="en-US" sz="950" dirty="0"/>
          </a:p>
        </p:txBody>
      </p:sp>
      <p:sp>
        <p:nvSpPr>
          <p:cNvPr id="47" name="Text 45"/>
          <p:cNvSpPr txBox="1"/>
          <p:nvPr/>
        </p:nvSpPr>
        <p:spPr>
          <a:xfrm>
            <a:off x="1188720" y="5687568"/>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・データフローと責任分界／根拠 2 枚／業界水準</a:t>
            </a:r>
            <a:endParaRPr lang="en-US" sz="950" dirty="0"/>
          </a:p>
        </p:txBody>
      </p:sp>
      <p:sp>
        <p:nvSpPr>
          <p:cNvPr id="48" name="Text 46"/>
          <p:cNvSpPr txBox="1"/>
          <p:nvPr/>
        </p:nvSpPr>
        <p:spPr>
          <a:xfrm>
            <a:off x="6309360" y="5687568"/>
            <a:ext cx="5029200" cy="182880"/>
          </a:xfrm>
          <a:prstGeom prst="rect">
            <a:avLst/>
          </a:prstGeom>
          <a:noFill/>
          <a:ln/>
        </p:spPr>
        <p:txBody>
          <a:bodyPr wrap="square" lIns="0" tIns="0" rIns="0" bIns="0" rtlCol="0" anchor="ctr"/>
          <a:lstStyle/>
          <a:p>
            <a:pPr indent="0" marL="0">
              <a:buNone/>
            </a:pPr>
            <a:r>
              <a:rPr lang="en-US" sz="950" dirty="0">
                <a:solidFill>
                  <a:srgbClr val="1F2A25"/>
                </a:solidFill>
                <a:latin typeface="Meiryo" pitchFamily="34" charset="0"/>
                <a:ea typeface="Meiryo" pitchFamily="34" charset="-122"/>
                <a:cs typeface="Meiryo" pitchFamily="34" charset="-120"/>
              </a:rPr>
              <a:t>・参考文献（5 枚）</a:t>
            </a:r>
            <a:endParaRPr lang="en-US" sz="950" dirty="0"/>
          </a:p>
        </p:txBody>
      </p:sp>
      <p:sp>
        <p:nvSpPr>
          <p:cNvPr id="49" name="Text 4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50" name="Text 4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結論</a:t>
            </a:r>
            <a:endParaRPr lang="en-US" sz="2600" dirty="0"/>
          </a:p>
        </p:txBody>
      </p:sp>
      <p:sp>
        <p:nvSpPr>
          <p:cNvPr id="3" name="Shape 1"/>
          <p:cNvSpPr/>
          <p:nvPr/>
        </p:nvSpPr>
        <p:spPr>
          <a:xfrm>
            <a:off x="640080" y="1280160"/>
            <a:ext cx="457200" cy="457200"/>
          </a:xfrm>
          <a:prstGeom prst="ellipse">
            <a:avLst/>
          </a:prstGeom>
          <a:solidFill>
            <a:srgbClr val="C8891A"/>
          </a:solidFill>
          <a:ln w="12700">
            <a:solidFill>
              <a:srgbClr val="C8891A"/>
            </a:solidFill>
            <a:prstDash val="solid"/>
          </a:ln>
        </p:spPr>
      </p:sp>
      <p:sp>
        <p:nvSpPr>
          <p:cNvPr id="4" name="Text 2"/>
          <p:cNvSpPr txBox="1"/>
          <p:nvPr/>
        </p:nvSpPr>
        <p:spPr>
          <a:xfrm>
            <a:off x="64008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5" name="Text 3"/>
          <p:cNvSpPr txBox="1"/>
          <p:nvPr/>
        </p:nvSpPr>
        <p:spPr>
          <a:xfrm>
            <a:off x="1325880" y="1234440"/>
            <a:ext cx="10241280" cy="54864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フロンティア級モデルと「自社管理ハード」は両立しない</a:t>
            </a:r>
            <a:endParaRPr lang="en-US" sz="1600" dirty="0"/>
          </a:p>
        </p:txBody>
      </p:sp>
      <p:sp>
        <p:nvSpPr>
          <p:cNvPr id="6" name="Text 4"/>
          <p:cNvSpPr txBox="1"/>
          <p:nvPr/>
        </p:nvSpPr>
        <p:spPr>
          <a:xfrm>
            <a:off x="1325880" y="1801368"/>
            <a:ext cx="10241280" cy="960120"/>
          </a:xfrm>
          <a:prstGeom prst="rect">
            <a:avLst/>
          </a:prstGeom>
          <a:noFill/>
          <a:ln/>
        </p:spPr>
        <p:txBody>
          <a:bodyPr wrap="square" lIns="0" tIns="0" rIns="0" bIns="0" rtlCol="0" anchor="t"/>
          <a:lstStyle/>
          <a:p>
            <a:pPr indent="0" marL="0">
              <a:lnSpc>
                <a:spcPct val="120000"/>
              </a:lnSpc>
              <a:buNone/>
            </a:pPr>
            <a:r>
              <a:rPr lang="en-US" sz="1150" dirty="0">
                <a:solidFill>
                  <a:srgbClr val="C7D5CD"/>
                </a:solidFill>
                <a:latin typeface="Meiryo" pitchFamily="34" charset="0"/>
                <a:ea typeface="Meiryo" pitchFamily="34" charset="-122"/>
                <a:cs typeface="Meiryo" pitchFamily="34" charset="-120"/>
              </a:rPr>
              <a:t>GPT / Claude / Gemini は closed weights で持ち込めず、TEE（confidential GPU）で動く提供形態も存在しない。機密情報を扱う手段は「契約条件 ＋ ネットワーク分離 ＋ 設定の技術的強制」の組み合わせであり、これは国内金融機関が既に採っている構成。</a:t>
            </a:r>
            <a:endParaRPr lang="en-US" sz="1150" dirty="0"/>
          </a:p>
        </p:txBody>
      </p:sp>
      <p:sp>
        <p:nvSpPr>
          <p:cNvPr id="7" name="Shape 5"/>
          <p:cNvSpPr/>
          <p:nvPr/>
        </p:nvSpPr>
        <p:spPr>
          <a:xfrm>
            <a:off x="640080" y="2926080"/>
            <a:ext cx="457200" cy="457200"/>
          </a:xfrm>
          <a:prstGeom prst="ellipse">
            <a:avLst/>
          </a:prstGeom>
          <a:solidFill>
            <a:srgbClr val="C8891A"/>
          </a:solidFill>
          <a:ln w="12700">
            <a:solidFill>
              <a:srgbClr val="C8891A"/>
            </a:solidFill>
            <a:prstDash val="solid"/>
          </a:ln>
        </p:spPr>
      </p:sp>
      <p:sp>
        <p:nvSpPr>
          <p:cNvPr id="8" name="Text 6"/>
          <p:cNvSpPr txBox="1"/>
          <p:nvPr/>
        </p:nvSpPr>
        <p:spPr>
          <a:xfrm>
            <a:off x="640080" y="2926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9" name="Text 7"/>
          <p:cNvSpPr txBox="1"/>
          <p:nvPr/>
        </p:nvSpPr>
        <p:spPr>
          <a:xfrm>
            <a:off x="1325880" y="2880360"/>
            <a:ext cx="10241280" cy="54864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ハード側の要件は Bedrock 東京リージョンで既に充足できる。ただし「国内完結」と「最新世代」はトレードオフ</a:t>
            </a:r>
            <a:endParaRPr lang="en-US" sz="1600" dirty="0"/>
          </a:p>
        </p:txBody>
      </p:sp>
      <p:sp>
        <p:nvSpPr>
          <p:cNvPr id="10" name="Text 8"/>
          <p:cNvSpPr txBox="1"/>
          <p:nvPr/>
        </p:nvSpPr>
        <p:spPr>
          <a:xfrm>
            <a:off x="1325880" y="3447288"/>
            <a:ext cx="10241280" cy="960120"/>
          </a:xfrm>
          <a:prstGeom prst="rect">
            <a:avLst/>
          </a:prstGeom>
          <a:noFill/>
          <a:ln/>
        </p:spPr>
        <p:txBody>
          <a:bodyPr wrap="square" lIns="0" tIns="0" rIns="0" bIns="0" rtlCol="0" anchor="t"/>
          <a:lstStyle/>
          <a:p>
            <a:pPr indent="0" marL="0">
              <a:lnSpc>
                <a:spcPct val="120000"/>
              </a:lnSpc>
              <a:buNone/>
            </a:pPr>
            <a:r>
              <a:rPr lang="en-US" sz="1150" dirty="0">
                <a:solidFill>
                  <a:srgbClr val="C7D5CD"/>
                </a:solidFill>
                <a:latin typeface="Meiryo" pitchFamily="34" charset="0"/>
                <a:ea typeface="Meiryo" pitchFamily="34" charset="-122"/>
                <a:cs typeface="Meiryo" pitchFamily="34" charset="-120"/>
              </a:rPr>
              <a:t>入出力の非保存・非学習・モデル提供者の非アクセスは AWS 公式仕様。日本国内（東京＋大阪）に閉じた推論は jp. inference profile 対応モデルに限られ、2026年6月以降の最新世代（Sonnet 5 / Opus 5 / Fable 5）は国外処理になる。</a:t>
            </a:r>
            <a:endParaRPr lang="en-US" sz="1150" dirty="0"/>
          </a:p>
        </p:txBody>
      </p:sp>
      <p:sp>
        <p:nvSpPr>
          <p:cNvPr id="11" name="Shape 9"/>
          <p:cNvSpPr/>
          <p:nvPr/>
        </p:nvSpPr>
        <p:spPr>
          <a:xfrm>
            <a:off x="640080" y="4572000"/>
            <a:ext cx="457200" cy="457200"/>
          </a:xfrm>
          <a:prstGeom prst="ellipse">
            <a:avLst/>
          </a:prstGeom>
          <a:solidFill>
            <a:srgbClr val="C8891A"/>
          </a:solidFill>
          <a:ln w="12700">
            <a:solidFill>
              <a:srgbClr val="C8891A"/>
            </a:solidFill>
            <a:prstDash val="solid"/>
          </a:ln>
        </p:spPr>
      </p:sp>
      <p:sp>
        <p:nvSpPr>
          <p:cNvPr id="12" name="Text 10"/>
          <p:cNvSpPr txBox="1"/>
          <p:nvPr/>
        </p:nvSpPr>
        <p:spPr>
          <a:xfrm>
            <a:off x="64008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3" name="Text 11"/>
          <p:cNvSpPr txBox="1"/>
          <p:nvPr/>
        </p:nvSpPr>
        <p:spPr>
          <a:xfrm>
            <a:off x="1325880" y="4526280"/>
            <a:ext cx="10241280" cy="54864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本体はソフト側 ＝ 情報分類の細分化と環境の対応付け。AI 固有の新規制はない</a:t>
            </a:r>
            <a:endParaRPr lang="en-US" sz="1600" dirty="0"/>
          </a:p>
        </p:txBody>
      </p:sp>
      <p:sp>
        <p:nvSpPr>
          <p:cNvPr id="14" name="Text 12"/>
          <p:cNvSpPr txBox="1"/>
          <p:nvPr/>
        </p:nvSpPr>
        <p:spPr>
          <a:xfrm>
            <a:off x="1325880" y="5093208"/>
            <a:ext cx="10241280" cy="960120"/>
          </a:xfrm>
          <a:prstGeom prst="rect">
            <a:avLst/>
          </a:prstGeom>
          <a:noFill/>
          <a:ln/>
        </p:spPr>
        <p:txBody>
          <a:bodyPr wrap="square" lIns="0" tIns="0" rIns="0" bIns="0" rtlCol="0" anchor="t"/>
          <a:lstStyle/>
          <a:p>
            <a:pPr indent="0" marL="0">
              <a:lnSpc>
                <a:spcPct val="120000"/>
              </a:lnSpc>
              <a:buNone/>
            </a:pPr>
            <a:r>
              <a:rPr lang="en-US" sz="1150" dirty="0">
                <a:solidFill>
                  <a:srgbClr val="C7D5CD"/>
                </a:solidFill>
                <a:latin typeface="Meiryo" pitchFamily="34" charset="0"/>
                <a:ea typeface="Meiryo" pitchFamily="34" charset="-122"/>
                <a:cs typeface="Meiryo" pitchFamily="34" charset="-120"/>
              </a:rPr>
              <a:t>「ほとんどが機密」という粒度では環境をどれだけ固めても利用に至らない。銀行法の外部委託規制・監督指針・FISC・個情法の既存枠組みが適用され（金融庁 AI DP 1.1）、必要なのは分類階層ごとの許容環境と統制の明文化。</a:t>
            </a:r>
            <a:endParaRPr lang="en-US" sz="1150" dirty="0"/>
          </a:p>
        </p:txBody>
      </p:sp>
      <p:sp>
        <p:nvSpPr>
          <p:cNvPr id="15" name="Text 1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16" name="Text 14"/>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本資料の構成と読み方</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「どの構成が安全か」ではなく「どの分類の情報を、どの統制条件で流すか」を決めるための資料</a:t>
            </a:r>
            <a:endParaRPr lang="en-US" sz="1200" dirty="0"/>
          </a:p>
        </p:txBody>
      </p:sp>
      <p:sp>
        <p:nvSpPr>
          <p:cNvPr id="4" name="Shape 2"/>
          <p:cNvSpPr/>
          <p:nvPr/>
        </p:nvSpPr>
        <p:spPr>
          <a:xfrm>
            <a:off x="548640" y="1371600"/>
            <a:ext cx="11091672" cy="1097280"/>
          </a:xfrm>
          <a:prstGeom prst="roundRect">
            <a:avLst>
              <a:gd name="adj" fmla="val 6667"/>
            </a:avLst>
          </a:prstGeom>
          <a:solidFill>
            <a:srgbClr val="F4F7F5"/>
          </a:solidFill>
          <a:ln w="9525">
            <a:solidFill>
              <a:srgbClr val="C9D6CF"/>
            </a:solidFill>
            <a:prstDash val="solid"/>
          </a:ln>
        </p:spPr>
      </p:sp>
      <p:sp>
        <p:nvSpPr>
          <p:cNvPr id="5" name="Text 3"/>
          <p:cNvSpPr txBox="1"/>
          <p:nvPr/>
        </p:nvSpPr>
        <p:spPr>
          <a:xfrm>
            <a:off x="731520" y="1481328"/>
            <a:ext cx="13716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第 1 部</a:t>
            </a:r>
            <a:endParaRPr lang="en-US" sz="1300" dirty="0"/>
          </a:p>
        </p:txBody>
      </p:sp>
      <p:sp>
        <p:nvSpPr>
          <p:cNvPr id="6" name="Text 4"/>
          <p:cNvSpPr txBox="1"/>
          <p:nvPr/>
        </p:nvSpPr>
        <p:spPr>
          <a:xfrm>
            <a:off x="2011680" y="1481328"/>
            <a:ext cx="2926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要件の定義</a:t>
            </a:r>
            <a:endParaRPr lang="en-US" sz="1300" dirty="0"/>
          </a:p>
        </p:txBody>
      </p:sp>
      <p:sp>
        <p:nvSpPr>
          <p:cNvPr id="7" name="Text 5"/>
          <p:cNvSpPr txBox="1"/>
          <p:nvPr/>
        </p:nvSpPr>
        <p:spPr>
          <a:xfrm>
            <a:off x="4846320" y="1499616"/>
            <a:ext cx="1097280" cy="256032"/>
          </a:xfrm>
          <a:prstGeom prst="rect">
            <a:avLst/>
          </a:prstGeom>
          <a:noFill/>
          <a:ln/>
        </p:spPr>
        <p:txBody>
          <a:bodyPr wrap="square" lIns="0" tIns="0" rIns="0" bIns="0" rtlCol="0" anchor="ctr"/>
          <a:lstStyle/>
          <a:p>
            <a:pPr indent="0" marL="0">
              <a:buNone/>
            </a:pPr>
            <a:r>
              <a:rPr lang="en-US" sz="1050" dirty="0">
                <a:solidFill>
                  <a:srgbClr val="5B6B63"/>
                </a:solidFill>
                <a:latin typeface="Meiryo" pitchFamily="34" charset="0"/>
                <a:ea typeface="Meiryo" pitchFamily="34" charset="-122"/>
                <a:cs typeface="Meiryo" pitchFamily="34" charset="-120"/>
              </a:rPr>
              <a:t>p.5〜20</a:t>
            </a:r>
            <a:endParaRPr lang="en-US" sz="1050" dirty="0"/>
          </a:p>
        </p:txBody>
      </p:sp>
      <p:sp>
        <p:nvSpPr>
          <p:cNvPr id="8" name="Text 6"/>
          <p:cNvSpPr txBox="1"/>
          <p:nvPr/>
        </p:nvSpPr>
        <p:spPr>
          <a:xfrm>
            <a:off x="731520" y="1783080"/>
            <a:ext cx="7772400" cy="621792"/>
          </a:xfrm>
          <a:prstGeom prst="rect">
            <a:avLst/>
          </a:prstGeom>
          <a:noFill/>
          <a:ln/>
        </p:spPr>
        <p:txBody>
          <a:bodyPr wrap="square" lIns="0" tIns="0" rIns="0" bIns="0" rtlCol="0" anchor="t"/>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機密情報を扱える環境とは何かを、特定のクラウド事業者を前提にせず定義する。8 つの要件それぞれについて、何を守るのか・なぜ金融機関で固有に重いのか・何をもって満たしたと言えるのかを示す。</a:t>
            </a:r>
            <a:endParaRPr lang="en-US" sz="900" dirty="0"/>
          </a:p>
        </p:txBody>
      </p:sp>
      <p:sp>
        <p:nvSpPr>
          <p:cNvPr id="9" name="Shape 7"/>
          <p:cNvSpPr/>
          <p:nvPr/>
        </p:nvSpPr>
        <p:spPr>
          <a:xfrm>
            <a:off x="8686800" y="1755648"/>
            <a:ext cx="2788920" cy="621792"/>
          </a:xfrm>
          <a:prstGeom prst="roundRect">
            <a:avLst>
              <a:gd name="adj" fmla="val 11765"/>
            </a:avLst>
          </a:prstGeom>
          <a:solidFill>
            <a:srgbClr val="FBF1DF"/>
          </a:solidFill>
          <a:ln w="9525">
            <a:solidFill>
              <a:srgbClr val="FBF1DF"/>
            </a:solidFill>
            <a:prstDash val="solid"/>
          </a:ln>
        </p:spPr>
      </p:sp>
      <p:sp>
        <p:nvSpPr>
          <p:cNvPr id="10" name="Text 8"/>
          <p:cNvSpPr txBox="1"/>
          <p:nvPr/>
        </p:nvSpPr>
        <p:spPr>
          <a:xfrm>
            <a:off x="8823960" y="1801368"/>
            <a:ext cx="2514600" cy="548640"/>
          </a:xfrm>
          <a:prstGeom prst="rect">
            <a:avLst/>
          </a:prstGeom>
          <a:noFill/>
          <a:ln/>
        </p:spPr>
        <p:txBody>
          <a:bodyPr wrap="square" lIns="0" tIns="0" rIns="0" bIns="0" rtlCol="0" anchor="ctr"/>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この部だけで、他の事業者や将来のベンダーを評価する枠組みになる</a:t>
            </a:r>
            <a:endParaRPr lang="en-US" sz="800" dirty="0"/>
          </a:p>
        </p:txBody>
      </p:sp>
      <p:sp>
        <p:nvSpPr>
          <p:cNvPr id="11" name="Shape 9"/>
          <p:cNvSpPr/>
          <p:nvPr/>
        </p:nvSpPr>
        <p:spPr>
          <a:xfrm>
            <a:off x="548640" y="2578608"/>
            <a:ext cx="11091672" cy="1097280"/>
          </a:xfrm>
          <a:prstGeom prst="roundRect">
            <a:avLst>
              <a:gd name="adj" fmla="val 6667"/>
            </a:avLst>
          </a:prstGeom>
          <a:solidFill>
            <a:srgbClr val="F4F7F5"/>
          </a:solidFill>
          <a:ln w="9525">
            <a:solidFill>
              <a:srgbClr val="C9D6CF"/>
            </a:solidFill>
            <a:prstDash val="solid"/>
          </a:ln>
        </p:spPr>
      </p:sp>
      <p:sp>
        <p:nvSpPr>
          <p:cNvPr id="12" name="Text 10"/>
          <p:cNvSpPr txBox="1"/>
          <p:nvPr/>
        </p:nvSpPr>
        <p:spPr>
          <a:xfrm>
            <a:off x="731520" y="2688336"/>
            <a:ext cx="1371600" cy="274320"/>
          </a:xfrm>
          <a:prstGeom prst="rect">
            <a:avLst/>
          </a:prstGeom>
          <a:noFill/>
          <a:ln/>
        </p:spPr>
        <p:txBody>
          <a:bodyPr wrap="square" lIns="0" tIns="0" rIns="0" bIns="0" rtlCol="0" anchor="ctr"/>
          <a:lstStyle/>
          <a:p>
            <a:pPr indent="0" marL="0">
              <a:buNone/>
            </a:pPr>
            <a:r>
              <a:rPr lang="en-US" sz="1300" b="1" dirty="0">
                <a:solidFill>
                  <a:srgbClr val="3B6E8F"/>
                </a:solidFill>
                <a:latin typeface="Meiryo" pitchFamily="34" charset="0"/>
                <a:ea typeface="Meiryo" pitchFamily="34" charset="-122"/>
                <a:cs typeface="Meiryo" pitchFamily="34" charset="-120"/>
              </a:rPr>
              <a:t>第 2 部</a:t>
            </a:r>
            <a:endParaRPr lang="en-US" sz="1300" dirty="0"/>
          </a:p>
        </p:txBody>
      </p:sp>
      <p:sp>
        <p:nvSpPr>
          <p:cNvPr id="13" name="Text 11"/>
          <p:cNvSpPr txBox="1"/>
          <p:nvPr/>
        </p:nvSpPr>
        <p:spPr>
          <a:xfrm>
            <a:off x="2011680" y="2688336"/>
            <a:ext cx="2926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3 パターンの評価</a:t>
            </a:r>
            <a:endParaRPr lang="en-US" sz="1300" dirty="0"/>
          </a:p>
        </p:txBody>
      </p:sp>
      <p:sp>
        <p:nvSpPr>
          <p:cNvPr id="14" name="Text 12"/>
          <p:cNvSpPr txBox="1"/>
          <p:nvPr/>
        </p:nvSpPr>
        <p:spPr>
          <a:xfrm>
            <a:off x="4846320" y="2706624"/>
            <a:ext cx="1097280" cy="256032"/>
          </a:xfrm>
          <a:prstGeom prst="rect">
            <a:avLst/>
          </a:prstGeom>
          <a:noFill/>
          <a:ln/>
        </p:spPr>
        <p:txBody>
          <a:bodyPr wrap="square" lIns="0" tIns="0" rIns="0" bIns="0" rtlCol="0" anchor="ctr"/>
          <a:lstStyle/>
          <a:p>
            <a:pPr indent="0" marL="0">
              <a:buNone/>
            </a:pPr>
            <a:r>
              <a:rPr lang="en-US" sz="1050" dirty="0">
                <a:solidFill>
                  <a:srgbClr val="5B6B63"/>
                </a:solidFill>
                <a:latin typeface="Meiryo" pitchFamily="34" charset="0"/>
                <a:ea typeface="Meiryo" pitchFamily="34" charset="-122"/>
                <a:cs typeface="Meiryo" pitchFamily="34" charset="-120"/>
              </a:rPr>
              <a:t>p.21〜31</a:t>
            </a:r>
            <a:endParaRPr lang="en-US" sz="1050" dirty="0"/>
          </a:p>
        </p:txBody>
      </p:sp>
      <p:sp>
        <p:nvSpPr>
          <p:cNvPr id="15" name="Text 13"/>
          <p:cNvSpPr txBox="1"/>
          <p:nvPr/>
        </p:nvSpPr>
        <p:spPr>
          <a:xfrm>
            <a:off x="731520" y="2990088"/>
            <a:ext cx="7772400" cy="621792"/>
          </a:xfrm>
          <a:prstGeom prst="rect">
            <a:avLst/>
          </a:prstGeom>
          <a:noFill/>
          <a:ln/>
        </p:spPr>
        <p:txBody>
          <a:bodyPr wrap="square" lIns="0" tIns="0" rIns="0" bIns="0" rtlCol="0" anchor="t"/>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第 1 部の要件を、Amazon Bedrock（A）／Microsoft Foundry（B）／Google Vertex AI（C）の 3 構成に当てて検証する。各パターンは環境図・8 要件充足・落とし穴の 3 枚で同じ形式に揃えてある。</a:t>
            </a:r>
            <a:endParaRPr lang="en-US" sz="900" dirty="0"/>
          </a:p>
        </p:txBody>
      </p:sp>
      <p:sp>
        <p:nvSpPr>
          <p:cNvPr id="16" name="Shape 14"/>
          <p:cNvSpPr/>
          <p:nvPr/>
        </p:nvSpPr>
        <p:spPr>
          <a:xfrm>
            <a:off x="8686800" y="2962656"/>
            <a:ext cx="2788920" cy="621792"/>
          </a:xfrm>
          <a:prstGeom prst="roundRect">
            <a:avLst>
              <a:gd name="adj" fmla="val 11765"/>
            </a:avLst>
          </a:prstGeom>
          <a:solidFill>
            <a:srgbClr val="FBF1DF"/>
          </a:solidFill>
          <a:ln w="9525">
            <a:solidFill>
              <a:srgbClr val="FBF1DF"/>
            </a:solidFill>
            <a:prstDash val="solid"/>
          </a:ln>
        </p:spPr>
      </p:sp>
      <p:sp>
        <p:nvSpPr>
          <p:cNvPr id="17" name="Text 15"/>
          <p:cNvSpPr txBox="1"/>
          <p:nvPr/>
        </p:nvSpPr>
        <p:spPr>
          <a:xfrm>
            <a:off x="8823960" y="3008376"/>
            <a:ext cx="2514600" cy="548640"/>
          </a:xfrm>
          <a:prstGeom prst="rect">
            <a:avLst/>
          </a:prstGeom>
          <a:noFill/>
          <a:ln/>
        </p:spPr>
        <p:txBody>
          <a:bodyPr wrap="square" lIns="0" tIns="0" rIns="0" bIns="0" rtlCol="0" anchor="ctr"/>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評価の結論は p.31 の比較表に集約している</a:t>
            </a:r>
            <a:endParaRPr lang="en-US" sz="800" dirty="0"/>
          </a:p>
        </p:txBody>
      </p:sp>
      <p:sp>
        <p:nvSpPr>
          <p:cNvPr id="18" name="Shape 16"/>
          <p:cNvSpPr/>
          <p:nvPr/>
        </p:nvSpPr>
        <p:spPr>
          <a:xfrm>
            <a:off x="548640" y="3785616"/>
            <a:ext cx="11091672" cy="1097280"/>
          </a:xfrm>
          <a:prstGeom prst="roundRect">
            <a:avLst>
              <a:gd name="adj" fmla="val 6667"/>
            </a:avLst>
          </a:prstGeom>
          <a:solidFill>
            <a:srgbClr val="F4F7F5"/>
          </a:solidFill>
          <a:ln w="9525">
            <a:solidFill>
              <a:srgbClr val="C9D6CF"/>
            </a:solidFill>
            <a:prstDash val="solid"/>
          </a:ln>
        </p:spPr>
      </p:sp>
      <p:sp>
        <p:nvSpPr>
          <p:cNvPr id="19" name="Text 17"/>
          <p:cNvSpPr txBox="1"/>
          <p:nvPr/>
        </p:nvSpPr>
        <p:spPr>
          <a:xfrm>
            <a:off x="731520" y="3895344"/>
            <a:ext cx="1371600" cy="274320"/>
          </a:xfrm>
          <a:prstGeom prst="rect">
            <a:avLst/>
          </a:prstGeom>
          <a:noFill/>
          <a:ln/>
        </p:spPr>
        <p:txBody>
          <a:bodyPr wrap="square" lIns="0" tIns="0" rIns="0" bIns="0" rtlCol="0" anchor="ctr"/>
          <a:lstStyle/>
          <a:p>
            <a:pPr indent="0" marL="0">
              <a:buNone/>
            </a:pPr>
            <a:r>
              <a:rPr lang="en-US" sz="1300" b="1" dirty="0">
                <a:solidFill>
                  <a:srgbClr val="8F5F0E"/>
                </a:solidFill>
                <a:latin typeface="Meiryo" pitchFamily="34" charset="0"/>
                <a:ea typeface="Meiryo" pitchFamily="34" charset="-122"/>
                <a:cs typeface="Meiryo" pitchFamily="34" charset="-120"/>
              </a:rPr>
              <a:t>第 3 部</a:t>
            </a:r>
            <a:endParaRPr lang="en-US" sz="1300" dirty="0"/>
          </a:p>
        </p:txBody>
      </p:sp>
      <p:sp>
        <p:nvSpPr>
          <p:cNvPr id="20" name="Text 18"/>
          <p:cNvSpPr txBox="1"/>
          <p:nvPr/>
        </p:nvSpPr>
        <p:spPr>
          <a:xfrm>
            <a:off x="2011680" y="3895344"/>
            <a:ext cx="2926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実行に向けて</a:t>
            </a:r>
            <a:endParaRPr lang="en-US" sz="1300" dirty="0"/>
          </a:p>
        </p:txBody>
      </p:sp>
      <p:sp>
        <p:nvSpPr>
          <p:cNvPr id="21" name="Text 19"/>
          <p:cNvSpPr txBox="1"/>
          <p:nvPr/>
        </p:nvSpPr>
        <p:spPr>
          <a:xfrm>
            <a:off x="4846320" y="3913632"/>
            <a:ext cx="1097280" cy="256032"/>
          </a:xfrm>
          <a:prstGeom prst="rect">
            <a:avLst/>
          </a:prstGeom>
          <a:noFill/>
          <a:ln/>
        </p:spPr>
        <p:txBody>
          <a:bodyPr wrap="square" lIns="0" tIns="0" rIns="0" bIns="0" rtlCol="0" anchor="ctr"/>
          <a:lstStyle/>
          <a:p>
            <a:pPr indent="0" marL="0">
              <a:buNone/>
            </a:pPr>
            <a:r>
              <a:rPr lang="en-US" sz="1050" dirty="0">
                <a:solidFill>
                  <a:srgbClr val="5B6B63"/>
                </a:solidFill>
                <a:latin typeface="Meiryo" pitchFamily="34" charset="0"/>
                <a:ea typeface="Meiryo" pitchFamily="34" charset="-122"/>
                <a:cs typeface="Meiryo" pitchFamily="34" charset="-120"/>
              </a:rPr>
              <a:t>p.32〜38</a:t>
            </a:r>
            <a:endParaRPr lang="en-US" sz="1050" dirty="0"/>
          </a:p>
        </p:txBody>
      </p:sp>
      <p:sp>
        <p:nvSpPr>
          <p:cNvPr id="22" name="Text 20"/>
          <p:cNvSpPr txBox="1"/>
          <p:nvPr/>
        </p:nvSpPr>
        <p:spPr>
          <a:xfrm>
            <a:off x="731520" y="4197096"/>
            <a:ext cx="7772400" cy="621792"/>
          </a:xfrm>
          <a:prstGeom prst="rect">
            <a:avLst/>
          </a:prstGeom>
          <a:noFill/>
          <a:ln/>
        </p:spPr>
        <p:txBody>
          <a:bodyPr wrap="square" lIns="0" tIns="0" rIns="0" bIns="0" rtlCol="0" anchor="t"/>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情報分類と許容環境の対応付け、ハルシネーション対策の設計、漏えい時の報告義務、そして埋まらない部分をどう受容として決議するか。最後にAI導入組織で決めること と 次の 90 日。</a:t>
            </a:r>
            <a:endParaRPr lang="en-US" sz="900" dirty="0"/>
          </a:p>
        </p:txBody>
      </p:sp>
      <p:sp>
        <p:nvSpPr>
          <p:cNvPr id="23" name="Shape 21"/>
          <p:cNvSpPr/>
          <p:nvPr/>
        </p:nvSpPr>
        <p:spPr>
          <a:xfrm>
            <a:off x="8686800" y="4169664"/>
            <a:ext cx="2788920" cy="621792"/>
          </a:xfrm>
          <a:prstGeom prst="roundRect">
            <a:avLst>
              <a:gd name="adj" fmla="val 11765"/>
            </a:avLst>
          </a:prstGeom>
          <a:solidFill>
            <a:srgbClr val="FBF1DF"/>
          </a:solidFill>
          <a:ln w="9525">
            <a:solidFill>
              <a:srgbClr val="FBF1DF"/>
            </a:solidFill>
            <a:prstDash val="solid"/>
          </a:ln>
        </p:spPr>
      </p:sp>
      <p:sp>
        <p:nvSpPr>
          <p:cNvPr id="24" name="Text 22"/>
          <p:cNvSpPr txBox="1"/>
          <p:nvPr/>
        </p:nvSpPr>
        <p:spPr>
          <a:xfrm>
            <a:off x="8823960" y="4215384"/>
            <a:ext cx="2514600" cy="548640"/>
          </a:xfrm>
          <a:prstGeom prst="rect">
            <a:avLst/>
          </a:prstGeom>
          <a:noFill/>
          <a:ln/>
        </p:spPr>
        <p:txBody>
          <a:bodyPr wrap="square" lIns="0" tIns="0" rIns="0" bIns="0" rtlCol="0" anchor="ctr"/>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AI導入組織の決議事項は p.37 に集約している</a:t>
            </a:r>
            <a:endParaRPr lang="en-US" sz="800" dirty="0"/>
          </a:p>
        </p:txBody>
      </p:sp>
      <p:sp>
        <p:nvSpPr>
          <p:cNvPr id="25" name="Shape 23"/>
          <p:cNvSpPr/>
          <p:nvPr/>
        </p:nvSpPr>
        <p:spPr>
          <a:xfrm>
            <a:off x="548640" y="4992624"/>
            <a:ext cx="11091672" cy="1097280"/>
          </a:xfrm>
          <a:prstGeom prst="roundRect">
            <a:avLst>
              <a:gd name="adj" fmla="val 6667"/>
            </a:avLst>
          </a:prstGeom>
          <a:solidFill>
            <a:srgbClr val="F4F7F5"/>
          </a:solidFill>
          <a:ln w="9525">
            <a:solidFill>
              <a:srgbClr val="C9D6CF"/>
            </a:solidFill>
            <a:prstDash val="solid"/>
          </a:ln>
        </p:spPr>
      </p:sp>
      <p:sp>
        <p:nvSpPr>
          <p:cNvPr id="26" name="Text 24"/>
          <p:cNvSpPr txBox="1"/>
          <p:nvPr/>
        </p:nvSpPr>
        <p:spPr>
          <a:xfrm>
            <a:off x="731520" y="5102352"/>
            <a:ext cx="1371600" cy="274320"/>
          </a:xfrm>
          <a:prstGeom prst="rect">
            <a:avLst/>
          </a:prstGeom>
          <a:noFill/>
          <a:ln/>
        </p:spPr>
        <p:txBody>
          <a:bodyPr wrap="square" lIns="0" tIns="0" rIns="0" bIns="0" rtlCol="0" anchor="ctr"/>
          <a:lstStyle/>
          <a:p>
            <a:pPr indent="0" marL="0">
              <a:buNone/>
            </a:pPr>
            <a:r>
              <a:rPr lang="en-US" sz="1300" b="1" dirty="0">
                <a:solidFill>
                  <a:srgbClr val="5B6B63"/>
                </a:solidFill>
                <a:latin typeface="Meiryo" pitchFamily="34" charset="0"/>
                <a:ea typeface="Meiryo" pitchFamily="34" charset="-122"/>
                <a:cs typeface="Meiryo" pitchFamily="34" charset="-120"/>
              </a:rPr>
              <a:t>付録</a:t>
            </a:r>
            <a:endParaRPr lang="en-US" sz="1300" dirty="0"/>
          </a:p>
        </p:txBody>
      </p:sp>
      <p:sp>
        <p:nvSpPr>
          <p:cNvPr id="27" name="Text 25"/>
          <p:cNvSpPr txBox="1"/>
          <p:nvPr/>
        </p:nvSpPr>
        <p:spPr>
          <a:xfrm>
            <a:off x="2011680" y="5102352"/>
            <a:ext cx="292608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根拠と詳細</a:t>
            </a:r>
            <a:endParaRPr lang="en-US" sz="1300" dirty="0"/>
          </a:p>
        </p:txBody>
      </p:sp>
      <p:sp>
        <p:nvSpPr>
          <p:cNvPr id="28" name="Text 26"/>
          <p:cNvSpPr txBox="1"/>
          <p:nvPr/>
        </p:nvSpPr>
        <p:spPr>
          <a:xfrm>
            <a:off x="4846320" y="5120640"/>
            <a:ext cx="1097280" cy="256032"/>
          </a:xfrm>
          <a:prstGeom prst="rect">
            <a:avLst/>
          </a:prstGeom>
          <a:noFill/>
          <a:ln/>
        </p:spPr>
        <p:txBody>
          <a:bodyPr wrap="square" lIns="0" tIns="0" rIns="0" bIns="0" rtlCol="0" anchor="ctr"/>
          <a:lstStyle/>
          <a:p>
            <a:pPr indent="0" marL="0">
              <a:buNone/>
            </a:pPr>
            <a:r>
              <a:rPr lang="en-US" sz="1050" dirty="0">
                <a:solidFill>
                  <a:srgbClr val="5B6B63"/>
                </a:solidFill>
                <a:latin typeface="Meiryo" pitchFamily="34" charset="0"/>
                <a:ea typeface="Meiryo" pitchFamily="34" charset="-122"/>
                <a:cs typeface="Meiryo" pitchFamily="34" charset="-120"/>
              </a:rPr>
              <a:t>p.39〜59</a:t>
            </a:r>
            <a:endParaRPr lang="en-US" sz="1050" dirty="0"/>
          </a:p>
        </p:txBody>
      </p:sp>
      <p:sp>
        <p:nvSpPr>
          <p:cNvPr id="29" name="Text 27"/>
          <p:cNvSpPr txBox="1"/>
          <p:nvPr/>
        </p:nvSpPr>
        <p:spPr>
          <a:xfrm>
            <a:off x="731520" y="5404104"/>
            <a:ext cx="7772400" cy="621792"/>
          </a:xfrm>
          <a:prstGeom prst="rect">
            <a:avLst/>
          </a:prstGeom>
          <a:noFill/>
          <a:ln/>
        </p:spPr>
        <p:txBody>
          <a:bodyPr wrap="square" lIns="0" tIns="0" rIns="0" bIns="0" rtlCol="0" anchor="t"/>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パターン A の要件別詳細（8 枚）、可用性・調達・運用、データ取扱いと国内完結の根拠、業界水準、参考文献。議論が深まったときに参照する。</a:t>
            </a:r>
            <a:endParaRPr lang="en-US" sz="900" dirty="0"/>
          </a:p>
        </p:txBody>
      </p:sp>
      <p:sp>
        <p:nvSpPr>
          <p:cNvPr id="30" name="Shape 28"/>
          <p:cNvSpPr/>
          <p:nvPr/>
        </p:nvSpPr>
        <p:spPr>
          <a:xfrm>
            <a:off x="8686800" y="5376672"/>
            <a:ext cx="2788920" cy="621792"/>
          </a:xfrm>
          <a:prstGeom prst="roundRect">
            <a:avLst>
              <a:gd name="adj" fmla="val 11765"/>
            </a:avLst>
          </a:prstGeom>
          <a:solidFill>
            <a:srgbClr val="FBF1DF"/>
          </a:solidFill>
          <a:ln w="9525">
            <a:solidFill>
              <a:srgbClr val="FBF1DF"/>
            </a:solidFill>
            <a:prstDash val="solid"/>
          </a:ln>
        </p:spPr>
      </p:sp>
      <p:sp>
        <p:nvSpPr>
          <p:cNvPr id="31" name="Text 29"/>
          <p:cNvSpPr txBox="1"/>
          <p:nvPr/>
        </p:nvSpPr>
        <p:spPr>
          <a:xfrm>
            <a:off x="8823960" y="5422392"/>
            <a:ext cx="2514600" cy="548640"/>
          </a:xfrm>
          <a:prstGeom prst="rect">
            <a:avLst/>
          </a:prstGeom>
          <a:noFill/>
          <a:ln/>
        </p:spPr>
        <p:txBody>
          <a:bodyPr wrap="square" lIns="0" tIns="0" rIns="0" bIns="0" rtlCol="0" anchor="ctr"/>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全スライドのノート欄に一次ソースの URL を記載</a:t>
            </a:r>
            <a:endParaRPr lang="en-US" sz="800" dirty="0"/>
          </a:p>
        </p:txBody>
      </p:sp>
      <p:sp>
        <p:nvSpPr>
          <p:cNvPr id="32" name="Shape 30"/>
          <p:cNvSpPr/>
          <p:nvPr/>
        </p:nvSpPr>
        <p:spPr>
          <a:xfrm>
            <a:off x="548640" y="5806440"/>
            <a:ext cx="11091672" cy="548640"/>
          </a:xfrm>
          <a:prstGeom prst="roundRect">
            <a:avLst>
              <a:gd name="adj" fmla="val 13333"/>
            </a:avLst>
          </a:prstGeom>
          <a:solidFill>
            <a:srgbClr val="E9F0EC"/>
          </a:solidFill>
          <a:ln w="9525">
            <a:solidFill>
              <a:srgbClr val="E9F0EC"/>
            </a:solidFill>
            <a:prstDash val="solid"/>
          </a:ln>
        </p:spPr>
      </p:sp>
      <p:sp>
        <p:nvSpPr>
          <p:cNvPr id="33" name="Text 31"/>
          <p:cNvSpPr txBox="1"/>
          <p:nvPr/>
        </p:nvSpPr>
        <p:spPr>
          <a:xfrm>
            <a:off x="731520" y="5888736"/>
            <a:ext cx="10744200" cy="411480"/>
          </a:xfrm>
          <a:prstGeom prst="rect">
            <a:avLst/>
          </a:prstGeom>
          <a:noFill/>
          <a:ln/>
        </p:spPr>
        <p:txBody>
          <a:bodyPr wrap="square" lIns="0" tIns="0" rIns="0" bIns="0" rtlCol="0" anchor="ctr"/>
          <a:lstStyle/>
          <a:p>
            <a:pPr algn="l" indent="0" marL="0">
              <a:lnSpc>
                <a:spcPct val="115000"/>
              </a:lnSpc>
              <a:spcAft>
                <a:spcPts val="400"/>
              </a:spcAft>
              <a:buNone/>
            </a:pPr>
            <a:r>
              <a:rPr lang="en-US" sz="950" dirty="0">
                <a:solidFill>
                  <a:srgbClr val="1F2A25"/>
                </a:solidFill>
                <a:latin typeface="Meiryo" pitchFamily="34" charset="0"/>
                <a:ea typeface="Meiryo" pitchFamily="34" charset="-122"/>
                <a:cs typeface="Meiryo" pitchFamily="34" charset="-120"/>
              </a:rPr>
              <a:t>事実関係は 2026-08-26 時点で一次ソースにより確認。確認できなかった事項は各スライドに「未確認」と明記し、確認先を p.38 の 90 日計画に落としている。</a:t>
            </a:r>
            <a:endParaRPr lang="en-US" sz="950" dirty="0"/>
          </a:p>
        </p:txBody>
      </p:sp>
      <p:sp>
        <p:nvSpPr>
          <p:cNvPr id="34"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5" name="Text 3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731520" y="155448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第 1 部　要件の定義 ― 8 つの要件は何を求めているか</a:t>
            </a:r>
            <a:endParaRPr lang="en-US" sz="3200" dirty="0"/>
          </a:p>
        </p:txBody>
      </p:sp>
      <p:sp>
        <p:nvSpPr>
          <p:cNvPr id="3" name="Text 1"/>
          <p:cNvSpPr txBox="1"/>
          <p:nvPr/>
        </p:nvSpPr>
        <p:spPr>
          <a:xfrm>
            <a:off x="731520" y="2487168"/>
            <a:ext cx="10515600" cy="365760"/>
          </a:xfrm>
          <a:prstGeom prst="rect">
            <a:avLst/>
          </a:prstGeom>
          <a:noFill/>
          <a:ln/>
        </p:spPr>
        <p:txBody>
          <a:bodyPr wrap="square" lIns="0" tIns="0" rIns="0" bIns="0" rtlCol="0" anchor="ctr"/>
          <a:lstStyle/>
          <a:p>
            <a:pPr indent="0" marL="0">
              <a:buNone/>
            </a:pPr>
            <a:r>
              <a:rPr lang="en-US" sz="1400" dirty="0">
                <a:solidFill>
                  <a:srgbClr val="BFD0C7"/>
                </a:solidFill>
                <a:latin typeface="Meiryo" pitchFamily="34" charset="0"/>
                <a:ea typeface="Meiryo" pitchFamily="34" charset="-122"/>
                <a:cs typeface="Meiryo" pitchFamily="34" charset="-120"/>
              </a:rPr>
              <a:t>特定のクラウド事業者を前提にせず、要件そのものを定義する。ベンダー選定の前に、当行が何を求めるのかを確定させるため</a:t>
            </a:r>
            <a:endParaRPr lang="en-US" sz="1400" dirty="0"/>
          </a:p>
        </p:txBody>
      </p:sp>
      <p:sp>
        <p:nvSpPr>
          <p:cNvPr id="4" name="Shape 2"/>
          <p:cNvSpPr/>
          <p:nvPr/>
        </p:nvSpPr>
        <p:spPr>
          <a:xfrm>
            <a:off x="731520" y="3383280"/>
            <a:ext cx="2560320" cy="1920240"/>
          </a:xfrm>
          <a:prstGeom prst="roundRect">
            <a:avLst>
              <a:gd name="adj" fmla="val 3810"/>
            </a:avLst>
          </a:prstGeom>
          <a:solidFill>
            <a:srgbClr val="1E3D31"/>
          </a:solidFill>
          <a:ln w="12700">
            <a:solidFill>
              <a:srgbClr val="1E3D31"/>
            </a:solidFill>
            <a:prstDash val="solid"/>
          </a:ln>
        </p:spPr>
      </p:sp>
      <p:sp>
        <p:nvSpPr>
          <p:cNvPr id="5" name="Shape 3"/>
          <p:cNvSpPr/>
          <p:nvPr/>
        </p:nvSpPr>
        <p:spPr>
          <a:xfrm>
            <a:off x="896112" y="3547872"/>
            <a:ext cx="329184" cy="329184"/>
          </a:xfrm>
          <a:prstGeom prst="ellipse">
            <a:avLst/>
          </a:prstGeom>
          <a:solidFill>
            <a:srgbClr val="C8891A"/>
          </a:solidFill>
          <a:ln w="12700">
            <a:solidFill>
              <a:srgbClr val="C8891A"/>
            </a:solidFill>
            <a:prstDash val="solid"/>
          </a:ln>
        </p:spPr>
      </p:sp>
      <p:sp>
        <p:nvSpPr>
          <p:cNvPr id="6" name="Text 4"/>
          <p:cNvSpPr txBox="1"/>
          <p:nvPr/>
        </p:nvSpPr>
        <p:spPr>
          <a:xfrm>
            <a:off x="8961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txBox="1"/>
          <p:nvPr/>
        </p:nvSpPr>
        <p:spPr>
          <a:xfrm>
            <a:off x="1298448" y="3520440"/>
            <a:ext cx="1828800" cy="384048"/>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何を、何から守るのか</a:t>
            </a:r>
            <a:endParaRPr lang="en-US" sz="1050" dirty="0"/>
          </a:p>
        </p:txBody>
      </p:sp>
      <p:sp>
        <p:nvSpPr>
          <p:cNvPr id="8" name="Text 6"/>
          <p:cNvSpPr txBox="1"/>
          <p:nvPr/>
        </p:nvSpPr>
        <p:spPr>
          <a:xfrm>
            <a:off x="896112" y="4005072"/>
            <a:ext cx="2231136" cy="118872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要件が守ろうとしている対象と、想定する脅威を言語化する</a:t>
            </a:r>
            <a:endParaRPr lang="en-US" sz="900" dirty="0"/>
          </a:p>
        </p:txBody>
      </p:sp>
      <p:sp>
        <p:nvSpPr>
          <p:cNvPr id="9" name="Shape 7"/>
          <p:cNvSpPr/>
          <p:nvPr/>
        </p:nvSpPr>
        <p:spPr>
          <a:xfrm>
            <a:off x="3474720" y="3383280"/>
            <a:ext cx="2560320" cy="1920240"/>
          </a:xfrm>
          <a:prstGeom prst="roundRect">
            <a:avLst>
              <a:gd name="adj" fmla="val 3810"/>
            </a:avLst>
          </a:prstGeom>
          <a:solidFill>
            <a:srgbClr val="1E3D31"/>
          </a:solidFill>
          <a:ln w="12700">
            <a:solidFill>
              <a:srgbClr val="1E3D31"/>
            </a:solidFill>
            <a:prstDash val="solid"/>
          </a:ln>
        </p:spPr>
      </p:sp>
      <p:sp>
        <p:nvSpPr>
          <p:cNvPr id="10" name="Shape 8"/>
          <p:cNvSpPr/>
          <p:nvPr/>
        </p:nvSpPr>
        <p:spPr>
          <a:xfrm>
            <a:off x="3639312" y="3547872"/>
            <a:ext cx="329184" cy="329184"/>
          </a:xfrm>
          <a:prstGeom prst="ellipse">
            <a:avLst/>
          </a:prstGeom>
          <a:solidFill>
            <a:srgbClr val="C8891A"/>
          </a:solidFill>
          <a:ln w="12700">
            <a:solidFill>
              <a:srgbClr val="C8891A"/>
            </a:solidFill>
            <a:prstDash val="solid"/>
          </a:ln>
        </p:spPr>
      </p:sp>
      <p:sp>
        <p:nvSpPr>
          <p:cNvPr id="11" name="Text 9"/>
          <p:cNvSpPr txBox="1"/>
          <p:nvPr/>
        </p:nvSpPr>
        <p:spPr>
          <a:xfrm>
            <a:off x="36393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2" name="Text 10"/>
          <p:cNvSpPr txBox="1"/>
          <p:nvPr/>
        </p:nvSpPr>
        <p:spPr>
          <a:xfrm>
            <a:off x="4041648" y="3520440"/>
            <a:ext cx="1828800" cy="384048"/>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なぜ金融機関で固有に重いのか</a:t>
            </a:r>
            <a:endParaRPr lang="en-US" sz="1050" dirty="0"/>
          </a:p>
        </p:txBody>
      </p:sp>
      <p:sp>
        <p:nvSpPr>
          <p:cNvPr id="13" name="Text 11"/>
          <p:cNvSpPr txBox="1"/>
          <p:nvPr/>
        </p:nvSpPr>
        <p:spPr>
          <a:xfrm>
            <a:off x="3639312" y="4005072"/>
            <a:ext cx="2231136" cy="118872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一般企業と異なり、法令・監督上のどの要請に紐づくのかを示す</a:t>
            </a:r>
            <a:endParaRPr lang="en-US" sz="900" dirty="0"/>
          </a:p>
        </p:txBody>
      </p:sp>
      <p:sp>
        <p:nvSpPr>
          <p:cNvPr id="14" name="Shape 12"/>
          <p:cNvSpPr/>
          <p:nvPr/>
        </p:nvSpPr>
        <p:spPr>
          <a:xfrm>
            <a:off x="6217920" y="3383280"/>
            <a:ext cx="2560320" cy="1920240"/>
          </a:xfrm>
          <a:prstGeom prst="roundRect">
            <a:avLst>
              <a:gd name="adj" fmla="val 3810"/>
            </a:avLst>
          </a:prstGeom>
          <a:solidFill>
            <a:srgbClr val="1E3D31"/>
          </a:solidFill>
          <a:ln w="12700">
            <a:solidFill>
              <a:srgbClr val="1E3D31"/>
            </a:solidFill>
            <a:prstDash val="solid"/>
          </a:ln>
        </p:spPr>
      </p:sp>
      <p:sp>
        <p:nvSpPr>
          <p:cNvPr id="15" name="Shape 13"/>
          <p:cNvSpPr/>
          <p:nvPr/>
        </p:nvSpPr>
        <p:spPr>
          <a:xfrm>
            <a:off x="6382512" y="3547872"/>
            <a:ext cx="329184" cy="329184"/>
          </a:xfrm>
          <a:prstGeom prst="ellipse">
            <a:avLst/>
          </a:prstGeom>
          <a:solidFill>
            <a:srgbClr val="C8891A"/>
          </a:solidFill>
          <a:ln w="12700">
            <a:solidFill>
              <a:srgbClr val="C8891A"/>
            </a:solidFill>
            <a:prstDash val="solid"/>
          </a:ln>
        </p:spPr>
      </p:sp>
      <p:sp>
        <p:nvSpPr>
          <p:cNvPr id="16" name="Text 14"/>
          <p:cNvSpPr txBox="1"/>
          <p:nvPr/>
        </p:nvSpPr>
        <p:spPr>
          <a:xfrm>
            <a:off x="63825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7" name="Text 15"/>
          <p:cNvSpPr txBox="1"/>
          <p:nvPr/>
        </p:nvSpPr>
        <p:spPr>
          <a:xfrm>
            <a:off x="6784848" y="3520440"/>
            <a:ext cx="1828800" cy="384048"/>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要件の分解</a:t>
            </a:r>
            <a:endParaRPr lang="en-US" sz="1050" dirty="0"/>
          </a:p>
        </p:txBody>
      </p:sp>
      <p:sp>
        <p:nvSpPr>
          <p:cNvPr id="18" name="Text 16"/>
          <p:cNvSpPr txBox="1"/>
          <p:nvPr/>
        </p:nvSpPr>
        <p:spPr>
          <a:xfrm>
            <a:off x="6382512" y="4005072"/>
            <a:ext cx="2231136" cy="118872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一つの要件は複数のサブ要件でできている。ここを分けないと「満たした」が言えない</a:t>
            </a:r>
            <a:endParaRPr lang="en-US" sz="900" dirty="0"/>
          </a:p>
        </p:txBody>
      </p:sp>
      <p:sp>
        <p:nvSpPr>
          <p:cNvPr id="19" name="Shape 17"/>
          <p:cNvSpPr/>
          <p:nvPr/>
        </p:nvSpPr>
        <p:spPr>
          <a:xfrm>
            <a:off x="8961120" y="3383280"/>
            <a:ext cx="2560320" cy="1920240"/>
          </a:xfrm>
          <a:prstGeom prst="roundRect">
            <a:avLst>
              <a:gd name="adj" fmla="val 3810"/>
            </a:avLst>
          </a:prstGeom>
          <a:solidFill>
            <a:srgbClr val="1E3D31"/>
          </a:solidFill>
          <a:ln w="12700">
            <a:solidFill>
              <a:srgbClr val="1E3D31"/>
            </a:solidFill>
            <a:prstDash val="solid"/>
          </a:ln>
        </p:spPr>
      </p:sp>
      <p:sp>
        <p:nvSpPr>
          <p:cNvPr id="20" name="Shape 18"/>
          <p:cNvSpPr/>
          <p:nvPr/>
        </p:nvSpPr>
        <p:spPr>
          <a:xfrm>
            <a:off x="9125712" y="3547872"/>
            <a:ext cx="329184" cy="329184"/>
          </a:xfrm>
          <a:prstGeom prst="ellipse">
            <a:avLst/>
          </a:prstGeom>
          <a:solidFill>
            <a:srgbClr val="C8891A"/>
          </a:solidFill>
          <a:ln w="12700">
            <a:solidFill>
              <a:srgbClr val="C8891A"/>
            </a:solidFill>
            <a:prstDash val="solid"/>
          </a:ln>
        </p:spPr>
      </p:sp>
      <p:sp>
        <p:nvSpPr>
          <p:cNvPr id="21" name="Text 19"/>
          <p:cNvSpPr txBox="1"/>
          <p:nvPr/>
        </p:nvSpPr>
        <p:spPr>
          <a:xfrm>
            <a:off x="91257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22" name="Text 20"/>
          <p:cNvSpPr txBox="1"/>
          <p:nvPr/>
        </p:nvSpPr>
        <p:spPr>
          <a:xfrm>
            <a:off x="9528048" y="3520440"/>
            <a:ext cx="1828800" cy="384048"/>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判定基準と、誤解されやすい点</a:t>
            </a:r>
            <a:endParaRPr lang="en-US" sz="1050" dirty="0"/>
          </a:p>
        </p:txBody>
      </p:sp>
      <p:sp>
        <p:nvSpPr>
          <p:cNvPr id="23" name="Text 21"/>
          <p:cNvSpPr txBox="1"/>
          <p:nvPr/>
        </p:nvSpPr>
        <p:spPr>
          <a:xfrm>
            <a:off x="9125712" y="4005072"/>
            <a:ext cx="2231136" cy="118872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何をもって Yes と言えるか。そして実務で最も取り違えられる論点</a:t>
            </a:r>
            <a:endParaRPr lang="en-US" sz="900" dirty="0"/>
          </a:p>
        </p:txBody>
      </p:sp>
      <p:sp>
        <p:nvSpPr>
          <p:cNvPr id="24" name="Text 22"/>
          <p:cNvSpPr txBox="1"/>
          <p:nvPr/>
        </p:nvSpPr>
        <p:spPr>
          <a:xfrm>
            <a:off x="731520" y="5623560"/>
            <a:ext cx="10515600" cy="274320"/>
          </a:xfrm>
          <a:prstGeom prst="rect">
            <a:avLst/>
          </a:prstGeom>
          <a:noFill/>
          <a:ln/>
        </p:spPr>
        <p:txBody>
          <a:bodyPr wrap="square" lIns="0" tIns="0" rIns="0" bIns="0" rtlCol="0" anchor="ctr"/>
          <a:lstStyle/>
          <a:p>
            <a:pPr indent="0" marL="0">
              <a:buNone/>
            </a:pPr>
            <a:r>
              <a:rPr lang="en-US" sz="1050" dirty="0">
                <a:solidFill>
                  <a:srgbClr val="9FB5AA"/>
                </a:solidFill>
                <a:latin typeface="Meiryo" pitchFamily="34" charset="0"/>
                <a:ea typeface="Meiryo" pitchFamily="34" charset="-122"/>
                <a:cs typeface="Meiryo" pitchFamily="34" charset="-120"/>
              </a:rPr>
              <a:t>3 パターンでの充足状況は 第 2 部（p.21〜31）で扱う。パターン A の要件別詳細は付録 p.40〜47</a:t>
            </a:r>
            <a:endParaRPr lang="en-US" sz="1050" dirty="0"/>
          </a:p>
        </p:txBody>
      </p:sp>
      <p:sp>
        <p:nvSpPr>
          <p:cNvPr id="25" name="Text 2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6" name="Text 24"/>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選択肢の類型 ― 自社構築 ／ クラウド閉域 ／ SaaS 直接利用</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「フロンティア級」と「自社管理ハード」を同時に満たす選択肢は存在しない。※ 以降の「パターン A／B／C」は類型②の中の事業者を指す</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2926080"/>
                <a:gridCol w="3108960"/>
                <a:gridCol w="2926080"/>
              </a:tblGrid>
              <a:tr h="420624">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評価軸</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類型①　自社構築（非中国系 open-weight／オンプレ）</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類型②　クラウド閉域（Bedrock／Foundry／Vertex AI）</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類型③　SaaS 直接利用（ChatGPT Enterprise 等）</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モデル品質（フロンティア級か）</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中国系除外後は gpt-oss／Mistral／Gemma 等。判断を伴う出力には不十分</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フロンティア級を利用可。国内完結で使える世代は事業者で違う（p.31）</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最新世代を最速で利用</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データの所在</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自社 DC または自社クラウドアカウント内</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国内リージョンに限定できる。構成によっては国外処理になる</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ベンダーの選択リージョン（米国中心）</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保持・学習利用</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自社管理</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非学習は 3 事業者とも明文。既定の保持は事業者で違う（p.23／26／29）</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契約で非学習。保持は 30 日等ベンダー依存</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専有性</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物理／論理専有可。TEE も選択可</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重みは共有。3 事業者とも推論の TEE 提供形態はない</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マルチテナント SaaS</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閉域経路</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専用線＋プライベート接続で公衆網を経由しない</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インターネット経由（IP 制限等）</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ハルシネーション対策の組みやすさ</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RAG を組んでも根拠無視・引用捏造の率が高く、差が埋まらない</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RAG・評価・ログを自社設計で統合できる（p.34）</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ベンダー機能に依存、ログ連携が限定的</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委託先管理・監査証跡</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自社責任範囲が最大。モデル系譜（ベースモデル）の確認が必要</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SOC／ISO／ISMAP。監査権と契約条件は事業者で差がある（p.31）</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SOC2 等。個別監査権は限定的</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運用負荷・コスト</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GPU 調達、MLOps、モデル更新の全てを自社で</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従量課金。モデルの更新と運用は事業者側</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 最小</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49240"/>
            <a:ext cx="11064240" cy="868680"/>
          </a:xfrm>
          <a:prstGeom prst="roundRect">
            <a:avLst>
              <a:gd name="adj" fmla="val 8421"/>
            </a:avLst>
          </a:prstGeom>
          <a:solidFill>
            <a:srgbClr val="FBF1DF"/>
          </a:solidFill>
          <a:ln w="9525">
            <a:solidFill>
              <a:srgbClr val="FBF1DF"/>
            </a:solidFill>
            <a:prstDash val="solid"/>
          </a:ln>
        </p:spPr>
      </p:sp>
      <p:sp>
        <p:nvSpPr>
          <p:cNvPr id="6" name="Text 3"/>
          <p:cNvSpPr txBox="1"/>
          <p:nvPr/>
        </p:nvSpPr>
        <p:spPr>
          <a:xfrm>
            <a:off x="777240" y="5440680"/>
            <a:ext cx="10698480" cy="731520"/>
          </a:xfrm>
          <a:prstGeom prst="rect">
            <a:avLst/>
          </a:prstGeom>
          <a:noFill/>
          <a:ln/>
        </p:spPr>
        <p:txBody>
          <a:bodyPr wrap="square" lIns="0" tIns="0" rIns="0" bIns="0" rtlCol="0" anchor="t"/>
          <a:lstStyle/>
          <a:p>
            <a:pPr algn="l" indent="0" marL="0">
              <a:lnSpc>
                <a:spcPct val="115000"/>
              </a:lnSpc>
              <a:spcAft>
                <a:spcPts val="400"/>
              </a:spcAft>
              <a:buNone/>
            </a:pPr>
            <a:r>
              <a:rPr lang="en-US" sz="1100" dirty="0">
                <a:solidFill>
                  <a:srgbClr val="1F2A25"/>
                </a:solidFill>
                <a:latin typeface="Meiryo" pitchFamily="34" charset="0"/>
                <a:ea typeface="Meiryo" pitchFamily="34" charset="-122"/>
                <a:cs typeface="Meiryo" pitchFamily="34" charset="-120"/>
              </a:rPr>
              <a:t>推奨：類型② を主環境とする。類型① は中国系除外で上位モデルがほぼ落ちるため、要約・Q&amp;A 等の「判断を伴う出力」には使わず、PII 検知・マスキング・分類ラベル付与・embedding など正解が明確な前処理に限定する。類型③ は機密以下を扱わない一般業務用途に限る。類型② の中でどの事業者を採るかは第 2 部（p.21〜31）で評価する。</a:t>
            </a:r>
            <a:endParaRPr lang="en-US" sz="11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8" name="Text 5"/>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「機密情報を扱える環境」を構成する 8 つの要件</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AI導入組織で「扱える／扱えない」を議論する前に、判断軸を分解する</a:t>
            </a:r>
            <a:endParaRPr lang="en-US" sz="1200" dirty="0"/>
          </a:p>
        </p:txBody>
      </p:sp>
      <p:sp>
        <p:nvSpPr>
          <p:cNvPr id="4" name="Shape 2"/>
          <p:cNvSpPr/>
          <p:nvPr/>
        </p:nvSpPr>
        <p:spPr>
          <a:xfrm>
            <a:off x="548640" y="1417320"/>
            <a:ext cx="5532120" cy="658368"/>
          </a:xfrm>
          <a:prstGeom prst="roundRect">
            <a:avLst>
              <a:gd name="adj" fmla="val 11111"/>
            </a:avLst>
          </a:prstGeom>
          <a:solidFill>
            <a:srgbClr val="F4F7F5"/>
          </a:solidFill>
          <a:ln w="9525">
            <a:solidFill>
              <a:srgbClr val="C9D6CF"/>
            </a:solidFill>
            <a:prstDash val="solid"/>
          </a:ln>
        </p:spPr>
      </p:sp>
      <p:sp>
        <p:nvSpPr>
          <p:cNvPr id="5" name="Shape 3"/>
          <p:cNvSpPr/>
          <p:nvPr/>
        </p:nvSpPr>
        <p:spPr>
          <a:xfrm>
            <a:off x="685800" y="1554480"/>
            <a:ext cx="365760" cy="365760"/>
          </a:xfrm>
          <a:prstGeom prst="ellipse">
            <a:avLst/>
          </a:prstGeom>
          <a:solidFill>
            <a:srgbClr val="1B3A2F"/>
          </a:solidFill>
          <a:ln w="12700">
            <a:solidFill>
              <a:srgbClr val="1B3A2F"/>
            </a:solidFill>
            <a:prstDash val="solid"/>
          </a:ln>
        </p:spPr>
      </p:sp>
      <p:sp>
        <p:nvSpPr>
          <p:cNvPr id="6" name="Text 4"/>
          <p:cNvSpPr txBox="1"/>
          <p:nvPr/>
        </p:nvSpPr>
        <p:spPr>
          <a:xfrm>
            <a:off x="68580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txBox="1"/>
          <p:nvPr/>
        </p:nvSpPr>
        <p:spPr>
          <a:xfrm>
            <a:off x="1188720" y="1490472"/>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データの所在</a:t>
            </a:r>
            <a:endParaRPr lang="en-US" sz="1300" dirty="0"/>
          </a:p>
        </p:txBody>
      </p:sp>
      <p:sp>
        <p:nvSpPr>
          <p:cNvPr id="8" name="Text 6"/>
          <p:cNvSpPr txBox="1"/>
          <p:nvPr/>
        </p:nvSpPr>
        <p:spPr>
          <a:xfrm>
            <a:off x="1188720" y="1764792"/>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機密情報がどの法域の支配下に置かれるか</a:t>
            </a:r>
            <a:endParaRPr lang="en-US" sz="950" dirty="0"/>
          </a:p>
        </p:txBody>
      </p:sp>
      <p:sp>
        <p:nvSpPr>
          <p:cNvPr id="9" name="Shape 7"/>
          <p:cNvSpPr/>
          <p:nvPr/>
        </p:nvSpPr>
        <p:spPr>
          <a:xfrm>
            <a:off x="3977640" y="1618488"/>
            <a:ext cx="2011680" cy="256032"/>
          </a:xfrm>
          <a:prstGeom prst="roundRect">
            <a:avLst>
              <a:gd name="adj" fmla="val 50000"/>
            </a:avLst>
          </a:prstGeom>
          <a:solidFill>
            <a:srgbClr val="E9F0EC"/>
          </a:solidFill>
          <a:ln w="12700">
            <a:solidFill>
              <a:srgbClr val="E9F0EC"/>
            </a:solidFill>
            <a:prstDash val="solid"/>
          </a:ln>
        </p:spPr>
      </p:sp>
      <p:sp>
        <p:nvSpPr>
          <p:cNvPr id="10" name="Text 8"/>
          <p:cNvSpPr txBox="1"/>
          <p:nvPr/>
        </p:nvSpPr>
        <p:spPr>
          <a:xfrm>
            <a:off x="3977640" y="1618488"/>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技術＋契約</a:t>
            </a:r>
            <a:endParaRPr lang="en-US" sz="900" dirty="0"/>
          </a:p>
        </p:txBody>
      </p:sp>
      <p:sp>
        <p:nvSpPr>
          <p:cNvPr id="11" name="Shape 9"/>
          <p:cNvSpPr/>
          <p:nvPr/>
        </p:nvSpPr>
        <p:spPr>
          <a:xfrm>
            <a:off x="6400800" y="1417320"/>
            <a:ext cx="5532120" cy="658368"/>
          </a:xfrm>
          <a:prstGeom prst="roundRect">
            <a:avLst>
              <a:gd name="adj" fmla="val 11111"/>
            </a:avLst>
          </a:prstGeom>
          <a:solidFill>
            <a:srgbClr val="F4F7F5"/>
          </a:solidFill>
          <a:ln w="9525">
            <a:solidFill>
              <a:srgbClr val="C9D6CF"/>
            </a:solidFill>
            <a:prstDash val="solid"/>
          </a:ln>
        </p:spPr>
      </p:sp>
      <p:sp>
        <p:nvSpPr>
          <p:cNvPr id="12" name="Shape 10"/>
          <p:cNvSpPr/>
          <p:nvPr/>
        </p:nvSpPr>
        <p:spPr>
          <a:xfrm>
            <a:off x="6537960" y="1554480"/>
            <a:ext cx="365760" cy="365760"/>
          </a:xfrm>
          <a:prstGeom prst="ellipse">
            <a:avLst/>
          </a:prstGeom>
          <a:solidFill>
            <a:srgbClr val="1B3A2F"/>
          </a:solidFill>
          <a:ln w="12700">
            <a:solidFill>
              <a:srgbClr val="1B3A2F"/>
            </a:solidFill>
            <a:prstDash val="solid"/>
          </a:ln>
        </p:spPr>
      </p:sp>
      <p:sp>
        <p:nvSpPr>
          <p:cNvPr id="13" name="Text 11"/>
          <p:cNvSpPr txBox="1"/>
          <p:nvPr/>
        </p:nvSpPr>
        <p:spPr>
          <a:xfrm>
            <a:off x="653796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4" name="Text 12"/>
          <p:cNvSpPr txBox="1"/>
          <p:nvPr/>
        </p:nvSpPr>
        <p:spPr>
          <a:xfrm>
            <a:off x="7040880" y="1490472"/>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保持（Retention）</a:t>
            </a:r>
            <a:endParaRPr lang="en-US" sz="1300" dirty="0"/>
          </a:p>
        </p:txBody>
      </p:sp>
      <p:sp>
        <p:nvSpPr>
          <p:cNvPr id="15" name="Text 13"/>
          <p:cNvSpPr txBox="1"/>
          <p:nvPr/>
        </p:nvSpPr>
        <p:spPr>
          <a:xfrm>
            <a:off x="7040880" y="1764792"/>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委託先の管理下にデータが残るか、期間、目的</a:t>
            </a:r>
            <a:endParaRPr lang="en-US" sz="950" dirty="0"/>
          </a:p>
        </p:txBody>
      </p:sp>
      <p:sp>
        <p:nvSpPr>
          <p:cNvPr id="16" name="Shape 14"/>
          <p:cNvSpPr/>
          <p:nvPr/>
        </p:nvSpPr>
        <p:spPr>
          <a:xfrm>
            <a:off x="9829800" y="1618488"/>
            <a:ext cx="2011680" cy="256032"/>
          </a:xfrm>
          <a:prstGeom prst="roundRect">
            <a:avLst>
              <a:gd name="adj" fmla="val 50000"/>
            </a:avLst>
          </a:prstGeom>
          <a:solidFill>
            <a:srgbClr val="E9F0EC"/>
          </a:solidFill>
          <a:ln w="12700">
            <a:solidFill>
              <a:srgbClr val="E9F0EC"/>
            </a:solidFill>
            <a:prstDash val="solid"/>
          </a:ln>
        </p:spPr>
      </p:sp>
      <p:sp>
        <p:nvSpPr>
          <p:cNvPr id="17" name="Text 15"/>
          <p:cNvSpPr txBox="1"/>
          <p:nvPr/>
        </p:nvSpPr>
        <p:spPr>
          <a:xfrm>
            <a:off x="9829800" y="1618488"/>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契約＋設定の強制</a:t>
            </a:r>
            <a:endParaRPr lang="en-US" sz="900" dirty="0"/>
          </a:p>
        </p:txBody>
      </p:sp>
      <p:sp>
        <p:nvSpPr>
          <p:cNvPr id="18" name="Shape 16"/>
          <p:cNvSpPr/>
          <p:nvPr/>
        </p:nvSpPr>
        <p:spPr>
          <a:xfrm>
            <a:off x="548640" y="2212848"/>
            <a:ext cx="5532120" cy="658368"/>
          </a:xfrm>
          <a:prstGeom prst="roundRect">
            <a:avLst>
              <a:gd name="adj" fmla="val 11111"/>
            </a:avLst>
          </a:prstGeom>
          <a:solidFill>
            <a:srgbClr val="F4F7F5"/>
          </a:solidFill>
          <a:ln w="9525">
            <a:solidFill>
              <a:srgbClr val="C9D6CF"/>
            </a:solidFill>
            <a:prstDash val="solid"/>
          </a:ln>
        </p:spPr>
      </p:sp>
      <p:sp>
        <p:nvSpPr>
          <p:cNvPr id="19" name="Shape 17"/>
          <p:cNvSpPr/>
          <p:nvPr/>
        </p:nvSpPr>
        <p:spPr>
          <a:xfrm>
            <a:off x="685800" y="2350008"/>
            <a:ext cx="365760" cy="365760"/>
          </a:xfrm>
          <a:prstGeom prst="ellipse">
            <a:avLst/>
          </a:prstGeom>
          <a:solidFill>
            <a:srgbClr val="1B3A2F"/>
          </a:solidFill>
          <a:ln w="12700">
            <a:solidFill>
              <a:srgbClr val="1B3A2F"/>
            </a:solidFill>
            <a:prstDash val="solid"/>
          </a:ln>
        </p:spPr>
      </p:sp>
      <p:sp>
        <p:nvSpPr>
          <p:cNvPr id="20" name="Text 18"/>
          <p:cNvSpPr txBox="1"/>
          <p:nvPr/>
        </p:nvSpPr>
        <p:spPr>
          <a:xfrm>
            <a:off x="685800" y="23500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1" name="Text 19"/>
          <p:cNvSpPr txBox="1"/>
          <p:nvPr/>
        </p:nvSpPr>
        <p:spPr>
          <a:xfrm>
            <a:off x="1188720" y="2286000"/>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学習利用</a:t>
            </a:r>
            <a:endParaRPr lang="en-US" sz="1300" dirty="0"/>
          </a:p>
        </p:txBody>
      </p:sp>
      <p:sp>
        <p:nvSpPr>
          <p:cNvPr id="22" name="Text 20"/>
          <p:cNvSpPr txBox="1"/>
          <p:nvPr/>
        </p:nvSpPr>
        <p:spPr>
          <a:xfrm>
            <a:off x="1188720" y="2560320"/>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入出力がベンダーのモデル改善に使われないか</a:t>
            </a:r>
            <a:endParaRPr lang="en-US" sz="950" dirty="0"/>
          </a:p>
        </p:txBody>
      </p:sp>
      <p:sp>
        <p:nvSpPr>
          <p:cNvPr id="23" name="Shape 21"/>
          <p:cNvSpPr/>
          <p:nvPr/>
        </p:nvSpPr>
        <p:spPr>
          <a:xfrm>
            <a:off x="3977640" y="2414016"/>
            <a:ext cx="2011680" cy="256032"/>
          </a:xfrm>
          <a:prstGeom prst="roundRect">
            <a:avLst>
              <a:gd name="adj" fmla="val 50000"/>
            </a:avLst>
          </a:prstGeom>
          <a:solidFill>
            <a:srgbClr val="F9E7E2"/>
          </a:solidFill>
          <a:ln w="12700">
            <a:solidFill>
              <a:srgbClr val="F9E7E2"/>
            </a:solidFill>
            <a:prstDash val="solid"/>
          </a:ln>
        </p:spPr>
      </p:sp>
      <p:sp>
        <p:nvSpPr>
          <p:cNvPr id="24" name="Text 22"/>
          <p:cNvSpPr txBox="1"/>
          <p:nvPr/>
        </p:nvSpPr>
        <p:spPr>
          <a:xfrm>
            <a:off x="3977640" y="2414016"/>
            <a:ext cx="2011680" cy="256032"/>
          </a:xfrm>
          <a:prstGeom prst="rect">
            <a:avLst/>
          </a:prstGeom>
          <a:noFill/>
          <a:ln/>
        </p:spPr>
        <p:txBody>
          <a:bodyPr wrap="square" lIns="0" tIns="0" rIns="0" bIns="0" rtlCol="0" anchor="ctr"/>
          <a:lstStyle/>
          <a:p>
            <a:pPr algn="ctr" indent="0" marL="0">
              <a:buNone/>
            </a:pPr>
            <a:r>
              <a:rPr lang="en-US" sz="900" b="1" dirty="0">
                <a:solidFill>
                  <a:srgbClr val="B5402A"/>
                </a:solidFill>
                <a:latin typeface="Meiryo" pitchFamily="34" charset="0"/>
                <a:ea typeface="Meiryo" pitchFamily="34" charset="-122"/>
                <a:cs typeface="Meiryo" pitchFamily="34" charset="-120"/>
              </a:rPr>
              <a:t>契約のみ・検証不可</a:t>
            </a:r>
            <a:endParaRPr lang="en-US" sz="900" dirty="0"/>
          </a:p>
        </p:txBody>
      </p:sp>
      <p:sp>
        <p:nvSpPr>
          <p:cNvPr id="25" name="Shape 23"/>
          <p:cNvSpPr/>
          <p:nvPr/>
        </p:nvSpPr>
        <p:spPr>
          <a:xfrm>
            <a:off x="6400800" y="2212848"/>
            <a:ext cx="5532120" cy="658368"/>
          </a:xfrm>
          <a:prstGeom prst="roundRect">
            <a:avLst>
              <a:gd name="adj" fmla="val 11111"/>
            </a:avLst>
          </a:prstGeom>
          <a:solidFill>
            <a:srgbClr val="F4F7F5"/>
          </a:solidFill>
          <a:ln w="9525">
            <a:solidFill>
              <a:srgbClr val="C9D6CF"/>
            </a:solidFill>
            <a:prstDash val="solid"/>
          </a:ln>
        </p:spPr>
      </p:sp>
      <p:sp>
        <p:nvSpPr>
          <p:cNvPr id="26" name="Shape 24"/>
          <p:cNvSpPr/>
          <p:nvPr/>
        </p:nvSpPr>
        <p:spPr>
          <a:xfrm>
            <a:off x="6537960" y="2350008"/>
            <a:ext cx="365760" cy="365760"/>
          </a:xfrm>
          <a:prstGeom prst="ellipse">
            <a:avLst/>
          </a:prstGeom>
          <a:solidFill>
            <a:srgbClr val="1B3A2F"/>
          </a:solidFill>
          <a:ln w="12700">
            <a:solidFill>
              <a:srgbClr val="1B3A2F"/>
            </a:solidFill>
            <a:prstDash val="solid"/>
          </a:ln>
        </p:spPr>
      </p:sp>
      <p:sp>
        <p:nvSpPr>
          <p:cNvPr id="27" name="Text 25"/>
          <p:cNvSpPr txBox="1"/>
          <p:nvPr/>
        </p:nvSpPr>
        <p:spPr>
          <a:xfrm>
            <a:off x="6537960" y="23500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8" name="Text 26"/>
          <p:cNvSpPr txBox="1"/>
          <p:nvPr/>
        </p:nvSpPr>
        <p:spPr>
          <a:xfrm>
            <a:off x="7040880" y="2286000"/>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第三者アクセス</a:t>
            </a:r>
            <a:endParaRPr lang="en-US" sz="1300" dirty="0"/>
          </a:p>
        </p:txBody>
      </p:sp>
      <p:sp>
        <p:nvSpPr>
          <p:cNvPr id="29" name="Text 27"/>
          <p:cNvSpPr txBox="1"/>
          <p:nvPr/>
        </p:nvSpPr>
        <p:spPr>
          <a:xfrm>
            <a:off x="7040880" y="2560320"/>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当行以外の誰が内容を見得るか</a:t>
            </a:r>
            <a:endParaRPr lang="en-US" sz="950" dirty="0"/>
          </a:p>
        </p:txBody>
      </p:sp>
      <p:sp>
        <p:nvSpPr>
          <p:cNvPr id="30" name="Shape 28"/>
          <p:cNvSpPr/>
          <p:nvPr/>
        </p:nvSpPr>
        <p:spPr>
          <a:xfrm>
            <a:off x="9829800" y="2414016"/>
            <a:ext cx="2011680" cy="256032"/>
          </a:xfrm>
          <a:prstGeom prst="roundRect">
            <a:avLst>
              <a:gd name="adj" fmla="val 50000"/>
            </a:avLst>
          </a:prstGeom>
          <a:solidFill>
            <a:srgbClr val="F9E7E2"/>
          </a:solidFill>
          <a:ln w="12700">
            <a:solidFill>
              <a:srgbClr val="F9E7E2"/>
            </a:solidFill>
            <a:prstDash val="solid"/>
          </a:ln>
        </p:spPr>
      </p:sp>
      <p:sp>
        <p:nvSpPr>
          <p:cNvPr id="31" name="Text 29"/>
          <p:cNvSpPr txBox="1"/>
          <p:nvPr/>
        </p:nvSpPr>
        <p:spPr>
          <a:xfrm>
            <a:off x="9829800" y="2414016"/>
            <a:ext cx="2011680" cy="256032"/>
          </a:xfrm>
          <a:prstGeom prst="rect">
            <a:avLst/>
          </a:prstGeom>
          <a:noFill/>
          <a:ln/>
        </p:spPr>
        <p:txBody>
          <a:bodyPr wrap="square" lIns="0" tIns="0" rIns="0" bIns="0" rtlCol="0" anchor="ctr"/>
          <a:lstStyle/>
          <a:p>
            <a:pPr algn="ctr" indent="0" marL="0">
              <a:buNone/>
            </a:pPr>
            <a:r>
              <a:rPr lang="en-US" sz="900" b="1" dirty="0">
                <a:solidFill>
                  <a:srgbClr val="B5402A"/>
                </a:solidFill>
                <a:latin typeface="Meiryo" pitchFamily="34" charset="0"/>
                <a:ea typeface="Meiryo" pitchFamily="34" charset="-122"/>
                <a:cs typeface="Meiryo" pitchFamily="34" charset="-120"/>
              </a:rPr>
              <a:t>設計＋契約・検証不可</a:t>
            </a:r>
            <a:endParaRPr lang="en-US" sz="900" dirty="0"/>
          </a:p>
        </p:txBody>
      </p:sp>
      <p:sp>
        <p:nvSpPr>
          <p:cNvPr id="32" name="Shape 30"/>
          <p:cNvSpPr/>
          <p:nvPr/>
        </p:nvSpPr>
        <p:spPr>
          <a:xfrm>
            <a:off x="548640" y="3008376"/>
            <a:ext cx="5532120" cy="658368"/>
          </a:xfrm>
          <a:prstGeom prst="roundRect">
            <a:avLst>
              <a:gd name="adj" fmla="val 11111"/>
            </a:avLst>
          </a:prstGeom>
          <a:solidFill>
            <a:srgbClr val="F4F7F5"/>
          </a:solidFill>
          <a:ln w="9525">
            <a:solidFill>
              <a:srgbClr val="C9D6CF"/>
            </a:solidFill>
            <a:prstDash val="solid"/>
          </a:ln>
        </p:spPr>
      </p:sp>
      <p:sp>
        <p:nvSpPr>
          <p:cNvPr id="33" name="Shape 31"/>
          <p:cNvSpPr/>
          <p:nvPr/>
        </p:nvSpPr>
        <p:spPr>
          <a:xfrm>
            <a:off x="685800" y="3145536"/>
            <a:ext cx="365760" cy="365760"/>
          </a:xfrm>
          <a:prstGeom prst="ellipse">
            <a:avLst/>
          </a:prstGeom>
          <a:solidFill>
            <a:srgbClr val="1B3A2F"/>
          </a:solidFill>
          <a:ln w="12700">
            <a:solidFill>
              <a:srgbClr val="1B3A2F"/>
            </a:solidFill>
            <a:prstDash val="solid"/>
          </a:ln>
        </p:spPr>
      </p:sp>
      <p:sp>
        <p:nvSpPr>
          <p:cNvPr id="34" name="Text 32"/>
          <p:cNvSpPr txBox="1"/>
          <p:nvPr/>
        </p:nvSpPr>
        <p:spPr>
          <a:xfrm>
            <a:off x="685800" y="3145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35" name="Text 33"/>
          <p:cNvSpPr txBox="1"/>
          <p:nvPr/>
        </p:nvSpPr>
        <p:spPr>
          <a:xfrm>
            <a:off x="1188720" y="3081528"/>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ネットワーク経路</a:t>
            </a:r>
            <a:endParaRPr lang="en-US" sz="1300" dirty="0"/>
          </a:p>
        </p:txBody>
      </p:sp>
      <p:sp>
        <p:nvSpPr>
          <p:cNvPr id="36" name="Text 34"/>
          <p:cNvSpPr txBox="1"/>
          <p:nvPr/>
        </p:nvSpPr>
        <p:spPr>
          <a:xfrm>
            <a:off x="1188720" y="3355848"/>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管理境界を出てから届くまでの経路をどう固定するか</a:t>
            </a:r>
            <a:endParaRPr lang="en-US" sz="950" dirty="0"/>
          </a:p>
        </p:txBody>
      </p:sp>
      <p:sp>
        <p:nvSpPr>
          <p:cNvPr id="37" name="Shape 35"/>
          <p:cNvSpPr/>
          <p:nvPr/>
        </p:nvSpPr>
        <p:spPr>
          <a:xfrm>
            <a:off x="3977640" y="3209544"/>
            <a:ext cx="2011680" cy="256032"/>
          </a:xfrm>
          <a:prstGeom prst="roundRect">
            <a:avLst>
              <a:gd name="adj" fmla="val 50000"/>
            </a:avLst>
          </a:prstGeom>
          <a:solidFill>
            <a:srgbClr val="E9F0EC"/>
          </a:solidFill>
          <a:ln w="12700">
            <a:solidFill>
              <a:srgbClr val="E9F0EC"/>
            </a:solidFill>
            <a:prstDash val="solid"/>
          </a:ln>
        </p:spPr>
      </p:sp>
      <p:sp>
        <p:nvSpPr>
          <p:cNvPr id="38" name="Text 36"/>
          <p:cNvSpPr txBox="1"/>
          <p:nvPr/>
        </p:nvSpPr>
        <p:spPr>
          <a:xfrm>
            <a:off x="3977640" y="3209544"/>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技術＋権限設計</a:t>
            </a:r>
            <a:endParaRPr lang="en-US" sz="900" dirty="0"/>
          </a:p>
        </p:txBody>
      </p:sp>
      <p:sp>
        <p:nvSpPr>
          <p:cNvPr id="39" name="Shape 37"/>
          <p:cNvSpPr/>
          <p:nvPr/>
        </p:nvSpPr>
        <p:spPr>
          <a:xfrm>
            <a:off x="6400800" y="3008376"/>
            <a:ext cx="5532120" cy="658368"/>
          </a:xfrm>
          <a:prstGeom prst="roundRect">
            <a:avLst>
              <a:gd name="adj" fmla="val 11111"/>
            </a:avLst>
          </a:prstGeom>
          <a:solidFill>
            <a:srgbClr val="F4F7F5"/>
          </a:solidFill>
          <a:ln w="9525">
            <a:solidFill>
              <a:srgbClr val="C9D6CF"/>
            </a:solidFill>
            <a:prstDash val="solid"/>
          </a:ln>
        </p:spPr>
      </p:sp>
      <p:sp>
        <p:nvSpPr>
          <p:cNvPr id="40" name="Shape 38"/>
          <p:cNvSpPr/>
          <p:nvPr/>
        </p:nvSpPr>
        <p:spPr>
          <a:xfrm>
            <a:off x="6537960" y="3145536"/>
            <a:ext cx="365760" cy="365760"/>
          </a:xfrm>
          <a:prstGeom prst="ellipse">
            <a:avLst/>
          </a:prstGeom>
          <a:solidFill>
            <a:srgbClr val="1B3A2F"/>
          </a:solidFill>
          <a:ln w="12700">
            <a:solidFill>
              <a:srgbClr val="1B3A2F"/>
            </a:solidFill>
            <a:prstDash val="solid"/>
          </a:ln>
        </p:spPr>
      </p:sp>
      <p:sp>
        <p:nvSpPr>
          <p:cNvPr id="41" name="Text 39"/>
          <p:cNvSpPr txBox="1"/>
          <p:nvPr/>
        </p:nvSpPr>
        <p:spPr>
          <a:xfrm>
            <a:off x="6537960" y="3145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42" name="Text 40"/>
          <p:cNvSpPr txBox="1"/>
          <p:nvPr/>
        </p:nvSpPr>
        <p:spPr>
          <a:xfrm>
            <a:off x="7040880" y="3081528"/>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鍵・ログの主権</a:t>
            </a:r>
            <a:endParaRPr lang="en-US" sz="1300" dirty="0"/>
          </a:p>
        </p:txBody>
      </p:sp>
      <p:sp>
        <p:nvSpPr>
          <p:cNvPr id="43" name="Text 41"/>
          <p:cNvSpPr txBox="1"/>
          <p:nvPr/>
        </p:nvSpPr>
        <p:spPr>
          <a:xfrm>
            <a:off x="7040880" y="3355848"/>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暗号鍵と監査ログを当行が握れるか</a:t>
            </a:r>
            <a:endParaRPr lang="en-US" sz="950" dirty="0"/>
          </a:p>
        </p:txBody>
      </p:sp>
      <p:sp>
        <p:nvSpPr>
          <p:cNvPr id="44" name="Shape 42"/>
          <p:cNvSpPr/>
          <p:nvPr/>
        </p:nvSpPr>
        <p:spPr>
          <a:xfrm>
            <a:off x="9829800" y="3209544"/>
            <a:ext cx="2011680" cy="256032"/>
          </a:xfrm>
          <a:prstGeom prst="roundRect">
            <a:avLst>
              <a:gd name="adj" fmla="val 50000"/>
            </a:avLst>
          </a:prstGeom>
          <a:solidFill>
            <a:srgbClr val="E9F0EC"/>
          </a:solidFill>
          <a:ln w="12700">
            <a:solidFill>
              <a:srgbClr val="E9F0EC"/>
            </a:solidFill>
            <a:prstDash val="solid"/>
          </a:ln>
        </p:spPr>
      </p:sp>
      <p:sp>
        <p:nvSpPr>
          <p:cNvPr id="45" name="Text 43"/>
          <p:cNvSpPr txBox="1"/>
          <p:nvPr/>
        </p:nvSpPr>
        <p:spPr>
          <a:xfrm>
            <a:off x="9829800" y="3209544"/>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技術＋運用</a:t>
            </a:r>
            <a:endParaRPr lang="en-US" sz="900" dirty="0"/>
          </a:p>
        </p:txBody>
      </p:sp>
      <p:sp>
        <p:nvSpPr>
          <p:cNvPr id="46" name="Shape 44"/>
          <p:cNvSpPr/>
          <p:nvPr/>
        </p:nvSpPr>
        <p:spPr>
          <a:xfrm>
            <a:off x="548640" y="3803904"/>
            <a:ext cx="5532120" cy="658368"/>
          </a:xfrm>
          <a:prstGeom prst="roundRect">
            <a:avLst>
              <a:gd name="adj" fmla="val 11111"/>
            </a:avLst>
          </a:prstGeom>
          <a:solidFill>
            <a:srgbClr val="F4F7F5"/>
          </a:solidFill>
          <a:ln w="9525">
            <a:solidFill>
              <a:srgbClr val="C9D6CF"/>
            </a:solidFill>
            <a:prstDash val="solid"/>
          </a:ln>
        </p:spPr>
      </p:sp>
      <p:sp>
        <p:nvSpPr>
          <p:cNvPr id="47" name="Shape 45"/>
          <p:cNvSpPr/>
          <p:nvPr/>
        </p:nvSpPr>
        <p:spPr>
          <a:xfrm>
            <a:off x="685800" y="3941064"/>
            <a:ext cx="365760" cy="365760"/>
          </a:xfrm>
          <a:prstGeom prst="ellipse">
            <a:avLst/>
          </a:prstGeom>
          <a:solidFill>
            <a:srgbClr val="1B3A2F"/>
          </a:solidFill>
          <a:ln w="12700">
            <a:solidFill>
              <a:srgbClr val="1B3A2F"/>
            </a:solidFill>
            <a:prstDash val="solid"/>
          </a:ln>
        </p:spPr>
      </p:sp>
      <p:sp>
        <p:nvSpPr>
          <p:cNvPr id="48" name="Text 46"/>
          <p:cNvSpPr txBox="1"/>
          <p:nvPr/>
        </p:nvSpPr>
        <p:spPr>
          <a:xfrm>
            <a:off x="685800" y="3941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p>
        </p:txBody>
      </p:sp>
      <p:sp>
        <p:nvSpPr>
          <p:cNvPr id="49" name="Text 47"/>
          <p:cNvSpPr txBox="1"/>
          <p:nvPr/>
        </p:nvSpPr>
        <p:spPr>
          <a:xfrm>
            <a:off x="1188720" y="3877056"/>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委託先管理</a:t>
            </a:r>
            <a:endParaRPr lang="en-US" sz="1300" dirty="0"/>
          </a:p>
        </p:txBody>
      </p:sp>
      <p:sp>
        <p:nvSpPr>
          <p:cNvPr id="50" name="Text 48"/>
          <p:cNvSpPr txBox="1"/>
          <p:nvPr/>
        </p:nvSpPr>
        <p:spPr>
          <a:xfrm>
            <a:off x="1188720" y="4151376"/>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委託先が要件を満たし続けることを確認し続けられるか</a:t>
            </a:r>
            <a:endParaRPr lang="en-US" sz="950" dirty="0"/>
          </a:p>
        </p:txBody>
      </p:sp>
      <p:sp>
        <p:nvSpPr>
          <p:cNvPr id="51" name="Shape 49"/>
          <p:cNvSpPr/>
          <p:nvPr/>
        </p:nvSpPr>
        <p:spPr>
          <a:xfrm>
            <a:off x="3977640" y="4005072"/>
            <a:ext cx="2011680" cy="256032"/>
          </a:xfrm>
          <a:prstGeom prst="roundRect">
            <a:avLst>
              <a:gd name="adj" fmla="val 50000"/>
            </a:avLst>
          </a:prstGeom>
          <a:solidFill>
            <a:srgbClr val="E9F0EC"/>
          </a:solidFill>
          <a:ln w="12700">
            <a:solidFill>
              <a:srgbClr val="E9F0EC"/>
            </a:solidFill>
            <a:prstDash val="solid"/>
          </a:ln>
        </p:spPr>
      </p:sp>
      <p:sp>
        <p:nvSpPr>
          <p:cNvPr id="52" name="Text 50"/>
          <p:cNvSpPr txBox="1"/>
          <p:nvPr/>
        </p:nvSpPr>
        <p:spPr>
          <a:xfrm>
            <a:off x="3977640" y="4005072"/>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契約＋モニタリング</a:t>
            </a:r>
            <a:endParaRPr lang="en-US" sz="900" dirty="0"/>
          </a:p>
        </p:txBody>
      </p:sp>
      <p:sp>
        <p:nvSpPr>
          <p:cNvPr id="53" name="Shape 51"/>
          <p:cNvSpPr/>
          <p:nvPr/>
        </p:nvSpPr>
        <p:spPr>
          <a:xfrm>
            <a:off x="6400800" y="3803904"/>
            <a:ext cx="5532120" cy="658368"/>
          </a:xfrm>
          <a:prstGeom prst="roundRect">
            <a:avLst>
              <a:gd name="adj" fmla="val 11111"/>
            </a:avLst>
          </a:prstGeom>
          <a:solidFill>
            <a:srgbClr val="F4F7F5"/>
          </a:solidFill>
          <a:ln w="9525">
            <a:solidFill>
              <a:srgbClr val="C9D6CF"/>
            </a:solidFill>
            <a:prstDash val="solid"/>
          </a:ln>
        </p:spPr>
      </p:sp>
      <p:sp>
        <p:nvSpPr>
          <p:cNvPr id="54" name="Shape 52"/>
          <p:cNvSpPr/>
          <p:nvPr/>
        </p:nvSpPr>
        <p:spPr>
          <a:xfrm>
            <a:off x="6537960" y="3941064"/>
            <a:ext cx="365760" cy="365760"/>
          </a:xfrm>
          <a:prstGeom prst="ellipse">
            <a:avLst/>
          </a:prstGeom>
          <a:solidFill>
            <a:srgbClr val="1B3A2F"/>
          </a:solidFill>
          <a:ln w="12700">
            <a:solidFill>
              <a:srgbClr val="1B3A2F"/>
            </a:solidFill>
            <a:prstDash val="solid"/>
          </a:ln>
        </p:spPr>
      </p:sp>
      <p:sp>
        <p:nvSpPr>
          <p:cNvPr id="55" name="Text 53"/>
          <p:cNvSpPr txBox="1"/>
          <p:nvPr/>
        </p:nvSpPr>
        <p:spPr>
          <a:xfrm>
            <a:off x="6537960" y="3941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8</a:t>
            </a:r>
            <a:endParaRPr lang="en-US" sz="1300" dirty="0"/>
          </a:p>
        </p:txBody>
      </p:sp>
      <p:sp>
        <p:nvSpPr>
          <p:cNvPr id="56" name="Text 54"/>
          <p:cNvSpPr txBox="1"/>
          <p:nvPr/>
        </p:nvSpPr>
        <p:spPr>
          <a:xfrm>
            <a:off x="7040880" y="3877056"/>
            <a:ext cx="1828800" cy="274320"/>
          </a:xfrm>
          <a:prstGeom prst="rect">
            <a:avLst/>
          </a:prstGeom>
          <a:noFill/>
          <a:ln/>
        </p:spPr>
        <p:txBody>
          <a:bodyPr wrap="square" lIns="0" tIns="0" rIns="0" bIns="0" rtlCol="0" anchor="ctr"/>
          <a:lstStyle/>
          <a:p>
            <a:pPr indent="0" marL="0">
              <a:buNone/>
            </a:pPr>
            <a:r>
              <a:rPr lang="en-US" sz="1300" b="1" dirty="0">
                <a:solidFill>
                  <a:srgbClr val="1B3A2F"/>
                </a:solidFill>
                <a:latin typeface="Meiryo" pitchFamily="34" charset="0"/>
                <a:ea typeface="Meiryo" pitchFamily="34" charset="-122"/>
                <a:cs typeface="Meiryo" pitchFamily="34" charset="-120"/>
              </a:rPr>
              <a:t>可用性・継続性</a:t>
            </a:r>
            <a:endParaRPr lang="en-US" sz="1300" dirty="0"/>
          </a:p>
        </p:txBody>
      </p:sp>
      <p:sp>
        <p:nvSpPr>
          <p:cNvPr id="57" name="Text 55"/>
          <p:cNvSpPr txBox="1"/>
          <p:nvPr/>
        </p:nvSpPr>
        <p:spPr>
          <a:xfrm>
            <a:off x="7040880" y="4151376"/>
            <a:ext cx="2834640" cy="274320"/>
          </a:xfrm>
          <a:prstGeom prst="rect">
            <a:avLst/>
          </a:prstGeom>
          <a:noFill/>
          <a:ln/>
        </p:spPr>
        <p:txBody>
          <a:bodyPr wrap="square" lIns="0" tIns="0" rIns="0" bIns="0" rtlCol="0" anchor="ctr"/>
          <a:lstStyle/>
          <a:p>
            <a:pPr indent="0" marL="0">
              <a:buNone/>
            </a:pPr>
            <a:r>
              <a:rPr lang="en-US" sz="950" dirty="0">
                <a:solidFill>
                  <a:srgbClr val="5B6B63"/>
                </a:solidFill>
                <a:latin typeface="Meiryo" pitchFamily="34" charset="0"/>
                <a:ea typeface="Meiryo" pitchFamily="34" charset="-122"/>
                <a:cs typeface="Meiryo" pitchFamily="34" charset="-120"/>
              </a:rPr>
              <a:t>必要なときに使え、止まっても業務が続くか</a:t>
            </a:r>
            <a:endParaRPr lang="en-US" sz="950" dirty="0"/>
          </a:p>
        </p:txBody>
      </p:sp>
      <p:sp>
        <p:nvSpPr>
          <p:cNvPr id="58" name="Shape 56"/>
          <p:cNvSpPr/>
          <p:nvPr/>
        </p:nvSpPr>
        <p:spPr>
          <a:xfrm>
            <a:off x="9829800" y="4005072"/>
            <a:ext cx="2011680" cy="256032"/>
          </a:xfrm>
          <a:prstGeom prst="roundRect">
            <a:avLst>
              <a:gd name="adj" fmla="val 50000"/>
            </a:avLst>
          </a:prstGeom>
          <a:solidFill>
            <a:srgbClr val="E9F0EC"/>
          </a:solidFill>
          <a:ln w="12700">
            <a:solidFill>
              <a:srgbClr val="E9F0EC"/>
            </a:solidFill>
            <a:prstDash val="solid"/>
          </a:ln>
        </p:spPr>
      </p:sp>
      <p:sp>
        <p:nvSpPr>
          <p:cNvPr id="59" name="Text 57"/>
          <p:cNvSpPr txBox="1"/>
          <p:nvPr/>
        </p:nvSpPr>
        <p:spPr>
          <a:xfrm>
            <a:off x="9829800" y="4005072"/>
            <a:ext cx="2011680" cy="256032"/>
          </a:xfrm>
          <a:prstGeom prst="rect">
            <a:avLst/>
          </a:prstGeom>
          <a:noFill/>
          <a:ln/>
        </p:spPr>
        <p:txBody>
          <a:bodyPr wrap="square" lIns="0" tIns="0" rIns="0" bIns="0" rtlCol="0" anchor="ctr"/>
          <a:lstStyle/>
          <a:p>
            <a:pPr algn="ctr" indent="0" marL="0">
              <a:buNone/>
            </a:pPr>
            <a:r>
              <a:rPr lang="en-US" sz="900" b="1" dirty="0">
                <a:solidFill>
                  <a:srgbClr val="2E5A48"/>
                </a:solidFill>
                <a:latin typeface="Meiryo" pitchFamily="34" charset="0"/>
                <a:ea typeface="Meiryo" pitchFamily="34" charset="-122"/>
                <a:cs typeface="Meiryo" pitchFamily="34" charset="-120"/>
              </a:rPr>
              <a:t>契約＋縮退設計</a:t>
            </a:r>
            <a:endParaRPr lang="en-US" sz="900" dirty="0"/>
          </a:p>
        </p:txBody>
      </p:sp>
      <p:sp>
        <p:nvSpPr>
          <p:cNvPr id="60" name="Shape 58"/>
          <p:cNvSpPr/>
          <p:nvPr/>
        </p:nvSpPr>
        <p:spPr>
          <a:xfrm>
            <a:off x="548640" y="4754880"/>
            <a:ext cx="11384280" cy="1371600"/>
          </a:xfrm>
          <a:prstGeom prst="roundRect">
            <a:avLst>
              <a:gd name="adj" fmla="val 5333"/>
            </a:avLst>
          </a:prstGeom>
          <a:solidFill>
            <a:srgbClr val="FBF1DF"/>
          </a:solidFill>
          <a:ln w="9525">
            <a:solidFill>
              <a:srgbClr val="FBF1DF"/>
            </a:solidFill>
            <a:prstDash val="solid"/>
          </a:ln>
        </p:spPr>
      </p:sp>
      <p:sp>
        <p:nvSpPr>
          <p:cNvPr id="61" name="Text 59"/>
          <p:cNvSpPr txBox="1"/>
          <p:nvPr/>
        </p:nvSpPr>
        <p:spPr>
          <a:xfrm>
            <a:off x="777240" y="4864608"/>
            <a:ext cx="2743200" cy="274320"/>
          </a:xfrm>
          <a:prstGeom prst="rect">
            <a:avLst/>
          </a:prstGeom>
          <a:noFill/>
          <a:ln/>
        </p:spPr>
        <p:txBody>
          <a:bodyPr wrap="square" lIns="0" tIns="0" rIns="0" bIns="0" rtlCol="0" anchor="ctr"/>
          <a:lstStyle/>
          <a:p>
            <a:pPr indent="0" marL="0">
              <a:buNone/>
            </a:pPr>
            <a:r>
              <a:rPr lang="en-US" sz="1200" b="1" dirty="0">
                <a:solidFill>
                  <a:srgbClr val="C8891A"/>
                </a:solidFill>
                <a:latin typeface="Meiryo" pitchFamily="34" charset="0"/>
                <a:ea typeface="Meiryo" pitchFamily="34" charset="-122"/>
                <a:cs typeface="Meiryo" pitchFamily="34" charset="-120"/>
              </a:rPr>
              <a:t>ここでの含意</a:t>
            </a:r>
            <a:endParaRPr lang="en-US" sz="1200" dirty="0"/>
          </a:p>
        </p:txBody>
      </p:sp>
      <p:sp>
        <p:nvSpPr>
          <p:cNvPr id="62" name="Text 60"/>
          <p:cNvSpPr txBox="1"/>
          <p:nvPr/>
        </p:nvSpPr>
        <p:spPr>
          <a:xfrm>
            <a:off x="777240" y="5193792"/>
            <a:ext cx="10972800" cy="868680"/>
          </a:xfrm>
          <a:prstGeom prst="rect">
            <a:avLst/>
          </a:prstGeom>
          <a:noFill/>
          <a:ln/>
        </p:spPr>
        <p:txBody>
          <a:bodyPr wrap="square" lIns="0" tIns="0" rIns="0" bIns="0" rtlCol="0" anchor="t"/>
          <a:lstStyle/>
          <a:p>
            <a:pPr algn="l" indent="0" marL="0">
              <a:lnSpc>
                <a:spcPct val="115000"/>
              </a:lnSpc>
              <a:spcAft>
                <a:spcPts val="400"/>
              </a:spcAft>
              <a:buNone/>
            </a:pPr>
            <a:r>
              <a:rPr lang="en-US" sz="1200" dirty="0">
                <a:solidFill>
                  <a:srgbClr val="1F2A25"/>
                </a:solidFill>
                <a:latin typeface="Meiryo" pitchFamily="34" charset="0"/>
                <a:ea typeface="Meiryo" pitchFamily="34" charset="-122"/>
                <a:cs typeface="Meiryo" pitchFamily="34" charset="-120"/>
              </a:rPr>
              <a:t>8 要件はいずれも技術・契約・運用のいずれかで担保される。ただし③学習利用と④第三者アクセスは事後に検証する手段がなく、選定時の判断がそのまま結果になる（p.8）。統制の様式・機能・強度の整理は p.9〜10。第 1 部（p.5〜20）で要件そのものをベンダー非依存に定義し、第 2 部（p.21〜31）で 3 パターンに当てて比較する。実行に向けた論点は第 3 部（p.32〜38）。AI導入組織の論点は「環境が安全か」ではなく「どの分類の情報をどの統制条件で流すか」を決めることに置くべき。</a:t>
            </a:r>
            <a:endParaRPr lang="en-US" sz="1200" dirty="0"/>
          </a:p>
        </p:txBody>
      </p:sp>
      <p:sp>
        <p:nvSpPr>
          <p:cNvPr id="63" name="Text 6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4" name="Text 6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8 要件は性質が違う ― 特に「事後に検証できるか」で分かれる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同じ「要件」でも、技術で担保できるものと契約にしか頼れないものがある。AI導入組織の時間の配分はこの違いで決まる</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783080"/>
                <a:gridCol w="2514600"/>
                <a:gridCol w="2697480"/>
                <a:gridCol w="2743200"/>
                <a:gridCol w="1353312"/>
              </a:tblGrid>
              <a:tr h="40233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要件</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主たる担保手段</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事後に検証できるか</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破れたときに起きること</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主たる責任の所在</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① データの所在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技術（処理先・経路の限定）＋契約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2E5A48"/>
                          </a:solidFill>
                          <a:latin typeface="Meiryo" pitchFamily="34" charset="0"/>
                          <a:ea typeface="Meiryo" pitchFamily="34" charset="-122"/>
                          <a:cs typeface="Meiryo" pitchFamily="34" charset="-120"/>
                        </a:rPr>
                        <a:t>○ 処理記録で確認できる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法域が変わり、法令上の整理が崩れる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当行（設定）</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② 保持</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契約＋技術的な設定の強制</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b="1" dirty="0">
                          <a:solidFill>
                            <a:srgbClr val="C8891A"/>
                          </a:solidFill>
                          <a:latin typeface="Meiryo" pitchFamily="34" charset="0"/>
                          <a:ea typeface="Meiryo" pitchFamily="34" charset="-122"/>
                          <a:cs typeface="Meiryo" pitchFamily="34" charset="-120"/>
                        </a:rPr>
                        <a:t>△ 設定は確認可、保持実態は不可</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暴露期間が延び、委託範囲外の取扱いになり得る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ベンダー（履行）</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③ 学習利用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契約のみ</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b="1" dirty="0">
                          <a:solidFill>
                            <a:srgbClr val="B5402A"/>
                          </a:solidFill>
                          <a:latin typeface="Meiryo" pitchFamily="34" charset="0"/>
                          <a:ea typeface="Meiryo" pitchFamily="34" charset="-122"/>
                          <a:cs typeface="Meiryo" pitchFamily="34" charset="-120"/>
                        </a:rPr>
                        <a:t>× 原理的に検証できない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検知されないまま情報が拡散する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ベンダー（履行）</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④ 第三者アクセス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設計（構造的な遮断）＋契約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b="1" dirty="0">
                          <a:solidFill>
                            <a:srgbClr val="B5402A"/>
                          </a:solidFill>
                          <a:latin typeface="Meiryo" pitchFamily="34" charset="0"/>
                          <a:ea typeface="Meiryo" pitchFamily="34" charset="-122"/>
                          <a:cs typeface="Meiryo" pitchFamily="34" charset="-120"/>
                        </a:rPr>
                        <a:t>× 設計と第三者評価で代替</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内部不正、または法的強制による開示</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ベンダー（設計）</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⑤ ネットワーク経路</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技術（出口の一元化）＋権限設計</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2E5A48"/>
                          </a:solidFill>
                          <a:latin typeface="Meiryo" pitchFamily="34" charset="0"/>
                          <a:ea typeface="Meiryo" pitchFamily="34" charset="-122"/>
                          <a:cs typeface="Meiryo" pitchFamily="34" charset="-120"/>
                        </a:rPr>
                        <a:t>○ 通信・呼出しの記録で追える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漏えい。報告義務と監督責任が発生する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当行</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⑥ 鍵・ログの主権</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技術（鍵管理）＋運用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2E5A48"/>
                          </a:solidFill>
                          <a:latin typeface="Meiryo" pitchFamily="34" charset="0"/>
                          <a:ea typeface="Meiryo" pitchFamily="34" charset="-122"/>
                          <a:cs typeface="Meiryo" pitchFamily="34" charset="-120"/>
                        </a:rPr>
                        <a:t>○ 記録そのものが検証手段</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事故範囲を特定できない／ログ自体が漏えい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当行</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⑦ 委託先管理</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契約＋継続的モニタリング</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2E5A48"/>
                          </a:solidFill>
                          <a:latin typeface="Meiryo" pitchFamily="34" charset="0"/>
                          <a:ea typeface="Meiryo" pitchFamily="34" charset="-122"/>
                          <a:cs typeface="Meiryo" pitchFamily="34" charset="-120"/>
                        </a:rPr>
                        <a:t>○ 証跡の定期入手で確認</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委託元としての監督責任を問われる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当行（監督）</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⑧ 可用性・継続性</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契約（SLA）＋自社の縮退設計</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2E5A48"/>
                          </a:solidFill>
                          <a:latin typeface="Meiryo" pitchFamily="34" charset="0"/>
                          <a:ea typeface="Meiryo" pitchFamily="34" charset="-122"/>
                          <a:cs typeface="Meiryo" pitchFamily="34" charset="-120"/>
                        </a:rPr>
                        <a:t>○ 稼働記録で確認</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業務停止。損害は契約上ほぼ回収できない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F2A25"/>
                          </a:solidFill>
                          <a:latin typeface="Meiryo" pitchFamily="34" charset="0"/>
                          <a:ea typeface="Meiryo" pitchFamily="34" charset="-122"/>
                          <a:cs typeface="Meiryo" pitchFamily="34" charset="-120"/>
                        </a:rPr>
                        <a:t>双方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20640"/>
            <a:ext cx="11091672" cy="1234440"/>
          </a:xfrm>
          <a:prstGeom prst="roundRect">
            <a:avLst>
              <a:gd name="adj" fmla="val 5926"/>
            </a:avLst>
          </a:prstGeom>
          <a:solidFill>
            <a:srgbClr val="F9E7E2"/>
          </a:solidFill>
          <a:ln w="9525">
            <a:solidFill>
              <a:srgbClr val="F9E7E2"/>
            </a:solidFill>
            <a:prstDash val="solid"/>
          </a:ln>
        </p:spPr>
      </p:sp>
      <p:sp>
        <p:nvSpPr>
          <p:cNvPr id="6" name="Text 3"/>
          <p:cNvSpPr txBox="1"/>
          <p:nvPr/>
        </p:nvSpPr>
        <p:spPr>
          <a:xfrm>
            <a:off x="731520" y="5193792"/>
            <a:ext cx="3657600" cy="237744"/>
          </a:xfrm>
          <a:prstGeom prst="rect">
            <a:avLst/>
          </a:prstGeom>
          <a:noFill/>
          <a:ln/>
        </p:spPr>
        <p:txBody>
          <a:bodyPr wrap="square" lIns="0" tIns="0" rIns="0" bIns="0" rtlCol="0" anchor="ctr"/>
          <a:lstStyle/>
          <a:p>
            <a:pPr indent="0" marL="0">
              <a:buNone/>
            </a:pPr>
            <a:r>
              <a:rPr lang="en-US" sz="1100" b="1" dirty="0">
                <a:solidFill>
                  <a:srgbClr val="B5402A"/>
                </a:solidFill>
                <a:latin typeface="Meiryo" pitchFamily="34" charset="0"/>
                <a:ea typeface="Meiryo" pitchFamily="34" charset="-122"/>
                <a:cs typeface="Meiryo" pitchFamily="34" charset="-120"/>
              </a:rPr>
              <a:t>ここから導かれること</a:t>
            </a:r>
            <a:endParaRPr lang="en-US" sz="1100" dirty="0"/>
          </a:p>
        </p:txBody>
      </p:sp>
      <p:sp>
        <p:nvSpPr>
          <p:cNvPr id="7" name="Text 4"/>
          <p:cNvSpPr txBox="1"/>
          <p:nvPr/>
        </p:nvSpPr>
        <p:spPr>
          <a:xfrm>
            <a:off x="731520" y="5458968"/>
            <a:ext cx="10744200" cy="86868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③学習利用 と ④第三者アクセス は事後検証ができない。「破られたら検知して直す」が成立せず、選定時の判断がすべてになる ― AI導入組織が最も時間を使うべきはここ</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①⑤⑥ は技術で担保でき、かつ破れたことを検知できる。したがって論点は「担保できるか」ではなく「誰が検知し、誰が是正するか」という体制の話になる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②⑦⑧ は契約に依存する。契約で取れない部分を、自社の統制と運用でどう埋めたかを文書として残せるかが、監督当局への説明可能性を左右する</a:t>
            </a:r>
            <a:endParaRPr lang="en-US" sz="950" dirty="0"/>
          </a:p>
        </p:txBody>
      </p:sp>
      <p:sp>
        <p:nvSpPr>
          <p:cNvPr id="8"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統制をどう表現するか ― 三つの様式と、三つの機能</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「統制できればいい」は正しい。ただし「統制できている」の定義を先に決めないと、要件ごとの強さの差が消えてしまう</a:t>
            </a:r>
            <a:endParaRPr lang="en-US" sz="1200" dirty="0"/>
          </a:p>
        </p:txBody>
      </p:sp>
      <p:sp>
        <p:nvSpPr>
          <p:cNvPr id="4" name="Shape 2"/>
          <p:cNvSpPr/>
          <p:nvPr/>
        </p:nvSpPr>
        <p:spPr>
          <a:xfrm>
            <a:off x="548640" y="1325880"/>
            <a:ext cx="5394960" cy="2103120"/>
          </a:xfrm>
          <a:prstGeom prst="roundRect">
            <a:avLst>
              <a:gd name="adj" fmla="val 3478"/>
            </a:avLst>
          </a:prstGeom>
          <a:solidFill>
            <a:srgbClr val="F4F7F5"/>
          </a:solidFill>
          <a:ln w="9525">
            <a:solidFill>
              <a:srgbClr val="C9D6CF"/>
            </a:solidFill>
            <a:prstDash val="solid"/>
          </a:ln>
        </p:spPr>
      </p:sp>
      <p:sp>
        <p:nvSpPr>
          <p:cNvPr id="5" name="Text 3"/>
          <p:cNvSpPr txBox="1"/>
          <p:nvPr/>
        </p:nvSpPr>
        <p:spPr>
          <a:xfrm>
            <a:off x="713232" y="1417320"/>
            <a:ext cx="5065776"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統制の三様式 ― 何によって効かせるか</a:t>
            </a:r>
            <a:endParaRPr lang="en-US" sz="1200" dirty="0"/>
          </a:p>
        </p:txBody>
      </p:sp>
      <p:sp>
        <p:nvSpPr>
          <p:cNvPr id="6" name="Shape 4"/>
          <p:cNvSpPr/>
          <p:nvPr/>
        </p:nvSpPr>
        <p:spPr>
          <a:xfrm>
            <a:off x="713232" y="1773936"/>
            <a:ext cx="731520" cy="256032"/>
          </a:xfrm>
          <a:prstGeom prst="roundRect">
            <a:avLst>
              <a:gd name="adj" fmla="val 50000"/>
            </a:avLst>
          </a:prstGeom>
          <a:solidFill>
            <a:srgbClr val="1B3A2F"/>
          </a:solidFill>
          <a:ln w="12700">
            <a:solidFill>
              <a:srgbClr val="1B3A2F"/>
            </a:solidFill>
            <a:prstDash val="solid"/>
          </a:ln>
        </p:spPr>
      </p:sp>
      <p:sp>
        <p:nvSpPr>
          <p:cNvPr id="7" name="Text 5"/>
          <p:cNvSpPr txBox="1"/>
          <p:nvPr/>
        </p:nvSpPr>
        <p:spPr>
          <a:xfrm>
            <a:off x="713232" y="177393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技術</a:t>
            </a:r>
            <a:endParaRPr lang="en-US" sz="900" dirty="0"/>
          </a:p>
        </p:txBody>
      </p:sp>
      <p:sp>
        <p:nvSpPr>
          <p:cNvPr id="8" name="Text 6"/>
          <p:cNvSpPr txBox="1"/>
          <p:nvPr/>
        </p:nvSpPr>
        <p:spPr>
          <a:xfrm>
            <a:off x="1554480" y="175564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構成・設定によって阻止する。人の意思に依存しない。ただし変更権限を持つ者は解除でき、解除自体を検知する仕組みが要る</a:t>
            </a:r>
            <a:endParaRPr lang="en-US" sz="850" dirty="0"/>
          </a:p>
        </p:txBody>
      </p:sp>
      <p:sp>
        <p:nvSpPr>
          <p:cNvPr id="9" name="Shape 7"/>
          <p:cNvSpPr/>
          <p:nvPr/>
        </p:nvSpPr>
        <p:spPr>
          <a:xfrm>
            <a:off x="713232" y="2322576"/>
            <a:ext cx="731520" cy="256032"/>
          </a:xfrm>
          <a:prstGeom prst="roundRect">
            <a:avLst>
              <a:gd name="adj" fmla="val 50000"/>
            </a:avLst>
          </a:prstGeom>
          <a:solidFill>
            <a:srgbClr val="1B3A2F"/>
          </a:solidFill>
          <a:ln w="12700">
            <a:solidFill>
              <a:srgbClr val="1B3A2F"/>
            </a:solidFill>
            <a:prstDash val="solid"/>
          </a:ln>
        </p:spPr>
      </p:sp>
      <p:sp>
        <p:nvSpPr>
          <p:cNvPr id="10" name="Text 8"/>
          <p:cNvSpPr txBox="1"/>
          <p:nvPr/>
        </p:nvSpPr>
        <p:spPr>
          <a:xfrm>
            <a:off x="713232" y="232257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契約</a:t>
            </a:r>
            <a:endParaRPr lang="en-US" sz="900" dirty="0"/>
          </a:p>
        </p:txBody>
      </p:sp>
      <p:sp>
        <p:nvSpPr>
          <p:cNvPr id="11" name="Text 9"/>
          <p:cNvSpPr txBox="1"/>
          <p:nvPr/>
        </p:nvSpPr>
        <p:spPr>
          <a:xfrm>
            <a:off x="1554480" y="230428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相手方に義務を課す。当行の層では何も阻止しない。実効性は独立検証（第三者監査）の有無でほぼ決まる</a:t>
            </a:r>
            <a:endParaRPr lang="en-US" sz="850" dirty="0"/>
          </a:p>
        </p:txBody>
      </p:sp>
      <p:sp>
        <p:nvSpPr>
          <p:cNvPr id="12" name="Shape 10"/>
          <p:cNvSpPr/>
          <p:nvPr/>
        </p:nvSpPr>
        <p:spPr>
          <a:xfrm>
            <a:off x="713232" y="2871216"/>
            <a:ext cx="731520" cy="256032"/>
          </a:xfrm>
          <a:prstGeom prst="roundRect">
            <a:avLst>
              <a:gd name="adj" fmla="val 50000"/>
            </a:avLst>
          </a:prstGeom>
          <a:solidFill>
            <a:srgbClr val="1B3A2F"/>
          </a:solidFill>
          <a:ln w="12700">
            <a:solidFill>
              <a:srgbClr val="1B3A2F"/>
            </a:solidFill>
            <a:prstDash val="solid"/>
          </a:ln>
        </p:spPr>
      </p:sp>
      <p:sp>
        <p:nvSpPr>
          <p:cNvPr id="13" name="Text 11"/>
          <p:cNvSpPr txBox="1"/>
          <p:nvPr/>
        </p:nvSpPr>
        <p:spPr>
          <a:xfrm>
            <a:off x="713232" y="287121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運用</a:t>
            </a:r>
            <a:endParaRPr lang="en-US" sz="900" dirty="0"/>
          </a:p>
        </p:txBody>
      </p:sp>
      <p:sp>
        <p:nvSpPr>
          <p:cNvPr id="14" name="Text 12"/>
          <p:cNvSpPr txBox="1"/>
          <p:nvPr/>
        </p:nvSpPr>
        <p:spPr>
          <a:xfrm>
            <a:off x="1554480" y="285292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人が手順に従う。想定外の事象に対応できる唯一の様式。ただし時間とともに必ず劣化するため、定期的な検証とセットでなければ文書に過ぎない</a:t>
            </a:r>
            <a:endParaRPr lang="en-US" sz="850" dirty="0"/>
          </a:p>
        </p:txBody>
      </p:sp>
      <p:sp>
        <p:nvSpPr>
          <p:cNvPr id="15" name="Shape 13"/>
          <p:cNvSpPr/>
          <p:nvPr/>
        </p:nvSpPr>
        <p:spPr>
          <a:xfrm>
            <a:off x="6245352" y="1325880"/>
            <a:ext cx="5394960" cy="2103120"/>
          </a:xfrm>
          <a:prstGeom prst="roundRect">
            <a:avLst>
              <a:gd name="adj" fmla="val 3478"/>
            </a:avLst>
          </a:prstGeom>
          <a:solidFill>
            <a:srgbClr val="F4F7F5"/>
          </a:solidFill>
          <a:ln w="9525">
            <a:solidFill>
              <a:srgbClr val="C9D6CF"/>
            </a:solidFill>
            <a:prstDash val="solid"/>
          </a:ln>
        </p:spPr>
      </p:sp>
      <p:sp>
        <p:nvSpPr>
          <p:cNvPr id="16" name="Text 14"/>
          <p:cNvSpPr txBox="1"/>
          <p:nvPr/>
        </p:nvSpPr>
        <p:spPr>
          <a:xfrm>
            <a:off x="6409944" y="1417320"/>
            <a:ext cx="5065776"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統制の三機能 ― どの時点で効かせるか</a:t>
            </a:r>
            <a:endParaRPr lang="en-US" sz="1200" dirty="0"/>
          </a:p>
        </p:txBody>
      </p:sp>
      <p:sp>
        <p:nvSpPr>
          <p:cNvPr id="17" name="Shape 15"/>
          <p:cNvSpPr/>
          <p:nvPr/>
        </p:nvSpPr>
        <p:spPr>
          <a:xfrm>
            <a:off x="6409944" y="1773936"/>
            <a:ext cx="731520" cy="256032"/>
          </a:xfrm>
          <a:prstGeom prst="roundRect">
            <a:avLst>
              <a:gd name="adj" fmla="val 50000"/>
            </a:avLst>
          </a:prstGeom>
          <a:solidFill>
            <a:srgbClr val="2E5A48"/>
          </a:solidFill>
          <a:ln w="12700">
            <a:solidFill>
              <a:srgbClr val="2E5A48"/>
            </a:solidFill>
            <a:prstDash val="solid"/>
          </a:ln>
        </p:spPr>
      </p:sp>
      <p:sp>
        <p:nvSpPr>
          <p:cNvPr id="18" name="Text 16"/>
          <p:cNvSpPr txBox="1"/>
          <p:nvPr/>
        </p:nvSpPr>
        <p:spPr>
          <a:xfrm>
            <a:off x="6409944" y="177393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予防</a:t>
            </a:r>
            <a:endParaRPr lang="en-US" sz="900" dirty="0"/>
          </a:p>
        </p:txBody>
      </p:sp>
      <p:sp>
        <p:nvSpPr>
          <p:cNvPr id="19" name="Text 17"/>
          <p:cNvSpPr txBox="1"/>
          <p:nvPr/>
        </p:nvSpPr>
        <p:spPr>
          <a:xfrm>
            <a:off x="7251192" y="175564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事象そのものを起こさせない。技術・契約・運用のいずれの様式でも作れるが、強度は様式によって大きく違う</a:t>
            </a:r>
            <a:endParaRPr lang="en-US" sz="850" dirty="0"/>
          </a:p>
        </p:txBody>
      </p:sp>
      <p:sp>
        <p:nvSpPr>
          <p:cNvPr id="20" name="Shape 18"/>
          <p:cNvSpPr/>
          <p:nvPr/>
        </p:nvSpPr>
        <p:spPr>
          <a:xfrm>
            <a:off x="6409944" y="2322576"/>
            <a:ext cx="731520" cy="256032"/>
          </a:xfrm>
          <a:prstGeom prst="roundRect">
            <a:avLst>
              <a:gd name="adj" fmla="val 50000"/>
            </a:avLst>
          </a:prstGeom>
          <a:solidFill>
            <a:srgbClr val="2E5A48"/>
          </a:solidFill>
          <a:ln w="12700">
            <a:solidFill>
              <a:srgbClr val="2E5A48"/>
            </a:solidFill>
            <a:prstDash val="solid"/>
          </a:ln>
        </p:spPr>
      </p:sp>
      <p:sp>
        <p:nvSpPr>
          <p:cNvPr id="21" name="Text 19"/>
          <p:cNvSpPr txBox="1"/>
          <p:nvPr/>
        </p:nvSpPr>
        <p:spPr>
          <a:xfrm>
            <a:off x="6409944" y="232257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検知</a:t>
            </a:r>
            <a:endParaRPr lang="en-US" sz="900" dirty="0"/>
          </a:p>
        </p:txBody>
      </p:sp>
      <p:sp>
        <p:nvSpPr>
          <p:cNvPr id="22" name="Text 20"/>
          <p:cNvSpPr txBox="1"/>
          <p:nvPr/>
        </p:nvSpPr>
        <p:spPr>
          <a:xfrm>
            <a:off x="7251192" y="230428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起きたことを見えるようにし、被害を時間的に限定する。予防を部分的に代替できるが、それは被害が可逆な場合に限られる</a:t>
            </a:r>
            <a:endParaRPr lang="en-US" sz="850" dirty="0"/>
          </a:p>
        </p:txBody>
      </p:sp>
      <p:sp>
        <p:nvSpPr>
          <p:cNvPr id="23" name="Shape 21"/>
          <p:cNvSpPr/>
          <p:nvPr/>
        </p:nvSpPr>
        <p:spPr>
          <a:xfrm>
            <a:off x="6409944" y="2871216"/>
            <a:ext cx="731520" cy="256032"/>
          </a:xfrm>
          <a:prstGeom prst="roundRect">
            <a:avLst>
              <a:gd name="adj" fmla="val 50000"/>
            </a:avLst>
          </a:prstGeom>
          <a:solidFill>
            <a:srgbClr val="2E5A48"/>
          </a:solidFill>
          <a:ln w="12700">
            <a:solidFill>
              <a:srgbClr val="2E5A48"/>
            </a:solidFill>
            <a:prstDash val="solid"/>
          </a:ln>
        </p:spPr>
      </p:sp>
      <p:sp>
        <p:nvSpPr>
          <p:cNvPr id="24" name="Text 22"/>
          <p:cNvSpPr txBox="1"/>
          <p:nvPr/>
        </p:nvSpPr>
        <p:spPr>
          <a:xfrm>
            <a:off x="6409944" y="2871216"/>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是正</a:t>
            </a:r>
            <a:endParaRPr lang="en-US" sz="900" dirty="0"/>
          </a:p>
        </p:txBody>
      </p:sp>
      <p:sp>
        <p:nvSpPr>
          <p:cNvPr id="25" name="Text 23"/>
          <p:cNvSpPr txBox="1"/>
          <p:nvPr/>
        </p:nvSpPr>
        <p:spPr>
          <a:xfrm>
            <a:off x="7251192" y="2852928"/>
            <a:ext cx="4251960" cy="512064"/>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影響を止め、元に戻し、報告する。情報漏えいのように元に戻せない事象では、是正は「報告と説明」がほぼすべてになる</a:t>
            </a:r>
            <a:endParaRPr lang="en-US" sz="850" dirty="0"/>
          </a:p>
        </p:txBody>
      </p:sp>
      <p:sp>
        <p:nvSpPr>
          <p:cNvPr id="26" name="Text 24"/>
          <p:cNvSpPr txBox="1"/>
          <p:nvPr/>
        </p:nvSpPr>
        <p:spPr>
          <a:xfrm>
            <a:off x="548640" y="3584448"/>
            <a:ext cx="7315200" cy="274320"/>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統制強度の階梯 ― 同じ「予防」でも、どこまで破れないかが違う</a:t>
            </a:r>
            <a:endParaRPr lang="en-US" sz="1200" dirty="0"/>
          </a:p>
        </p:txBody>
      </p:sp>
      <p:sp>
        <p:nvSpPr>
          <p:cNvPr id="27" name="Text 25"/>
          <p:cNvSpPr txBox="1"/>
          <p:nvPr/>
        </p:nvSpPr>
        <p:spPr>
          <a:xfrm>
            <a:off x="9692640" y="3602736"/>
            <a:ext cx="1947672" cy="237744"/>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強い　←</a:t>
            </a:r>
            <a:endParaRPr lang="en-US" sz="900" dirty="0"/>
          </a:p>
        </p:txBody>
      </p:sp>
      <p:sp>
        <p:nvSpPr>
          <p:cNvPr id="28" name="Shape 26"/>
          <p:cNvSpPr/>
          <p:nvPr/>
        </p:nvSpPr>
        <p:spPr>
          <a:xfrm>
            <a:off x="548640" y="3931920"/>
            <a:ext cx="2108606" cy="1554480"/>
          </a:xfrm>
          <a:prstGeom prst="roundRect">
            <a:avLst>
              <a:gd name="adj" fmla="val 4118"/>
            </a:avLst>
          </a:prstGeom>
          <a:solidFill>
            <a:srgbClr val="1B3A2F"/>
          </a:solidFill>
          <a:ln w="12700">
            <a:solidFill>
              <a:srgbClr val="1B3A2F"/>
            </a:solidFill>
            <a:prstDash val="solid"/>
          </a:ln>
        </p:spPr>
      </p:sp>
      <p:sp>
        <p:nvSpPr>
          <p:cNvPr id="29" name="Text 27"/>
          <p:cNvSpPr txBox="1"/>
          <p:nvPr/>
        </p:nvSpPr>
        <p:spPr>
          <a:xfrm>
            <a:off x="685800" y="4041648"/>
            <a:ext cx="411480" cy="25603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L1</a:t>
            </a:r>
            <a:endParaRPr lang="en-US" sz="1200" dirty="0"/>
          </a:p>
        </p:txBody>
      </p:sp>
      <p:sp>
        <p:nvSpPr>
          <p:cNvPr id="30" name="Text 28"/>
          <p:cNvSpPr txBox="1"/>
          <p:nvPr/>
        </p:nvSpPr>
        <p:spPr>
          <a:xfrm>
            <a:off x="1152144" y="4041648"/>
            <a:ext cx="1367942" cy="45720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構造的に不可能</a:t>
            </a:r>
            <a:endParaRPr lang="en-US" sz="1100" dirty="0"/>
          </a:p>
        </p:txBody>
      </p:sp>
      <p:sp>
        <p:nvSpPr>
          <p:cNvPr id="31" name="Text 29"/>
          <p:cNvSpPr txBox="1"/>
          <p:nvPr/>
        </p:nvSpPr>
        <p:spPr>
          <a:xfrm>
            <a:off x="685800" y="4590288"/>
            <a:ext cx="1834286" cy="777240"/>
          </a:xfrm>
          <a:prstGeom prst="rect">
            <a:avLst/>
          </a:prstGeom>
          <a:noFill/>
          <a:ln/>
        </p:spPr>
        <p:txBody>
          <a:bodyPr wrap="square" lIns="0" tIns="0" rIns="0" bIns="0" rtlCol="0" anchor="t"/>
          <a:lstStyle/>
          <a:p>
            <a:pPr indent="0" marL="0">
              <a:lnSpc>
                <a:spcPct val="115000"/>
              </a:lnSpc>
              <a:buNone/>
            </a:pPr>
            <a:r>
              <a:rPr lang="en-US" sz="850" dirty="0">
                <a:solidFill>
                  <a:srgbClr val="FFFFFF"/>
                </a:solidFill>
                <a:latin typeface="Meiryo" pitchFamily="34" charset="0"/>
                <a:ea typeface="Meiryo" pitchFamily="34" charset="-122"/>
                <a:cs typeface="Meiryo" pitchFamily="34" charset="-120"/>
              </a:rPr>
              <a:t>そもそも経路も機能も存在しない。設定変更では復活しない</a:t>
            </a:r>
            <a:endParaRPr lang="en-US" sz="850" dirty="0"/>
          </a:p>
        </p:txBody>
      </p:sp>
      <p:sp>
        <p:nvSpPr>
          <p:cNvPr id="32" name="Shape 30"/>
          <p:cNvSpPr/>
          <p:nvPr/>
        </p:nvSpPr>
        <p:spPr>
          <a:xfrm>
            <a:off x="2794406" y="3931920"/>
            <a:ext cx="2108606" cy="1554480"/>
          </a:xfrm>
          <a:prstGeom prst="roundRect">
            <a:avLst>
              <a:gd name="adj" fmla="val 4118"/>
            </a:avLst>
          </a:prstGeom>
          <a:solidFill>
            <a:srgbClr val="3F6E58"/>
          </a:solidFill>
          <a:ln w="12700">
            <a:solidFill>
              <a:srgbClr val="3F6E58"/>
            </a:solidFill>
            <a:prstDash val="solid"/>
          </a:ln>
        </p:spPr>
      </p:sp>
      <p:sp>
        <p:nvSpPr>
          <p:cNvPr id="33" name="Text 31"/>
          <p:cNvSpPr txBox="1"/>
          <p:nvPr/>
        </p:nvSpPr>
        <p:spPr>
          <a:xfrm>
            <a:off x="2931566" y="4041648"/>
            <a:ext cx="411480" cy="25603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L2</a:t>
            </a:r>
            <a:endParaRPr lang="en-US" sz="1200" dirty="0"/>
          </a:p>
        </p:txBody>
      </p:sp>
      <p:sp>
        <p:nvSpPr>
          <p:cNvPr id="34" name="Text 32"/>
          <p:cNvSpPr txBox="1"/>
          <p:nvPr/>
        </p:nvSpPr>
        <p:spPr>
          <a:xfrm>
            <a:off x="3397910" y="4041648"/>
            <a:ext cx="1367942" cy="45720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技術的に強制</a:t>
            </a:r>
            <a:endParaRPr lang="en-US" sz="1100" dirty="0"/>
          </a:p>
        </p:txBody>
      </p:sp>
      <p:sp>
        <p:nvSpPr>
          <p:cNvPr id="35" name="Text 33"/>
          <p:cNvSpPr txBox="1"/>
          <p:nvPr/>
        </p:nvSpPr>
        <p:spPr>
          <a:xfrm>
            <a:off x="2931566" y="4590288"/>
            <a:ext cx="1834286" cy="777240"/>
          </a:xfrm>
          <a:prstGeom prst="rect">
            <a:avLst/>
          </a:prstGeom>
          <a:noFill/>
          <a:ln/>
        </p:spPr>
        <p:txBody>
          <a:bodyPr wrap="square" lIns="0" tIns="0" rIns="0" bIns="0" rtlCol="0" anchor="t"/>
          <a:lstStyle/>
          <a:p>
            <a:pPr indent="0" marL="0">
              <a:lnSpc>
                <a:spcPct val="115000"/>
              </a:lnSpc>
              <a:buNone/>
            </a:pPr>
            <a:r>
              <a:rPr lang="en-US" sz="850" dirty="0">
                <a:solidFill>
                  <a:srgbClr val="FFFFFF"/>
                </a:solidFill>
                <a:latin typeface="Meiryo" pitchFamily="34" charset="0"/>
                <a:ea typeface="Meiryo" pitchFamily="34" charset="-122"/>
                <a:cs typeface="Meiryo" pitchFamily="34" charset="-120"/>
              </a:rPr>
              <a:t>設定で阻止する。解除には特権が要り、解除自体が記録に残る</a:t>
            </a:r>
            <a:endParaRPr lang="en-US" sz="850" dirty="0"/>
          </a:p>
        </p:txBody>
      </p:sp>
      <p:sp>
        <p:nvSpPr>
          <p:cNvPr id="36" name="Shape 34"/>
          <p:cNvSpPr/>
          <p:nvPr/>
        </p:nvSpPr>
        <p:spPr>
          <a:xfrm>
            <a:off x="5040173" y="3931920"/>
            <a:ext cx="2108606" cy="1554480"/>
          </a:xfrm>
          <a:prstGeom prst="roundRect">
            <a:avLst>
              <a:gd name="adj" fmla="val 4118"/>
            </a:avLst>
          </a:prstGeom>
          <a:solidFill>
            <a:srgbClr val="C8891A"/>
          </a:solidFill>
          <a:ln w="12700">
            <a:solidFill>
              <a:srgbClr val="C8891A"/>
            </a:solidFill>
            <a:prstDash val="solid"/>
          </a:ln>
        </p:spPr>
      </p:sp>
      <p:sp>
        <p:nvSpPr>
          <p:cNvPr id="37" name="Text 35"/>
          <p:cNvSpPr txBox="1"/>
          <p:nvPr/>
        </p:nvSpPr>
        <p:spPr>
          <a:xfrm>
            <a:off x="5177333" y="4041648"/>
            <a:ext cx="411480" cy="25603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L3</a:t>
            </a:r>
            <a:endParaRPr lang="en-US" sz="1200" dirty="0"/>
          </a:p>
        </p:txBody>
      </p:sp>
      <p:sp>
        <p:nvSpPr>
          <p:cNvPr id="38" name="Text 36"/>
          <p:cNvSpPr txBox="1"/>
          <p:nvPr/>
        </p:nvSpPr>
        <p:spPr>
          <a:xfrm>
            <a:off x="5643677" y="4041648"/>
            <a:ext cx="1367942" cy="45720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手続で規律</a:t>
            </a:r>
            <a:endParaRPr lang="en-US" sz="1100" dirty="0"/>
          </a:p>
        </p:txBody>
      </p:sp>
      <p:sp>
        <p:nvSpPr>
          <p:cNvPr id="39" name="Text 37"/>
          <p:cNvSpPr txBox="1"/>
          <p:nvPr/>
        </p:nvSpPr>
        <p:spPr>
          <a:xfrm>
            <a:off x="5177333" y="4590288"/>
            <a:ext cx="1834286" cy="777240"/>
          </a:xfrm>
          <a:prstGeom prst="rect">
            <a:avLst/>
          </a:prstGeom>
          <a:noFill/>
          <a:ln/>
        </p:spPr>
        <p:txBody>
          <a:bodyPr wrap="square" lIns="0" tIns="0" rIns="0" bIns="0" rtlCol="0" anchor="t"/>
          <a:lstStyle/>
          <a:p>
            <a:pPr indent="0" marL="0">
              <a:lnSpc>
                <a:spcPct val="115000"/>
              </a:lnSpc>
              <a:buNone/>
            </a:pPr>
            <a:r>
              <a:rPr lang="en-US" sz="850" dirty="0">
                <a:solidFill>
                  <a:srgbClr val="FFFFFF"/>
                </a:solidFill>
                <a:latin typeface="Meiryo" pitchFamily="34" charset="0"/>
                <a:ea typeface="Meiryo" pitchFamily="34" charset="-122"/>
                <a:cs typeface="Meiryo" pitchFamily="34" charset="-120"/>
              </a:rPr>
              <a:t>人が守る。逸脱は事後に発見される。定期的な検証が前提</a:t>
            </a:r>
            <a:endParaRPr lang="en-US" sz="850" dirty="0"/>
          </a:p>
        </p:txBody>
      </p:sp>
      <p:sp>
        <p:nvSpPr>
          <p:cNvPr id="40" name="Shape 38"/>
          <p:cNvSpPr/>
          <p:nvPr/>
        </p:nvSpPr>
        <p:spPr>
          <a:xfrm>
            <a:off x="7285939" y="3931920"/>
            <a:ext cx="2108606" cy="1554480"/>
          </a:xfrm>
          <a:prstGeom prst="roundRect">
            <a:avLst>
              <a:gd name="adj" fmla="val 4118"/>
            </a:avLst>
          </a:prstGeom>
          <a:solidFill>
            <a:srgbClr val="C87A3A"/>
          </a:solidFill>
          <a:ln w="12700">
            <a:solidFill>
              <a:srgbClr val="C87A3A"/>
            </a:solidFill>
            <a:prstDash val="solid"/>
          </a:ln>
        </p:spPr>
      </p:sp>
      <p:sp>
        <p:nvSpPr>
          <p:cNvPr id="41" name="Text 39"/>
          <p:cNvSpPr txBox="1"/>
          <p:nvPr/>
        </p:nvSpPr>
        <p:spPr>
          <a:xfrm>
            <a:off x="7423099" y="4041648"/>
            <a:ext cx="411480" cy="25603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L4</a:t>
            </a:r>
            <a:endParaRPr lang="en-US" sz="1200" dirty="0"/>
          </a:p>
        </p:txBody>
      </p:sp>
      <p:sp>
        <p:nvSpPr>
          <p:cNvPr id="42" name="Text 40"/>
          <p:cNvSpPr txBox="1"/>
          <p:nvPr/>
        </p:nvSpPr>
        <p:spPr>
          <a:xfrm>
            <a:off x="7889443" y="4041648"/>
            <a:ext cx="1367942" cy="45720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契約＋独立検証</a:t>
            </a:r>
            <a:endParaRPr lang="en-US" sz="1100" dirty="0"/>
          </a:p>
        </p:txBody>
      </p:sp>
      <p:sp>
        <p:nvSpPr>
          <p:cNvPr id="43" name="Text 41"/>
          <p:cNvSpPr txBox="1"/>
          <p:nvPr/>
        </p:nvSpPr>
        <p:spPr>
          <a:xfrm>
            <a:off x="7423099" y="4590288"/>
            <a:ext cx="1834286" cy="777240"/>
          </a:xfrm>
          <a:prstGeom prst="rect">
            <a:avLst/>
          </a:prstGeom>
          <a:noFill/>
          <a:ln/>
        </p:spPr>
        <p:txBody>
          <a:bodyPr wrap="square" lIns="0" tIns="0" rIns="0" bIns="0" rtlCol="0" anchor="t"/>
          <a:lstStyle/>
          <a:p>
            <a:pPr indent="0" marL="0">
              <a:lnSpc>
                <a:spcPct val="115000"/>
              </a:lnSpc>
              <a:buNone/>
            </a:pPr>
            <a:r>
              <a:rPr lang="en-US" sz="850" dirty="0">
                <a:solidFill>
                  <a:srgbClr val="FFFFFF"/>
                </a:solidFill>
                <a:latin typeface="Meiryo" pitchFamily="34" charset="0"/>
                <a:ea typeface="Meiryo" pitchFamily="34" charset="-122"/>
                <a:cs typeface="Meiryo" pitchFamily="34" charset="-120"/>
              </a:rPr>
              <a:t>相手方の内部統制を第三者が検証する。当行の層では阻止しない</a:t>
            </a:r>
            <a:endParaRPr lang="en-US" sz="850" dirty="0"/>
          </a:p>
        </p:txBody>
      </p:sp>
      <p:sp>
        <p:nvSpPr>
          <p:cNvPr id="44" name="Shape 42"/>
          <p:cNvSpPr/>
          <p:nvPr/>
        </p:nvSpPr>
        <p:spPr>
          <a:xfrm>
            <a:off x="9531706" y="3931920"/>
            <a:ext cx="2108606" cy="1554480"/>
          </a:xfrm>
          <a:prstGeom prst="roundRect">
            <a:avLst>
              <a:gd name="adj" fmla="val 4118"/>
            </a:avLst>
          </a:prstGeom>
          <a:solidFill>
            <a:srgbClr val="B5402A"/>
          </a:solidFill>
          <a:ln w="12700">
            <a:solidFill>
              <a:srgbClr val="B5402A"/>
            </a:solidFill>
            <a:prstDash val="solid"/>
          </a:ln>
        </p:spPr>
      </p:sp>
      <p:sp>
        <p:nvSpPr>
          <p:cNvPr id="45" name="Text 43"/>
          <p:cNvSpPr txBox="1"/>
          <p:nvPr/>
        </p:nvSpPr>
        <p:spPr>
          <a:xfrm>
            <a:off x="9668866" y="4041648"/>
            <a:ext cx="411480" cy="25603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L5</a:t>
            </a:r>
            <a:endParaRPr lang="en-US" sz="1200" dirty="0"/>
          </a:p>
        </p:txBody>
      </p:sp>
      <p:sp>
        <p:nvSpPr>
          <p:cNvPr id="46" name="Text 44"/>
          <p:cNvSpPr txBox="1"/>
          <p:nvPr/>
        </p:nvSpPr>
        <p:spPr>
          <a:xfrm>
            <a:off x="10135210" y="4041648"/>
            <a:ext cx="1367942" cy="45720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契約のみ</a:t>
            </a:r>
            <a:endParaRPr lang="en-US" sz="1100" dirty="0"/>
          </a:p>
        </p:txBody>
      </p:sp>
      <p:sp>
        <p:nvSpPr>
          <p:cNvPr id="47" name="Text 45"/>
          <p:cNvSpPr txBox="1"/>
          <p:nvPr/>
        </p:nvSpPr>
        <p:spPr>
          <a:xfrm>
            <a:off x="9668866" y="4590288"/>
            <a:ext cx="1834286" cy="777240"/>
          </a:xfrm>
          <a:prstGeom prst="rect">
            <a:avLst/>
          </a:prstGeom>
          <a:noFill/>
          <a:ln/>
        </p:spPr>
        <p:txBody>
          <a:bodyPr wrap="square" lIns="0" tIns="0" rIns="0" bIns="0" rtlCol="0" anchor="t"/>
          <a:lstStyle/>
          <a:p>
            <a:pPr indent="0" marL="0">
              <a:lnSpc>
                <a:spcPct val="115000"/>
              </a:lnSpc>
              <a:buNone/>
            </a:pPr>
            <a:r>
              <a:rPr lang="en-US" sz="850" dirty="0">
                <a:solidFill>
                  <a:srgbClr val="FFFFFF"/>
                </a:solidFill>
                <a:latin typeface="Meiryo" pitchFamily="34" charset="0"/>
                <a:ea typeface="Meiryo" pitchFamily="34" charset="-122"/>
                <a:cs typeface="Meiryo" pitchFamily="34" charset="-120"/>
              </a:rPr>
              <a:t>結果の再配分であって予防ではない。破られても気づかない</a:t>
            </a:r>
            <a:endParaRPr lang="en-US" sz="850" dirty="0"/>
          </a:p>
        </p:txBody>
      </p:sp>
      <p:sp>
        <p:nvSpPr>
          <p:cNvPr id="48" name="Shape 46"/>
          <p:cNvSpPr/>
          <p:nvPr/>
        </p:nvSpPr>
        <p:spPr>
          <a:xfrm>
            <a:off x="548640" y="5623560"/>
            <a:ext cx="11091672" cy="731520"/>
          </a:xfrm>
          <a:prstGeom prst="roundRect">
            <a:avLst>
              <a:gd name="adj" fmla="val 10000"/>
            </a:avLst>
          </a:prstGeom>
          <a:solidFill>
            <a:srgbClr val="F9E7E2"/>
          </a:solidFill>
          <a:ln w="9525">
            <a:solidFill>
              <a:srgbClr val="F9E7E2"/>
            </a:solidFill>
            <a:prstDash val="solid"/>
          </a:ln>
        </p:spPr>
      </p:sp>
      <p:sp>
        <p:nvSpPr>
          <p:cNvPr id="49" name="Text 47"/>
          <p:cNvSpPr txBox="1"/>
          <p:nvPr/>
        </p:nvSpPr>
        <p:spPr>
          <a:xfrm>
            <a:off x="731520" y="5705856"/>
            <a:ext cx="10744200" cy="566928"/>
          </a:xfrm>
          <a:prstGeom prst="rect">
            <a:avLst/>
          </a:prstGeom>
          <a:noFill/>
          <a:ln/>
        </p:spPr>
        <p:txBody>
          <a:bodyPr wrap="square" lIns="0" tIns="0" rIns="0" bIns="0" rtlCol="0" anchor="ctr"/>
          <a:lstStyle/>
          <a:p>
            <a:pPr indent="0" marL="0">
              <a:lnSpc>
                <a:spcPct val="120000"/>
              </a:lnSpc>
              <a:buNone/>
            </a:pPr>
            <a:r>
              <a:rPr lang="en-US" sz="950" b="1" dirty="0">
                <a:solidFill>
                  <a:srgbClr val="B5402A"/>
                </a:solidFill>
                <a:latin typeface="Meiryo" pitchFamily="34" charset="0"/>
                <a:ea typeface="Meiryo" pitchFamily="34" charset="-122"/>
                <a:cs typeface="Meiryo" pitchFamily="34" charset="-120"/>
              </a:rPr>
              <a:t>判定ルール：</a:t>
            </a:r>
            <a:pPr indent="0" marL="0">
              <a:lnSpc>
                <a:spcPct val="120000"/>
              </a:lnSpc>
              <a:buNone/>
            </a:pPr>
            <a:r>
              <a:rPr lang="en-US" sz="950" dirty="0">
                <a:solidFill>
                  <a:srgbClr val="1F2A25"/>
                </a:solidFill>
                <a:latin typeface="Meiryo" pitchFamily="34" charset="0"/>
                <a:ea typeface="Meiryo" pitchFamily="34" charset="-122"/>
                <a:cs typeface="Meiryo" pitchFamily="34" charset="-120"/>
              </a:rPr>
              <a:t>「統制できている」と言えるのは、予防・検知・是正が揃い、かつ検知が予防から独立して働くとき。</a:t>
            </a:r>
            <a:endParaRPr lang="en-US" sz="950" dirty="0"/>
          </a:p>
          <a:p>
            <a:pPr indent="0" marL="0">
              <a:lnSpc>
                <a:spcPct val="120000"/>
              </a:lnSpc>
              <a:buNone/>
            </a:pPr>
            <a:r>
              <a:rPr lang="en-US" sz="950" b="1" dirty="0">
                <a:solidFill>
                  <a:srgbClr val="B5402A"/>
                </a:solidFill>
                <a:latin typeface="Meiryo" pitchFamily="34" charset="0"/>
                <a:ea typeface="Meiryo" pitchFamily="34" charset="-122"/>
                <a:cs typeface="Meiryo" pitchFamily="34" charset="-120"/>
              </a:rPr>
              <a:t>予防が契約のみで、独立した検知を持てない要件は、統制ではなく「選定による受容」。そこでAI導入組織が承認しているのは統制ではなく残存リスクであり、そう明示して諮る必要がある。</a:t>
            </a:r>
            <a:endParaRPr lang="en-US" sz="950" dirty="0"/>
          </a:p>
        </p:txBody>
      </p:sp>
      <p:sp>
        <p:nvSpPr>
          <p:cNvPr id="50" name="Text 4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51" name="Text 49"/>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統制マップ ― 8 要件それぞれを、何で、どこまで統制できるか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右端の列が、AI導入組織が実際に承認することになるもの</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417320"/>
                <a:gridCol w="2606040"/>
                <a:gridCol w="1554480"/>
                <a:gridCol w="1920240"/>
                <a:gridCol w="914400"/>
                <a:gridCol w="2679192"/>
              </a:tblGrid>
              <a:tr h="310896">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要件</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予防（様式）</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検知</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是正</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到達強度</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残るリスク＝AI導入組織が受容するもの</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① データの所在</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技術（処理先・経路の限定）＋契約</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可（処理記録の突合）</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設定の復旧。過去の処理は取り消せない</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L2</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設定が変わってから検知するまでの間の処理</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② 保持</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契約＋保持しない設定の技術的強制</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設定は可、保持の実態は不可</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削除要求。完了確認は相手方に依存</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L2〜L5</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例外条件での保持と、削除完了を確認できないこと</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③ 学習利用</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契約のみ</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b="1" dirty="0">
                          <a:solidFill>
                            <a:srgbClr val="B5402A"/>
                          </a:solidFill>
                          <a:latin typeface="Meiryo" pitchFamily="34" charset="0"/>
                          <a:ea typeface="Meiryo" pitchFamily="34" charset="-122"/>
                          <a:cs typeface="Meiryo" pitchFamily="34" charset="-120"/>
                        </a:rPr>
                        <a:t>不可</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indent="0" marL="0">
                        <a:buNone/>
                      </a:pPr>
                      <a:r>
                        <a:rPr lang="en-US" sz="800" b="1" dirty="0">
                          <a:solidFill>
                            <a:srgbClr val="B5402A"/>
                          </a:solidFill>
                          <a:latin typeface="Meiryo" pitchFamily="34" charset="0"/>
                          <a:ea typeface="Meiryo" pitchFamily="34" charset="-122"/>
                          <a:cs typeface="Meiryo" pitchFamily="34" charset="-120"/>
                        </a:rPr>
                        <a:t>なし（元に戻せない）</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L4</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ほぼ全量。選定と第三者監査への信頼が唯一の根拠</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④ 第三者アクセス</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構造（アクセス経路を持たない設計）＋契約</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当行からは不可</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b="1" dirty="0">
                          <a:solidFill>
                            <a:srgbClr val="B5402A"/>
                          </a:solidFill>
                          <a:latin typeface="Meiryo" pitchFamily="34" charset="0"/>
                          <a:ea typeface="Meiryo" pitchFamily="34" charset="-122"/>
                          <a:cs typeface="Meiryo" pitchFamily="34" charset="-120"/>
                        </a:rPr>
                        <a:t>なし</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L1（検証不可）</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設計主張の真正性と、法的強制による開示</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⑤ ネットワーク経路</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技術（出口の一元化）＋権限設計</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可（通信・呼出しの記録）</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経路遮断・権限剥奪・報告</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L1〜L2</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正規の経路を正規の権限で出ていく情報（＝権限設計の精度）</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⑥ 鍵・ログの主権</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技術（鍵の自社管理）＋運用</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記録そのものが検知手段</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鍵の失効によるデータの無効化</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L2</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記録の網羅性の限界と、記録自体の保護</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⑦ 委託先管理</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契約＋運用（継続的モニタリング）</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可（証跡の定期入手・変更通知）</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是正要求、最終的には委託の解消</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L3〜L4</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往査ができないこと、再委託先の可視性</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r h="457200">
                <a:tc>
                  <a:txBody>
                    <a:bodyPr/>
                    <a:lstStyle/>
                    <a:p>
                      <a:pPr indent="0" marL="0">
                        <a:buNone/>
                      </a:pPr>
                      <a:r>
                        <a:rPr lang="en-US" sz="800" b="1" dirty="0">
                          <a:solidFill>
                            <a:srgbClr val="1F2A25"/>
                          </a:solidFill>
                          <a:latin typeface="Meiryo" pitchFamily="34" charset="0"/>
                          <a:ea typeface="Meiryo" pitchFamily="34" charset="-122"/>
                          <a:cs typeface="Meiryo" pitchFamily="34" charset="-120"/>
                        </a:rPr>
                        <a:t>⑧ 可用性・継続性</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契約（SLA・容量）＋設計（代替・縮退）</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可（稼働記録）</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縮退運用・人手対応・当局報告</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F2A25"/>
                          </a:solidFill>
                          <a:latin typeface="Meiryo" pitchFamily="34" charset="0"/>
                          <a:ea typeface="Meiryo" pitchFamily="34" charset="-122"/>
                          <a:cs typeface="Meiryo" pitchFamily="34" charset="-120"/>
                        </a:rPr>
                        <a:t>L2〜L4</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F2A25"/>
                          </a:solidFill>
                          <a:latin typeface="Meiryo" pitchFamily="34" charset="0"/>
                          <a:ea typeface="Meiryo" pitchFamily="34" charset="-122"/>
                          <a:cs typeface="Meiryo" pitchFamily="34" charset="-120"/>
                        </a:rPr>
                        <a:t>損害の回収可能性がほぼないこと</a:t>
                      </a:r>
                      <a:endParaRPr lang="en-US" sz="8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r>
            </a:tbl>
          </a:graphicData>
        </a:graphic>
      </p:graphicFrame>
      <p:sp>
        <p:nvSpPr>
          <p:cNvPr id="5" name="Shape 2"/>
          <p:cNvSpPr/>
          <p:nvPr/>
        </p:nvSpPr>
        <p:spPr>
          <a:xfrm>
            <a:off x="548640" y="5394960"/>
            <a:ext cx="11091672" cy="960120"/>
          </a:xfrm>
          <a:prstGeom prst="roundRect">
            <a:avLst>
              <a:gd name="adj" fmla="val 7619"/>
            </a:avLst>
          </a:prstGeom>
          <a:solidFill>
            <a:srgbClr val="F9E7E2"/>
          </a:solidFill>
          <a:ln w="9525">
            <a:solidFill>
              <a:srgbClr val="F9E7E2"/>
            </a:solidFill>
            <a:prstDash val="solid"/>
          </a:ln>
        </p:spPr>
      </p:sp>
      <p:sp>
        <p:nvSpPr>
          <p:cNvPr id="6" name="Text 3"/>
          <p:cNvSpPr txBox="1"/>
          <p:nvPr/>
        </p:nvSpPr>
        <p:spPr>
          <a:xfrm>
            <a:off x="731520" y="5458968"/>
            <a:ext cx="3657600" cy="237744"/>
          </a:xfrm>
          <a:prstGeom prst="rect">
            <a:avLst/>
          </a:prstGeom>
          <a:noFill/>
          <a:ln/>
        </p:spPr>
        <p:txBody>
          <a:bodyPr wrap="square" lIns="0" tIns="0" rIns="0" bIns="0" rtlCol="0" anchor="ctr"/>
          <a:lstStyle/>
          <a:p>
            <a:pPr indent="0" marL="0">
              <a:buNone/>
            </a:pPr>
            <a:r>
              <a:rPr lang="en-US" sz="1100" b="1" dirty="0">
                <a:solidFill>
                  <a:srgbClr val="B5402A"/>
                </a:solidFill>
                <a:latin typeface="Meiryo" pitchFamily="34" charset="0"/>
                <a:ea typeface="Meiryo" pitchFamily="34" charset="-122"/>
                <a:cs typeface="Meiryo" pitchFamily="34" charset="-120"/>
              </a:rPr>
              <a:t>この表の読み方</a:t>
            </a:r>
            <a:endParaRPr lang="en-US" sz="1100" dirty="0"/>
          </a:p>
        </p:txBody>
      </p:sp>
      <p:sp>
        <p:nvSpPr>
          <p:cNvPr id="7" name="Text 4"/>
          <p:cNvSpPr txBox="1"/>
          <p:nvPr/>
        </p:nvSpPr>
        <p:spPr>
          <a:xfrm>
            <a:off x="731520" y="5715000"/>
            <a:ext cx="10744200" cy="59436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③④ は検知も是正も持てない。したがって統制の議論ではなく「受容の議論」として諮る必要がある ― 承認事項は統制の有無ではなく、右端の残存リスクそのもの</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①⑤⑥ は予防・検知・是正が揃う。決めるべきは統制の可否ではなく体制（誰が検知し、誰が是正し、誰が報告するか）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②⑦⑧ は契約で取り切れない部分が残る。取れない分を自社の統制でどう埋めたかを文書として残せるかが、監督当局への説明可能性を決める</a:t>
            </a:r>
            <a:endParaRPr lang="en-US" sz="900" dirty="0"/>
          </a:p>
        </p:txBody>
      </p:sp>
      <p:sp>
        <p:nvSpPr>
          <p:cNvPr id="8"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要件①　データの所在とは何か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機密情報がどの法域の支配下に置かれるか　／　充足状況は A：p.23／B：p.26／C：p.29（A の要件別詳細は付録 p.40）</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守る対象：データそのものではなく「どの国の法律が及ぶか」という法域の選択</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脅威：外国法の域外適用による政府アクセス、当局の検査権が届かない状態、越境移転規制への抵触</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暗号化しても所在は変わらない ― 所在は機密性の問題ではなく管轄の問題</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個情法：外国にある第三者への提供（28条）と、外的環境の把握（安全管理措置）の整理が所在で決まる</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監督当局の検査・報告徴求が実効的に及ぶ範囲</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経済安全保障上の供給者情報の把握</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予防：技術（処理先・経路の限定を設定で強制）＋契約</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検知：処理記録の突合で可能</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是正：設定の復旧。過去の処理は取り消せない</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処理の所在</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推論が実行される場所。揮発的だが、その瞬間に外国法の管轄下に入る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保存の所在</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入出力、ログ、検索インデックス、バックアップ、障害解析用データ。保存物ごとに場所が違い得る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経路の所在</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経由地も法域になる。閉域でも中継点が国外なら同じ問題が起きる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副次データの所在</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利用状況の統計、不正利用検知のために保持されるデータ、サポート問い合わせの添付物</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事後の証明可能性</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「どこで処理されたか」を記録から示せるか。示せなければ監督当局に説明できない</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「保存が国内」だけでは不十分。処理・保存・経路・副次データ・証明可能性の 5 つが揃って初めて国内完結と言える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国外処理を容認する場合も、どの国かを特定でき、その国の制度を把握・公表できていれば法令上の整理は成立する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「国内のデータセンターだから安全」は誤り。所在が問うのは安全性ではなく、どの国の政府と裁判所が権限を持つかであり、安全性は別の要件（④⑤）で担保する。</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要件②　保持とは何か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委託先の管理下にデータが残るか、どれだけの期間、何の目的で　／　充足状況は A：p.23／B：p.26／C：p.29（A の要件別詳細は付録 p.41）</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守る対象：攻撃対象面そのもの。残っていないデータは盗まれない</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脅威：当行の支配が及ばない場所にデータが存在し続けること。ベンダー側の事故、内部不正、法的差押えの対象になる</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保持期間はそのままリスク暴露期間になる</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個情法：委託先が委託業務の遂行に必要な範囲を超えて取り扱わないこと（令和8年改正で明文化）</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監督指針：顧客情報の保存範囲と保護措置の明確化</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漏えい時に「何が残っていたか」が分からないと、被害範囲を特定できず報告もできない</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予防：契約＋保持しない設定の技術的強制</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検知：設定は確認できるが、保持の実態は不可</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是正：削除要求。完了の確認は相手方に依存する</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業務目的の保持</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会話履歴、キャッシュ、再実行のための一時保存。利用者が意図して残すもの</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運用目的の保持</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不正利用検知、品質改善、障害解析。利用者が意識しないまま残るもので、最も見落とされる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保持の主体</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ベンダーが持つのか、自社が持つのか。自社側のログも保持であり、統制の対象になる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削除の確実性</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バックアップ・レプリカ・キャッシュに残らないか。削除完了を証明できるか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例外の把握</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既定では保持しなくても、特定の機能・モデル・条件でのみ保持されることがある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「保存しない」の主語（誰が）、対象（何を）、例外（どの条件で）を分けて確認できているか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保持しない状態を設定で作る場合、その設定を技術的に強制でき、変更が検知できるか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「保存しない」は多くの場合、既定値の話であって全条件での保証ではない。機能やモデル単位で例外が生じるため、一律の理解が最も危険。</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要件③　学習利用とは何か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入出力がベンダーのモデル改善に使われないか　／　充足状況は A：p.23／B：p.26／C：p.29（A の要件別詳細は付録 p.42）</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守る対象：機密情報が第三者への出力として再現されるリスク、および競争上の情報が間接的に外部へ渡ること</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脅威：学習だけでなく「共有」「人的レビュー」も別個の脅威。学習しないことは共有しないことを意味しない</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この要件は、破られても当行が気づく手段がない</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顧客情報が他者への応答に混入した場合、当行は原因も範囲も特定できず、報告義務を果たせない</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法人関係情報・インサイダー情報が外部に渡れば、金商法上の管理義務の問題になる</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監督指針の外部委託：委託した業務の範囲外での利用の禁止</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予防：契約のみ（技術的手段が存在しない）</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検知：不可</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是正：なし。到達できる強度は「契約＋独立検証」まで</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基盤モデルの学習</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入出力が重みの更新に使われるか。使われれば他顧客への出力に影響し得る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提供者との共有</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学習しなくても、提供者にデータが渡るか。渡れば提供者側の管理下に入る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人的レビュー</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自動処理か、人が読むか。人が読む可能性があるなら守秘の統制が別途要る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名目の広さ</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「品質改善」「安全性研究」など、学習以外の名目での利用が許容されていないか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自社での追加学習</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自社が fine-tuning する場合は学習データも成果物も自社管理になり、別の統制が必要になる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学習・共有・人的レビューの 3 つを分けて、それぞれに明文の表明があるか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表明が契約文書にあるか（FAQ やドキュメントの記述だけでは契約上の義務にならない可能性がある）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この要件だけは事後検証が原理的に不可能。したがって判定は「検知できるか」ではなく「信頼できる表明と第三者監査があるか」になる。他の要件と評価の性質が違う。</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要件④　第三者アクセスとは何か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当行以外の誰が、入出力の内容を見得るか　／　充足状況は A：p.23／B：p.26／C：p.29（A の要件別詳細は付録 p.43）</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守る対象：内容の機密性そのもの。経路や保存場所ではなく「人が読めるか」</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脅威：ベンダーの運用要員、モデル提供者、再委託先、内部不正、そして法的強制による開示</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国内の大規模漏えい事案の多くは、外部からの侵入ではなく委託先の内部者による持ち出しで起きている</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監督指針の外部委託：委託先における顧客情報へのアクセス管理</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FISC：委託先での情報の取扱いと、アクセス権限の統制</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委託先の内部不正でも、報告義務と監督責任は委託元である当行に残る</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予防：構造（アクセス経路を持たない設計）＋契約</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検知：当行からは不可</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是正：なし。第三者評価が唯一の裏づけになる</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運用者アクセス</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ベンダーの運用要員が内容を読めるか。読めない設計か、読まない運用か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提供者アクセス</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モデルや部品の提供者が内容に触れられるか。再委託の連鎖の先まで追えるか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内部不正への耐性</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正規の権限を持つ者が悪意を持った場合に、どこで止まるか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法的強制</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外国政府を含む当局からの開示要求があった場合、通知されるか、争ってもらえるか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検証手段</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アクセスできない設計であることを、第三者が評価しているか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「アクセスしない方針」ではなく「アクセスできない設計」になっているか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設計の主張を裏づける第三者評価があるか。対象範囲が当行の使う機能を含んでいるか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「方針としてアクセスしない」と「構造上アクセスできない」は別物。前者は内部不正で破れ、後者は破れない。この区別を要件に書いておくとベンダー比較が容易になる。</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要件⑤　ネットワーク経路とは何か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自社の管理境界を出てから相手に届くまでの経路をどう固定するか　／　充足状況は A：p.23／B：p.26／C：p.29（A の要件別詳細は付録 p.44）</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守る対象：経路上の内容と、そして「意図しない出口が存在しないこと」</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脅威：経路上の盗聴・改ざんよりも、迂回路の存在。正規の権限で正規の経路から出ていく情報が最大の穴</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経路の統制は、監査の対象範囲を有限にするための手段でもある</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監督指針のシステムリスク管理：外部接続点の管理と、顧客情報の暗号化・アクセスログ</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サイバーセキュリティガイドライン：多層防御とセグメンテーション</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経路が破れて情報が外に出た場合、報告義務は委託先ではなく当行が負う</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予防：技術（出口の一元化）＋権限設計</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検知：通信・呼出しの記録で可能</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是正：経路の遮断、権限の剥奪、当局への報告</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経路の秘匿と暗号化</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公衆網を経由するか、閉域か。いずれにせよ暗号化は前提</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出口の一意性</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同じ宛先に別ルートで到達できないか。迂回路があれば統制は事実上存在しない</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経路固定の強制手段</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設定で固定しているのか、構成上そもそも他の経路がないのか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経路上で送れる内容の統制</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経路が正しくても、権限過多や入力操作で機密が正規経路から流出し得る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経路外通信の検知</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外れた場合に、誰がいつ気づくか。気づけなければ報告期限を守れない</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意図した経路以外では到達できない状態を、設定ではなく構成で実現できているか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経路を外れたことを検知する仕組みと、検知から報告までの手順が定義されているか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閉域化の本質は盗聴防止ではなく「出口の一元化」。暗号化で盗聴は防げるため、閉域にする理由は統制対象を一点に絞ることにある。「暗号化しているから閉域は不要」は誤り。</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要件⑥　鍵・ログの主権とは何か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暗号鍵と監査ログを、当行が握れるか　／　充足状況は A：p.23／B：p.26／C：p.29（A の要件別詳細は付録 p.45）</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守る対象：暗号化されたデータに対する最終的な支配権と、事故時に事実を再構成する能力</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脅威：鍵をベンダーが握っていれば、暗号化はベンダーに対する防御にならない。ログがなければ被害範囲を特定できない</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同時に、ログそのものが機密の集積になるという二律背反がある</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個情法：漏えい時に「誰の、どの情報が」を特定できなければ、確報も本人通知もできない</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監督指針：顧客情報へのアクセスログの取得と保存</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監督当局への説明は、当行が保持する記録によってしか行えない</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予防：技術（鍵の自社管理）＋運用（記録範囲の設計）</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検知：記録そのものが検知手段</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是正：鍵の失効によるデータの無効化</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鍵のライフサイクル</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生成・保管・ローテーション・失効を誰が持つか。鍵の破棄でデータを無効化できるか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鍵の適用範囲</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保存データが対象か、処理中も対象か。適用されない領域がどこかを把握しているか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記録の粒度</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誰が・いつ・何を送ったかまで残るか。内容まで残すのか、メタデータに留めるのか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記録の改ざん耐性と保持</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記録を消せる者がいないか。事故発覚が遅れた場合に遡れる期間があるか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記録自体の保護</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内容まで記録すると、記録が最も濃い機密になる。その保護と閲覧権限を先に決める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「暗号化されているか」ではなく「鍵を握っているのは誰か」で判定しているか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事故時に必要な粒度の記録が、必要な期間、改ざんできない形で残っているか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ログは統制手段であると同時に、守るべき対象を増やす。取れば取るほど安全になるわけではないため、分類ごとに記録範囲を決める必要がある。</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要件⑦　委託先管理とは何か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委託先が要件を満たし続けることを、当行が確認し続けられるか　／　充足状況は A：p.23／B：p.26／C：p.29（A の要件別詳細は付録 p.46）</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守る対象：時間の経過とベンダー側の変更に対して、要件①〜⑥が維持され続けること</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脅威：一度きりの評価で終わること。ベンダーの仕様変更・再委託先の変更・事業方針の転換</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委託先で起きた事故でも、報告義務と監督責任は委託元に残る</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銀行法12条の2第2項および施行規則13条の6の8：能力の確認、継続的な監督、代替委託の措置</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監督指針：委託先選定基準、責任分界、再委託管理、重要なサードパーティの特定</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FISC・サイバーセキュリティガイドライン：契約への要件明記と継続的モニタリング</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予防：契約（責任分界・監査権・再委託）＋運用</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検知：証跡の定期入手と変更通知で可能</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是正：是正要求、最終的には委託の解消</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選定時の評価</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能力・体制・財務の健全性。要件①〜⑥を満たすことをどう確認したか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契約の実効性</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監査権・報告義務・責任分界が書けているか。書けない場合、何で代替するか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継続的モニタリング</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証跡を定期的に入手し、変更を把握する仕組み。年次で回るか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再委託の可視性</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委託先の先に誰がいるか。変更を事前に知り、異議を述べられるか</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出口戦略と集中リスク</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切り替えられるか。同一ベンダーに依存が集中していないか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一度きりの評価ではなく、選定・契約・監視・見直しがライフサイクルとして回る設計になっているか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監査権が実効的に行使できない場合、それを何で代替し、その妥当性を誰が承認したか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クラウドでは伝統的な意味での往査ができないことが多い。第三者認証と自社統制の文書化で代替するという整理を、監査部門と先に合意しておかないと後工程で必ず止まる。</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要件⑧　可用性・継続性とは何か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サービスとして必要なときに使え、止まっても業務が続くか　／　充足状況は A：p.23／B：p.26／C：p.29（A の要件別詳細は付録 p.47）</a:t>
            </a:r>
            <a:endParaRPr lang="en-US" sz="1200" dirty="0"/>
          </a:p>
        </p:txBody>
      </p:sp>
      <p:sp>
        <p:nvSpPr>
          <p:cNvPr id="4" name="Shape 2"/>
          <p:cNvSpPr/>
          <p:nvPr/>
        </p:nvSpPr>
        <p:spPr>
          <a:xfrm>
            <a:off x="548640" y="1325880"/>
            <a:ext cx="3520440" cy="1874520"/>
          </a:xfrm>
          <a:prstGeom prst="roundRect">
            <a:avLst>
              <a:gd name="adj" fmla="val 3902"/>
            </a:avLst>
          </a:prstGeom>
          <a:solidFill>
            <a:srgbClr val="F4F7F5"/>
          </a:solidFill>
          <a:ln w="9525">
            <a:solidFill>
              <a:srgbClr val="C9D6CF"/>
            </a:solidFill>
            <a:prstDash val="solid"/>
          </a:ln>
        </p:spPr>
      </p:sp>
      <p:sp>
        <p:nvSpPr>
          <p:cNvPr id="5" name="Text 3"/>
          <p:cNvSpPr txBox="1"/>
          <p:nvPr/>
        </p:nvSpPr>
        <p:spPr>
          <a:xfrm>
            <a:off x="713232" y="141732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何を、何から守るのか</a:t>
            </a:r>
            <a:endParaRPr lang="en-US" sz="1100" dirty="0"/>
          </a:p>
        </p:txBody>
      </p:sp>
      <p:sp>
        <p:nvSpPr>
          <p:cNvPr id="6" name="Text 4"/>
          <p:cNvSpPr txBox="1"/>
          <p:nvPr/>
        </p:nvSpPr>
        <p:spPr>
          <a:xfrm>
            <a:off x="713232" y="1737360"/>
            <a:ext cx="3191256" cy="137160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守る対象：業務の継続性。機密性ではなく、使えることそのもの</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脅威：完全な停止よりも、遅延・拒否・品質劣化という部分的な劣化。そして提供の終了</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AI サービスは「止まる」より「遅い・断られる」形で劣化するため、従来の稼働率指標が合わない</a:t>
            </a:r>
            <a:endParaRPr lang="en-US" sz="900" dirty="0"/>
          </a:p>
        </p:txBody>
      </p:sp>
      <p:sp>
        <p:nvSpPr>
          <p:cNvPr id="7" name="Shape 5"/>
          <p:cNvSpPr/>
          <p:nvPr/>
        </p:nvSpPr>
        <p:spPr>
          <a:xfrm>
            <a:off x="548640" y="3337560"/>
            <a:ext cx="3520440" cy="1691640"/>
          </a:xfrm>
          <a:prstGeom prst="roundRect">
            <a:avLst>
              <a:gd name="adj" fmla="val 4324"/>
            </a:avLst>
          </a:prstGeom>
          <a:solidFill>
            <a:srgbClr val="F4F7F5"/>
          </a:solidFill>
          <a:ln w="9525">
            <a:solidFill>
              <a:srgbClr val="C9D6CF"/>
            </a:solidFill>
            <a:prstDash val="solid"/>
          </a:ln>
        </p:spPr>
      </p:sp>
      <p:sp>
        <p:nvSpPr>
          <p:cNvPr id="8" name="Text 6"/>
          <p:cNvSpPr txBox="1"/>
          <p:nvPr/>
        </p:nvSpPr>
        <p:spPr>
          <a:xfrm>
            <a:off x="713232" y="3429000"/>
            <a:ext cx="3191256" cy="256032"/>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なぜ金融機関で固有に重いのか</a:t>
            </a:r>
            <a:endParaRPr lang="en-US" sz="1100" dirty="0"/>
          </a:p>
        </p:txBody>
      </p:sp>
      <p:sp>
        <p:nvSpPr>
          <p:cNvPr id="9" name="Text 7"/>
          <p:cNvSpPr txBox="1"/>
          <p:nvPr/>
        </p:nvSpPr>
        <p:spPr>
          <a:xfrm>
            <a:off x="713232" y="3749040"/>
            <a:ext cx="3191256" cy="1207008"/>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監督指針：システムリスク管理と障害等報告（認識次第、直ちに）</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オペレーショナル・レジリエンス：重要なサードパーティの特定と相互依存関係の把握</a:t>
            </a:r>
            <a:endParaRPr lang="en-US" sz="900" dirty="0"/>
          </a:p>
          <a:p>
            <a:pPr marL="152400" indent="-152400">
              <a:lnSpc>
                <a:spcPct val="112000"/>
              </a:lnSpc>
              <a:spcAft>
                <a:spcPts val="600"/>
              </a:spcAft>
              <a:buSzPct val="100000"/>
              <a:buChar char="•"/>
            </a:pPr>
            <a:r>
              <a:rPr lang="en-US" sz="900" dirty="0">
                <a:solidFill>
                  <a:srgbClr val="1F2A25"/>
                </a:solidFill>
                <a:latin typeface="Meiryo" pitchFamily="34" charset="0"/>
                <a:ea typeface="Meiryo" pitchFamily="34" charset="-122"/>
                <a:cs typeface="Meiryo" pitchFamily="34" charset="-120"/>
              </a:rPr>
              <a:t>金融庁・日銀のフロンティアAI要請：停止に備えたコンティンジェンシー</a:t>
            </a:r>
            <a:endParaRPr lang="en-US" sz="900" dirty="0"/>
          </a:p>
        </p:txBody>
      </p:sp>
      <p:sp>
        <p:nvSpPr>
          <p:cNvPr id="10" name="Shape 8"/>
          <p:cNvSpPr/>
          <p:nvPr/>
        </p:nvSpPr>
        <p:spPr>
          <a:xfrm>
            <a:off x="548640" y="5166360"/>
            <a:ext cx="3520440" cy="1188720"/>
          </a:xfrm>
          <a:prstGeom prst="roundRect">
            <a:avLst>
              <a:gd name="adj" fmla="val 6154"/>
            </a:avLst>
          </a:prstGeom>
          <a:solidFill>
            <a:srgbClr val="E9F0EC"/>
          </a:solidFill>
          <a:ln w="9525">
            <a:solidFill>
              <a:srgbClr val="E9F0EC"/>
            </a:solidFill>
            <a:prstDash val="solid"/>
          </a:ln>
        </p:spPr>
      </p:sp>
      <p:sp>
        <p:nvSpPr>
          <p:cNvPr id="11" name="Text 9"/>
          <p:cNvSpPr txBox="1"/>
          <p:nvPr/>
        </p:nvSpPr>
        <p:spPr>
          <a:xfrm>
            <a:off x="713232" y="5239512"/>
            <a:ext cx="3191256"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統制の型（予防／検知／是正）</a:t>
            </a:r>
            <a:endParaRPr lang="en-US" sz="1100" dirty="0"/>
          </a:p>
        </p:txBody>
      </p:sp>
      <p:sp>
        <p:nvSpPr>
          <p:cNvPr id="12" name="Text 10"/>
          <p:cNvSpPr txBox="1"/>
          <p:nvPr/>
        </p:nvSpPr>
        <p:spPr>
          <a:xfrm>
            <a:off x="713232" y="5504688"/>
            <a:ext cx="3191256" cy="786384"/>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予防：契約（SLA・容量）＋設計（代替・縮退）</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検知：稼働記録で可能</a:t>
            </a:r>
            <a:endParaRPr lang="en-US" sz="850" dirty="0"/>
          </a:p>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是正：縮退運用と人手対応、当局への報告</a:t>
            </a:r>
            <a:endParaRPr lang="en-US" sz="850" dirty="0"/>
          </a:p>
        </p:txBody>
      </p:sp>
      <p:sp>
        <p:nvSpPr>
          <p:cNvPr id="13" name="Shape 11"/>
          <p:cNvSpPr/>
          <p:nvPr/>
        </p:nvSpPr>
        <p:spPr>
          <a:xfrm>
            <a:off x="4343400" y="1325880"/>
            <a:ext cx="7296912" cy="3246120"/>
          </a:xfrm>
          <a:prstGeom prst="roundRect">
            <a:avLst>
              <a:gd name="adj" fmla="val 2254"/>
            </a:avLst>
          </a:prstGeom>
          <a:solidFill>
            <a:srgbClr val="EEF5F1"/>
          </a:solidFill>
          <a:ln w="9525">
            <a:solidFill>
              <a:srgbClr val="2E5A48"/>
            </a:solidFill>
            <a:prstDash val="solid"/>
          </a:ln>
        </p:spPr>
      </p:sp>
      <p:sp>
        <p:nvSpPr>
          <p:cNvPr id="14" name="Text 12"/>
          <p:cNvSpPr txBox="1"/>
          <p:nvPr/>
        </p:nvSpPr>
        <p:spPr>
          <a:xfrm>
            <a:off x="4507992" y="1417320"/>
            <a:ext cx="696772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要件の分解 ― 確認すべきサブ要件</a:t>
            </a:r>
            <a:endParaRPr lang="en-US" sz="1200" dirty="0"/>
          </a:p>
        </p:txBody>
      </p:sp>
      <p:sp>
        <p:nvSpPr>
          <p:cNvPr id="15" name="Shape 13"/>
          <p:cNvSpPr/>
          <p:nvPr/>
        </p:nvSpPr>
        <p:spPr>
          <a:xfrm>
            <a:off x="4526280" y="1801368"/>
            <a:ext cx="256032" cy="256032"/>
          </a:xfrm>
          <a:prstGeom prst="ellipse">
            <a:avLst/>
          </a:prstGeom>
          <a:solidFill>
            <a:srgbClr val="1B3A2F"/>
          </a:solidFill>
          <a:ln w="12700">
            <a:solidFill>
              <a:srgbClr val="1B3A2F"/>
            </a:solidFill>
            <a:prstDash val="solid"/>
          </a:ln>
        </p:spPr>
      </p:sp>
      <p:sp>
        <p:nvSpPr>
          <p:cNvPr id="16" name="Text 14"/>
          <p:cNvSpPr txBox="1"/>
          <p:nvPr/>
        </p:nvSpPr>
        <p:spPr>
          <a:xfrm>
            <a:off x="4526280"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7" name="Text 15"/>
          <p:cNvSpPr txBox="1"/>
          <p:nvPr/>
        </p:nvSpPr>
        <p:spPr>
          <a:xfrm>
            <a:off x="4873752" y="1783080"/>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サービスレベルの範囲</a:t>
            </a:r>
            <a:endParaRPr lang="en-US" sz="950" dirty="0"/>
          </a:p>
        </p:txBody>
      </p:sp>
      <p:sp>
        <p:nvSpPr>
          <p:cNvPr id="18" name="Text 16"/>
          <p:cNvSpPr txBox="1"/>
          <p:nvPr/>
        </p:nvSpPr>
        <p:spPr>
          <a:xfrm>
            <a:off x="7040880" y="1783080"/>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何を保証し、何が保証の外か。実運用で起きる劣化が保証対象に入っているか</a:t>
            </a:r>
            <a:endParaRPr lang="en-US" sz="850" dirty="0"/>
          </a:p>
        </p:txBody>
      </p:sp>
      <p:sp>
        <p:nvSpPr>
          <p:cNvPr id="19" name="Shape 17"/>
          <p:cNvSpPr/>
          <p:nvPr/>
        </p:nvSpPr>
        <p:spPr>
          <a:xfrm>
            <a:off x="4526280" y="2340864"/>
            <a:ext cx="256032" cy="256032"/>
          </a:xfrm>
          <a:prstGeom prst="ellipse">
            <a:avLst/>
          </a:prstGeom>
          <a:solidFill>
            <a:srgbClr val="1B3A2F"/>
          </a:solidFill>
          <a:ln w="12700">
            <a:solidFill>
              <a:srgbClr val="1B3A2F"/>
            </a:solidFill>
            <a:prstDash val="solid"/>
          </a:ln>
        </p:spPr>
      </p:sp>
      <p:sp>
        <p:nvSpPr>
          <p:cNvPr id="20" name="Text 18"/>
          <p:cNvSpPr txBox="1"/>
          <p:nvPr/>
        </p:nvSpPr>
        <p:spPr>
          <a:xfrm>
            <a:off x="4526280" y="23408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21" name="Text 19"/>
          <p:cNvSpPr txBox="1"/>
          <p:nvPr/>
        </p:nvSpPr>
        <p:spPr>
          <a:xfrm>
            <a:off x="4873752" y="2322576"/>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容量の確保</a:t>
            </a:r>
            <a:endParaRPr lang="en-US" sz="950" dirty="0"/>
          </a:p>
        </p:txBody>
      </p:sp>
      <p:sp>
        <p:nvSpPr>
          <p:cNvPr id="22" name="Text 20"/>
          <p:cNvSpPr txBox="1"/>
          <p:nvPr/>
        </p:nvSpPr>
        <p:spPr>
          <a:xfrm>
            <a:off x="7040880" y="2322576"/>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混雑時に必要な量を使えるか。予約できるか、できるならどの範囲か</a:t>
            </a:r>
            <a:endParaRPr lang="en-US" sz="850" dirty="0"/>
          </a:p>
        </p:txBody>
      </p:sp>
      <p:sp>
        <p:nvSpPr>
          <p:cNvPr id="23" name="Shape 21"/>
          <p:cNvSpPr/>
          <p:nvPr/>
        </p:nvSpPr>
        <p:spPr>
          <a:xfrm>
            <a:off x="4526280" y="2880360"/>
            <a:ext cx="256032" cy="256032"/>
          </a:xfrm>
          <a:prstGeom prst="ellipse">
            <a:avLst/>
          </a:prstGeom>
          <a:solidFill>
            <a:srgbClr val="1B3A2F"/>
          </a:solidFill>
          <a:ln w="12700">
            <a:solidFill>
              <a:srgbClr val="1B3A2F"/>
            </a:solidFill>
            <a:prstDash val="solid"/>
          </a:ln>
        </p:spPr>
      </p:sp>
      <p:sp>
        <p:nvSpPr>
          <p:cNvPr id="24" name="Text 22"/>
          <p:cNvSpPr txBox="1"/>
          <p:nvPr/>
        </p:nvSpPr>
        <p:spPr>
          <a:xfrm>
            <a:off x="4526280" y="2880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25" name="Text 23"/>
          <p:cNvSpPr txBox="1"/>
          <p:nvPr/>
        </p:nvSpPr>
        <p:spPr>
          <a:xfrm>
            <a:off x="4873752" y="2862072"/>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障害時の代替</a:t>
            </a:r>
            <a:endParaRPr lang="en-US" sz="950" dirty="0"/>
          </a:p>
        </p:txBody>
      </p:sp>
      <p:sp>
        <p:nvSpPr>
          <p:cNvPr id="26" name="Text 24"/>
          <p:cNvSpPr txBox="1"/>
          <p:nvPr/>
        </p:nvSpPr>
        <p:spPr>
          <a:xfrm>
            <a:off x="7040880" y="2862072"/>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同等の代替に切り替えるのか、人手に縮退するのか。用途ごとに決まっているか</a:t>
            </a:r>
            <a:endParaRPr lang="en-US" sz="850" dirty="0"/>
          </a:p>
        </p:txBody>
      </p:sp>
      <p:sp>
        <p:nvSpPr>
          <p:cNvPr id="27" name="Shape 25"/>
          <p:cNvSpPr/>
          <p:nvPr/>
        </p:nvSpPr>
        <p:spPr>
          <a:xfrm>
            <a:off x="4526280" y="3419856"/>
            <a:ext cx="256032" cy="256032"/>
          </a:xfrm>
          <a:prstGeom prst="ellipse">
            <a:avLst/>
          </a:prstGeom>
          <a:solidFill>
            <a:srgbClr val="1B3A2F"/>
          </a:solidFill>
          <a:ln w="12700">
            <a:solidFill>
              <a:srgbClr val="1B3A2F"/>
            </a:solidFill>
            <a:prstDash val="solid"/>
          </a:ln>
        </p:spPr>
      </p:sp>
      <p:sp>
        <p:nvSpPr>
          <p:cNvPr id="28" name="Text 26"/>
          <p:cNvSpPr txBox="1"/>
          <p:nvPr/>
        </p:nvSpPr>
        <p:spPr>
          <a:xfrm>
            <a:off x="4526280" y="3419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9" name="Text 27"/>
          <p:cNvSpPr txBox="1"/>
          <p:nvPr/>
        </p:nvSpPr>
        <p:spPr>
          <a:xfrm>
            <a:off x="4873752" y="3401568"/>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供給の継続性</a:t>
            </a:r>
            <a:endParaRPr lang="en-US" sz="950" dirty="0"/>
          </a:p>
        </p:txBody>
      </p:sp>
      <p:sp>
        <p:nvSpPr>
          <p:cNvPr id="30" name="Text 28"/>
          <p:cNvSpPr txBox="1"/>
          <p:nvPr/>
        </p:nvSpPr>
        <p:spPr>
          <a:xfrm>
            <a:off x="7040880" y="3401568"/>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モデル・サービスの寿命。提供終了時の移行期間と、移行の作業量</a:t>
            </a:r>
            <a:endParaRPr lang="en-US" sz="850" dirty="0"/>
          </a:p>
        </p:txBody>
      </p:sp>
      <p:sp>
        <p:nvSpPr>
          <p:cNvPr id="31" name="Shape 29"/>
          <p:cNvSpPr/>
          <p:nvPr/>
        </p:nvSpPr>
        <p:spPr>
          <a:xfrm>
            <a:off x="4526280" y="3959352"/>
            <a:ext cx="256032" cy="256032"/>
          </a:xfrm>
          <a:prstGeom prst="ellipse">
            <a:avLst/>
          </a:prstGeom>
          <a:solidFill>
            <a:srgbClr val="1B3A2F"/>
          </a:solidFill>
          <a:ln w="12700">
            <a:solidFill>
              <a:srgbClr val="1B3A2F"/>
            </a:solidFill>
            <a:prstDash val="solid"/>
          </a:ln>
        </p:spPr>
      </p:sp>
      <p:sp>
        <p:nvSpPr>
          <p:cNvPr id="32" name="Text 30"/>
          <p:cNvSpPr txBox="1"/>
          <p:nvPr/>
        </p:nvSpPr>
        <p:spPr>
          <a:xfrm>
            <a:off x="4526280" y="39593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33" name="Text 31"/>
          <p:cNvSpPr txBox="1"/>
          <p:nvPr/>
        </p:nvSpPr>
        <p:spPr>
          <a:xfrm>
            <a:off x="4873752" y="3941064"/>
            <a:ext cx="210312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事業者リスク</a:t>
            </a:r>
            <a:endParaRPr lang="en-US" sz="950" dirty="0"/>
          </a:p>
        </p:txBody>
      </p:sp>
      <p:sp>
        <p:nvSpPr>
          <p:cNvPr id="34" name="Text 32"/>
          <p:cNvSpPr txBox="1"/>
          <p:nvPr/>
        </p:nvSpPr>
        <p:spPr>
          <a:xfrm>
            <a:off x="7040880" y="3941064"/>
            <a:ext cx="4370832" cy="484632"/>
          </a:xfrm>
          <a:prstGeom prst="rect">
            <a:avLst/>
          </a:prstGeom>
          <a:noFill/>
          <a:ln/>
        </p:spPr>
        <p:txBody>
          <a:bodyPr wrap="square" lIns="0" tIns="0" rIns="0" bIns="0" rtlCol="0" anchor="t"/>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価格改定、方針転換、事業撤退。切替可能性は⑦の出口戦略と一体で考える</a:t>
            </a:r>
            <a:endParaRPr lang="en-US" sz="850" dirty="0"/>
          </a:p>
        </p:txBody>
      </p:sp>
      <p:sp>
        <p:nvSpPr>
          <p:cNvPr id="35" name="Shape 33"/>
          <p:cNvSpPr/>
          <p:nvPr/>
        </p:nvSpPr>
        <p:spPr>
          <a:xfrm>
            <a:off x="4343400" y="4709160"/>
            <a:ext cx="7296912" cy="914400"/>
          </a:xfrm>
          <a:prstGeom prst="roundRect">
            <a:avLst>
              <a:gd name="adj" fmla="val 8000"/>
            </a:avLst>
          </a:prstGeom>
          <a:solidFill>
            <a:srgbClr val="F4F7F5"/>
          </a:solidFill>
          <a:ln w="9525">
            <a:solidFill>
              <a:srgbClr val="C9D6CF"/>
            </a:solidFill>
            <a:prstDash val="solid"/>
          </a:ln>
        </p:spPr>
      </p:sp>
      <p:sp>
        <p:nvSpPr>
          <p:cNvPr id="36" name="Text 34"/>
          <p:cNvSpPr txBox="1"/>
          <p:nvPr/>
        </p:nvSpPr>
        <p:spPr>
          <a:xfrm>
            <a:off x="4507992" y="4773168"/>
            <a:ext cx="6967728" cy="237744"/>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何をもって「満たした」と言えるか</a:t>
            </a:r>
            <a:endParaRPr lang="en-US" sz="1100" dirty="0"/>
          </a:p>
        </p:txBody>
      </p:sp>
      <p:sp>
        <p:nvSpPr>
          <p:cNvPr id="37" name="Text 35"/>
          <p:cNvSpPr txBox="1"/>
          <p:nvPr/>
        </p:nvSpPr>
        <p:spPr>
          <a:xfrm>
            <a:off x="4507992" y="5029200"/>
            <a:ext cx="6967728" cy="54864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可用性目標を、ベンダーの保証値ではなく「利用者から見た成功率」で定義しているか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止まったときの業務手順が、用途ごとに定義され、訓練されているか</a:t>
            </a:r>
            <a:endParaRPr lang="en-US" sz="900" dirty="0"/>
          </a:p>
        </p:txBody>
      </p:sp>
      <p:sp>
        <p:nvSpPr>
          <p:cNvPr id="38" name="Shape 36"/>
          <p:cNvSpPr/>
          <p:nvPr/>
        </p:nvSpPr>
        <p:spPr>
          <a:xfrm>
            <a:off x="4343400" y="5760720"/>
            <a:ext cx="7296912" cy="594360"/>
          </a:xfrm>
          <a:prstGeom prst="roundRect">
            <a:avLst>
              <a:gd name="adj" fmla="val 12308"/>
            </a:avLst>
          </a:prstGeom>
          <a:solidFill>
            <a:srgbClr val="FBF1DF"/>
          </a:solidFill>
          <a:ln w="9525">
            <a:solidFill>
              <a:srgbClr val="FBF1DF"/>
            </a:solidFill>
            <a:prstDash val="solid"/>
          </a:ln>
        </p:spPr>
      </p:sp>
      <p:sp>
        <p:nvSpPr>
          <p:cNvPr id="39" name="Text 37"/>
          <p:cNvSpPr txBox="1"/>
          <p:nvPr/>
        </p:nvSpPr>
        <p:spPr>
          <a:xfrm>
            <a:off x="4480560" y="5815584"/>
            <a:ext cx="1371600" cy="45720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誤解されやすい点</a:t>
            </a:r>
            <a:endParaRPr lang="en-US" sz="950" dirty="0"/>
          </a:p>
        </p:txBody>
      </p:sp>
      <p:sp>
        <p:nvSpPr>
          <p:cNvPr id="40" name="Text 38"/>
          <p:cNvSpPr txBox="1"/>
          <p:nvPr/>
        </p:nvSpPr>
        <p:spPr>
          <a:xfrm>
            <a:off x="5916168" y="5815584"/>
            <a:ext cx="5559552" cy="484632"/>
          </a:xfrm>
          <a:prstGeom prst="rect">
            <a:avLst/>
          </a:prstGeom>
          <a:noFill/>
          <a:ln/>
        </p:spPr>
        <p:txBody>
          <a:bodyPr wrap="square" lIns="0" tIns="0" rIns="0" bIns="0" rtlCol="0" anchor="ctr"/>
          <a:lstStyle/>
          <a:p>
            <a:pPr indent="0" marL="0">
              <a:lnSpc>
                <a:spcPct val="110000"/>
              </a:lnSpc>
              <a:buNone/>
            </a:pPr>
            <a:r>
              <a:rPr lang="en-US" sz="900" dirty="0">
                <a:solidFill>
                  <a:srgbClr val="1F2A25"/>
                </a:solidFill>
                <a:latin typeface="Meiryo" pitchFamily="34" charset="0"/>
                <a:ea typeface="Meiryo" pitchFamily="34" charset="-122"/>
                <a:cs typeface="Meiryo" pitchFamily="34" charset="-120"/>
              </a:rPr>
              <a:t>サービスレベルの保証は可用性についてのものであり、漏えいなど機密性の侵害に対する救済は含まない。両者を混同すると、契約でリスクが移転できているという誤解が生じる。</a:t>
            </a:r>
            <a:endParaRPr lang="en-US" sz="90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2" name="Text 4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準拠法・規制との対応（1/2）：外部委託・システムリスク・FISC</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AI 固有の新規制はなく、既存の委託先管理・システムリスク管理の枠組みがそのまま適用される</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834640"/>
                <a:gridCol w="3017520"/>
                <a:gridCol w="2834640"/>
              </a:tblGrid>
              <a:tr h="347472">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法令・基準（現行）</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求めていること</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本環境での充足</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残る自社対応</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105156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銀行法 12条の2 第2項</a:t>
                      </a:r>
                      <a:endParaRPr lang="en-US" sz="900" dirty="0">
                        <a:latin typeface="Meiryo" charset="0"/>
                        <a:ea typeface="Meiryo" charset="0"/>
                        <a:cs typeface="Meiryo" charset="0"/>
                      </a:endParaRPr>
                    </a:p>
                    <a:p>
                      <a:pPr indent="0" marL="0">
                        <a:buNone/>
                      </a:pPr>
                      <a:r>
                        <a:rPr lang="en-US" sz="900" b="1" dirty="0">
                          <a:solidFill>
                            <a:srgbClr val="1F2A25"/>
                          </a:solidFill>
                          <a:latin typeface="Meiryo" pitchFamily="34" charset="0"/>
                          <a:ea typeface="Meiryo" pitchFamily="34" charset="-122"/>
                          <a:cs typeface="Meiryo" pitchFamily="34" charset="-120"/>
                        </a:rPr>
                        <a:t>施行規則 13条の6の8</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委託先の能力確認、定期的な業務遂行状況の確認・監督、苦情対応、代替委託・契約変更／解除の措置</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AWS の SOC1/2/3・ISO27001/17/18・ISMAP（対象サービスは ISMAP ポータルで要確認）で能力・履行状況を確認可。Service Terms に変更・解除条項</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AWS を委託先台帳に登録、年次レビュー、出口戦略（他 CSP／open-weight への切替手順）の文書化。open-weight 採用時はベースモデルの系譜確認（中国系除外）を選定基準に明記</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37160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主要行等向け監督指針</a:t>
                      </a:r>
                      <a:endParaRPr lang="en-US" sz="900" dirty="0">
                        <a:latin typeface="Meiryo" charset="0"/>
                        <a:ea typeface="Meiryo" charset="0"/>
                        <a:cs typeface="Meiryo" charset="0"/>
                      </a:endParaRPr>
                    </a:p>
                    <a:p>
                      <a:pPr indent="0" marL="0">
                        <a:buNone/>
                      </a:pPr>
                      <a:r>
                        <a:rPr lang="en-US" sz="900" b="1" dirty="0">
                          <a:solidFill>
                            <a:srgbClr val="1F2A25"/>
                          </a:solidFill>
                          <a:latin typeface="Meiryo" pitchFamily="34" charset="0"/>
                          <a:ea typeface="Meiryo" pitchFamily="34" charset="-122"/>
                          <a:cs typeface="Meiryo" pitchFamily="34" charset="-120"/>
                        </a:rPr>
                        <a:t>Ⅲ-3-3-4 外部委託、Ⅲ-3-7-1 システムリスク、Ⅲ-3-6 オペレジ</a:t>
                      </a:r>
                      <a:endParaRPr lang="en-US" sz="900" dirty="0">
                        <a:latin typeface="Meiryo" charset="0"/>
                        <a:ea typeface="Meiryo" charset="0"/>
                        <a:cs typeface="Meiryo" charset="0"/>
                      </a:endParaRPr>
                    </a:p>
                    <a:p>
                      <a:pPr indent="0" marL="0">
                        <a:buNone/>
                      </a:pPr>
                      <a:r>
                        <a:rPr lang="en-US" sz="900" b="1" dirty="0">
                          <a:solidFill>
                            <a:srgbClr val="1F2A25"/>
                          </a:solidFill>
                          <a:latin typeface="Meiryo" pitchFamily="34" charset="0"/>
                          <a:ea typeface="Meiryo" pitchFamily="34" charset="-122"/>
                          <a:cs typeface="Meiryo" pitchFamily="34" charset="-120"/>
                        </a:rPr>
                        <a:t>（2026-02-27 改正版）</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委託先選定基準、契約での責任分界・SLA・セキュリティ要件・再委託、顧客情報の暗号化・アクセスログ、多段階委託の管理、「重要なサードパーティ」の特定</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責任分界（付録 p.51）、CMK 暗号化、CloudTrail／invocation logging。再委託＝モデル提供者（Anthropic）は AWS の Model Deployment Account 設計で非アクセス</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Anthropic を「再委託先」として整理するか「AWS の供給者」として整理するかの法務判断。オペレジ上の重要サードパーティ該当性評価</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05156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金融庁 サイバーセキュリティ GL</a:t>
                      </a:r>
                      <a:endParaRPr lang="en-US" sz="900" dirty="0">
                        <a:latin typeface="Meiryo" charset="0"/>
                        <a:ea typeface="Meiryo" charset="0"/>
                        <a:cs typeface="Meiryo" charset="0"/>
                      </a:endParaRPr>
                    </a:p>
                    <a:p>
                      <a:pPr indent="0" marL="0">
                        <a:buNone/>
                      </a:pPr>
                      <a:r>
                        <a:rPr lang="en-US" sz="900" b="1" dirty="0">
                          <a:solidFill>
                            <a:srgbClr val="1F2A25"/>
                          </a:solidFill>
                          <a:latin typeface="Meiryo" pitchFamily="34" charset="0"/>
                          <a:ea typeface="Meiryo" pitchFamily="34" charset="-122"/>
                          <a:cs typeface="Meiryo" pitchFamily="34" charset="-120"/>
                        </a:rPr>
                        <a:t>2.6 サードパーティリスク（2024-10、2025-07 技術修正）</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サードパーティのライフサイクル管理、契約・SLA での役割分担・監査権限・再委託手続、継続的モニタリング、インシデント対応への組込み</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AWS Artifact で SOC 等を継続入手。AWS のインシデント通知プロセス</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AI 基盤をサードパーティ台帳・IT 資産インベントリに登録。インシデント対応計画に Bedrock 停止・侵害シナリオを追加</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09728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FISC 安全対策基準・解説書</a:t>
                      </a:r>
                      <a:endParaRPr lang="en-US" sz="900" dirty="0">
                        <a:latin typeface="Meiryo" charset="0"/>
                        <a:ea typeface="Meiryo" charset="0"/>
                        <a:cs typeface="Meiryo" charset="0"/>
                      </a:endParaRPr>
                    </a:p>
                    <a:p>
                      <a:pPr indent="0" marL="0">
                        <a:buNone/>
                      </a:pPr>
                      <a:r>
                        <a:rPr lang="en-US" sz="900" b="1" dirty="0">
                          <a:solidFill>
                            <a:srgbClr val="1F2A25"/>
                          </a:solidFill>
                          <a:latin typeface="Meiryo" pitchFamily="34" charset="0"/>
                          <a:ea typeface="Meiryo" pitchFamily="34" charset="-122"/>
                          <a:cs typeface="Meiryo" pitchFamily="34" charset="-120"/>
                        </a:rPr>
                        <a:t>第13版（2025-03）で AI 項目新設、第14版（2026-03）で拡充</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AI 利用時の機密データの学習防止、利用ポリシーの全社周知とガバナンス、委託先管理、クラウド利用の安全対策</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AWS「FISC 安全対策基準対応リファレンス」（第13版対応、2025-11）と金融リファレンスアーキテクチャ日本版 2025 生成 AI 編で対照可</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第14版への読み替え表を自社作成（AWS の第14版対応版は未確認）。AI 利用ポリシーの制定・周知を監査対象化</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準拠法・規制との対応（2/2）：個情法・経済安保・金商法・AI DP</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東京リージョンでも「外的環境の把握」は必要。経済安保は勘定系に組み込まない限り届出対象外（要相談）</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3200400"/>
                <a:gridCol w="2834640"/>
                <a:gridCol w="2743200"/>
              </a:tblGrid>
              <a:tr h="347472">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法令・基準（現行）</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求めていること／公式見解</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本環境での整理</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残る自社対応</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137160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個人情報保護法 ＋ 金融分野 GL（2024-03）・実務指針</a:t>
                      </a:r>
                      <a:endParaRPr lang="en-US" sz="850" dirty="0">
                        <a:latin typeface="Meiryo" charset="0"/>
                        <a:ea typeface="Meiryo" charset="0"/>
                        <a:cs typeface="Meiryo" charset="0"/>
                      </a:endParaRPr>
                    </a:p>
                    <a:p>
                      <a:pPr indent="0" marL="0">
                        <a:buNone/>
                      </a:pPr>
                      <a:r>
                        <a:rPr lang="en-US" sz="850" b="1" dirty="0">
                          <a:solidFill>
                            <a:srgbClr val="1F2A25"/>
                          </a:solidFill>
                          <a:latin typeface="Meiryo" pitchFamily="34" charset="0"/>
                          <a:ea typeface="Meiryo" pitchFamily="34" charset="-122"/>
                          <a:cs typeface="Meiryo" pitchFamily="34" charset="-120"/>
                        </a:rPr>
                        <a:t>令和8年改正法：2026-07-17 公布、2年以内施行</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PPC Q&amp;A 7-53／12-3：クラウド事業者が契約上データを取り扱わず、適切なアクセス制御があれば「提供」「委託」「外国第三者提供」に該当しない。Q10-25：国内サーバでも外国事業者なら「外的環境の把握」（事業者・サーバ所在国、講じた措置の公表）が必要</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Bedrock の非保存・非学習・非アクセス＋自社アクセス制御で「クラウド例外」を主張可。ただし Guardrails Standard（国外処理）や Fable 5（保持＋共有）は例外を崩す設定になる</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安全管理措置として米国の制度把握と公表文の整備。改正法（委託先の範囲外取扱禁止の明文化、課徴金）への対応。実務指針 5-1〜5-4 の委託先選定・契約項目を AWS 契約で照合</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96012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経済安全保障推進法 基幹インフラ制度</a:t>
                      </a:r>
                      <a:endParaRPr lang="en-US" sz="850" dirty="0">
                        <a:latin typeface="Meiryo" charset="0"/>
                        <a:ea typeface="Meiryo" charset="0"/>
                        <a:cs typeface="Meiryo" charset="0"/>
                      </a:endParaRPr>
                    </a:p>
                    <a:p>
                      <a:pPr indent="0" marL="0">
                        <a:buNone/>
                      </a:pPr>
                      <a:r>
                        <a:rPr lang="en-US" sz="850" b="1" dirty="0">
                          <a:solidFill>
                            <a:srgbClr val="1F2A25"/>
                          </a:solidFill>
                          <a:latin typeface="Meiryo" pitchFamily="34" charset="0"/>
                          <a:ea typeface="Meiryo" pitchFamily="34" charset="-122"/>
                          <a:cs typeface="Meiryo" pitchFamily="34" charset="-120"/>
                        </a:rPr>
                        <a:t>（指定 258 者、2026-07 時点）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特定重要設備（勘定系等）の導入・重要維持管理等の委託は事前届出。クラウドは構成設備になり得る（ISMAP 登録で記載省略可）。AI・SaaS 固有の公式見解はなし</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LLM を勘定系等の特定重要設備の機能に組み込まない限り、原則届出対象外。AWS は討議資料で供給者情報の提供を表明</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当行が指定事業者か確認。ユースケースが特定重要設備に接続する場合は金融庁窓口へ事前相談</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86868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金融商品取引法（法人関係情報・インサイダー）</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AI・クラウドへの入力に関する公式ガイダンスなし。AI DP 1.1／アクセス FSA 271 号で「AI システム開発は電子情報処理組織の保守・管理の例外に含まれる」旨を明記</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既存の法人関係情報管理規程の枠内で、分類 S として扱う（p.33）</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会話データ中の法人関係情報を分析対象とする場合の解釈は業界要望として未決。法務確認</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14300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金融庁 AI ディスカッションペーパー 1.1（2026-03-03）</a:t>
                      </a:r>
                      <a:endParaRPr lang="en-US" sz="850" dirty="0">
                        <a:latin typeface="Meiryo" charset="0"/>
                        <a:ea typeface="Meiryo" charset="0"/>
                        <a:cs typeface="Meiryo" charset="0"/>
                      </a:endParaRPr>
                    </a:p>
                    <a:p>
                      <a:pPr indent="0" marL="0">
                        <a:buNone/>
                      </a:pPr>
                      <a:r>
                        <a:rPr lang="en-US" sz="850" b="1" dirty="0">
                          <a:solidFill>
                            <a:srgbClr val="1F2A25"/>
                          </a:solidFill>
                          <a:latin typeface="Meiryo" pitchFamily="34" charset="0"/>
                          <a:ea typeface="Meiryo" pitchFamily="34" charset="-122"/>
                          <a:cs typeface="Meiryo" pitchFamily="34" charset="-120"/>
                        </a:rPr>
                        <a:t>金融庁・日銀 フロンティア AI 要請（2026-05-22）</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技術中立・既存法令適用、リスクベース、モデル・リスク管理、専用線経由の閉域利用を実務例として記載、顧客向け直接利用にはリスク低減策と人の関与を確認。要請は防御側（脆弱性・パッチ）のみで AI 利用には触れない</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本環境は DP 1.1 の「閉域利用」「Human-in-the-loop」に整合。要請の⑤ベンダー契約・SLA 確認、⑧停止時対応は LLM 基盤にも準用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50" dirty="0">
                          <a:solidFill>
                            <a:srgbClr val="1F2A25"/>
                          </a:solidFill>
                          <a:latin typeface="Meiryo" pitchFamily="34" charset="0"/>
                          <a:ea typeface="Meiryo" pitchFamily="34" charset="-122"/>
                          <a:cs typeface="Meiryo" pitchFamily="34" charset="-120"/>
                        </a:rPr>
                        <a:t>モデル・インベントリー、KPI のAI導入組織報告。Bedrock 停止時の業務継続手順</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731520" y="155448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第 2 部　3 パターンの評価</a:t>
            </a:r>
            <a:endParaRPr lang="en-US" sz="3200" dirty="0"/>
          </a:p>
        </p:txBody>
      </p:sp>
      <p:sp>
        <p:nvSpPr>
          <p:cNvPr id="3" name="Text 1"/>
          <p:cNvSpPr txBox="1"/>
          <p:nvPr/>
        </p:nvSpPr>
        <p:spPr>
          <a:xfrm>
            <a:off x="731520" y="2487168"/>
            <a:ext cx="10515600" cy="365760"/>
          </a:xfrm>
          <a:prstGeom prst="rect">
            <a:avLst/>
          </a:prstGeom>
          <a:noFill/>
          <a:ln/>
        </p:spPr>
        <p:txBody>
          <a:bodyPr wrap="square" lIns="0" tIns="0" rIns="0" bIns="0" rtlCol="0" anchor="ctr"/>
          <a:lstStyle/>
          <a:p>
            <a:pPr indent="0" marL="0">
              <a:buNone/>
            </a:pPr>
            <a:r>
              <a:rPr lang="en-US" sz="1400" dirty="0">
                <a:solidFill>
                  <a:srgbClr val="BFD0C7"/>
                </a:solidFill>
                <a:latin typeface="Meiryo" pitchFamily="34" charset="0"/>
                <a:ea typeface="Meiryo" pitchFamily="34" charset="-122"/>
                <a:cs typeface="Meiryo" pitchFamily="34" charset="-120"/>
              </a:rPr>
              <a:t>第 1 部で定義した 8 要件を、3 つの構成に当てて検証する。各パターンを同じ 3 枚（環境イメージ／8 要件充足／落とし穴）に揃えた</a:t>
            </a:r>
            <a:endParaRPr lang="en-US" sz="1400" dirty="0"/>
          </a:p>
        </p:txBody>
      </p:sp>
      <p:sp>
        <p:nvSpPr>
          <p:cNvPr id="4" name="Shape 2"/>
          <p:cNvSpPr/>
          <p:nvPr/>
        </p:nvSpPr>
        <p:spPr>
          <a:xfrm>
            <a:off x="731520" y="3383280"/>
            <a:ext cx="3429000" cy="1828800"/>
          </a:xfrm>
          <a:prstGeom prst="roundRect">
            <a:avLst>
              <a:gd name="adj" fmla="val 4000"/>
            </a:avLst>
          </a:prstGeom>
          <a:solidFill>
            <a:srgbClr val="1E3D31"/>
          </a:solidFill>
          <a:ln w="12700">
            <a:solidFill>
              <a:srgbClr val="1E3D31"/>
            </a:solidFill>
            <a:prstDash val="solid"/>
          </a:ln>
        </p:spPr>
      </p:sp>
      <p:sp>
        <p:nvSpPr>
          <p:cNvPr id="5" name="Shape 3"/>
          <p:cNvSpPr/>
          <p:nvPr/>
        </p:nvSpPr>
        <p:spPr>
          <a:xfrm>
            <a:off x="914400" y="3566160"/>
            <a:ext cx="457200" cy="457200"/>
          </a:xfrm>
          <a:prstGeom prst="ellipse">
            <a:avLst/>
          </a:prstGeom>
          <a:solidFill>
            <a:srgbClr val="C8891A"/>
          </a:solidFill>
          <a:ln w="12700">
            <a:solidFill>
              <a:srgbClr val="C8891A"/>
            </a:solidFill>
            <a:prstDash val="solid"/>
          </a:ln>
        </p:spPr>
      </p:sp>
      <p:sp>
        <p:nvSpPr>
          <p:cNvPr id="6" name="Text 4"/>
          <p:cNvSpPr txBox="1"/>
          <p:nvPr/>
        </p:nvSpPr>
        <p:spPr>
          <a:xfrm>
            <a:off x="91440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a:t>
            </a:r>
            <a:endParaRPr lang="en-US" sz="1800" dirty="0"/>
          </a:p>
        </p:txBody>
      </p:sp>
      <p:sp>
        <p:nvSpPr>
          <p:cNvPr id="7" name="Text 5"/>
          <p:cNvSpPr txBox="1"/>
          <p:nvPr/>
        </p:nvSpPr>
        <p:spPr>
          <a:xfrm>
            <a:off x="1508760" y="35844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Amazon Bedrock</a:t>
            </a:r>
            <a:endParaRPr lang="en-US" sz="1400" dirty="0"/>
          </a:p>
        </p:txBody>
      </p:sp>
      <p:sp>
        <p:nvSpPr>
          <p:cNvPr id="8" name="Text 6"/>
          <p:cNvSpPr txBox="1"/>
          <p:nvPr/>
        </p:nvSpPr>
        <p:spPr>
          <a:xfrm>
            <a:off x="914400" y="4206240"/>
            <a:ext cx="3063240" cy="548640"/>
          </a:xfrm>
          <a:prstGeom prst="rect">
            <a:avLst/>
          </a:prstGeom>
          <a:noFill/>
          <a:ln/>
        </p:spPr>
        <p:txBody>
          <a:bodyPr wrap="square" lIns="0" tIns="0" rIns="0" bIns="0" rtlCol="0" anchor="t"/>
          <a:lstStyle/>
          <a:p>
            <a:pPr indent="0" marL="0">
              <a:lnSpc>
                <a:spcPct val="115000"/>
              </a:lnSpc>
              <a:buNone/>
            </a:pPr>
            <a:r>
              <a:rPr lang="en-US" sz="1000" dirty="0">
                <a:solidFill>
                  <a:srgbClr val="C7D5CD"/>
                </a:solidFill>
                <a:latin typeface="Meiryo" pitchFamily="34" charset="0"/>
                <a:ea typeface="Meiryo" pitchFamily="34" charset="-122"/>
                <a:cs typeface="Meiryo" pitchFamily="34" charset="-120"/>
              </a:rPr>
              <a:t>東京リージョン ＋ jp. inference profile</a:t>
            </a:r>
            <a:endParaRPr lang="en-US" sz="1000" dirty="0"/>
          </a:p>
        </p:txBody>
      </p:sp>
      <p:sp>
        <p:nvSpPr>
          <p:cNvPr id="9" name="Text 7"/>
          <p:cNvSpPr txBox="1"/>
          <p:nvPr/>
        </p:nvSpPr>
        <p:spPr>
          <a:xfrm>
            <a:off x="914400" y="4800600"/>
            <a:ext cx="306324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p.22〜24</a:t>
            </a:r>
            <a:endParaRPr lang="en-US" sz="1050" dirty="0"/>
          </a:p>
        </p:txBody>
      </p:sp>
      <p:sp>
        <p:nvSpPr>
          <p:cNvPr id="10" name="Shape 8"/>
          <p:cNvSpPr/>
          <p:nvPr/>
        </p:nvSpPr>
        <p:spPr>
          <a:xfrm>
            <a:off x="4343400" y="3383280"/>
            <a:ext cx="3429000" cy="1828800"/>
          </a:xfrm>
          <a:prstGeom prst="roundRect">
            <a:avLst>
              <a:gd name="adj" fmla="val 4000"/>
            </a:avLst>
          </a:prstGeom>
          <a:solidFill>
            <a:srgbClr val="1E3D31"/>
          </a:solidFill>
          <a:ln w="12700">
            <a:solidFill>
              <a:srgbClr val="1E3D31"/>
            </a:solidFill>
            <a:prstDash val="solid"/>
          </a:ln>
        </p:spPr>
      </p:sp>
      <p:sp>
        <p:nvSpPr>
          <p:cNvPr id="11" name="Shape 9"/>
          <p:cNvSpPr/>
          <p:nvPr/>
        </p:nvSpPr>
        <p:spPr>
          <a:xfrm>
            <a:off x="4526280" y="3566160"/>
            <a:ext cx="457200" cy="457200"/>
          </a:xfrm>
          <a:prstGeom prst="ellipse">
            <a:avLst/>
          </a:prstGeom>
          <a:solidFill>
            <a:srgbClr val="C8891A"/>
          </a:solidFill>
          <a:ln w="12700">
            <a:solidFill>
              <a:srgbClr val="C8891A"/>
            </a:solidFill>
            <a:prstDash val="solid"/>
          </a:ln>
        </p:spPr>
      </p:sp>
      <p:sp>
        <p:nvSpPr>
          <p:cNvPr id="12" name="Text 10"/>
          <p:cNvSpPr txBox="1"/>
          <p:nvPr/>
        </p:nvSpPr>
        <p:spPr>
          <a:xfrm>
            <a:off x="452628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B</a:t>
            </a:r>
            <a:endParaRPr lang="en-US" sz="1800" dirty="0"/>
          </a:p>
        </p:txBody>
      </p:sp>
      <p:sp>
        <p:nvSpPr>
          <p:cNvPr id="13" name="Text 11"/>
          <p:cNvSpPr txBox="1"/>
          <p:nvPr/>
        </p:nvSpPr>
        <p:spPr>
          <a:xfrm>
            <a:off x="5120640" y="35844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Microsoft Foundry</a:t>
            </a:r>
            <a:endParaRPr lang="en-US" sz="1400" dirty="0"/>
          </a:p>
        </p:txBody>
      </p:sp>
      <p:sp>
        <p:nvSpPr>
          <p:cNvPr id="14" name="Text 12"/>
          <p:cNvSpPr txBox="1"/>
          <p:nvPr/>
        </p:nvSpPr>
        <p:spPr>
          <a:xfrm>
            <a:off x="4526280" y="4206240"/>
            <a:ext cx="3063240" cy="548640"/>
          </a:xfrm>
          <a:prstGeom prst="rect">
            <a:avLst/>
          </a:prstGeom>
          <a:noFill/>
          <a:ln/>
        </p:spPr>
        <p:txBody>
          <a:bodyPr wrap="square" lIns="0" tIns="0" rIns="0" bIns="0" rtlCol="0" anchor="t"/>
          <a:lstStyle/>
          <a:p>
            <a:pPr indent="0" marL="0">
              <a:lnSpc>
                <a:spcPct val="115000"/>
              </a:lnSpc>
              <a:buNone/>
            </a:pPr>
            <a:r>
              <a:rPr lang="en-US" sz="1000" dirty="0">
                <a:solidFill>
                  <a:srgbClr val="C7D5CD"/>
                </a:solidFill>
                <a:latin typeface="Meiryo" pitchFamily="34" charset="0"/>
                <a:ea typeface="Meiryo" pitchFamily="34" charset="-122"/>
                <a:cs typeface="Meiryo" pitchFamily="34" charset="-120"/>
              </a:rPr>
              <a:t>Japan East ＋ Standard／Regional Provisioned</a:t>
            </a:r>
            <a:endParaRPr lang="en-US" sz="1000" dirty="0"/>
          </a:p>
        </p:txBody>
      </p:sp>
      <p:sp>
        <p:nvSpPr>
          <p:cNvPr id="15" name="Text 13"/>
          <p:cNvSpPr txBox="1"/>
          <p:nvPr/>
        </p:nvSpPr>
        <p:spPr>
          <a:xfrm>
            <a:off x="4526280" y="4800600"/>
            <a:ext cx="306324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p.25〜27</a:t>
            </a:r>
            <a:endParaRPr lang="en-US" sz="1050" dirty="0"/>
          </a:p>
        </p:txBody>
      </p:sp>
      <p:sp>
        <p:nvSpPr>
          <p:cNvPr id="16" name="Shape 14"/>
          <p:cNvSpPr/>
          <p:nvPr/>
        </p:nvSpPr>
        <p:spPr>
          <a:xfrm>
            <a:off x="7955280" y="3383280"/>
            <a:ext cx="3429000" cy="1828800"/>
          </a:xfrm>
          <a:prstGeom prst="roundRect">
            <a:avLst>
              <a:gd name="adj" fmla="val 4000"/>
            </a:avLst>
          </a:prstGeom>
          <a:solidFill>
            <a:srgbClr val="1E3D31"/>
          </a:solidFill>
          <a:ln w="12700">
            <a:solidFill>
              <a:srgbClr val="1E3D31"/>
            </a:solidFill>
            <a:prstDash val="solid"/>
          </a:ln>
        </p:spPr>
      </p:sp>
      <p:sp>
        <p:nvSpPr>
          <p:cNvPr id="17" name="Shape 15"/>
          <p:cNvSpPr/>
          <p:nvPr/>
        </p:nvSpPr>
        <p:spPr>
          <a:xfrm>
            <a:off x="8138160" y="3566160"/>
            <a:ext cx="457200" cy="457200"/>
          </a:xfrm>
          <a:prstGeom prst="ellipse">
            <a:avLst/>
          </a:prstGeom>
          <a:solidFill>
            <a:srgbClr val="C8891A"/>
          </a:solidFill>
          <a:ln w="12700">
            <a:solidFill>
              <a:srgbClr val="C8891A"/>
            </a:solidFill>
            <a:prstDash val="solid"/>
          </a:ln>
        </p:spPr>
      </p:sp>
      <p:sp>
        <p:nvSpPr>
          <p:cNvPr id="18" name="Text 16"/>
          <p:cNvSpPr txBox="1"/>
          <p:nvPr/>
        </p:nvSpPr>
        <p:spPr>
          <a:xfrm>
            <a:off x="813816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C</a:t>
            </a:r>
            <a:endParaRPr lang="en-US" sz="1800" dirty="0"/>
          </a:p>
        </p:txBody>
      </p:sp>
      <p:sp>
        <p:nvSpPr>
          <p:cNvPr id="19" name="Text 17"/>
          <p:cNvSpPr txBox="1"/>
          <p:nvPr/>
        </p:nvSpPr>
        <p:spPr>
          <a:xfrm>
            <a:off x="8732520" y="35844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Google Vertex AI</a:t>
            </a:r>
            <a:endParaRPr lang="en-US" sz="1400" dirty="0"/>
          </a:p>
        </p:txBody>
      </p:sp>
      <p:sp>
        <p:nvSpPr>
          <p:cNvPr id="20" name="Text 18"/>
          <p:cNvSpPr txBox="1"/>
          <p:nvPr/>
        </p:nvSpPr>
        <p:spPr>
          <a:xfrm>
            <a:off x="8138160" y="4206240"/>
            <a:ext cx="3063240" cy="548640"/>
          </a:xfrm>
          <a:prstGeom prst="rect">
            <a:avLst/>
          </a:prstGeom>
          <a:noFill/>
          <a:ln/>
        </p:spPr>
        <p:txBody>
          <a:bodyPr wrap="square" lIns="0" tIns="0" rIns="0" bIns="0" rtlCol="0" anchor="t"/>
          <a:lstStyle/>
          <a:p>
            <a:pPr indent="0" marL="0">
              <a:lnSpc>
                <a:spcPct val="115000"/>
              </a:lnSpc>
              <a:buNone/>
            </a:pPr>
            <a:r>
              <a:rPr lang="en-US" sz="1000" dirty="0">
                <a:solidFill>
                  <a:srgbClr val="C7D5CD"/>
                </a:solidFill>
                <a:latin typeface="Meiryo" pitchFamily="34" charset="0"/>
                <a:ea typeface="Meiryo" pitchFamily="34" charset="-122"/>
                <a:cs typeface="Meiryo" pitchFamily="34" charset="-120"/>
              </a:rPr>
              <a:t>asia-northeast1 ＋ locational endpoint</a:t>
            </a:r>
            <a:endParaRPr lang="en-US" sz="1000" dirty="0"/>
          </a:p>
        </p:txBody>
      </p:sp>
      <p:sp>
        <p:nvSpPr>
          <p:cNvPr id="21" name="Text 19"/>
          <p:cNvSpPr txBox="1"/>
          <p:nvPr/>
        </p:nvSpPr>
        <p:spPr>
          <a:xfrm>
            <a:off x="8138160" y="4800600"/>
            <a:ext cx="306324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p.28〜30</a:t>
            </a:r>
            <a:endParaRPr lang="en-US" sz="1050" dirty="0"/>
          </a:p>
        </p:txBody>
      </p:sp>
      <p:sp>
        <p:nvSpPr>
          <p:cNvPr id="22" name="Text 20"/>
          <p:cNvSpPr txBox="1"/>
          <p:nvPr/>
        </p:nvSpPr>
        <p:spPr>
          <a:xfrm>
            <a:off x="731520" y="5623560"/>
            <a:ext cx="10515600" cy="274320"/>
          </a:xfrm>
          <a:prstGeom prst="rect">
            <a:avLst/>
          </a:prstGeom>
          <a:noFill/>
          <a:ln/>
        </p:spPr>
        <p:txBody>
          <a:bodyPr wrap="square" lIns="0" tIns="0" rIns="0" bIns="0" rtlCol="0" anchor="ctr"/>
          <a:lstStyle/>
          <a:p>
            <a:pPr indent="0" marL="0">
              <a:buNone/>
            </a:pPr>
            <a:r>
              <a:rPr lang="en-US" sz="1050" dirty="0">
                <a:solidFill>
                  <a:srgbClr val="9FB5AA"/>
                </a:solidFill>
                <a:latin typeface="Meiryo" pitchFamily="34" charset="0"/>
                <a:ea typeface="Meiryo" pitchFamily="34" charset="-122"/>
                <a:cs typeface="Meiryo" pitchFamily="34" charset="-120"/>
              </a:rPr>
              <a:t>比較の結論は p.31。パターン A の要件別詳細は付録 p.40〜47</a:t>
            </a:r>
            <a:endParaRPr lang="en-US" sz="1050" dirty="0"/>
          </a:p>
        </p:txBody>
      </p:sp>
      <p:sp>
        <p:nvSpPr>
          <p:cNvPr id="23" name="Text 2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4" name="Text 2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A の環境イメージ：閉域構成（Bedrock ／ 東京リージョン）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インターネットを経由せず、推論は日本国内、鍵とログは自社管理。IAM/SCP で構成を技術的に強制する</a:t>
            </a:r>
            <a:endParaRPr lang="en-US" sz="1200" dirty="0"/>
          </a:p>
        </p:txBody>
      </p:sp>
      <p:sp>
        <p:nvSpPr>
          <p:cNvPr id="4" name="Shape 2"/>
          <p:cNvSpPr/>
          <p:nvPr/>
        </p:nvSpPr>
        <p:spPr>
          <a:xfrm>
            <a:off x="548640" y="1371600"/>
            <a:ext cx="2788920" cy="4023360"/>
          </a:xfrm>
          <a:prstGeom prst="roundRect">
            <a:avLst>
              <a:gd name="adj" fmla="val 3279"/>
            </a:avLst>
          </a:prstGeom>
          <a:solidFill>
            <a:srgbClr val="F4F7F5"/>
          </a:solidFill>
          <a:ln w="12700">
            <a:solidFill>
              <a:srgbClr val="C9D6CF"/>
            </a:solidFill>
            <a:prstDash val="solid"/>
          </a:ln>
        </p:spPr>
      </p:sp>
      <p:sp>
        <p:nvSpPr>
          <p:cNvPr id="5" name="Text 3"/>
          <p:cNvSpPr txBox="1"/>
          <p:nvPr/>
        </p:nvSpPr>
        <p:spPr>
          <a:xfrm>
            <a:off x="685800" y="1463040"/>
            <a:ext cx="2514600" cy="274320"/>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社内ネットワーク（オンプレ）</a:t>
            </a:r>
            <a:endParaRPr lang="en-US" sz="1100" dirty="0"/>
          </a:p>
        </p:txBody>
      </p:sp>
      <p:sp>
        <p:nvSpPr>
          <p:cNvPr id="6" name="Shape 4"/>
          <p:cNvSpPr/>
          <p:nvPr/>
        </p:nvSpPr>
        <p:spPr>
          <a:xfrm>
            <a:off x="685800" y="1828800"/>
            <a:ext cx="2514600" cy="960120"/>
          </a:xfrm>
          <a:prstGeom prst="roundRect">
            <a:avLst>
              <a:gd name="adj" fmla="val 7619"/>
            </a:avLst>
          </a:prstGeom>
          <a:solidFill>
            <a:srgbClr val="FFFFFF"/>
          </a:solidFill>
          <a:ln w="9525">
            <a:solidFill>
              <a:srgbClr val="C9D6CF"/>
            </a:solidFill>
            <a:prstDash val="solid"/>
          </a:ln>
        </p:spPr>
      </p:sp>
      <p:sp>
        <p:nvSpPr>
          <p:cNvPr id="7" name="Text 5"/>
          <p:cNvSpPr txBox="1"/>
          <p:nvPr/>
        </p:nvSpPr>
        <p:spPr>
          <a:xfrm>
            <a:off x="822960" y="1901952"/>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利用者（行員）</a:t>
            </a:r>
            <a:endParaRPr lang="en-US" sz="1100" dirty="0"/>
          </a:p>
        </p:txBody>
      </p:sp>
      <p:sp>
        <p:nvSpPr>
          <p:cNvPr id="8" name="Text 6"/>
          <p:cNvSpPr txBox="1"/>
          <p:nvPr/>
        </p:nvSpPr>
        <p:spPr>
          <a:xfrm>
            <a:off x="822960" y="2194560"/>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SSO / IdP で認証、所属・権限を付与</a:t>
            </a:r>
            <a:endParaRPr lang="en-US" sz="900" dirty="0"/>
          </a:p>
        </p:txBody>
      </p:sp>
      <p:sp>
        <p:nvSpPr>
          <p:cNvPr id="9" name="Shape 7"/>
          <p:cNvSpPr/>
          <p:nvPr/>
        </p:nvSpPr>
        <p:spPr>
          <a:xfrm>
            <a:off x="685800" y="2944368"/>
            <a:ext cx="2514600" cy="960120"/>
          </a:xfrm>
          <a:prstGeom prst="roundRect">
            <a:avLst>
              <a:gd name="adj" fmla="val 7619"/>
            </a:avLst>
          </a:prstGeom>
          <a:solidFill>
            <a:srgbClr val="FFFFFF"/>
          </a:solidFill>
          <a:ln w="9525">
            <a:solidFill>
              <a:srgbClr val="C9D6CF"/>
            </a:solidFill>
            <a:prstDash val="solid"/>
          </a:ln>
        </p:spPr>
      </p:sp>
      <p:sp>
        <p:nvSpPr>
          <p:cNvPr id="10" name="Text 8"/>
          <p:cNvSpPr txBox="1"/>
          <p:nvPr/>
        </p:nvSpPr>
        <p:spPr>
          <a:xfrm>
            <a:off x="822960" y="3017520"/>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既存統制</a:t>
            </a:r>
            <a:endParaRPr lang="en-US" sz="1100" dirty="0"/>
          </a:p>
        </p:txBody>
      </p:sp>
      <p:sp>
        <p:nvSpPr>
          <p:cNvPr id="11" name="Text 9"/>
          <p:cNvSpPr txBox="1"/>
          <p:nvPr/>
        </p:nvSpPr>
        <p:spPr>
          <a:xfrm>
            <a:off x="822960" y="3310128"/>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Proxy／DLP／端末管理。AWS へは Direct Connect（DX）／VPN のみ</a:t>
            </a:r>
            <a:endParaRPr lang="en-US" sz="900" dirty="0"/>
          </a:p>
        </p:txBody>
      </p:sp>
      <p:sp>
        <p:nvSpPr>
          <p:cNvPr id="12" name="Shape 10"/>
          <p:cNvSpPr/>
          <p:nvPr/>
        </p:nvSpPr>
        <p:spPr>
          <a:xfrm>
            <a:off x="685800" y="4059936"/>
            <a:ext cx="2514600" cy="960120"/>
          </a:xfrm>
          <a:prstGeom prst="roundRect">
            <a:avLst>
              <a:gd name="adj" fmla="val 7619"/>
            </a:avLst>
          </a:prstGeom>
          <a:solidFill>
            <a:srgbClr val="FFFFFF"/>
          </a:solidFill>
          <a:ln w="9525">
            <a:solidFill>
              <a:srgbClr val="C9D6CF"/>
            </a:solidFill>
            <a:prstDash val="solid"/>
          </a:ln>
        </p:spPr>
      </p:sp>
      <p:sp>
        <p:nvSpPr>
          <p:cNvPr id="13" name="Text 11"/>
          <p:cNvSpPr txBox="1"/>
          <p:nvPr/>
        </p:nvSpPr>
        <p:spPr>
          <a:xfrm>
            <a:off x="822960" y="4133088"/>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社内文書・DB</a:t>
            </a:r>
            <a:endParaRPr lang="en-US" sz="1100" dirty="0"/>
          </a:p>
        </p:txBody>
      </p:sp>
      <p:sp>
        <p:nvSpPr>
          <p:cNvPr id="14" name="Text 12"/>
          <p:cNvSpPr txBox="1"/>
          <p:nvPr/>
        </p:nvSpPr>
        <p:spPr>
          <a:xfrm>
            <a:off x="822960" y="4425696"/>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RAG の元データ。分類ラベルを付与して連携</a:t>
            </a:r>
            <a:endParaRPr lang="en-US" sz="900" dirty="0"/>
          </a:p>
        </p:txBody>
      </p:sp>
      <p:sp>
        <p:nvSpPr>
          <p:cNvPr id="15" name="Shape 13"/>
          <p:cNvSpPr/>
          <p:nvPr/>
        </p:nvSpPr>
        <p:spPr>
          <a:xfrm>
            <a:off x="3703320" y="1371600"/>
            <a:ext cx="5074920" cy="4023360"/>
          </a:xfrm>
          <a:prstGeom prst="roundRect">
            <a:avLst>
              <a:gd name="adj" fmla="val 2273"/>
            </a:avLst>
          </a:prstGeom>
          <a:solidFill>
            <a:srgbClr val="EEF5F1"/>
          </a:solidFill>
          <a:ln w="12700">
            <a:solidFill>
              <a:srgbClr val="2E5A48"/>
            </a:solidFill>
            <a:prstDash val="solid"/>
          </a:ln>
        </p:spPr>
      </p:sp>
      <p:sp>
        <p:nvSpPr>
          <p:cNvPr id="16" name="Text 14"/>
          <p:cNvSpPr txBox="1"/>
          <p:nvPr/>
        </p:nvSpPr>
        <p:spPr>
          <a:xfrm>
            <a:off x="3840480" y="1463040"/>
            <a:ext cx="4800600" cy="274320"/>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当行 AWS アカウント ｜ ap-northeast-1（VPC・private subnet のみ、IGW／NAT なし）</a:t>
            </a:r>
            <a:endParaRPr lang="en-US" sz="1050" dirty="0"/>
          </a:p>
        </p:txBody>
      </p:sp>
      <p:sp>
        <p:nvSpPr>
          <p:cNvPr id="17" name="Shape 15"/>
          <p:cNvSpPr/>
          <p:nvPr/>
        </p:nvSpPr>
        <p:spPr>
          <a:xfrm>
            <a:off x="3840480" y="1828800"/>
            <a:ext cx="4800600" cy="777240"/>
          </a:xfrm>
          <a:prstGeom prst="roundRect">
            <a:avLst>
              <a:gd name="adj" fmla="val 9412"/>
            </a:avLst>
          </a:prstGeom>
          <a:solidFill>
            <a:srgbClr val="FFFFFF"/>
          </a:solidFill>
          <a:ln w="9525">
            <a:solidFill>
              <a:srgbClr val="C9D6CF"/>
            </a:solidFill>
            <a:prstDash val="solid"/>
          </a:ln>
        </p:spPr>
      </p:sp>
      <p:sp>
        <p:nvSpPr>
          <p:cNvPr id="18" name="Text 16"/>
          <p:cNvSpPr txBox="1"/>
          <p:nvPr/>
        </p:nvSpPr>
        <p:spPr>
          <a:xfrm>
            <a:off x="3977640" y="188366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AI Gateway / アプリ層</a:t>
            </a:r>
            <a:endParaRPr lang="en-US" sz="1050" dirty="0"/>
          </a:p>
        </p:txBody>
      </p:sp>
      <p:sp>
        <p:nvSpPr>
          <p:cNvPr id="19" name="Text 17"/>
          <p:cNvSpPr txBox="1"/>
          <p:nvPr/>
        </p:nvSpPr>
        <p:spPr>
          <a:xfrm>
            <a:off x="3977640" y="213969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認可・分類タグ検査・レート制御・プロンプト／応答の監査ログ化。用途別に jp. / global プロファイルを振り分け</a:t>
            </a:r>
            <a:endParaRPr lang="en-US" sz="850" dirty="0"/>
          </a:p>
        </p:txBody>
      </p:sp>
      <p:sp>
        <p:nvSpPr>
          <p:cNvPr id="20" name="Shape 18"/>
          <p:cNvSpPr/>
          <p:nvPr/>
        </p:nvSpPr>
        <p:spPr>
          <a:xfrm>
            <a:off x="3840480" y="2697480"/>
            <a:ext cx="4800600" cy="777240"/>
          </a:xfrm>
          <a:prstGeom prst="roundRect">
            <a:avLst>
              <a:gd name="adj" fmla="val 9412"/>
            </a:avLst>
          </a:prstGeom>
          <a:solidFill>
            <a:srgbClr val="FFFFFF"/>
          </a:solidFill>
          <a:ln w="9525">
            <a:solidFill>
              <a:srgbClr val="C9D6CF"/>
            </a:solidFill>
            <a:prstDash val="solid"/>
          </a:ln>
        </p:spPr>
      </p:sp>
      <p:sp>
        <p:nvSpPr>
          <p:cNvPr id="21" name="Text 19"/>
          <p:cNvSpPr txBox="1"/>
          <p:nvPr/>
        </p:nvSpPr>
        <p:spPr>
          <a:xfrm>
            <a:off x="3977640" y="275234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Knowledge Base（RAG）</a:t>
            </a:r>
            <a:endParaRPr lang="en-US" sz="1050" dirty="0"/>
          </a:p>
        </p:txBody>
      </p:sp>
      <p:sp>
        <p:nvSpPr>
          <p:cNvPr id="22" name="Text 20"/>
          <p:cNvSpPr txBox="1"/>
          <p:nvPr/>
        </p:nvSpPr>
        <p:spPr>
          <a:xfrm>
            <a:off x="3977640" y="300837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S3 ＋ OpenSearch。KMS CMK で暗号化。分類ラベルでアクセス制御（行レベル）</a:t>
            </a:r>
            <a:endParaRPr lang="en-US" sz="850" dirty="0"/>
          </a:p>
        </p:txBody>
      </p:sp>
      <p:sp>
        <p:nvSpPr>
          <p:cNvPr id="23" name="Shape 21"/>
          <p:cNvSpPr/>
          <p:nvPr/>
        </p:nvSpPr>
        <p:spPr>
          <a:xfrm>
            <a:off x="3840480" y="3566160"/>
            <a:ext cx="4800600" cy="777240"/>
          </a:xfrm>
          <a:prstGeom prst="roundRect">
            <a:avLst>
              <a:gd name="adj" fmla="val 9412"/>
            </a:avLst>
          </a:prstGeom>
          <a:solidFill>
            <a:srgbClr val="FFFFFF"/>
          </a:solidFill>
          <a:ln w="9525">
            <a:solidFill>
              <a:srgbClr val="C9D6CF"/>
            </a:solidFill>
            <a:prstDash val="solid"/>
          </a:ln>
        </p:spPr>
      </p:sp>
      <p:sp>
        <p:nvSpPr>
          <p:cNvPr id="24" name="Text 22"/>
          <p:cNvSpPr txBox="1"/>
          <p:nvPr/>
        </p:nvSpPr>
        <p:spPr>
          <a:xfrm>
            <a:off x="3977640" y="362102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自社ガードレール層</a:t>
            </a:r>
            <a:endParaRPr lang="en-US" sz="1050" dirty="0"/>
          </a:p>
        </p:txBody>
      </p:sp>
      <p:sp>
        <p:nvSpPr>
          <p:cNvPr id="25" name="Text 23"/>
          <p:cNvSpPr txBox="1"/>
          <p:nvPr/>
        </p:nvSpPr>
        <p:spPr>
          <a:xfrm>
            <a:off x="3977640" y="387705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PII 検知（マイナンバー等は自前正規表現）、出力の grounding 検証、Human-in-the-loop 振分け</a:t>
            </a:r>
            <a:endParaRPr lang="en-US" sz="850" dirty="0"/>
          </a:p>
        </p:txBody>
      </p:sp>
      <p:sp>
        <p:nvSpPr>
          <p:cNvPr id="26" name="Shape 24"/>
          <p:cNvSpPr/>
          <p:nvPr/>
        </p:nvSpPr>
        <p:spPr>
          <a:xfrm>
            <a:off x="3840480" y="4434840"/>
            <a:ext cx="4800600" cy="777240"/>
          </a:xfrm>
          <a:prstGeom prst="roundRect">
            <a:avLst>
              <a:gd name="adj" fmla="val 9412"/>
            </a:avLst>
          </a:prstGeom>
          <a:solidFill>
            <a:srgbClr val="E5EEF4"/>
          </a:solidFill>
          <a:ln w="9525">
            <a:solidFill>
              <a:srgbClr val="3B6E8F"/>
            </a:solidFill>
            <a:prstDash val="solid"/>
          </a:ln>
        </p:spPr>
      </p:sp>
      <p:sp>
        <p:nvSpPr>
          <p:cNvPr id="27" name="Text 25"/>
          <p:cNvSpPr txBox="1"/>
          <p:nvPr/>
        </p:nvSpPr>
        <p:spPr>
          <a:xfrm>
            <a:off x="3977640" y="4489704"/>
            <a:ext cx="4526280" cy="256032"/>
          </a:xfrm>
          <a:prstGeom prst="rect">
            <a:avLst/>
          </a:prstGeom>
          <a:noFill/>
          <a:ln/>
        </p:spPr>
        <p:txBody>
          <a:bodyPr wrap="square" lIns="0" tIns="0" rIns="0" bIns="0" rtlCol="0" anchor="ctr"/>
          <a:lstStyle/>
          <a:p>
            <a:pPr indent="0" marL="0">
              <a:buNone/>
            </a:pPr>
            <a:r>
              <a:rPr lang="en-US" sz="1050" b="1" dirty="0">
                <a:solidFill>
                  <a:srgbClr val="3B6E8F"/>
                </a:solidFill>
                <a:latin typeface="Meiryo" pitchFamily="34" charset="0"/>
                <a:ea typeface="Meiryo" pitchFamily="34" charset="-122"/>
                <a:cs typeface="Meiryo" pitchFamily="34" charset="-120"/>
              </a:rPr>
              <a:t>VPC Endpoint（PrivateLink）</a:t>
            </a:r>
            <a:endParaRPr lang="en-US" sz="1050" dirty="0"/>
          </a:p>
        </p:txBody>
      </p:sp>
      <p:sp>
        <p:nvSpPr>
          <p:cNvPr id="28" name="Text 26"/>
          <p:cNvSpPr txBox="1"/>
          <p:nvPr/>
        </p:nvSpPr>
        <p:spPr>
          <a:xfrm>
            <a:off x="3977640" y="474573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bedrock-runtime。Endpoint policy で InvokeModel を許可リスト化</a:t>
            </a:r>
            <a:endParaRPr lang="en-US" sz="850" dirty="0"/>
          </a:p>
        </p:txBody>
      </p:sp>
      <p:sp>
        <p:nvSpPr>
          <p:cNvPr id="29" name="Shape 27"/>
          <p:cNvSpPr/>
          <p:nvPr/>
        </p:nvSpPr>
        <p:spPr>
          <a:xfrm>
            <a:off x="9144000" y="1371600"/>
            <a:ext cx="2514600" cy="4023360"/>
          </a:xfrm>
          <a:prstGeom prst="roundRect">
            <a:avLst>
              <a:gd name="adj" fmla="val 3636"/>
            </a:avLst>
          </a:prstGeom>
          <a:solidFill>
            <a:srgbClr val="1B3A2F"/>
          </a:solidFill>
          <a:ln w="12700">
            <a:solidFill>
              <a:srgbClr val="1B3A2F"/>
            </a:solidFill>
            <a:prstDash val="solid"/>
          </a:ln>
        </p:spPr>
      </p:sp>
      <p:sp>
        <p:nvSpPr>
          <p:cNvPr id="30" name="Text 28"/>
          <p:cNvSpPr txBox="1"/>
          <p:nvPr/>
        </p:nvSpPr>
        <p:spPr>
          <a:xfrm>
            <a:off x="9281160" y="1463040"/>
            <a:ext cx="2240280" cy="274320"/>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Amazon Bedrock（AWS 運用）</a:t>
            </a:r>
            <a:endParaRPr lang="en-US" sz="1000" dirty="0"/>
          </a:p>
        </p:txBody>
      </p:sp>
      <p:sp>
        <p:nvSpPr>
          <p:cNvPr id="31" name="Shape 29"/>
          <p:cNvSpPr/>
          <p:nvPr/>
        </p:nvSpPr>
        <p:spPr>
          <a:xfrm>
            <a:off x="9281160" y="1828800"/>
            <a:ext cx="2240280" cy="1024128"/>
          </a:xfrm>
          <a:prstGeom prst="roundRect">
            <a:avLst>
              <a:gd name="adj" fmla="val 5357"/>
            </a:avLst>
          </a:prstGeom>
          <a:solidFill>
            <a:srgbClr val="2A4D3E"/>
          </a:solidFill>
          <a:ln w="12700">
            <a:solidFill>
              <a:srgbClr val="2A4D3E"/>
            </a:solidFill>
            <a:prstDash val="solid"/>
          </a:ln>
        </p:spPr>
      </p:sp>
      <p:sp>
        <p:nvSpPr>
          <p:cNvPr id="32" name="Text 30"/>
          <p:cNvSpPr txBox="1"/>
          <p:nvPr/>
        </p:nvSpPr>
        <p:spPr>
          <a:xfrm>
            <a:off x="9390888" y="1892808"/>
            <a:ext cx="2020824" cy="274320"/>
          </a:xfrm>
          <a:prstGeom prst="rect">
            <a:avLst/>
          </a:prstGeom>
          <a:noFill/>
          <a:ln/>
        </p:spPr>
        <p:txBody>
          <a:bodyPr wrap="square" lIns="0" tIns="0" rIns="0" bIns="0" rtlCol="0" anchor="ctr"/>
          <a:lstStyle/>
          <a:p>
            <a:pPr indent="0" marL="0">
              <a:buNone/>
            </a:pPr>
            <a:r>
              <a:rPr lang="en-US" sz="1000" b="1" dirty="0">
                <a:solidFill>
                  <a:srgbClr val="C8891A"/>
                </a:solidFill>
                <a:latin typeface="Meiryo" pitchFamily="34" charset="0"/>
                <a:ea typeface="Meiryo" pitchFamily="34" charset="-122"/>
                <a:cs typeface="Meiryo" pitchFamily="34" charset="-120"/>
              </a:rPr>
              <a:t>jp. inference profile</a:t>
            </a:r>
            <a:endParaRPr lang="en-US" sz="1000" dirty="0"/>
          </a:p>
        </p:txBody>
      </p:sp>
      <p:sp>
        <p:nvSpPr>
          <p:cNvPr id="33" name="Text 31"/>
          <p:cNvSpPr txBox="1"/>
          <p:nvPr/>
        </p:nvSpPr>
        <p:spPr>
          <a:xfrm>
            <a:off x="9390888" y="2176272"/>
            <a:ext cx="2020824" cy="640080"/>
          </a:xfrm>
          <a:prstGeom prst="rect">
            <a:avLst/>
          </a:prstGeom>
          <a:noFill/>
          <a:ln/>
        </p:spPr>
        <p:txBody>
          <a:bodyPr wrap="square" lIns="0" tIns="0" rIns="0" bIns="0" rtlCol="0" anchor="ctr"/>
          <a:lstStyle/>
          <a:p>
            <a:pPr indent="0" marL="0">
              <a:lnSpc>
                <a:spcPct val="112000"/>
              </a:lnSpc>
              <a:buNone/>
            </a:pPr>
            <a:r>
              <a:rPr lang="en-US" sz="850" dirty="0">
                <a:solidFill>
                  <a:srgbClr val="D7E3DC"/>
                </a:solidFill>
                <a:latin typeface="Meiryo" pitchFamily="34" charset="0"/>
                <a:ea typeface="Meiryo" pitchFamily="34" charset="-122"/>
                <a:cs typeface="Meiryo" pitchFamily="34" charset="-120"/>
              </a:rPr>
              <a:t>東京 ⇄ 大阪 のみで推論。AWS 網内・暗号化</a:t>
            </a:r>
            <a:endParaRPr lang="en-US" sz="850" dirty="0"/>
          </a:p>
        </p:txBody>
      </p:sp>
      <p:sp>
        <p:nvSpPr>
          <p:cNvPr id="34" name="Shape 32"/>
          <p:cNvSpPr/>
          <p:nvPr/>
        </p:nvSpPr>
        <p:spPr>
          <a:xfrm>
            <a:off x="9281160" y="2971800"/>
            <a:ext cx="2240280" cy="1024128"/>
          </a:xfrm>
          <a:prstGeom prst="roundRect">
            <a:avLst>
              <a:gd name="adj" fmla="val 5357"/>
            </a:avLst>
          </a:prstGeom>
          <a:solidFill>
            <a:srgbClr val="2A4D3E"/>
          </a:solidFill>
          <a:ln w="12700">
            <a:solidFill>
              <a:srgbClr val="2A4D3E"/>
            </a:solidFill>
            <a:prstDash val="solid"/>
          </a:ln>
        </p:spPr>
      </p:sp>
      <p:sp>
        <p:nvSpPr>
          <p:cNvPr id="35" name="Text 33"/>
          <p:cNvSpPr txBox="1"/>
          <p:nvPr/>
        </p:nvSpPr>
        <p:spPr>
          <a:xfrm>
            <a:off x="9390888" y="3035808"/>
            <a:ext cx="2020824" cy="274320"/>
          </a:xfrm>
          <a:prstGeom prst="rect">
            <a:avLst/>
          </a:prstGeom>
          <a:noFill/>
          <a:ln/>
        </p:spPr>
        <p:txBody>
          <a:bodyPr wrap="square" lIns="0" tIns="0" rIns="0" bIns="0" rtlCol="0" anchor="ctr"/>
          <a:lstStyle/>
          <a:p>
            <a:pPr indent="0" marL="0">
              <a:buNone/>
            </a:pPr>
            <a:r>
              <a:rPr lang="en-US" sz="1000" b="1" dirty="0">
                <a:solidFill>
                  <a:srgbClr val="C8891A"/>
                </a:solidFill>
                <a:latin typeface="Meiryo" pitchFamily="34" charset="0"/>
                <a:ea typeface="Meiryo" pitchFamily="34" charset="-122"/>
                <a:cs typeface="Meiryo" pitchFamily="34" charset="-120"/>
              </a:rPr>
              <a:t>Model Deployment Account</a:t>
            </a:r>
            <a:endParaRPr lang="en-US" sz="1000" dirty="0"/>
          </a:p>
        </p:txBody>
      </p:sp>
      <p:sp>
        <p:nvSpPr>
          <p:cNvPr id="36" name="Text 34"/>
          <p:cNvSpPr txBox="1"/>
          <p:nvPr/>
        </p:nvSpPr>
        <p:spPr>
          <a:xfrm>
            <a:off x="9390888" y="3319272"/>
            <a:ext cx="2020824" cy="640080"/>
          </a:xfrm>
          <a:prstGeom prst="rect">
            <a:avLst/>
          </a:prstGeom>
          <a:noFill/>
          <a:ln/>
        </p:spPr>
        <p:txBody>
          <a:bodyPr wrap="square" lIns="0" tIns="0" rIns="0" bIns="0" rtlCol="0" anchor="ctr"/>
          <a:lstStyle/>
          <a:p>
            <a:pPr indent="0" marL="0">
              <a:lnSpc>
                <a:spcPct val="112000"/>
              </a:lnSpc>
              <a:buNone/>
            </a:pPr>
            <a:r>
              <a:rPr lang="en-US" sz="850" dirty="0">
                <a:solidFill>
                  <a:srgbClr val="D7E3DC"/>
                </a:solidFill>
                <a:latin typeface="Meiryo" pitchFamily="34" charset="0"/>
                <a:ea typeface="Meiryo" pitchFamily="34" charset="-122"/>
                <a:cs typeface="Meiryo" pitchFamily="34" charset="-120"/>
              </a:rPr>
              <a:t>リージョン×提供者ごとに AWS が運用。Anthropic はアクセス不可</a:t>
            </a:r>
            <a:endParaRPr lang="en-US" sz="850" dirty="0"/>
          </a:p>
        </p:txBody>
      </p:sp>
      <p:sp>
        <p:nvSpPr>
          <p:cNvPr id="37" name="Shape 35"/>
          <p:cNvSpPr/>
          <p:nvPr/>
        </p:nvSpPr>
        <p:spPr>
          <a:xfrm>
            <a:off x="9281160" y="4114800"/>
            <a:ext cx="2240280" cy="1024128"/>
          </a:xfrm>
          <a:prstGeom prst="roundRect">
            <a:avLst>
              <a:gd name="adj" fmla="val 5357"/>
            </a:avLst>
          </a:prstGeom>
          <a:solidFill>
            <a:srgbClr val="2A4D3E"/>
          </a:solidFill>
          <a:ln w="12700">
            <a:solidFill>
              <a:srgbClr val="2A4D3E"/>
            </a:solidFill>
            <a:prstDash val="solid"/>
          </a:ln>
        </p:spPr>
      </p:sp>
      <p:sp>
        <p:nvSpPr>
          <p:cNvPr id="38" name="Text 36"/>
          <p:cNvSpPr txBox="1"/>
          <p:nvPr/>
        </p:nvSpPr>
        <p:spPr>
          <a:xfrm>
            <a:off x="9390888" y="4178808"/>
            <a:ext cx="2020824" cy="274320"/>
          </a:xfrm>
          <a:prstGeom prst="rect">
            <a:avLst/>
          </a:prstGeom>
          <a:noFill/>
          <a:ln/>
        </p:spPr>
        <p:txBody>
          <a:bodyPr wrap="square" lIns="0" tIns="0" rIns="0" bIns="0" rtlCol="0" anchor="ctr"/>
          <a:lstStyle/>
          <a:p>
            <a:pPr indent="0" marL="0">
              <a:buNone/>
            </a:pPr>
            <a:r>
              <a:rPr lang="en-US" sz="1000" b="1" dirty="0">
                <a:solidFill>
                  <a:srgbClr val="C8891A"/>
                </a:solidFill>
                <a:latin typeface="Meiryo" pitchFamily="34" charset="0"/>
                <a:ea typeface="Meiryo" pitchFamily="34" charset="-122"/>
                <a:cs typeface="Meiryo" pitchFamily="34" charset="-120"/>
              </a:rPr>
              <a:t>Zero data retention</a:t>
            </a:r>
            <a:endParaRPr lang="en-US" sz="1000" dirty="0"/>
          </a:p>
        </p:txBody>
      </p:sp>
      <p:sp>
        <p:nvSpPr>
          <p:cNvPr id="39" name="Text 37"/>
          <p:cNvSpPr txBox="1"/>
          <p:nvPr/>
        </p:nvSpPr>
        <p:spPr>
          <a:xfrm>
            <a:off x="9390888" y="4462272"/>
            <a:ext cx="2020824" cy="640080"/>
          </a:xfrm>
          <a:prstGeom prst="rect">
            <a:avLst/>
          </a:prstGeom>
          <a:noFill/>
          <a:ln/>
        </p:spPr>
        <p:txBody>
          <a:bodyPr wrap="square" lIns="0" tIns="0" rIns="0" bIns="0" rtlCol="0" anchor="ctr"/>
          <a:lstStyle/>
          <a:p>
            <a:pPr indent="0" marL="0">
              <a:lnSpc>
                <a:spcPct val="112000"/>
              </a:lnSpc>
              <a:buNone/>
            </a:pPr>
            <a:r>
              <a:rPr lang="en-US" sz="850" dirty="0">
                <a:solidFill>
                  <a:srgbClr val="D7E3DC"/>
                </a:solidFill>
                <a:latin typeface="Meiryo" pitchFamily="34" charset="0"/>
                <a:ea typeface="Meiryo" pitchFamily="34" charset="-122"/>
                <a:cs typeface="Meiryo" pitchFamily="34" charset="-120"/>
              </a:rPr>
              <a:t>入出力を保存しない・学習しない・提供者に渡さない（既定）</a:t>
            </a:r>
            <a:endParaRPr lang="en-US" sz="850" dirty="0"/>
          </a:p>
        </p:txBody>
      </p:sp>
      <p:sp>
        <p:nvSpPr>
          <p:cNvPr id="40" name="Shape 38"/>
          <p:cNvSpPr/>
          <p:nvPr/>
        </p:nvSpPr>
        <p:spPr>
          <a:xfrm>
            <a:off x="3337560" y="3246120"/>
            <a:ext cx="365760" cy="0"/>
          </a:xfrm>
          <a:prstGeom prst="line">
            <a:avLst/>
          </a:prstGeom>
          <a:noFill/>
          <a:ln w="25400">
            <a:solidFill>
              <a:srgbClr val="2E5A48"/>
            </a:solidFill>
            <a:prstDash val="solid"/>
            <a:tailEnd type="triangle"/>
          </a:ln>
        </p:spPr>
      </p:sp>
      <p:sp>
        <p:nvSpPr>
          <p:cNvPr id="41" name="Text 39"/>
          <p:cNvSpPr txBox="1"/>
          <p:nvPr/>
        </p:nvSpPr>
        <p:spPr>
          <a:xfrm>
            <a:off x="3355848" y="2852928"/>
            <a:ext cx="329184" cy="347472"/>
          </a:xfrm>
          <a:prstGeom prst="rect">
            <a:avLst/>
          </a:prstGeom>
          <a:noFill/>
          <a:ln/>
        </p:spPr>
        <p:txBody>
          <a:bodyPr wrap="square" lIns="0" tIns="0" rIns="0" bIns="0" rtlCol="0" anchor="ctr"/>
          <a:lstStyle/>
          <a:p>
            <a:pPr algn="ctr" indent="0" marL="0">
              <a:buNone/>
            </a:pPr>
            <a:r>
              <a:rPr lang="en-US" sz="700" dirty="0">
                <a:solidFill>
                  <a:srgbClr val="2E5A48"/>
                </a:solidFill>
                <a:latin typeface="Meiryo" pitchFamily="34" charset="0"/>
                <a:ea typeface="Meiryo" pitchFamily="34" charset="-122"/>
                <a:cs typeface="Meiryo" pitchFamily="34" charset="-120"/>
              </a:rPr>
              <a:t>DX /</a:t>
            </a:r>
            <a:endParaRPr lang="en-US" sz="700" dirty="0"/>
          </a:p>
          <a:p>
            <a:pPr algn="ctr" indent="0" marL="0">
              <a:buNone/>
            </a:pPr>
            <a:r>
              <a:rPr lang="en-US" sz="700" dirty="0">
                <a:solidFill>
                  <a:srgbClr val="2E5A48"/>
                </a:solidFill>
                <a:latin typeface="Meiryo" pitchFamily="34" charset="0"/>
                <a:ea typeface="Meiryo" pitchFamily="34" charset="-122"/>
                <a:cs typeface="Meiryo" pitchFamily="34" charset="-120"/>
              </a:rPr>
              <a:t>VPN</a:t>
            </a:r>
            <a:endParaRPr lang="en-US" sz="700" dirty="0"/>
          </a:p>
        </p:txBody>
      </p:sp>
      <p:sp>
        <p:nvSpPr>
          <p:cNvPr id="42" name="Shape 40"/>
          <p:cNvSpPr/>
          <p:nvPr/>
        </p:nvSpPr>
        <p:spPr>
          <a:xfrm>
            <a:off x="8778240" y="4389120"/>
            <a:ext cx="365760" cy="0"/>
          </a:xfrm>
          <a:prstGeom prst="line">
            <a:avLst/>
          </a:prstGeom>
          <a:noFill/>
          <a:ln w="25400">
            <a:solidFill>
              <a:srgbClr val="3B6E8F"/>
            </a:solidFill>
            <a:prstDash val="solid"/>
            <a:tailEnd type="triangle"/>
          </a:ln>
        </p:spPr>
      </p:sp>
      <p:sp>
        <p:nvSpPr>
          <p:cNvPr id="43" name="Text 41"/>
          <p:cNvSpPr txBox="1"/>
          <p:nvPr/>
        </p:nvSpPr>
        <p:spPr>
          <a:xfrm>
            <a:off x="8641080" y="4069080"/>
            <a:ext cx="640080" cy="256032"/>
          </a:xfrm>
          <a:prstGeom prst="rect">
            <a:avLst/>
          </a:prstGeom>
          <a:solidFill>
            <a:srgbClr val="FFFFFF"/>
          </a:solidFill>
          <a:ln/>
        </p:spPr>
        <p:txBody>
          <a:bodyPr wrap="square" lIns="0" tIns="0" rIns="0" bIns="0" rtlCol="0" anchor="ctr"/>
          <a:lstStyle/>
          <a:p>
            <a:pPr algn="ctr" indent="0" marL="0">
              <a:buNone/>
            </a:pPr>
            <a:r>
              <a:rPr lang="en-US" sz="750" dirty="0">
                <a:solidFill>
                  <a:srgbClr val="3B6E8F"/>
                </a:solidFill>
                <a:latin typeface="Meiryo" pitchFamily="34" charset="0"/>
                <a:ea typeface="Meiryo" pitchFamily="34" charset="-122"/>
                <a:cs typeface="Meiryo" pitchFamily="34" charset="-120"/>
              </a:rPr>
              <a:t>TLS 1.2+</a:t>
            </a:r>
            <a:endParaRPr lang="en-US" sz="750" dirty="0"/>
          </a:p>
        </p:txBody>
      </p:sp>
      <p:sp>
        <p:nvSpPr>
          <p:cNvPr id="44" name="Shape 42"/>
          <p:cNvSpPr/>
          <p:nvPr/>
        </p:nvSpPr>
        <p:spPr>
          <a:xfrm>
            <a:off x="548640" y="5532120"/>
            <a:ext cx="3611880" cy="822960"/>
          </a:xfrm>
          <a:prstGeom prst="roundRect">
            <a:avLst>
              <a:gd name="adj" fmla="val 8889"/>
            </a:avLst>
          </a:prstGeom>
          <a:solidFill>
            <a:srgbClr val="FBF1DF"/>
          </a:solidFill>
          <a:ln w="9525">
            <a:solidFill>
              <a:srgbClr val="FBF1DF"/>
            </a:solidFill>
            <a:prstDash val="solid"/>
          </a:ln>
        </p:spPr>
      </p:sp>
      <p:sp>
        <p:nvSpPr>
          <p:cNvPr id="45" name="Text 43"/>
          <p:cNvSpPr txBox="1"/>
          <p:nvPr/>
        </p:nvSpPr>
        <p:spPr>
          <a:xfrm>
            <a:off x="65836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IAM / SCP による強制</a:t>
            </a:r>
            <a:endParaRPr lang="en-US" sz="950" dirty="0"/>
          </a:p>
        </p:txBody>
      </p:sp>
      <p:sp>
        <p:nvSpPr>
          <p:cNvPr id="46" name="Text 44"/>
          <p:cNvSpPr txBox="1"/>
          <p:nvPr/>
        </p:nvSpPr>
        <p:spPr>
          <a:xfrm>
            <a:off x="658368" y="5797296"/>
            <a:ext cx="3383280" cy="530352"/>
          </a:xfrm>
          <a:prstGeom prst="rect">
            <a:avLst/>
          </a:prstGeom>
          <a:noFill/>
          <a:ln/>
        </p:spPr>
        <p:txBody>
          <a:bodyPr wrap="square" lIns="0" tIns="0" rIns="0" bIns="0" rtlCol="0" anchor="ctr"/>
          <a:lstStyle/>
          <a:p>
            <a:pPr indent="0" marL="0">
              <a:lnSpc>
                <a:spcPct val="110000"/>
              </a:lnSpc>
              <a:buNone/>
            </a:pPr>
            <a:r>
              <a:rPr lang="en-US" sz="800" dirty="0">
                <a:solidFill>
                  <a:srgbClr val="1F2A25"/>
                </a:solidFill>
                <a:latin typeface="Meiryo" pitchFamily="34" charset="0"/>
                <a:ea typeface="Meiryo" pitchFamily="34" charset="-122"/>
                <a:cs typeface="Meiryo" pitchFamily="34" charset="-120"/>
              </a:rPr>
              <a:t>bedrock:InferenceProfileArn を jp.* に限定、DataRetentionMode=none を強制、aws:SourceVpce で経路を固定</a:t>
            </a:r>
            <a:endParaRPr lang="en-US" sz="800" dirty="0"/>
          </a:p>
        </p:txBody>
      </p:sp>
      <p:sp>
        <p:nvSpPr>
          <p:cNvPr id="47" name="Shape 45"/>
          <p:cNvSpPr/>
          <p:nvPr/>
        </p:nvSpPr>
        <p:spPr>
          <a:xfrm>
            <a:off x="4297680" y="5532120"/>
            <a:ext cx="3611880" cy="822960"/>
          </a:xfrm>
          <a:prstGeom prst="roundRect">
            <a:avLst>
              <a:gd name="adj" fmla="val 8889"/>
            </a:avLst>
          </a:prstGeom>
          <a:solidFill>
            <a:srgbClr val="FBF1DF"/>
          </a:solidFill>
          <a:ln w="9525">
            <a:solidFill>
              <a:srgbClr val="FBF1DF"/>
            </a:solidFill>
            <a:prstDash val="solid"/>
          </a:ln>
        </p:spPr>
      </p:sp>
      <p:sp>
        <p:nvSpPr>
          <p:cNvPr id="48" name="Text 46"/>
          <p:cNvSpPr txBox="1"/>
          <p:nvPr/>
        </p:nvSpPr>
        <p:spPr>
          <a:xfrm>
            <a:off x="440740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鍵とログ</a:t>
            </a:r>
            <a:endParaRPr lang="en-US" sz="950" dirty="0"/>
          </a:p>
        </p:txBody>
      </p:sp>
      <p:sp>
        <p:nvSpPr>
          <p:cNvPr id="49" name="Text 47"/>
          <p:cNvSpPr txBox="1"/>
          <p:nvPr/>
        </p:nvSpPr>
        <p:spPr>
          <a:xfrm>
            <a:off x="4407408" y="5797296"/>
            <a:ext cx="3383280" cy="530352"/>
          </a:xfrm>
          <a:prstGeom prst="rect">
            <a:avLst/>
          </a:prstGeom>
          <a:noFill/>
          <a:ln/>
        </p:spPr>
        <p:txBody>
          <a:bodyPr wrap="square" lIns="0" tIns="0" rIns="0" bIns="0" rtlCol="0" anchor="ctr"/>
          <a:lstStyle/>
          <a:p>
            <a:pPr indent="0" marL="0">
              <a:lnSpc>
                <a:spcPct val="110000"/>
              </a:lnSpc>
              <a:buNone/>
            </a:pPr>
            <a:r>
              <a:rPr lang="en-US" sz="800" dirty="0">
                <a:solidFill>
                  <a:srgbClr val="1F2A25"/>
                </a:solidFill>
                <a:latin typeface="Meiryo" pitchFamily="34" charset="0"/>
                <a:ea typeface="Meiryo" pitchFamily="34" charset="-122"/>
                <a:cs typeface="Meiryo" pitchFamily="34" charset="-120"/>
              </a:rPr>
              <a:t>KMS CMK（KB・ログ・Guardrail）。CloudTrail（inferenceRegion 記録）＋ Model invocation logging → SIEM</a:t>
            </a:r>
            <a:endParaRPr lang="en-US" sz="800" dirty="0"/>
          </a:p>
        </p:txBody>
      </p:sp>
      <p:sp>
        <p:nvSpPr>
          <p:cNvPr id="50" name="Shape 48"/>
          <p:cNvSpPr/>
          <p:nvPr/>
        </p:nvSpPr>
        <p:spPr>
          <a:xfrm>
            <a:off x="8046720" y="5532120"/>
            <a:ext cx="3611880" cy="822960"/>
          </a:xfrm>
          <a:prstGeom prst="roundRect">
            <a:avLst>
              <a:gd name="adj" fmla="val 8889"/>
            </a:avLst>
          </a:prstGeom>
          <a:solidFill>
            <a:srgbClr val="FBF1DF"/>
          </a:solidFill>
          <a:ln w="9525">
            <a:solidFill>
              <a:srgbClr val="FBF1DF"/>
            </a:solidFill>
            <a:prstDash val="solid"/>
          </a:ln>
        </p:spPr>
      </p:sp>
      <p:sp>
        <p:nvSpPr>
          <p:cNvPr id="51" name="Text 49"/>
          <p:cNvSpPr txBox="1"/>
          <p:nvPr/>
        </p:nvSpPr>
        <p:spPr>
          <a:xfrm>
            <a:off x="815644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組織統制</a:t>
            </a:r>
            <a:endParaRPr lang="en-US" sz="950" dirty="0"/>
          </a:p>
        </p:txBody>
      </p:sp>
      <p:sp>
        <p:nvSpPr>
          <p:cNvPr id="52" name="Text 50"/>
          <p:cNvSpPr txBox="1"/>
          <p:nvPr/>
        </p:nvSpPr>
        <p:spPr>
          <a:xfrm>
            <a:off x="8156448" y="5797296"/>
            <a:ext cx="3383280" cy="530352"/>
          </a:xfrm>
          <a:prstGeom prst="rect">
            <a:avLst/>
          </a:prstGeom>
          <a:noFill/>
          <a:ln/>
        </p:spPr>
        <p:txBody>
          <a:bodyPr wrap="square" lIns="0" tIns="0" rIns="0" bIns="0" rtlCol="0" anchor="ctr"/>
          <a:lstStyle/>
          <a:p>
            <a:pPr indent="0" marL="0">
              <a:lnSpc>
                <a:spcPct val="110000"/>
              </a:lnSpc>
              <a:buNone/>
            </a:pPr>
            <a:r>
              <a:rPr lang="en-US" sz="800" dirty="0">
                <a:solidFill>
                  <a:srgbClr val="1F2A25"/>
                </a:solidFill>
                <a:latin typeface="Meiryo" pitchFamily="34" charset="0"/>
                <a:ea typeface="Meiryo" pitchFamily="34" charset="-122"/>
                <a:cs typeface="Meiryo" pitchFamily="34" charset="-120"/>
              </a:rPr>
              <a:t>利用申請・分類承認、委託先管理台帳への登録、SOC/ISO/ISMAP 証跡の定期入手</a:t>
            </a:r>
            <a:endParaRPr lang="en-US" sz="800" dirty="0"/>
          </a:p>
        </p:txBody>
      </p:sp>
      <p:sp>
        <p:nvSpPr>
          <p:cNvPr id="53" name="Text 5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54" name="Text 5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A の 8 要件充足状況</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第 1 部で定義した要件に、Bedrock（東京 ＋ jp. profile）を当てた結果。強度 L1〜L5 は p.9 の階梯。要件別の詳細は付録 p.40〜47</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371600"/>
                <a:gridCol w="3931920"/>
                <a:gridCol w="4690872"/>
                <a:gridCol w="1097280"/>
              </a:tblGrid>
              <a:tr h="292608">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要件</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担保されていること</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破れる条件・残る課題</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到達強度</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① データの所在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jp. inference profile で東京 ⇄ 大阪に限定。abuse detection で保持される場合も保存先は日本国内 2 リージョン。CloudTrail の inferenceRegion で処理先を事後確認できる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global プロファイルでは aws:RequestedRegion が文字列 “unspecified” になり、素朴なリージョン制限 SCP をすり抜ける。jp. 非対応モデル（Sonnet 5／Opus 5）は国外処理。Guardrails Standard tier も cross-region 必須</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② 保持</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AWS 公式：“by default, Amazon Bedrock does not store model inputs or outputs”。SCP で DataRetentionMode を none に強制できる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Claude Fable 5 は最大 30 日保持と提供者への共有 opt-in が必須。invocation logging を有効化すると入出力の全文が自社側に残る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③ 学習利用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AWS・Anthropic の双方が明文で不使用を表明。“inputs and model outputs are not shared with any model providers”</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検証手段がない点は 3 パターン共通。abuse detection ページの opt-in 記述と FAQ の整合は AWS に書面確認が必要</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④ 第三者アクセス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ZOA を明文化。Mantle は Nitro 上で「AWS operator がサインインする仕組みがない」。Model Deployment Account で提供者は非アクセス。Nitro には第三者評価がある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Bedrock／Mantle 固有の第三者評価は未確認。Fable 5 の opt-in 時は人的レビューが発生。法的強制による開示。当行側の権限設計の穴は ZOA では防げない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L1</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⑤ ネットワーク経路</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PrivateLink ＋ Direct Connect、IGW なし。aws:SourceVpce を Deny 条件に使うと社外からの直接呼出しを落とせる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Guardrail や logging の有効性を検査する AWS Config managed rule がなく、drift 検知は自作。RAG の権限過多、agent 経由の外部送信、ログ用 S3 の設定ミス</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⑥ 鍵・ログの主権</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KMS CMK。CloudTrail は呼び出しを既定で記録。model invocation logging で入出力の全文を S3／CloudWatch に保存できる（本番運用を想定した公式機能）</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logging は既定オフ。有効化するとログ自体が最も濃い機密の集積になる。CMK は保存データが対象で推論中は対象外。CloudTrail に本文は入らない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⑦ 委託先管理</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SOC 1/2/3、ISO 27001／27017／27018、ISMAP。AWS が FISC 対応リファレンス（第 13 版対応）と金融リファレンスアーキテクチャを公開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オンサイト監査権はない。日本向けの金融規制アドレンダム相当は確認できず。Anthropic は sub-processor ではなく Third-Party Content の販売者で、契約と責任追及が二層になる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L3〜L4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⑧ 可用性・継続性</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SLA 99.9%（月次・リージョン単位）。Reserved tier は 99.5% を target（Sonnet 4.5／Haiku 4.5／Sonnet 4.6／Opus 4.5 が対象）</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Error の定義は 500 のみで、実運用で起きる 429／503 は SLA 対象外。jp. profile は DR ではない（AWS 明言）。KB はリージョン間複製不可。Legacy 期は値上げの前例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A の設計上の落とし穴：公式仕様から確認できた 5 点</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「Bedrock なら安全」と一括りにすると崩れる箇所。設計・稟議の前提に織り込む</a:t>
            </a:r>
            <a:endParaRPr lang="en-US" sz="1200" dirty="0"/>
          </a:p>
        </p:txBody>
      </p:sp>
      <p:sp>
        <p:nvSpPr>
          <p:cNvPr id="4" name="Shape 2"/>
          <p:cNvSpPr/>
          <p:nvPr/>
        </p:nvSpPr>
        <p:spPr>
          <a:xfrm>
            <a:off x="548640" y="1371600"/>
            <a:ext cx="11064240" cy="877824"/>
          </a:xfrm>
          <a:prstGeom prst="roundRect">
            <a:avLst>
              <a:gd name="adj" fmla="val 8333"/>
            </a:avLst>
          </a:prstGeom>
          <a:solidFill>
            <a:srgbClr val="F9E7E2"/>
          </a:solidFill>
          <a:ln w="9525">
            <a:solidFill>
              <a:srgbClr val="F9E7E2"/>
            </a:solidFill>
            <a:prstDash val="solid"/>
          </a:ln>
        </p:spPr>
      </p:sp>
      <p:sp>
        <p:nvSpPr>
          <p:cNvPr id="5" name="Shape 3"/>
          <p:cNvSpPr/>
          <p:nvPr/>
        </p:nvSpPr>
        <p:spPr>
          <a:xfrm>
            <a:off x="713232" y="1618488"/>
            <a:ext cx="384048" cy="384048"/>
          </a:xfrm>
          <a:prstGeom prst="ellipse">
            <a:avLst/>
          </a:prstGeom>
          <a:solidFill>
            <a:srgbClr val="B5402A"/>
          </a:solidFill>
          <a:ln w="12700">
            <a:solidFill>
              <a:srgbClr val="B5402A"/>
            </a:solidFill>
            <a:prstDash val="solid"/>
          </a:ln>
        </p:spPr>
      </p:sp>
      <p:sp>
        <p:nvSpPr>
          <p:cNvPr id="6" name="Text 4"/>
          <p:cNvSpPr txBox="1"/>
          <p:nvPr/>
        </p:nvSpPr>
        <p:spPr>
          <a:xfrm>
            <a:off x="713232" y="1618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txBox="1"/>
          <p:nvPr/>
        </p:nvSpPr>
        <p:spPr>
          <a:xfrm>
            <a:off x="1280160" y="1444752"/>
            <a:ext cx="10149840" cy="274320"/>
          </a:xfrm>
          <a:prstGeom prst="rect">
            <a:avLst/>
          </a:prstGeom>
          <a:noFill/>
          <a:ln/>
        </p:spPr>
        <p:txBody>
          <a:bodyPr wrap="square" lIns="0" tIns="0" rIns="0" bIns="0" rtlCol="0" anchor="ctr"/>
          <a:lstStyle/>
          <a:p>
            <a:pPr indent="0" marL="0">
              <a:buNone/>
            </a:pPr>
            <a:r>
              <a:rPr lang="en-US" sz="1200" b="1" dirty="0">
                <a:solidFill>
                  <a:srgbClr val="B5402A"/>
                </a:solidFill>
                <a:latin typeface="Meiryo" pitchFamily="34" charset="0"/>
                <a:ea typeface="Meiryo" pitchFamily="34" charset="-122"/>
                <a:cs typeface="Meiryo" pitchFamily="34" charset="-120"/>
              </a:rPr>
              <a:t>Bedrock Guardrails の日本語対応は国外処理が前提</a:t>
            </a:r>
            <a:endParaRPr lang="en-US" sz="1200" dirty="0"/>
          </a:p>
        </p:txBody>
      </p:sp>
      <p:sp>
        <p:nvSpPr>
          <p:cNvPr id="8" name="Text 6"/>
          <p:cNvSpPr txBox="1"/>
          <p:nvPr/>
        </p:nvSpPr>
        <p:spPr>
          <a:xfrm>
            <a:off x="1280160" y="1719072"/>
            <a:ext cx="10149840" cy="512064"/>
          </a:xfrm>
          <a:prstGeom prst="rect">
            <a:avLst/>
          </a:prstGeom>
          <a:noFill/>
          <a:ln/>
        </p:spPr>
        <p:txBody>
          <a:bodyPr wrap="square" lIns="0" tIns="0" rIns="0" bIns="0" rtlCol="0" anchor="ctr"/>
          <a:lstStyle/>
          <a:p>
            <a:pPr indent="0" marL="0">
              <a:lnSpc>
                <a:spcPct val="115000"/>
              </a:lnSpc>
              <a:buNone/>
            </a:pPr>
            <a:r>
              <a:rPr lang="en-US" sz="950" dirty="0">
                <a:solidFill>
                  <a:srgbClr val="1F2A25"/>
                </a:solidFill>
                <a:latin typeface="Meiryo" pitchFamily="34" charset="0"/>
                <a:ea typeface="Meiryo" pitchFamily="34" charset="-122"/>
                <a:cs typeface="Meiryo" pitchFamily="34" charset="-120"/>
              </a:rPr>
              <a:t>日本語を扱える Standard tier は cross-region が必須で、東京からの宛先にムンバイ・ソウル・シンガポール・シドニーを含む（jp. 相当の guardrail profile は存在しない）。Classic tier は英・仏・西のみ。→ 国内完結を要件にするなら PII 検知・grounding 検証は自社実装（p.22 の自社ガードレール層）。</a:t>
            </a:r>
            <a:endParaRPr lang="en-US" sz="950" dirty="0"/>
          </a:p>
        </p:txBody>
      </p:sp>
      <p:sp>
        <p:nvSpPr>
          <p:cNvPr id="9" name="Shape 7"/>
          <p:cNvSpPr/>
          <p:nvPr/>
        </p:nvSpPr>
        <p:spPr>
          <a:xfrm>
            <a:off x="548640" y="2359152"/>
            <a:ext cx="11064240" cy="877824"/>
          </a:xfrm>
          <a:prstGeom prst="roundRect">
            <a:avLst>
              <a:gd name="adj" fmla="val 8333"/>
            </a:avLst>
          </a:prstGeom>
          <a:solidFill>
            <a:srgbClr val="F9E7E2"/>
          </a:solidFill>
          <a:ln w="9525">
            <a:solidFill>
              <a:srgbClr val="F9E7E2"/>
            </a:solidFill>
            <a:prstDash val="solid"/>
          </a:ln>
        </p:spPr>
      </p:sp>
      <p:sp>
        <p:nvSpPr>
          <p:cNvPr id="10" name="Shape 8"/>
          <p:cNvSpPr/>
          <p:nvPr/>
        </p:nvSpPr>
        <p:spPr>
          <a:xfrm>
            <a:off x="713232" y="2606040"/>
            <a:ext cx="384048" cy="384048"/>
          </a:xfrm>
          <a:prstGeom prst="ellipse">
            <a:avLst/>
          </a:prstGeom>
          <a:solidFill>
            <a:srgbClr val="B5402A"/>
          </a:solidFill>
          <a:ln w="12700">
            <a:solidFill>
              <a:srgbClr val="B5402A"/>
            </a:solidFill>
            <a:prstDash val="solid"/>
          </a:ln>
        </p:spPr>
      </p:sp>
      <p:sp>
        <p:nvSpPr>
          <p:cNvPr id="11" name="Text 9"/>
          <p:cNvSpPr txBox="1"/>
          <p:nvPr/>
        </p:nvSpPr>
        <p:spPr>
          <a:xfrm>
            <a:off x="713232" y="2606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txBox="1"/>
          <p:nvPr/>
        </p:nvSpPr>
        <p:spPr>
          <a:xfrm>
            <a:off x="1280160" y="2432304"/>
            <a:ext cx="10149840" cy="274320"/>
          </a:xfrm>
          <a:prstGeom prst="rect">
            <a:avLst/>
          </a:prstGeom>
          <a:noFill/>
          <a:ln/>
        </p:spPr>
        <p:txBody>
          <a:bodyPr wrap="square" lIns="0" tIns="0" rIns="0" bIns="0" rtlCol="0" anchor="ctr"/>
          <a:lstStyle/>
          <a:p>
            <a:pPr indent="0" marL="0">
              <a:buNone/>
            </a:pPr>
            <a:r>
              <a:rPr lang="en-US" sz="1200" b="1" dirty="0">
                <a:solidFill>
                  <a:srgbClr val="B5402A"/>
                </a:solidFill>
                <a:latin typeface="Meiryo" pitchFamily="34" charset="0"/>
                <a:ea typeface="Meiryo" pitchFamily="34" charset="-122"/>
                <a:cs typeface="Meiryo" pitchFamily="34" charset="-120"/>
              </a:rPr>
              <a:t>最新世代モデルは保持・共有条件が変わった</a:t>
            </a:r>
            <a:endParaRPr lang="en-US" sz="1200" dirty="0"/>
          </a:p>
        </p:txBody>
      </p:sp>
      <p:sp>
        <p:nvSpPr>
          <p:cNvPr id="13" name="Text 11"/>
          <p:cNvSpPr txBox="1"/>
          <p:nvPr/>
        </p:nvSpPr>
        <p:spPr>
          <a:xfrm>
            <a:off x="1280160" y="2706624"/>
            <a:ext cx="10149840" cy="512064"/>
          </a:xfrm>
          <a:prstGeom prst="rect">
            <a:avLst/>
          </a:prstGeom>
          <a:noFill/>
          <a:ln/>
        </p:spPr>
        <p:txBody>
          <a:bodyPr wrap="square" lIns="0" tIns="0" rIns="0" bIns="0" rtlCol="0" anchor="ctr"/>
          <a:lstStyle/>
          <a:p>
            <a:pPr indent="0" marL="0">
              <a:lnSpc>
                <a:spcPct val="115000"/>
              </a:lnSpc>
              <a:buNone/>
            </a:pPr>
            <a:r>
              <a:rPr lang="en-US" sz="950" dirty="0">
                <a:solidFill>
                  <a:srgbClr val="1F2A25"/>
                </a:solidFill>
                <a:latin typeface="Meiryo" pitchFamily="34" charset="0"/>
                <a:ea typeface="Meiryo" pitchFamily="34" charset="-122"/>
                <a:cs typeface="Meiryo" pitchFamily="34" charset="-120"/>
              </a:rPr>
              <a:t>Fable 5 / Mythos 5 は 30 日保持＋Anthropic 共有が必須。Fable 5 以前の Claude に変更はないが、今後のモデルで同条件が広がる可能性はある。→ DataRetentionMode=none の SCP 強制と、モデル追加時の再審査を手順化。</a:t>
            </a:r>
            <a:endParaRPr lang="en-US" sz="950" dirty="0"/>
          </a:p>
        </p:txBody>
      </p:sp>
      <p:sp>
        <p:nvSpPr>
          <p:cNvPr id="14" name="Shape 12"/>
          <p:cNvSpPr/>
          <p:nvPr/>
        </p:nvSpPr>
        <p:spPr>
          <a:xfrm>
            <a:off x="548640" y="3346704"/>
            <a:ext cx="11064240" cy="877824"/>
          </a:xfrm>
          <a:prstGeom prst="roundRect">
            <a:avLst>
              <a:gd name="adj" fmla="val 8333"/>
            </a:avLst>
          </a:prstGeom>
          <a:solidFill>
            <a:srgbClr val="FBF1DF"/>
          </a:solidFill>
          <a:ln w="9525">
            <a:solidFill>
              <a:srgbClr val="FBF1DF"/>
            </a:solidFill>
            <a:prstDash val="solid"/>
          </a:ln>
        </p:spPr>
      </p:sp>
      <p:sp>
        <p:nvSpPr>
          <p:cNvPr id="15" name="Shape 13"/>
          <p:cNvSpPr/>
          <p:nvPr/>
        </p:nvSpPr>
        <p:spPr>
          <a:xfrm>
            <a:off x="713232" y="3593592"/>
            <a:ext cx="384048" cy="384048"/>
          </a:xfrm>
          <a:prstGeom prst="ellipse">
            <a:avLst/>
          </a:prstGeom>
          <a:solidFill>
            <a:srgbClr val="C8891A"/>
          </a:solidFill>
          <a:ln w="12700">
            <a:solidFill>
              <a:srgbClr val="C8891A"/>
            </a:solidFill>
            <a:prstDash val="solid"/>
          </a:ln>
        </p:spPr>
      </p:sp>
      <p:sp>
        <p:nvSpPr>
          <p:cNvPr id="16" name="Text 14"/>
          <p:cNvSpPr txBox="1"/>
          <p:nvPr/>
        </p:nvSpPr>
        <p:spPr>
          <a:xfrm>
            <a:off x="713232"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7" name="Text 15"/>
          <p:cNvSpPr txBox="1"/>
          <p:nvPr/>
        </p:nvSpPr>
        <p:spPr>
          <a:xfrm>
            <a:off x="1280160" y="3419856"/>
            <a:ext cx="10149840" cy="274320"/>
          </a:xfrm>
          <a:prstGeom prst="rect">
            <a:avLst/>
          </a:prstGeom>
          <a:noFill/>
          <a:ln/>
        </p:spPr>
        <p:txBody>
          <a:bodyPr wrap="square" lIns="0" tIns="0" rIns="0" bIns="0" rtlCol="0" anchor="ctr"/>
          <a:lstStyle/>
          <a:p>
            <a:pPr indent="0" marL="0">
              <a:buNone/>
            </a:pPr>
            <a:r>
              <a:rPr lang="en-US" sz="1200" b="1" dirty="0">
                <a:solidFill>
                  <a:srgbClr val="8F5F0E"/>
                </a:solidFill>
                <a:latin typeface="Meiryo" pitchFamily="34" charset="0"/>
                <a:ea typeface="Meiryo" pitchFamily="34" charset="-122"/>
                <a:cs typeface="Meiryo" pitchFamily="34" charset="-120"/>
              </a:rPr>
              <a:t>専有インスタンスも TEE もない</a:t>
            </a:r>
            <a:endParaRPr lang="en-US" sz="1200" dirty="0"/>
          </a:p>
        </p:txBody>
      </p:sp>
      <p:sp>
        <p:nvSpPr>
          <p:cNvPr id="18" name="Text 16"/>
          <p:cNvSpPr txBox="1"/>
          <p:nvPr/>
        </p:nvSpPr>
        <p:spPr>
          <a:xfrm>
            <a:off x="1280160" y="3694176"/>
            <a:ext cx="10149840" cy="512064"/>
          </a:xfrm>
          <a:prstGeom prst="rect">
            <a:avLst/>
          </a:prstGeom>
          <a:noFill/>
          <a:ln/>
        </p:spPr>
        <p:txBody>
          <a:bodyPr wrap="square" lIns="0" tIns="0" rIns="0" bIns="0" rtlCol="0" anchor="ctr"/>
          <a:lstStyle/>
          <a:p>
            <a:pPr indent="0" marL="0">
              <a:lnSpc>
                <a:spcPct val="115000"/>
              </a:lnSpc>
              <a:buNone/>
            </a:pPr>
            <a:r>
              <a:rPr lang="en-US" sz="950" dirty="0">
                <a:solidFill>
                  <a:srgbClr val="1F2A25"/>
                </a:solidFill>
                <a:latin typeface="Meiryo" pitchFamily="34" charset="0"/>
                <a:ea typeface="Meiryo" pitchFamily="34" charset="-122"/>
                <a:cs typeface="Meiryo" pitchFamily="34" charset="-120"/>
              </a:rPr>
              <a:t>Bedrock にシングルテナント配備・confidential GPU の提供はなく、Nitro Enclaves は GPU 非対応。→ 「専有」を要件に掲げると選択肢 A（open-weight 自社構築）しか残らない。要件は「非保存・非アクセス」で定義する。</a:t>
            </a:r>
            <a:endParaRPr lang="en-US" sz="950" dirty="0"/>
          </a:p>
        </p:txBody>
      </p:sp>
      <p:sp>
        <p:nvSpPr>
          <p:cNvPr id="19" name="Shape 17"/>
          <p:cNvSpPr/>
          <p:nvPr/>
        </p:nvSpPr>
        <p:spPr>
          <a:xfrm>
            <a:off x="548640" y="4334256"/>
            <a:ext cx="11064240" cy="877824"/>
          </a:xfrm>
          <a:prstGeom prst="roundRect">
            <a:avLst>
              <a:gd name="adj" fmla="val 8333"/>
            </a:avLst>
          </a:prstGeom>
          <a:solidFill>
            <a:srgbClr val="FBF1DF"/>
          </a:solidFill>
          <a:ln w="9525">
            <a:solidFill>
              <a:srgbClr val="FBF1DF"/>
            </a:solidFill>
            <a:prstDash val="solid"/>
          </a:ln>
        </p:spPr>
      </p:sp>
      <p:sp>
        <p:nvSpPr>
          <p:cNvPr id="20" name="Shape 18"/>
          <p:cNvSpPr/>
          <p:nvPr/>
        </p:nvSpPr>
        <p:spPr>
          <a:xfrm>
            <a:off x="713232" y="4581144"/>
            <a:ext cx="384048" cy="384048"/>
          </a:xfrm>
          <a:prstGeom prst="ellipse">
            <a:avLst/>
          </a:prstGeom>
          <a:solidFill>
            <a:srgbClr val="C8891A"/>
          </a:solidFill>
          <a:ln w="12700">
            <a:solidFill>
              <a:srgbClr val="C8891A"/>
            </a:solidFill>
            <a:prstDash val="solid"/>
          </a:ln>
        </p:spPr>
      </p:sp>
      <p:sp>
        <p:nvSpPr>
          <p:cNvPr id="21" name="Text 19"/>
          <p:cNvSpPr txBox="1"/>
          <p:nvPr/>
        </p:nvSpPr>
        <p:spPr>
          <a:xfrm>
            <a:off x="713232" y="4581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2" name="Text 20"/>
          <p:cNvSpPr txBox="1"/>
          <p:nvPr/>
        </p:nvSpPr>
        <p:spPr>
          <a:xfrm>
            <a:off x="1280160" y="4407408"/>
            <a:ext cx="10149840" cy="274320"/>
          </a:xfrm>
          <a:prstGeom prst="rect">
            <a:avLst/>
          </a:prstGeom>
          <a:noFill/>
          <a:ln/>
        </p:spPr>
        <p:txBody>
          <a:bodyPr wrap="square" lIns="0" tIns="0" rIns="0" bIns="0" rtlCol="0" anchor="ctr"/>
          <a:lstStyle/>
          <a:p>
            <a:pPr indent="0" marL="0">
              <a:buNone/>
            </a:pPr>
            <a:r>
              <a:rPr lang="en-US" sz="1200" b="1" dirty="0">
                <a:solidFill>
                  <a:srgbClr val="8F5F0E"/>
                </a:solidFill>
                <a:latin typeface="Meiryo" pitchFamily="34" charset="0"/>
                <a:ea typeface="Meiryo" pitchFamily="34" charset="-122"/>
                <a:cs typeface="Meiryo" pitchFamily="34" charset="-120"/>
              </a:rPr>
              <a:t>PII フィルタに日本固有 ID の定義がない</a:t>
            </a:r>
            <a:endParaRPr lang="en-US" sz="1200" dirty="0"/>
          </a:p>
        </p:txBody>
      </p:sp>
      <p:sp>
        <p:nvSpPr>
          <p:cNvPr id="23" name="Text 21"/>
          <p:cNvSpPr txBox="1"/>
          <p:nvPr/>
        </p:nvSpPr>
        <p:spPr>
          <a:xfrm>
            <a:off x="1280160" y="4681728"/>
            <a:ext cx="10149840" cy="512064"/>
          </a:xfrm>
          <a:prstGeom prst="rect">
            <a:avLst/>
          </a:prstGeom>
          <a:noFill/>
          <a:ln/>
        </p:spPr>
        <p:txBody>
          <a:bodyPr wrap="square" lIns="0" tIns="0" rIns="0" bIns="0" rtlCol="0" anchor="ctr"/>
          <a:lstStyle/>
          <a:p>
            <a:pPr indent="0" marL="0">
              <a:lnSpc>
                <a:spcPct val="115000"/>
              </a:lnSpc>
              <a:buNone/>
            </a:pPr>
            <a:r>
              <a:rPr lang="en-US" sz="950" dirty="0">
                <a:solidFill>
                  <a:srgbClr val="1F2A25"/>
                </a:solidFill>
                <a:latin typeface="Meiryo" pitchFamily="34" charset="0"/>
                <a:ea typeface="Meiryo" pitchFamily="34" charset="-122"/>
                <a:cs typeface="Meiryo" pitchFamily="34" charset="-120"/>
              </a:rPr>
              <a:t>組込み PII エンティティは米英加中心。マイナンバー・口座番号等は正規表現の自前定義が必要。</a:t>
            </a:r>
            <a:endParaRPr lang="en-US" sz="950" dirty="0"/>
          </a:p>
        </p:txBody>
      </p:sp>
      <p:sp>
        <p:nvSpPr>
          <p:cNvPr id="24" name="Shape 22"/>
          <p:cNvSpPr/>
          <p:nvPr/>
        </p:nvSpPr>
        <p:spPr>
          <a:xfrm>
            <a:off x="548640" y="5321808"/>
            <a:ext cx="11064240" cy="877824"/>
          </a:xfrm>
          <a:prstGeom prst="roundRect">
            <a:avLst>
              <a:gd name="adj" fmla="val 8333"/>
            </a:avLst>
          </a:prstGeom>
          <a:solidFill>
            <a:srgbClr val="FBF1DF"/>
          </a:solidFill>
          <a:ln w="9525">
            <a:solidFill>
              <a:srgbClr val="FBF1DF"/>
            </a:solidFill>
            <a:prstDash val="solid"/>
          </a:ln>
        </p:spPr>
      </p:sp>
      <p:sp>
        <p:nvSpPr>
          <p:cNvPr id="25" name="Shape 23"/>
          <p:cNvSpPr/>
          <p:nvPr/>
        </p:nvSpPr>
        <p:spPr>
          <a:xfrm>
            <a:off x="713232" y="5568696"/>
            <a:ext cx="384048" cy="384048"/>
          </a:xfrm>
          <a:prstGeom prst="ellipse">
            <a:avLst/>
          </a:prstGeom>
          <a:solidFill>
            <a:srgbClr val="C8891A"/>
          </a:solidFill>
          <a:ln w="12700">
            <a:solidFill>
              <a:srgbClr val="C8891A"/>
            </a:solidFill>
            <a:prstDash val="solid"/>
          </a:ln>
        </p:spPr>
      </p:sp>
      <p:sp>
        <p:nvSpPr>
          <p:cNvPr id="26" name="Text 24"/>
          <p:cNvSpPr txBox="1"/>
          <p:nvPr/>
        </p:nvSpPr>
        <p:spPr>
          <a:xfrm>
            <a:off x="713232" y="5568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27" name="Text 25"/>
          <p:cNvSpPr txBox="1"/>
          <p:nvPr/>
        </p:nvSpPr>
        <p:spPr>
          <a:xfrm>
            <a:off x="1280160" y="5394960"/>
            <a:ext cx="10149840" cy="274320"/>
          </a:xfrm>
          <a:prstGeom prst="rect">
            <a:avLst/>
          </a:prstGeom>
          <a:noFill/>
          <a:ln/>
        </p:spPr>
        <p:txBody>
          <a:bodyPr wrap="square" lIns="0" tIns="0" rIns="0" bIns="0" rtlCol="0" anchor="ctr"/>
          <a:lstStyle/>
          <a:p>
            <a:pPr indent="0" marL="0">
              <a:buNone/>
            </a:pPr>
            <a:r>
              <a:rPr lang="en-US" sz="1200" b="1" dirty="0">
                <a:solidFill>
                  <a:srgbClr val="8F5F0E"/>
                </a:solidFill>
                <a:latin typeface="Meiryo" pitchFamily="34" charset="0"/>
                <a:ea typeface="Meiryo" pitchFamily="34" charset="-122"/>
                <a:cs typeface="Meiryo" pitchFamily="34" charset="-120"/>
              </a:rPr>
              <a:t>ログは自社が有効化しない限り残らない</a:t>
            </a:r>
            <a:endParaRPr lang="en-US" sz="1200" dirty="0"/>
          </a:p>
        </p:txBody>
      </p:sp>
      <p:sp>
        <p:nvSpPr>
          <p:cNvPr id="28" name="Text 26"/>
          <p:cNvSpPr txBox="1"/>
          <p:nvPr/>
        </p:nvSpPr>
        <p:spPr>
          <a:xfrm>
            <a:off x="1280160" y="5669280"/>
            <a:ext cx="10149840" cy="512064"/>
          </a:xfrm>
          <a:prstGeom prst="rect">
            <a:avLst/>
          </a:prstGeom>
          <a:noFill/>
          <a:ln/>
        </p:spPr>
        <p:txBody>
          <a:bodyPr wrap="square" lIns="0" tIns="0" rIns="0" bIns="0" rtlCol="0" anchor="ctr"/>
          <a:lstStyle/>
          <a:p>
            <a:pPr indent="0" marL="0">
              <a:lnSpc>
                <a:spcPct val="115000"/>
              </a:lnSpc>
              <a:buNone/>
            </a:pPr>
            <a:r>
              <a:rPr lang="en-US" sz="950" dirty="0">
                <a:solidFill>
                  <a:srgbClr val="1F2A25"/>
                </a:solidFill>
                <a:latin typeface="Meiryo" pitchFamily="34" charset="0"/>
                <a:ea typeface="Meiryo" pitchFamily="34" charset="-122"/>
                <a:cs typeface="Meiryo" pitchFamily="34" charset="-120"/>
              </a:rPr>
              <a:t>Model invocation logging は既定オフ。有効化すると入出力の全文が自社 S3/CloudWatch に残るため、ログ自体が機密の集積になる。→ CMK 暗号化・保持期間・閲覧権限を先に決める。</a:t>
            </a:r>
            <a:endParaRPr lang="en-US" sz="950" dirty="0"/>
          </a:p>
        </p:txBody>
      </p:sp>
      <p:sp>
        <p:nvSpPr>
          <p:cNvPr id="29" name="Text 2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0" name="Text 2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B の環境イメージ：閉域構成（Foundry ／ Japan East）</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Standard または Regional Provisioned に限定して推論を Japan East 内で完結させ、Azure Policy で構成を強制する</a:t>
            </a:r>
            <a:endParaRPr lang="en-US" sz="1200" dirty="0"/>
          </a:p>
        </p:txBody>
      </p:sp>
      <p:sp>
        <p:nvSpPr>
          <p:cNvPr id="4" name="Shape 2"/>
          <p:cNvSpPr/>
          <p:nvPr/>
        </p:nvSpPr>
        <p:spPr>
          <a:xfrm>
            <a:off x="548640" y="1371600"/>
            <a:ext cx="2788920" cy="4023360"/>
          </a:xfrm>
          <a:prstGeom prst="roundRect">
            <a:avLst>
              <a:gd name="adj" fmla="val 3279"/>
            </a:avLst>
          </a:prstGeom>
          <a:solidFill>
            <a:srgbClr val="F4F7F5"/>
          </a:solidFill>
          <a:ln w="12700">
            <a:solidFill>
              <a:srgbClr val="C9D6CF"/>
            </a:solidFill>
            <a:prstDash val="solid"/>
          </a:ln>
        </p:spPr>
      </p:sp>
      <p:sp>
        <p:nvSpPr>
          <p:cNvPr id="5" name="Text 3"/>
          <p:cNvSpPr txBox="1"/>
          <p:nvPr/>
        </p:nvSpPr>
        <p:spPr>
          <a:xfrm>
            <a:off x="685800" y="1463040"/>
            <a:ext cx="2514600" cy="274320"/>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社内ネットワーク（オンプレ）</a:t>
            </a:r>
            <a:endParaRPr lang="en-US" sz="1100" dirty="0"/>
          </a:p>
        </p:txBody>
      </p:sp>
      <p:sp>
        <p:nvSpPr>
          <p:cNvPr id="6" name="Shape 4"/>
          <p:cNvSpPr/>
          <p:nvPr/>
        </p:nvSpPr>
        <p:spPr>
          <a:xfrm>
            <a:off x="685800" y="1828800"/>
            <a:ext cx="2514600" cy="960120"/>
          </a:xfrm>
          <a:prstGeom prst="roundRect">
            <a:avLst>
              <a:gd name="adj" fmla="val 7619"/>
            </a:avLst>
          </a:prstGeom>
          <a:solidFill>
            <a:srgbClr val="FFFFFF"/>
          </a:solidFill>
          <a:ln w="9525">
            <a:solidFill>
              <a:srgbClr val="C9D6CF"/>
            </a:solidFill>
            <a:prstDash val="solid"/>
          </a:ln>
        </p:spPr>
      </p:sp>
      <p:sp>
        <p:nvSpPr>
          <p:cNvPr id="7" name="Text 5"/>
          <p:cNvSpPr txBox="1"/>
          <p:nvPr/>
        </p:nvSpPr>
        <p:spPr>
          <a:xfrm>
            <a:off x="822960" y="1901952"/>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利用者（行員）</a:t>
            </a:r>
            <a:endParaRPr lang="en-US" sz="1100" dirty="0"/>
          </a:p>
        </p:txBody>
      </p:sp>
      <p:sp>
        <p:nvSpPr>
          <p:cNvPr id="8" name="Text 6"/>
          <p:cNvSpPr txBox="1"/>
          <p:nvPr/>
        </p:nvSpPr>
        <p:spPr>
          <a:xfrm>
            <a:off x="822960" y="2194560"/>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Entra ID で認証。キー認証は disableLocalAuth で無効化</a:t>
            </a:r>
            <a:endParaRPr lang="en-US" sz="900" dirty="0"/>
          </a:p>
        </p:txBody>
      </p:sp>
      <p:sp>
        <p:nvSpPr>
          <p:cNvPr id="9" name="Shape 7"/>
          <p:cNvSpPr/>
          <p:nvPr/>
        </p:nvSpPr>
        <p:spPr>
          <a:xfrm>
            <a:off x="685800" y="2944368"/>
            <a:ext cx="2514600" cy="960120"/>
          </a:xfrm>
          <a:prstGeom prst="roundRect">
            <a:avLst>
              <a:gd name="adj" fmla="val 7619"/>
            </a:avLst>
          </a:prstGeom>
          <a:solidFill>
            <a:srgbClr val="FFFFFF"/>
          </a:solidFill>
          <a:ln w="9525">
            <a:solidFill>
              <a:srgbClr val="C9D6CF"/>
            </a:solidFill>
            <a:prstDash val="solid"/>
          </a:ln>
        </p:spPr>
      </p:sp>
      <p:sp>
        <p:nvSpPr>
          <p:cNvPr id="10" name="Text 8"/>
          <p:cNvSpPr txBox="1"/>
          <p:nvPr/>
        </p:nvSpPr>
        <p:spPr>
          <a:xfrm>
            <a:off x="822960" y="3017520"/>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既存統制</a:t>
            </a:r>
            <a:endParaRPr lang="en-US" sz="1100" dirty="0"/>
          </a:p>
        </p:txBody>
      </p:sp>
      <p:sp>
        <p:nvSpPr>
          <p:cNvPr id="11" name="Text 9"/>
          <p:cNvSpPr txBox="1"/>
          <p:nvPr/>
        </p:nvSpPr>
        <p:spPr>
          <a:xfrm>
            <a:off x="822960" y="3310128"/>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Proxy／DLP／端末管理。Azure へは ExpressRoute／VPN のみ</a:t>
            </a:r>
            <a:endParaRPr lang="en-US" sz="900" dirty="0"/>
          </a:p>
        </p:txBody>
      </p:sp>
      <p:sp>
        <p:nvSpPr>
          <p:cNvPr id="12" name="Shape 10"/>
          <p:cNvSpPr/>
          <p:nvPr/>
        </p:nvSpPr>
        <p:spPr>
          <a:xfrm>
            <a:off x="685800" y="4059936"/>
            <a:ext cx="2514600" cy="960120"/>
          </a:xfrm>
          <a:prstGeom prst="roundRect">
            <a:avLst>
              <a:gd name="adj" fmla="val 7619"/>
            </a:avLst>
          </a:prstGeom>
          <a:solidFill>
            <a:srgbClr val="FFFFFF"/>
          </a:solidFill>
          <a:ln w="9525">
            <a:solidFill>
              <a:srgbClr val="C9D6CF"/>
            </a:solidFill>
            <a:prstDash val="solid"/>
          </a:ln>
        </p:spPr>
      </p:sp>
      <p:sp>
        <p:nvSpPr>
          <p:cNvPr id="13" name="Text 11"/>
          <p:cNvSpPr txBox="1"/>
          <p:nvPr/>
        </p:nvSpPr>
        <p:spPr>
          <a:xfrm>
            <a:off x="822960" y="4133088"/>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社内文書・DB</a:t>
            </a:r>
            <a:endParaRPr lang="en-US" sz="1100" dirty="0"/>
          </a:p>
        </p:txBody>
      </p:sp>
      <p:sp>
        <p:nvSpPr>
          <p:cNvPr id="14" name="Text 12"/>
          <p:cNvSpPr txBox="1"/>
          <p:nvPr/>
        </p:nvSpPr>
        <p:spPr>
          <a:xfrm>
            <a:off x="822960" y="4425696"/>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RAG の元データ。分類ラベルを付与して連携</a:t>
            </a:r>
            <a:endParaRPr lang="en-US" sz="900" dirty="0"/>
          </a:p>
        </p:txBody>
      </p:sp>
      <p:sp>
        <p:nvSpPr>
          <p:cNvPr id="15" name="Shape 13"/>
          <p:cNvSpPr/>
          <p:nvPr/>
        </p:nvSpPr>
        <p:spPr>
          <a:xfrm>
            <a:off x="3703320" y="1371600"/>
            <a:ext cx="5074920" cy="4023360"/>
          </a:xfrm>
          <a:prstGeom prst="roundRect">
            <a:avLst>
              <a:gd name="adj" fmla="val 2273"/>
            </a:avLst>
          </a:prstGeom>
          <a:solidFill>
            <a:srgbClr val="EEF5F1"/>
          </a:solidFill>
          <a:ln w="12700">
            <a:solidFill>
              <a:srgbClr val="2E5A48"/>
            </a:solidFill>
            <a:prstDash val="solid"/>
          </a:ln>
        </p:spPr>
      </p:sp>
      <p:sp>
        <p:nvSpPr>
          <p:cNvPr id="16" name="Text 14"/>
          <p:cNvSpPr txBox="1"/>
          <p:nvPr/>
        </p:nvSpPr>
        <p:spPr>
          <a:xfrm>
            <a:off x="3840480" y="1463040"/>
            <a:ext cx="4800600" cy="274320"/>
          </a:xfrm>
          <a:prstGeom prst="rect">
            <a:avLst/>
          </a:prstGeom>
          <a:noFill/>
          <a:ln/>
        </p:spPr>
        <p:txBody>
          <a:bodyPr wrap="square" lIns="0" tIns="0" rIns="0" bIns="0" rtlCol="0" anchor="ctr"/>
          <a:lstStyle/>
          <a:p>
            <a:pPr indent="0" marL="0">
              <a:buNone/>
            </a:pPr>
            <a:r>
              <a:rPr lang="en-US" sz="1000" b="1" dirty="0">
                <a:solidFill>
                  <a:srgbClr val="1B3A2F"/>
                </a:solidFill>
                <a:latin typeface="Meiryo" pitchFamily="34" charset="0"/>
                <a:ea typeface="Meiryo" pitchFamily="34" charset="-122"/>
                <a:cs typeface="Meiryo" pitchFamily="34" charset="-120"/>
              </a:rPr>
              <a:t>当行 Azure サブスクリプション ｜ Japan East（VNet・private endpoint のみ、public access は Disabled）</a:t>
            </a:r>
            <a:endParaRPr lang="en-US" sz="1000" dirty="0"/>
          </a:p>
        </p:txBody>
      </p:sp>
      <p:sp>
        <p:nvSpPr>
          <p:cNvPr id="17" name="Shape 15"/>
          <p:cNvSpPr/>
          <p:nvPr/>
        </p:nvSpPr>
        <p:spPr>
          <a:xfrm>
            <a:off x="3840480" y="1828800"/>
            <a:ext cx="4800600" cy="777240"/>
          </a:xfrm>
          <a:prstGeom prst="roundRect">
            <a:avLst>
              <a:gd name="adj" fmla="val 9412"/>
            </a:avLst>
          </a:prstGeom>
          <a:solidFill>
            <a:srgbClr val="FFFFFF"/>
          </a:solidFill>
          <a:ln w="9525">
            <a:solidFill>
              <a:srgbClr val="C9D6CF"/>
            </a:solidFill>
            <a:prstDash val="solid"/>
          </a:ln>
        </p:spPr>
      </p:sp>
      <p:sp>
        <p:nvSpPr>
          <p:cNvPr id="18" name="Text 16"/>
          <p:cNvSpPr txBox="1"/>
          <p:nvPr/>
        </p:nvSpPr>
        <p:spPr>
          <a:xfrm>
            <a:off x="3977640" y="188366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API Management（AI Gateway）</a:t>
            </a:r>
            <a:endParaRPr lang="en-US" sz="1050" dirty="0"/>
          </a:p>
        </p:txBody>
      </p:sp>
      <p:sp>
        <p:nvSpPr>
          <p:cNvPr id="19" name="Text 17"/>
          <p:cNvSpPr txBox="1"/>
          <p:nvPr/>
        </p:nvSpPr>
        <p:spPr>
          <a:xfrm>
            <a:off x="3977640" y="213969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認可・分類タグ検査・トークン制限。プロンプトと応答の記録はここで行う（診断ログには本文が残らないため）</a:t>
            </a:r>
            <a:endParaRPr lang="en-US" sz="850" dirty="0"/>
          </a:p>
        </p:txBody>
      </p:sp>
      <p:sp>
        <p:nvSpPr>
          <p:cNvPr id="20" name="Shape 18"/>
          <p:cNvSpPr/>
          <p:nvPr/>
        </p:nvSpPr>
        <p:spPr>
          <a:xfrm>
            <a:off x="3840480" y="2697480"/>
            <a:ext cx="4800600" cy="777240"/>
          </a:xfrm>
          <a:prstGeom prst="roundRect">
            <a:avLst>
              <a:gd name="adj" fmla="val 9412"/>
            </a:avLst>
          </a:prstGeom>
          <a:solidFill>
            <a:srgbClr val="FFFFFF"/>
          </a:solidFill>
          <a:ln w="9525">
            <a:solidFill>
              <a:srgbClr val="C9D6CF"/>
            </a:solidFill>
            <a:prstDash val="solid"/>
          </a:ln>
        </p:spPr>
      </p:sp>
      <p:sp>
        <p:nvSpPr>
          <p:cNvPr id="21" name="Text 19"/>
          <p:cNvSpPr txBox="1"/>
          <p:nvPr/>
        </p:nvSpPr>
        <p:spPr>
          <a:xfrm>
            <a:off x="3977640" y="275234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Azure AI Search ＋ Storage（RAG）</a:t>
            </a:r>
            <a:endParaRPr lang="en-US" sz="1050" dirty="0"/>
          </a:p>
        </p:txBody>
      </p:sp>
      <p:sp>
        <p:nvSpPr>
          <p:cNvPr id="22" name="Text 20"/>
          <p:cNvSpPr txBox="1"/>
          <p:nvPr/>
        </p:nvSpPr>
        <p:spPr>
          <a:xfrm>
            <a:off x="3977640" y="300837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CMK（Key Vault／Managed HSM）で暗号化。分類ラベルでアクセス制御</a:t>
            </a:r>
            <a:endParaRPr lang="en-US" sz="850" dirty="0"/>
          </a:p>
        </p:txBody>
      </p:sp>
      <p:sp>
        <p:nvSpPr>
          <p:cNvPr id="23" name="Shape 21"/>
          <p:cNvSpPr/>
          <p:nvPr/>
        </p:nvSpPr>
        <p:spPr>
          <a:xfrm>
            <a:off x="3840480" y="3566160"/>
            <a:ext cx="4800600" cy="777240"/>
          </a:xfrm>
          <a:prstGeom prst="roundRect">
            <a:avLst>
              <a:gd name="adj" fmla="val 9412"/>
            </a:avLst>
          </a:prstGeom>
          <a:solidFill>
            <a:srgbClr val="FFFFFF"/>
          </a:solidFill>
          <a:ln w="9525">
            <a:solidFill>
              <a:srgbClr val="C9D6CF"/>
            </a:solidFill>
            <a:prstDash val="solid"/>
          </a:ln>
        </p:spPr>
      </p:sp>
      <p:sp>
        <p:nvSpPr>
          <p:cNvPr id="24" name="Text 22"/>
          <p:cNvSpPr txBox="1"/>
          <p:nvPr/>
        </p:nvSpPr>
        <p:spPr>
          <a:xfrm>
            <a:off x="3977640" y="362102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自社ガードレール層</a:t>
            </a:r>
            <a:endParaRPr lang="en-US" sz="1050" dirty="0"/>
          </a:p>
        </p:txBody>
      </p:sp>
      <p:sp>
        <p:nvSpPr>
          <p:cNvPr id="25" name="Text 23"/>
          <p:cNvSpPr txBox="1"/>
          <p:nvPr/>
        </p:nvSpPr>
        <p:spPr>
          <a:xfrm>
            <a:off x="3977640" y="387705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Content Safety（リージョン内で完結）＋ AI Language の PII 検知（マイナンバー等の日本固有エンティティ）</a:t>
            </a:r>
            <a:endParaRPr lang="en-US" sz="850" dirty="0"/>
          </a:p>
        </p:txBody>
      </p:sp>
      <p:sp>
        <p:nvSpPr>
          <p:cNvPr id="26" name="Shape 24"/>
          <p:cNvSpPr/>
          <p:nvPr/>
        </p:nvSpPr>
        <p:spPr>
          <a:xfrm>
            <a:off x="3840480" y="4434840"/>
            <a:ext cx="4800600" cy="777240"/>
          </a:xfrm>
          <a:prstGeom prst="roundRect">
            <a:avLst>
              <a:gd name="adj" fmla="val 9412"/>
            </a:avLst>
          </a:prstGeom>
          <a:solidFill>
            <a:srgbClr val="E5EEF4"/>
          </a:solidFill>
          <a:ln w="9525">
            <a:solidFill>
              <a:srgbClr val="3B6E8F"/>
            </a:solidFill>
            <a:prstDash val="solid"/>
          </a:ln>
        </p:spPr>
      </p:sp>
      <p:sp>
        <p:nvSpPr>
          <p:cNvPr id="27" name="Text 25"/>
          <p:cNvSpPr txBox="1"/>
          <p:nvPr/>
        </p:nvSpPr>
        <p:spPr>
          <a:xfrm>
            <a:off x="3977640" y="4489704"/>
            <a:ext cx="4526280" cy="256032"/>
          </a:xfrm>
          <a:prstGeom prst="rect">
            <a:avLst/>
          </a:prstGeom>
          <a:noFill/>
          <a:ln/>
        </p:spPr>
        <p:txBody>
          <a:bodyPr wrap="square" lIns="0" tIns="0" rIns="0" bIns="0" rtlCol="0" anchor="ctr"/>
          <a:lstStyle/>
          <a:p>
            <a:pPr indent="0" marL="0">
              <a:buNone/>
            </a:pPr>
            <a:r>
              <a:rPr lang="en-US" sz="1050" b="1" dirty="0">
                <a:solidFill>
                  <a:srgbClr val="3B6E8F"/>
                </a:solidFill>
                <a:latin typeface="Meiryo" pitchFamily="34" charset="0"/>
                <a:ea typeface="Meiryo" pitchFamily="34" charset="-122"/>
                <a:cs typeface="Meiryo" pitchFamily="34" charset="-120"/>
              </a:rPr>
              <a:t>Private Endpoint</a:t>
            </a:r>
            <a:endParaRPr lang="en-US" sz="1050" dirty="0"/>
          </a:p>
        </p:txBody>
      </p:sp>
      <p:sp>
        <p:nvSpPr>
          <p:cNvPr id="28" name="Text 26"/>
          <p:cNvSpPr txBox="1"/>
          <p:nvPr/>
        </p:nvSpPr>
        <p:spPr>
          <a:xfrm>
            <a:off x="3977640" y="474573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privatelink.openai.azure.com。networkAcls の defaultAction は Deny</a:t>
            </a:r>
            <a:endParaRPr lang="en-US" sz="850" dirty="0"/>
          </a:p>
        </p:txBody>
      </p:sp>
      <p:sp>
        <p:nvSpPr>
          <p:cNvPr id="29" name="Shape 27"/>
          <p:cNvSpPr/>
          <p:nvPr/>
        </p:nvSpPr>
        <p:spPr>
          <a:xfrm>
            <a:off x="9144000" y="1371600"/>
            <a:ext cx="2514600" cy="4023360"/>
          </a:xfrm>
          <a:prstGeom prst="roundRect">
            <a:avLst>
              <a:gd name="adj" fmla="val 3636"/>
            </a:avLst>
          </a:prstGeom>
          <a:solidFill>
            <a:srgbClr val="1B3A2F"/>
          </a:solidFill>
          <a:ln w="12700">
            <a:solidFill>
              <a:srgbClr val="1B3A2F"/>
            </a:solidFill>
            <a:prstDash val="solid"/>
          </a:ln>
        </p:spPr>
      </p:sp>
      <p:sp>
        <p:nvSpPr>
          <p:cNvPr id="30" name="Text 28"/>
          <p:cNvSpPr txBox="1"/>
          <p:nvPr/>
        </p:nvSpPr>
        <p:spPr>
          <a:xfrm>
            <a:off x="9281160" y="1463040"/>
            <a:ext cx="2240280" cy="274320"/>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Microsoft Foundry（Microsoft 運用）</a:t>
            </a:r>
            <a:endParaRPr lang="en-US" sz="1000" dirty="0"/>
          </a:p>
        </p:txBody>
      </p:sp>
      <p:sp>
        <p:nvSpPr>
          <p:cNvPr id="31" name="Shape 29"/>
          <p:cNvSpPr/>
          <p:nvPr/>
        </p:nvSpPr>
        <p:spPr>
          <a:xfrm>
            <a:off x="9281160" y="1828800"/>
            <a:ext cx="2240280" cy="1024128"/>
          </a:xfrm>
          <a:prstGeom prst="roundRect">
            <a:avLst>
              <a:gd name="adj" fmla="val 5357"/>
            </a:avLst>
          </a:prstGeom>
          <a:solidFill>
            <a:srgbClr val="2A4D3E"/>
          </a:solidFill>
          <a:ln w="12700">
            <a:solidFill>
              <a:srgbClr val="2A4D3E"/>
            </a:solidFill>
            <a:prstDash val="solid"/>
          </a:ln>
        </p:spPr>
      </p:sp>
      <p:sp>
        <p:nvSpPr>
          <p:cNvPr id="32" name="Text 30"/>
          <p:cNvSpPr txBox="1"/>
          <p:nvPr/>
        </p:nvSpPr>
        <p:spPr>
          <a:xfrm>
            <a:off x="9390888" y="1892808"/>
            <a:ext cx="2020824" cy="27432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Standard／Provisioned</a:t>
            </a:r>
            <a:endParaRPr lang="en-US" sz="950" dirty="0"/>
          </a:p>
        </p:txBody>
      </p:sp>
      <p:sp>
        <p:nvSpPr>
          <p:cNvPr id="33" name="Text 31"/>
          <p:cNvSpPr txBox="1"/>
          <p:nvPr/>
        </p:nvSpPr>
        <p:spPr>
          <a:xfrm>
            <a:off x="9390888" y="2176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デプロイしたリージョン内で推論。Global／DataZone は使わない</a:t>
            </a:r>
            <a:endParaRPr lang="en-US" sz="800" dirty="0"/>
          </a:p>
        </p:txBody>
      </p:sp>
      <p:sp>
        <p:nvSpPr>
          <p:cNvPr id="34" name="Shape 32"/>
          <p:cNvSpPr/>
          <p:nvPr/>
        </p:nvSpPr>
        <p:spPr>
          <a:xfrm>
            <a:off x="9281160" y="2971800"/>
            <a:ext cx="2240280" cy="1024128"/>
          </a:xfrm>
          <a:prstGeom prst="roundRect">
            <a:avLst>
              <a:gd name="adj" fmla="val 5357"/>
            </a:avLst>
          </a:prstGeom>
          <a:solidFill>
            <a:srgbClr val="2A4D3E"/>
          </a:solidFill>
          <a:ln w="12700">
            <a:solidFill>
              <a:srgbClr val="2A4D3E"/>
            </a:solidFill>
            <a:prstDash val="solid"/>
          </a:ln>
        </p:spPr>
      </p:sp>
      <p:sp>
        <p:nvSpPr>
          <p:cNvPr id="35" name="Text 33"/>
          <p:cNvSpPr txBox="1"/>
          <p:nvPr/>
        </p:nvSpPr>
        <p:spPr>
          <a:xfrm>
            <a:off x="9390888" y="3035808"/>
            <a:ext cx="2020824" cy="27432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Microsoft が自らホスト</a:t>
            </a:r>
            <a:endParaRPr lang="en-US" sz="950" dirty="0"/>
          </a:p>
        </p:txBody>
      </p:sp>
      <p:sp>
        <p:nvSpPr>
          <p:cNvPr id="36" name="Text 34"/>
          <p:cNvSpPr txBox="1"/>
          <p:nvPr/>
        </p:nvSpPr>
        <p:spPr>
          <a:xfrm>
            <a:off x="9390888" y="3319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“Models sold by Azure do NOT interact with any services operated by providers … for example, OpenAI”</a:t>
            </a:r>
            <a:endParaRPr lang="en-US" sz="800" dirty="0"/>
          </a:p>
        </p:txBody>
      </p:sp>
      <p:sp>
        <p:nvSpPr>
          <p:cNvPr id="37" name="Shape 35"/>
          <p:cNvSpPr/>
          <p:nvPr/>
        </p:nvSpPr>
        <p:spPr>
          <a:xfrm>
            <a:off x="9281160" y="4114800"/>
            <a:ext cx="2240280" cy="1024128"/>
          </a:xfrm>
          <a:prstGeom prst="roundRect">
            <a:avLst>
              <a:gd name="adj" fmla="val 5357"/>
            </a:avLst>
          </a:prstGeom>
          <a:solidFill>
            <a:srgbClr val="2A4D3E"/>
          </a:solidFill>
          <a:ln w="12700">
            <a:solidFill>
              <a:srgbClr val="2A4D3E"/>
            </a:solidFill>
            <a:prstDash val="solid"/>
          </a:ln>
        </p:spPr>
      </p:sp>
      <p:sp>
        <p:nvSpPr>
          <p:cNvPr id="38" name="Text 36"/>
          <p:cNvSpPr txBox="1"/>
          <p:nvPr/>
        </p:nvSpPr>
        <p:spPr>
          <a:xfrm>
            <a:off x="9390888" y="4178808"/>
            <a:ext cx="2020824" cy="274320"/>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abuse monitoring</a:t>
            </a:r>
            <a:endParaRPr lang="en-US" sz="950" dirty="0"/>
          </a:p>
        </p:txBody>
      </p:sp>
      <p:sp>
        <p:nvSpPr>
          <p:cNvPr id="39" name="Text 37"/>
          <p:cNvSpPr txBox="1"/>
          <p:nvPr/>
        </p:nvSpPr>
        <p:spPr>
          <a:xfrm>
            <a:off x="9390888" y="4462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既定では保存＋人的レビュー。保存先は顧客の geography 内。Modified 承認で停止</a:t>
            </a:r>
            <a:endParaRPr lang="en-US" sz="800" dirty="0"/>
          </a:p>
        </p:txBody>
      </p:sp>
      <p:sp>
        <p:nvSpPr>
          <p:cNvPr id="40" name="Shape 38"/>
          <p:cNvSpPr/>
          <p:nvPr/>
        </p:nvSpPr>
        <p:spPr>
          <a:xfrm>
            <a:off x="3337560" y="3246120"/>
            <a:ext cx="365760" cy="0"/>
          </a:xfrm>
          <a:prstGeom prst="line">
            <a:avLst/>
          </a:prstGeom>
          <a:noFill/>
          <a:ln w="25400">
            <a:solidFill>
              <a:srgbClr val="2E5A48"/>
            </a:solidFill>
            <a:prstDash val="solid"/>
            <a:tailEnd type="triangle"/>
          </a:ln>
        </p:spPr>
      </p:sp>
      <p:sp>
        <p:nvSpPr>
          <p:cNvPr id="41" name="Text 39"/>
          <p:cNvSpPr txBox="1"/>
          <p:nvPr/>
        </p:nvSpPr>
        <p:spPr>
          <a:xfrm>
            <a:off x="3355848" y="2852928"/>
            <a:ext cx="329184" cy="347472"/>
          </a:xfrm>
          <a:prstGeom prst="rect">
            <a:avLst/>
          </a:prstGeom>
          <a:noFill/>
          <a:ln/>
        </p:spPr>
        <p:txBody>
          <a:bodyPr wrap="square" lIns="0" tIns="0" rIns="0" bIns="0" rtlCol="0" anchor="ctr"/>
          <a:lstStyle/>
          <a:p>
            <a:pPr algn="ctr" indent="0" marL="0">
              <a:buNone/>
            </a:pPr>
            <a:r>
              <a:rPr lang="en-US" sz="700" dirty="0">
                <a:solidFill>
                  <a:srgbClr val="2E5A48"/>
                </a:solidFill>
                <a:latin typeface="Meiryo" pitchFamily="34" charset="0"/>
                <a:ea typeface="Meiryo" pitchFamily="34" charset="-122"/>
                <a:cs typeface="Meiryo" pitchFamily="34" charset="-120"/>
              </a:rPr>
              <a:t>ER /</a:t>
            </a:r>
            <a:endParaRPr lang="en-US" sz="700" dirty="0"/>
          </a:p>
          <a:p>
            <a:pPr algn="ctr" indent="0" marL="0">
              <a:buNone/>
            </a:pPr>
            <a:r>
              <a:rPr lang="en-US" sz="700" dirty="0">
                <a:solidFill>
                  <a:srgbClr val="2E5A48"/>
                </a:solidFill>
                <a:latin typeface="Meiryo" pitchFamily="34" charset="0"/>
                <a:ea typeface="Meiryo" pitchFamily="34" charset="-122"/>
                <a:cs typeface="Meiryo" pitchFamily="34" charset="-120"/>
              </a:rPr>
              <a:t>VPN</a:t>
            </a:r>
            <a:endParaRPr lang="en-US" sz="700" dirty="0"/>
          </a:p>
        </p:txBody>
      </p:sp>
      <p:sp>
        <p:nvSpPr>
          <p:cNvPr id="42" name="Shape 40"/>
          <p:cNvSpPr/>
          <p:nvPr/>
        </p:nvSpPr>
        <p:spPr>
          <a:xfrm>
            <a:off x="8778240" y="4389120"/>
            <a:ext cx="365760" cy="0"/>
          </a:xfrm>
          <a:prstGeom prst="line">
            <a:avLst/>
          </a:prstGeom>
          <a:noFill/>
          <a:ln w="25400">
            <a:solidFill>
              <a:srgbClr val="3B6E8F"/>
            </a:solidFill>
            <a:prstDash val="solid"/>
            <a:tailEnd type="triangle"/>
          </a:ln>
        </p:spPr>
      </p:sp>
      <p:sp>
        <p:nvSpPr>
          <p:cNvPr id="43" name="Text 41"/>
          <p:cNvSpPr txBox="1"/>
          <p:nvPr/>
        </p:nvSpPr>
        <p:spPr>
          <a:xfrm>
            <a:off x="8732520" y="4069080"/>
            <a:ext cx="457200" cy="256032"/>
          </a:xfrm>
          <a:prstGeom prst="rect">
            <a:avLst/>
          </a:prstGeom>
          <a:noFill/>
          <a:ln/>
        </p:spPr>
        <p:txBody>
          <a:bodyPr wrap="square" lIns="0" tIns="0" rIns="0" bIns="0" rtlCol="0" anchor="ctr"/>
          <a:lstStyle/>
          <a:p>
            <a:pPr algn="ctr" indent="0" marL="0">
              <a:buNone/>
            </a:pPr>
            <a:r>
              <a:rPr lang="en-US" sz="700" dirty="0">
                <a:solidFill>
                  <a:srgbClr val="3B6E8F"/>
                </a:solidFill>
                <a:latin typeface="Meiryo" pitchFamily="34" charset="0"/>
                <a:ea typeface="Meiryo" pitchFamily="34" charset="-122"/>
                <a:cs typeface="Meiryo" pitchFamily="34" charset="-120"/>
              </a:rPr>
              <a:t>TLS</a:t>
            </a:r>
            <a:endParaRPr lang="en-US" sz="700" dirty="0"/>
          </a:p>
        </p:txBody>
      </p:sp>
      <p:sp>
        <p:nvSpPr>
          <p:cNvPr id="44" name="Shape 42"/>
          <p:cNvSpPr/>
          <p:nvPr/>
        </p:nvSpPr>
        <p:spPr>
          <a:xfrm>
            <a:off x="548640" y="5532120"/>
            <a:ext cx="3611880" cy="822960"/>
          </a:xfrm>
          <a:prstGeom prst="roundRect">
            <a:avLst>
              <a:gd name="adj" fmla="val 8889"/>
            </a:avLst>
          </a:prstGeom>
          <a:solidFill>
            <a:srgbClr val="FBF1DF"/>
          </a:solidFill>
          <a:ln w="9525">
            <a:solidFill>
              <a:srgbClr val="FBF1DF"/>
            </a:solidFill>
            <a:prstDash val="solid"/>
          </a:ln>
        </p:spPr>
      </p:sp>
      <p:sp>
        <p:nvSpPr>
          <p:cNvPr id="45" name="Text 43"/>
          <p:cNvSpPr txBox="1"/>
          <p:nvPr/>
        </p:nvSpPr>
        <p:spPr>
          <a:xfrm>
            <a:off x="65836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Azure Policy による強制</a:t>
            </a:r>
            <a:endParaRPr lang="en-US" sz="950" dirty="0"/>
          </a:p>
        </p:txBody>
      </p:sp>
      <p:sp>
        <p:nvSpPr>
          <p:cNvPr id="46" name="Text 44"/>
          <p:cNvSpPr txBox="1"/>
          <p:nvPr/>
        </p:nvSpPr>
        <p:spPr>
          <a:xfrm>
            <a:off x="65836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組込み Policy で承認モデル限定・キー無効化・CMK・private link を Deny。デプロイ種別（Global 等）の Deny は sku.name 条件のカスタム Policy で実装（組込みには存在せず、実装検証が必要）</a:t>
            </a:r>
            <a:endParaRPr lang="en-US" sz="750" dirty="0"/>
          </a:p>
        </p:txBody>
      </p:sp>
      <p:sp>
        <p:nvSpPr>
          <p:cNvPr id="47" name="Shape 45"/>
          <p:cNvSpPr/>
          <p:nvPr/>
        </p:nvSpPr>
        <p:spPr>
          <a:xfrm>
            <a:off x="4297680" y="5532120"/>
            <a:ext cx="3611880" cy="822960"/>
          </a:xfrm>
          <a:prstGeom prst="roundRect">
            <a:avLst>
              <a:gd name="adj" fmla="val 8889"/>
            </a:avLst>
          </a:prstGeom>
          <a:solidFill>
            <a:srgbClr val="FBF1DF"/>
          </a:solidFill>
          <a:ln w="9525">
            <a:solidFill>
              <a:srgbClr val="FBF1DF"/>
            </a:solidFill>
            <a:prstDash val="solid"/>
          </a:ln>
        </p:spPr>
      </p:sp>
      <p:sp>
        <p:nvSpPr>
          <p:cNvPr id="48" name="Text 46"/>
          <p:cNvSpPr txBox="1"/>
          <p:nvPr/>
        </p:nvSpPr>
        <p:spPr>
          <a:xfrm>
            <a:off x="440740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鍵とログ</a:t>
            </a:r>
            <a:endParaRPr lang="en-US" sz="950" dirty="0"/>
          </a:p>
        </p:txBody>
      </p:sp>
      <p:sp>
        <p:nvSpPr>
          <p:cNvPr id="49" name="Text 47"/>
          <p:cNvSpPr txBox="1"/>
          <p:nvPr/>
        </p:nvSpPr>
        <p:spPr>
          <a:xfrm>
            <a:off x="440740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CMK は Key Vault ＋ Managed HSM に対応。会話履歴・システムプロンプト・fine-tuned モデルまで対象。本文の記録は APIM の LLM logging</a:t>
            </a:r>
            <a:endParaRPr lang="en-US" sz="750" dirty="0"/>
          </a:p>
        </p:txBody>
      </p:sp>
      <p:sp>
        <p:nvSpPr>
          <p:cNvPr id="50" name="Shape 48"/>
          <p:cNvSpPr/>
          <p:nvPr/>
        </p:nvSpPr>
        <p:spPr>
          <a:xfrm>
            <a:off x="8046720" y="5532120"/>
            <a:ext cx="3611880" cy="822960"/>
          </a:xfrm>
          <a:prstGeom prst="roundRect">
            <a:avLst>
              <a:gd name="adj" fmla="val 8889"/>
            </a:avLst>
          </a:prstGeom>
          <a:solidFill>
            <a:srgbClr val="FBF1DF"/>
          </a:solidFill>
          <a:ln w="9525">
            <a:solidFill>
              <a:srgbClr val="FBF1DF"/>
            </a:solidFill>
            <a:prstDash val="solid"/>
          </a:ln>
        </p:spPr>
      </p:sp>
      <p:sp>
        <p:nvSpPr>
          <p:cNvPr id="51" name="Text 49"/>
          <p:cNvSpPr txBox="1"/>
          <p:nvPr/>
        </p:nvSpPr>
        <p:spPr>
          <a:xfrm>
            <a:off x="8156448" y="5577840"/>
            <a:ext cx="3383280" cy="201168"/>
          </a:xfrm>
          <a:prstGeom prst="rect">
            <a:avLst/>
          </a:prstGeom>
          <a:noFill/>
          <a:ln/>
        </p:spPr>
        <p:txBody>
          <a:bodyPr wrap="square" lIns="0" tIns="0" rIns="0" bIns="0" rtlCol="0" anchor="ctr"/>
          <a:lstStyle/>
          <a:p>
            <a:pPr indent="0" marL="0">
              <a:buNone/>
            </a:pPr>
            <a:r>
              <a:rPr lang="en-US" sz="950" b="1" dirty="0">
                <a:solidFill>
                  <a:srgbClr val="C8891A"/>
                </a:solidFill>
                <a:latin typeface="Meiryo" pitchFamily="34" charset="0"/>
                <a:ea typeface="Meiryo" pitchFamily="34" charset="-122"/>
                <a:cs typeface="Meiryo" pitchFamily="34" charset="-120"/>
              </a:rPr>
              <a:t>組織統制</a:t>
            </a:r>
            <a:endParaRPr lang="en-US" sz="950" dirty="0"/>
          </a:p>
        </p:txBody>
      </p:sp>
      <p:sp>
        <p:nvSpPr>
          <p:cNvPr id="52" name="Text 50"/>
          <p:cNvSpPr txBox="1"/>
          <p:nvPr/>
        </p:nvSpPr>
        <p:spPr>
          <a:xfrm>
            <a:off x="815644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Modified abuse monitoring の申請、Financial Services Amendment の入手、委託先台帳への登録、ISMAP／SOC／ISO 証跡の定期入手</a:t>
            </a:r>
            <a:endParaRPr lang="en-US" sz="750" dirty="0"/>
          </a:p>
        </p:txBody>
      </p:sp>
      <p:sp>
        <p:nvSpPr>
          <p:cNvPr id="53" name="Text 5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54" name="Text 5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B の 8 要件充足状況</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第 1 部で定義した要件に、Foundry（Japan East）を当てた結果。強度 L1〜L5 は p.9 の階梯</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371600"/>
                <a:gridCol w="3931920"/>
                <a:gridCol w="4690872"/>
                <a:gridCol w="1097280"/>
              </a:tblGrid>
              <a:tr h="292608">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要件</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担保されていること</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破れる条件・残る課題</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到達強度</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① データの所在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Standard（単一リージョン）／Regional Provisioned なら推論は Japan East 内で完結。abuse monitoring の保存先も顧客の geography 内。Content Safety も選択リージョン内に留まる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国内処理（Japan East 内）で使える従量課金の GPT 系は gpt-4o と gpt-4.1-mini のみ。GPT-5 系の国内処理には Regional Provisioned が必要（Global Standard なら従量で使えるが国外処理）。APAC Data Zone は「事前通知なくリージョンが追加されうる」ため国内限定要件には使えない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② 保持</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Modified abuse monitoring の承認で、保存と人的レビューが行われなくなる（自動レビューは継続、そのデータは保存されない）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既定は保存あり。申請は「Microsoft アカウントチーム管理顧客または適格プログラム」に限定され、一部の先進モデルはより厳しい基準。30 日保持の記載は現行ページから消えており期間が不明</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③ 学習利用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「are NOT available to OpenAI or other providers」「NOT used to train」を明文で表明。Microsoft が自らホストし OpenAI のサービスと通信しないと明記</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検証手段がない点は A と同じ。Foundry 上の Claude 等パートナーモデルは Anthropic が independent data processor となり構造が変わる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④ 第三者アクセス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人的レビューは Secure Access Workstation ＋ Just-In-Time 承認に限定。Modified 承認で人的レビュー自体が停止する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日本 geography ではレビュー担当者の所在地の限定がない（EEA についてのみ域内在住を明記）。「構造的にアクセスできない」旨の表明は見当たらず、手続統制にとどまる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L3〜L4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⑤ ネットワーク経路</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Private Link ＋ public access Disabled、networkAcls の defaultAction=Deny。組込み Azure Policy で強制できる（デプロイ種別の限定はカスタム Policy）</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Foundry ポータルを使うには複数のサービスタグ許可が必要（SDK／REST のみなら 1 つで済む）。Agent の一部ツール（Logic Apps 等）は private 非対応</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⑥ 鍵・ログの主権</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CMK は Key Vault に加え Managed HSM に対応。会話履歴・システムプロンプト・fine-tuned モデルまで対象</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診断ログに本文を記録する項目がない（公式スキーマに本文カラムなし。明文の否定は未確認）。tracing の content recording は Microsoft 自身が「本番では有効化しないこと」と明記。Stored completions は 2026-10-15 廃止。推論中は CMK 対象外</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⑦ 委託先管理</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Azure OpenAI では契約相手が Microsoft 一社。Security Incident の通知は 72 時間以内と公式に明記。Financial Services Amendment に「顧客の監査権と規制当局の検査権」。ISMAP 登録済み</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FISC 対応の公表資料は第 9 版改訂止まりで Azure OpenAI の明記なし。日本向け Financial Services Amendment の提供可否は未確認。オンサイト監査は DPA 本体に規定なし</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L3〜L4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48640">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⑧ 可用性・継続性</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Availability SLA（Standard／PTU）と Latency SLA（PTU）。モデル廃止は GA で 60 日前通知、提供開始時に 18 か月後の廃止日が設定される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PTU は容量を保証しない（「Reservations don't guarantee capacity」）。SLA 本文は docx でのみ配布され Web 非公開。Standard はモデルが自動アップグレードされ、検証を経ずに挙動が変わり得る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144768"/>
            <a:ext cx="11091672" cy="237744"/>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 パターン A は同じ内容を要件ごとに 1 枚ずつ付録 p.40〜47 で扱っている。B が主候補になった場合は同じ深さで検証する。</a:t>
            </a:r>
            <a:endParaRPr lang="en-US" sz="9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7" name="Text 4"/>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B の設計上の落とし穴：公式仕様から確認できた 6 点</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「Azure なら国内で完結する」と一括りにすると崩れる箇所。稟議と設計の前提に織り込む</a:t>
            </a:r>
            <a:endParaRPr lang="en-US" sz="1200" dirty="0"/>
          </a:p>
        </p:txBody>
      </p:sp>
      <p:sp>
        <p:nvSpPr>
          <p:cNvPr id="4" name="Shape 2"/>
          <p:cNvSpPr/>
          <p:nvPr/>
        </p:nvSpPr>
        <p:spPr>
          <a:xfrm>
            <a:off x="548640" y="1353312"/>
            <a:ext cx="11091672" cy="731520"/>
          </a:xfrm>
          <a:prstGeom prst="roundRect">
            <a:avLst>
              <a:gd name="adj" fmla="val 10000"/>
            </a:avLst>
          </a:prstGeom>
          <a:solidFill>
            <a:srgbClr val="F9E7E2"/>
          </a:solidFill>
          <a:ln w="9525">
            <a:solidFill>
              <a:srgbClr val="F9E7E2"/>
            </a:solidFill>
            <a:prstDash val="solid"/>
          </a:ln>
        </p:spPr>
      </p:sp>
      <p:sp>
        <p:nvSpPr>
          <p:cNvPr id="5" name="Shape 3"/>
          <p:cNvSpPr/>
          <p:nvPr/>
        </p:nvSpPr>
        <p:spPr>
          <a:xfrm>
            <a:off x="713232" y="1536192"/>
            <a:ext cx="365760" cy="365760"/>
          </a:xfrm>
          <a:prstGeom prst="ellipse">
            <a:avLst/>
          </a:prstGeom>
          <a:solidFill>
            <a:srgbClr val="B5402A"/>
          </a:solidFill>
          <a:ln w="12700">
            <a:solidFill>
              <a:srgbClr val="B5402A"/>
            </a:solidFill>
            <a:prstDash val="solid"/>
          </a:ln>
        </p:spPr>
      </p:sp>
      <p:sp>
        <p:nvSpPr>
          <p:cNvPr id="6" name="Text 4"/>
          <p:cNvSpPr txBox="1"/>
          <p:nvPr/>
        </p:nvSpPr>
        <p:spPr>
          <a:xfrm>
            <a:off x="713232" y="1536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txBox="1"/>
          <p:nvPr/>
        </p:nvSpPr>
        <p:spPr>
          <a:xfrm>
            <a:off x="1243584" y="1408176"/>
            <a:ext cx="10241280" cy="237744"/>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Japan East の従量課金で使える GPT 系は 2 モデルだけ</a:t>
            </a:r>
            <a:endParaRPr lang="en-US" sz="1150" dirty="0"/>
          </a:p>
        </p:txBody>
      </p:sp>
      <p:sp>
        <p:nvSpPr>
          <p:cNvPr id="8" name="Text 6"/>
          <p:cNvSpPr txBox="1"/>
          <p:nvPr/>
        </p:nvSpPr>
        <p:spPr>
          <a:xfrm>
            <a:off x="1243584" y="164592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Standard（単一リージョン）で Japan East に出せるのは gpt-4o と gpt-4.1-mini。GPT-5 系は Global Standard（国外処理）なら従量で使えるが、国内処理には Regional Provisioned（容量予約）が必要で固定費が立つ。→ 「国内完結」を必須にすると、従量課金では 1 世代以上前のモデルに固定される。</a:t>
            </a:r>
            <a:endParaRPr lang="en-US" sz="850" dirty="0"/>
          </a:p>
        </p:txBody>
      </p:sp>
      <p:sp>
        <p:nvSpPr>
          <p:cNvPr id="9" name="Shape 7"/>
          <p:cNvSpPr/>
          <p:nvPr/>
        </p:nvSpPr>
        <p:spPr>
          <a:xfrm>
            <a:off x="548640" y="2176272"/>
            <a:ext cx="11091672" cy="731520"/>
          </a:xfrm>
          <a:prstGeom prst="roundRect">
            <a:avLst>
              <a:gd name="adj" fmla="val 10000"/>
            </a:avLst>
          </a:prstGeom>
          <a:solidFill>
            <a:srgbClr val="F9E7E2"/>
          </a:solidFill>
          <a:ln w="9525">
            <a:solidFill>
              <a:srgbClr val="F9E7E2"/>
            </a:solidFill>
            <a:prstDash val="solid"/>
          </a:ln>
        </p:spPr>
      </p:sp>
      <p:sp>
        <p:nvSpPr>
          <p:cNvPr id="10" name="Shape 8"/>
          <p:cNvSpPr/>
          <p:nvPr/>
        </p:nvSpPr>
        <p:spPr>
          <a:xfrm>
            <a:off x="713232" y="2359152"/>
            <a:ext cx="365760" cy="365760"/>
          </a:xfrm>
          <a:prstGeom prst="ellipse">
            <a:avLst/>
          </a:prstGeom>
          <a:solidFill>
            <a:srgbClr val="B5402A"/>
          </a:solidFill>
          <a:ln w="12700">
            <a:solidFill>
              <a:srgbClr val="B5402A"/>
            </a:solidFill>
            <a:prstDash val="solid"/>
          </a:ln>
        </p:spPr>
      </p:sp>
      <p:sp>
        <p:nvSpPr>
          <p:cNvPr id="11" name="Text 9"/>
          <p:cNvSpPr txBox="1"/>
          <p:nvPr/>
        </p:nvSpPr>
        <p:spPr>
          <a:xfrm>
            <a:off x="713232"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txBox="1"/>
          <p:nvPr/>
        </p:nvSpPr>
        <p:spPr>
          <a:xfrm>
            <a:off x="1243584" y="2231136"/>
            <a:ext cx="10241280" cy="237744"/>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APAC Data Zone は日本限定ではない</a:t>
            </a:r>
            <a:endParaRPr lang="en-US" sz="1150" dirty="0"/>
          </a:p>
        </p:txBody>
      </p:sp>
      <p:sp>
        <p:nvSpPr>
          <p:cNvPr id="13" name="Text 11"/>
          <p:cNvSpPr txBox="1"/>
          <p:nvPr/>
        </p:nvSpPr>
        <p:spPr>
          <a:xfrm>
            <a:off x="1243584" y="246888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処理先は「複数のアジア太平洋リージョン」で日本限定ではない。しかも明示的な但し書きがある：“Microsoft can add regions to either data zone without prior notice.” → 国内限定を要件にするなら Data Zone は選択肢に入らない。Standard か Regional Provisioned のみ。</a:t>
            </a:r>
            <a:endParaRPr lang="en-US" sz="850" dirty="0"/>
          </a:p>
        </p:txBody>
      </p:sp>
      <p:sp>
        <p:nvSpPr>
          <p:cNvPr id="14" name="Shape 12"/>
          <p:cNvSpPr/>
          <p:nvPr/>
        </p:nvSpPr>
        <p:spPr>
          <a:xfrm>
            <a:off x="548640" y="2999232"/>
            <a:ext cx="11091672" cy="731520"/>
          </a:xfrm>
          <a:prstGeom prst="roundRect">
            <a:avLst>
              <a:gd name="adj" fmla="val 10000"/>
            </a:avLst>
          </a:prstGeom>
          <a:solidFill>
            <a:srgbClr val="F9E7E2"/>
          </a:solidFill>
          <a:ln w="9525">
            <a:solidFill>
              <a:srgbClr val="F9E7E2"/>
            </a:solidFill>
            <a:prstDash val="solid"/>
          </a:ln>
        </p:spPr>
      </p:sp>
      <p:sp>
        <p:nvSpPr>
          <p:cNvPr id="15" name="Shape 13"/>
          <p:cNvSpPr/>
          <p:nvPr/>
        </p:nvSpPr>
        <p:spPr>
          <a:xfrm>
            <a:off x="713232" y="3182112"/>
            <a:ext cx="365760" cy="365760"/>
          </a:xfrm>
          <a:prstGeom prst="ellipse">
            <a:avLst/>
          </a:prstGeom>
          <a:solidFill>
            <a:srgbClr val="B5402A"/>
          </a:solidFill>
          <a:ln w="12700">
            <a:solidFill>
              <a:srgbClr val="B5402A"/>
            </a:solidFill>
            <a:prstDash val="solid"/>
          </a:ln>
        </p:spPr>
      </p:sp>
      <p:sp>
        <p:nvSpPr>
          <p:cNvPr id="16" name="Text 14"/>
          <p:cNvSpPr txBox="1"/>
          <p:nvPr/>
        </p:nvSpPr>
        <p:spPr>
          <a:xfrm>
            <a:off x="713232" y="3182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7" name="Text 15"/>
          <p:cNvSpPr txBox="1"/>
          <p:nvPr/>
        </p:nvSpPr>
        <p:spPr>
          <a:xfrm>
            <a:off x="1243584" y="3054096"/>
            <a:ext cx="10241280" cy="237744"/>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PTU は容量を保証しない</a:t>
            </a:r>
            <a:endParaRPr lang="en-US" sz="1150" dirty="0"/>
          </a:p>
        </p:txBody>
      </p:sp>
      <p:sp>
        <p:nvSpPr>
          <p:cNvPr id="18" name="Text 16"/>
          <p:cNvSpPr txBox="1"/>
          <p:nvPr/>
        </p:nvSpPr>
        <p:spPr>
          <a:xfrm>
            <a:off x="1243584" y="329184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“Having PTU quota doesn't guarantee that capacity is available.” “Reservations don't guarantee capacity.” 先にデプロイを作成して容量を確認し、その後に Reservation を購入する順序が必須。スピルオーバー設定があると Standard デプロイに流れるため、処理境界が変わり得る。</a:t>
            </a:r>
            <a:endParaRPr lang="en-US" sz="850" dirty="0"/>
          </a:p>
        </p:txBody>
      </p:sp>
      <p:sp>
        <p:nvSpPr>
          <p:cNvPr id="19" name="Shape 17"/>
          <p:cNvSpPr/>
          <p:nvPr/>
        </p:nvSpPr>
        <p:spPr>
          <a:xfrm>
            <a:off x="548640" y="3822192"/>
            <a:ext cx="11091672" cy="731520"/>
          </a:xfrm>
          <a:prstGeom prst="roundRect">
            <a:avLst>
              <a:gd name="adj" fmla="val 10000"/>
            </a:avLst>
          </a:prstGeom>
          <a:solidFill>
            <a:srgbClr val="FBF1DF"/>
          </a:solidFill>
          <a:ln w="9525">
            <a:solidFill>
              <a:srgbClr val="FBF1DF"/>
            </a:solidFill>
            <a:prstDash val="solid"/>
          </a:ln>
        </p:spPr>
      </p:sp>
      <p:sp>
        <p:nvSpPr>
          <p:cNvPr id="20" name="Shape 18"/>
          <p:cNvSpPr/>
          <p:nvPr/>
        </p:nvSpPr>
        <p:spPr>
          <a:xfrm>
            <a:off x="713232" y="4005072"/>
            <a:ext cx="365760" cy="365760"/>
          </a:xfrm>
          <a:prstGeom prst="ellipse">
            <a:avLst/>
          </a:prstGeom>
          <a:solidFill>
            <a:srgbClr val="C8891A"/>
          </a:solidFill>
          <a:ln w="12700">
            <a:solidFill>
              <a:srgbClr val="C8891A"/>
            </a:solidFill>
            <a:prstDash val="solid"/>
          </a:ln>
        </p:spPr>
      </p:sp>
      <p:sp>
        <p:nvSpPr>
          <p:cNvPr id="21" name="Text 19"/>
          <p:cNvSpPr txBox="1"/>
          <p:nvPr/>
        </p:nvSpPr>
        <p:spPr>
          <a:xfrm>
            <a:off x="713232" y="4005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2" name="Text 20"/>
          <p:cNvSpPr txBox="1"/>
          <p:nvPr/>
        </p:nvSpPr>
        <p:spPr>
          <a:xfrm>
            <a:off x="1243584" y="387705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プロンプト本文の公式な記録手段がない</a:t>
            </a:r>
            <a:endParaRPr lang="en-US" sz="1150" dirty="0"/>
          </a:p>
        </p:txBody>
      </p:sp>
      <p:sp>
        <p:nvSpPr>
          <p:cNvPr id="23" name="Text 21"/>
          <p:cNvSpPr txBox="1"/>
          <p:nvPr/>
        </p:nvSpPr>
        <p:spPr>
          <a:xfrm>
            <a:off x="1243584" y="411480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診断ログの公式スキーマに本文の項目がなく、Microsoft サポートも既定で非保存と回答（明文の否定は未確認）。tracing は content recording で本文を取れるが「本番では有効化しないこと」と明記。Stored completions は 2026-10-15 廃止予定。→ 監査証跡は API Management か自前ゲートウェイで作る前提になる。</a:t>
            </a:r>
            <a:endParaRPr lang="en-US" sz="850" dirty="0"/>
          </a:p>
        </p:txBody>
      </p:sp>
      <p:sp>
        <p:nvSpPr>
          <p:cNvPr id="24" name="Shape 22"/>
          <p:cNvSpPr/>
          <p:nvPr/>
        </p:nvSpPr>
        <p:spPr>
          <a:xfrm>
            <a:off x="548640" y="4645152"/>
            <a:ext cx="11091672" cy="731520"/>
          </a:xfrm>
          <a:prstGeom prst="roundRect">
            <a:avLst>
              <a:gd name="adj" fmla="val 10000"/>
            </a:avLst>
          </a:prstGeom>
          <a:solidFill>
            <a:srgbClr val="FBF1DF"/>
          </a:solidFill>
          <a:ln w="9525">
            <a:solidFill>
              <a:srgbClr val="FBF1DF"/>
            </a:solidFill>
            <a:prstDash val="solid"/>
          </a:ln>
        </p:spPr>
      </p:sp>
      <p:sp>
        <p:nvSpPr>
          <p:cNvPr id="25" name="Shape 23"/>
          <p:cNvSpPr/>
          <p:nvPr/>
        </p:nvSpPr>
        <p:spPr>
          <a:xfrm>
            <a:off x="713232" y="4828032"/>
            <a:ext cx="365760" cy="365760"/>
          </a:xfrm>
          <a:prstGeom prst="ellipse">
            <a:avLst/>
          </a:prstGeom>
          <a:solidFill>
            <a:srgbClr val="C8891A"/>
          </a:solidFill>
          <a:ln w="12700">
            <a:solidFill>
              <a:srgbClr val="C8891A"/>
            </a:solidFill>
            <a:prstDash val="solid"/>
          </a:ln>
        </p:spPr>
      </p:sp>
      <p:sp>
        <p:nvSpPr>
          <p:cNvPr id="26" name="Text 24"/>
          <p:cNvSpPr txBox="1"/>
          <p:nvPr/>
        </p:nvSpPr>
        <p:spPr>
          <a:xfrm>
            <a:off x="713232"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27" name="Text 25"/>
          <p:cNvSpPr txBox="1"/>
          <p:nvPr/>
        </p:nvSpPr>
        <p:spPr>
          <a:xfrm>
            <a:off x="1243584" y="470001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Standard デプロイはモデルが自動でアップグレードされる</a:t>
            </a:r>
            <a:endParaRPr lang="en-US" sz="1150" dirty="0"/>
          </a:p>
        </p:txBody>
      </p:sp>
      <p:sp>
        <p:nvSpPr>
          <p:cNvPr id="28" name="Text 26"/>
          <p:cNvSpPr txBox="1"/>
          <p:nvPr/>
        </p:nvSpPr>
        <p:spPr>
          <a:xfrm>
            <a:off x="1243584" y="493776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廃止時、Global／DataZone／Standard は Microsoft が自動アップグレードを管理し、Provisioned は顧客が手動移行。自動は運用が楽な一方、検証を経ずに挙動が変わる。金融機関では Provisioned を選ぶか、変更検知と再評価の運用を組む。</a:t>
            </a:r>
            <a:endParaRPr lang="en-US" sz="850" dirty="0"/>
          </a:p>
        </p:txBody>
      </p:sp>
      <p:sp>
        <p:nvSpPr>
          <p:cNvPr id="29" name="Shape 27"/>
          <p:cNvSpPr/>
          <p:nvPr/>
        </p:nvSpPr>
        <p:spPr>
          <a:xfrm>
            <a:off x="548640" y="5468112"/>
            <a:ext cx="11091672" cy="731520"/>
          </a:xfrm>
          <a:prstGeom prst="roundRect">
            <a:avLst>
              <a:gd name="adj" fmla="val 10000"/>
            </a:avLst>
          </a:prstGeom>
          <a:solidFill>
            <a:srgbClr val="FBF1DF"/>
          </a:solidFill>
          <a:ln w="9525">
            <a:solidFill>
              <a:srgbClr val="FBF1DF"/>
            </a:solidFill>
            <a:prstDash val="solid"/>
          </a:ln>
        </p:spPr>
      </p:sp>
      <p:sp>
        <p:nvSpPr>
          <p:cNvPr id="30" name="Shape 28"/>
          <p:cNvSpPr/>
          <p:nvPr/>
        </p:nvSpPr>
        <p:spPr>
          <a:xfrm>
            <a:off x="713232" y="5650992"/>
            <a:ext cx="365760" cy="365760"/>
          </a:xfrm>
          <a:prstGeom prst="ellipse">
            <a:avLst/>
          </a:prstGeom>
          <a:solidFill>
            <a:srgbClr val="C8891A"/>
          </a:solidFill>
          <a:ln w="12700">
            <a:solidFill>
              <a:srgbClr val="C8891A"/>
            </a:solidFill>
            <a:prstDash val="solid"/>
          </a:ln>
        </p:spPr>
      </p:sp>
      <p:sp>
        <p:nvSpPr>
          <p:cNvPr id="31" name="Text 29"/>
          <p:cNvSpPr txBox="1"/>
          <p:nvPr/>
        </p:nvSpPr>
        <p:spPr>
          <a:xfrm>
            <a:off x="713232" y="5650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32" name="Text 30"/>
          <p:cNvSpPr txBox="1"/>
          <p:nvPr/>
        </p:nvSpPr>
        <p:spPr>
          <a:xfrm>
            <a:off x="1243584" y="552297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「契約相手は Microsoft 一社」は Azure OpenAI に限った話</a:t>
            </a:r>
            <a:endParaRPr lang="en-US" sz="1150" dirty="0"/>
          </a:p>
        </p:txBody>
      </p:sp>
      <p:sp>
        <p:nvSpPr>
          <p:cNvPr id="33" name="Text 31"/>
          <p:cNvSpPr txBox="1"/>
          <p:nvPr/>
        </p:nvSpPr>
        <p:spPr>
          <a:xfrm>
            <a:off x="1243584" y="576072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Foundry 上の Claude 等パートナーモデルでは Anthropic が independent data processor となり、Anthropic の DPA と Commercial Terms が別に適用される（＝Bedrock と同じ二層構造）。一部の構成では “Data might be processed outside of Azure including outside of your selected Azure region”。</a:t>
            </a:r>
            <a:endParaRPr lang="en-US" sz="850" dirty="0"/>
          </a:p>
        </p:txBody>
      </p:sp>
      <p:sp>
        <p:nvSpPr>
          <p:cNvPr id="34"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5" name="Text 3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C の環境イメージ：閉域構成（Vertex AI ／ 東京リージョン）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locational endpoint に固定し、VPC Service Controls のデータ境界で「正当な認証情報を持つ主体による持ち出し」まで止める</a:t>
            </a:r>
            <a:endParaRPr lang="en-US" sz="1200" dirty="0"/>
          </a:p>
        </p:txBody>
      </p:sp>
      <p:sp>
        <p:nvSpPr>
          <p:cNvPr id="4" name="Shape 2"/>
          <p:cNvSpPr/>
          <p:nvPr/>
        </p:nvSpPr>
        <p:spPr>
          <a:xfrm>
            <a:off x="548640" y="1371600"/>
            <a:ext cx="2788920" cy="4023360"/>
          </a:xfrm>
          <a:prstGeom prst="roundRect">
            <a:avLst>
              <a:gd name="adj" fmla="val 3279"/>
            </a:avLst>
          </a:prstGeom>
          <a:solidFill>
            <a:srgbClr val="F4F7F5"/>
          </a:solidFill>
          <a:ln w="12700">
            <a:solidFill>
              <a:srgbClr val="C9D6CF"/>
            </a:solidFill>
            <a:prstDash val="solid"/>
          </a:ln>
        </p:spPr>
      </p:sp>
      <p:sp>
        <p:nvSpPr>
          <p:cNvPr id="5" name="Text 3"/>
          <p:cNvSpPr txBox="1"/>
          <p:nvPr/>
        </p:nvSpPr>
        <p:spPr>
          <a:xfrm>
            <a:off x="685800" y="1463040"/>
            <a:ext cx="2514600" cy="274320"/>
          </a:xfrm>
          <a:prstGeom prst="rect">
            <a:avLst/>
          </a:prstGeom>
          <a:noFill/>
          <a:ln/>
        </p:spPr>
        <p:txBody>
          <a:bodyPr wrap="square" lIns="0" tIns="0" rIns="0" bIns="0" rtlCol="0" anchor="ctr"/>
          <a:lstStyle/>
          <a:p>
            <a:pPr indent="0" marL="0">
              <a:buNone/>
            </a:pPr>
            <a:r>
              <a:rPr lang="en-US" sz="1100" b="1" dirty="0">
                <a:solidFill>
                  <a:srgbClr val="1B3A2F"/>
                </a:solidFill>
                <a:latin typeface="Meiryo" pitchFamily="34" charset="0"/>
                <a:ea typeface="Meiryo" pitchFamily="34" charset="-122"/>
                <a:cs typeface="Meiryo" pitchFamily="34" charset="-120"/>
              </a:rPr>
              <a:t>社内ネットワーク（オンプレ）</a:t>
            </a:r>
            <a:endParaRPr lang="en-US" sz="1100" dirty="0"/>
          </a:p>
        </p:txBody>
      </p:sp>
      <p:sp>
        <p:nvSpPr>
          <p:cNvPr id="6" name="Shape 4"/>
          <p:cNvSpPr/>
          <p:nvPr/>
        </p:nvSpPr>
        <p:spPr>
          <a:xfrm>
            <a:off x="685800" y="1828800"/>
            <a:ext cx="2514600" cy="960120"/>
          </a:xfrm>
          <a:prstGeom prst="roundRect">
            <a:avLst>
              <a:gd name="adj" fmla="val 7619"/>
            </a:avLst>
          </a:prstGeom>
          <a:solidFill>
            <a:srgbClr val="FFFFFF"/>
          </a:solidFill>
          <a:ln w="9525">
            <a:solidFill>
              <a:srgbClr val="C9D6CF"/>
            </a:solidFill>
            <a:prstDash val="solid"/>
          </a:ln>
        </p:spPr>
      </p:sp>
      <p:sp>
        <p:nvSpPr>
          <p:cNvPr id="7" name="Text 5"/>
          <p:cNvSpPr txBox="1"/>
          <p:nvPr/>
        </p:nvSpPr>
        <p:spPr>
          <a:xfrm>
            <a:off x="822960" y="1901952"/>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利用者（行員）</a:t>
            </a:r>
            <a:endParaRPr lang="en-US" sz="1100" dirty="0"/>
          </a:p>
        </p:txBody>
      </p:sp>
      <p:sp>
        <p:nvSpPr>
          <p:cNvPr id="8" name="Text 6"/>
          <p:cNvSpPr txBox="1"/>
          <p:nvPr/>
        </p:nvSpPr>
        <p:spPr>
          <a:xfrm>
            <a:off x="822960" y="2194560"/>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Cloud Identity ／ IdP で認証。権限は IAM で付与</a:t>
            </a:r>
            <a:endParaRPr lang="en-US" sz="900" dirty="0"/>
          </a:p>
        </p:txBody>
      </p:sp>
      <p:sp>
        <p:nvSpPr>
          <p:cNvPr id="9" name="Shape 7"/>
          <p:cNvSpPr/>
          <p:nvPr/>
        </p:nvSpPr>
        <p:spPr>
          <a:xfrm>
            <a:off x="685800" y="2944368"/>
            <a:ext cx="2514600" cy="960120"/>
          </a:xfrm>
          <a:prstGeom prst="roundRect">
            <a:avLst>
              <a:gd name="adj" fmla="val 7619"/>
            </a:avLst>
          </a:prstGeom>
          <a:solidFill>
            <a:srgbClr val="FFFFFF"/>
          </a:solidFill>
          <a:ln w="9525">
            <a:solidFill>
              <a:srgbClr val="C9D6CF"/>
            </a:solidFill>
            <a:prstDash val="solid"/>
          </a:ln>
        </p:spPr>
      </p:sp>
      <p:sp>
        <p:nvSpPr>
          <p:cNvPr id="10" name="Text 8"/>
          <p:cNvSpPr txBox="1"/>
          <p:nvPr/>
        </p:nvSpPr>
        <p:spPr>
          <a:xfrm>
            <a:off x="822960" y="3017520"/>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既存統制</a:t>
            </a:r>
            <a:endParaRPr lang="en-US" sz="1100" dirty="0"/>
          </a:p>
        </p:txBody>
      </p:sp>
      <p:sp>
        <p:nvSpPr>
          <p:cNvPr id="11" name="Text 9"/>
          <p:cNvSpPr txBox="1"/>
          <p:nvPr/>
        </p:nvSpPr>
        <p:spPr>
          <a:xfrm>
            <a:off x="822960" y="3310128"/>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Proxy／DLP／端末管理。GCP へは Cloud Interconnect／VPN のみ</a:t>
            </a:r>
            <a:endParaRPr lang="en-US" sz="900" dirty="0"/>
          </a:p>
        </p:txBody>
      </p:sp>
      <p:sp>
        <p:nvSpPr>
          <p:cNvPr id="12" name="Shape 10"/>
          <p:cNvSpPr/>
          <p:nvPr/>
        </p:nvSpPr>
        <p:spPr>
          <a:xfrm>
            <a:off x="685800" y="4059936"/>
            <a:ext cx="2514600" cy="960120"/>
          </a:xfrm>
          <a:prstGeom prst="roundRect">
            <a:avLst>
              <a:gd name="adj" fmla="val 7619"/>
            </a:avLst>
          </a:prstGeom>
          <a:solidFill>
            <a:srgbClr val="FFFFFF"/>
          </a:solidFill>
          <a:ln w="9525">
            <a:solidFill>
              <a:srgbClr val="C9D6CF"/>
            </a:solidFill>
            <a:prstDash val="solid"/>
          </a:ln>
        </p:spPr>
      </p:sp>
      <p:sp>
        <p:nvSpPr>
          <p:cNvPr id="13" name="Text 11"/>
          <p:cNvSpPr txBox="1"/>
          <p:nvPr/>
        </p:nvSpPr>
        <p:spPr>
          <a:xfrm>
            <a:off x="822960" y="4133088"/>
            <a:ext cx="2240280" cy="274320"/>
          </a:xfrm>
          <a:prstGeom prst="rect">
            <a:avLst/>
          </a:prstGeom>
          <a:noFill/>
          <a:ln/>
        </p:spPr>
        <p:txBody>
          <a:bodyPr wrap="square" lIns="0" tIns="0" rIns="0" bIns="0" rtlCol="0" anchor="ctr"/>
          <a:lstStyle/>
          <a:p>
            <a:pPr indent="0" marL="0">
              <a:buNone/>
            </a:pPr>
            <a:r>
              <a:rPr lang="en-US" sz="1100" b="1" dirty="0">
                <a:solidFill>
                  <a:srgbClr val="1F2A25"/>
                </a:solidFill>
                <a:latin typeface="Meiryo" pitchFamily="34" charset="0"/>
                <a:ea typeface="Meiryo" pitchFamily="34" charset="-122"/>
                <a:cs typeface="Meiryo" pitchFamily="34" charset="-120"/>
              </a:rPr>
              <a:t>社内文書・DB</a:t>
            </a:r>
            <a:endParaRPr lang="en-US" sz="1100" dirty="0"/>
          </a:p>
        </p:txBody>
      </p:sp>
      <p:sp>
        <p:nvSpPr>
          <p:cNvPr id="14" name="Text 12"/>
          <p:cNvSpPr txBox="1"/>
          <p:nvPr/>
        </p:nvSpPr>
        <p:spPr>
          <a:xfrm>
            <a:off x="822960" y="4425696"/>
            <a:ext cx="2240280" cy="54864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RAG の元データ。分類ラベルを付与して連携</a:t>
            </a:r>
            <a:endParaRPr lang="en-US" sz="900" dirty="0"/>
          </a:p>
        </p:txBody>
      </p:sp>
      <p:sp>
        <p:nvSpPr>
          <p:cNvPr id="15" name="Shape 13"/>
          <p:cNvSpPr/>
          <p:nvPr/>
        </p:nvSpPr>
        <p:spPr>
          <a:xfrm>
            <a:off x="3703320" y="1371600"/>
            <a:ext cx="5074920" cy="4023360"/>
          </a:xfrm>
          <a:prstGeom prst="roundRect">
            <a:avLst>
              <a:gd name="adj" fmla="val 2273"/>
            </a:avLst>
          </a:prstGeom>
          <a:solidFill>
            <a:srgbClr val="EEF5F1"/>
          </a:solidFill>
          <a:ln w="12700">
            <a:solidFill>
              <a:srgbClr val="2E5A48"/>
            </a:solidFill>
            <a:prstDash val="solid"/>
          </a:ln>
        </p:spPr>
      </p:sp>
      <p:sp>
        <p:nvSpPr>
          <p:cNvPr id="16" name="Text 14"/>
          <p:cNvSpPr txBox="1"/>
          <p:nvPr/>
        </p:nvSpPr>
        <p:spPr>
          <a:xfrm>
            <a:off x="3840480" y="1463040"/>
            <a:ext cx="4800600" cy="274320"/>
          </a:xfrm>
          <a:prstGeom prst="rect">
            <a:avLst/>
          </a:prstGeom>
          <a:noFill/>
          <a:ln/>
        </p:spPr>
        <p:txBody>
          <a:bodyPr wrap="square" lIns="0" tIns="0" rIns="0" bIns="0" rtlCol="0" anchor="ctr"/>
          <a:lstStyle/>
          <a:p>
            <a:pPr indent="0" marL="0">
              <a:buNone/>
            </a:pPr>
            <a:r>
              <a:rPr lang="en-US" sz="1000" b="1" dirty="0">
                <a:solidFill>
                  <a:srgbClr val="1B3A2F"/>
                </a:solidFill>
                <a:latin typeface="Meiryo" pitchFamily="34" charset="0"/>
                <a:ea typeface="Meiryo" pitchFamily="34" charset="-122"/>
                <a:cs typeface="Meiryo" pitchFamily="34" charset="-120"/>
              </a:rPr>
              <a:t>当行 GCP プロジェクト ｜ asia-northeast1（VPC Service Controls のサービス境界の内側）</a:t>
            </a:r>
            <a:endParaRPr lang="en-US" sz="1000" dirty="0"/>
          </a:p>
        </p:txBody>
      </p:sp>
      <p:sp>
        <p:nvSpPr>
          <p:cNvPr id="17" name="Shape 15"/>
          <p:cNvSpPr/>
          <p:nvPr/>
        </p:nvSpPr>
        <p:spPr>
          <a:xfrm>
            <a:off x="3840480" y="1828800"/>
            <a:ext cx="4800600" cy="777240"/>
          </a:xfrm>
          <a:prstGeom prst="roundRect">
            <a:avLst>
              <a:gd name="adj" fmla="val 9412"/>
            </a:avLst>
          </a:prstGeom>
          <a:solidFill>
            <a:srgbClr val="FFFFFF"/>
          </a:solidFill>
          <a:ln w="9525">
            <a:solidFill>
              <a:srgbClr val="C9D6CF"/>
            </a:solidFill>
            <a:prstDash val="solid"/>
          </a:ln>
        </p:spPr>
      </p:sp>
      <p:sp>
        <p:nvSpPr>
          <p:cNvPr id="18" name="Text 16"/>
          <p:cNvSpPr txBox="1"/>
          <p:nvPr/>
        </p:nvSpPr>
        <p:spPr>
          <a:xfrm>
            <a:off x="3977640" y="188366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AI Gateway ／ アプリ層</a:t>
            </a:r>
            <a:endParaRPr lang="en-US" sz="1050" dirty="0"/>
          </a:p>
        </p:txBody>
      </p:sp>
      <p:sp>
        <p:nvSpPr>
          <p:cNvPr id="19" name="Text 17"/>
          <p:cNvSpPr txBox="1"/>
          <p:nvPr/>
        </p:nvSpPr>
        <p:spPr>
          <a:xfrm>
            <a:off x="3977640" y="213969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認可・分類タグ検査・レート制御。呼び出しは locational endpoint に固定</a:t>
            </a:r>
            <a:endParaRPr lang="en-US" sz="850" dirty="0"/>
          </a:p>
        </p:txBody>
      </p:sp>
      <p:sp>
        <p:nvSpPr>
          <p:cNvPr id="20" name="Shape 18"/>
          <p:cNvSpPr/>
          <p:nvPr/>
        </p:nvSpPr>
        <p:spPr>
          <a:xfrm>
            <a:off x="3840480" y="2697480"/>
            <a:ext cx="4800600" cy="777240"/>
          </a:xfrm>
          <a:prstGeom prst="roundRect">
            <a:avLst>
              <a:gd name="adj" fmla="val 9412"/>
            </a:avLst>
          </a:prstGeom>
          <a:solidFill>
            <a:srgbClr val="FFFFFF"/>
          </a:solidFill>
          <a:ln w="9525">
            <a:solidFill>
              <a:srgbClr val="C9D6CF"/>
            </a:solidFill>
            <a:prstDash val="solid"/>
          </a:ln>
        </p:spPr>
      </p:sp>
      <p:sp>
        <p:nvSpPr>
          <p:cNvPr id="21" name="Text 19"/>
          <p:cNvSpPr txBox="1"/>
          <p:nvPr/>
        </p:nvSpPr>
        <p:spPr>
          <a:xfrm>
            <a:off x="3977640" y="275234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RAG（Vertex AI Search ／ BigQuery）</a:t>
            </a:r>
            <a:endParaRPr lang="en-US" sz="1050" dirty="0"/>
          </a:p>
        </p:txBody>
      </p:sp>
      <p:sp>
        <p:nvSpPr>
          <p:cNvPr id="22" name="Text 20"/>
          <p:cNvSpPr txBox="1"/>
          <p:nvPr/>
        </p:nvSpPr>
        <p:spPr>
          <a:xfrm>
            <a:off x="3977640" y="300837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CMEK で暗号化。RAG Engine と Grounding with Google Search は data residency 対象外のため使わない</a:t>
            </a:r>
            <a:endParaRPr lang="en-US" sz="850" dirty="0"/>
          </a:p>
        </p:txBody>
      </p:sp>
      <p:sp>
        <p:nvSpPr>
          <p:cNvPr id="23" name="Shape 21"/>
          <p:cNvSpPr/>
          <p:nvPr/>
        </p:nvSpPr>
        <p:spPr>
          <a:xfrm>
            <a:off x="3840480" y="3566160"/>
            <a:ext cx="4800600" cy="777240"/>
          </a:xfrm>
          <a:prstGeom prst="roundRect">
            <a:avLst>
              <a:gd name="adj" fmla="val 9412"/>
            </a:avLst>
          </a:prstGeom>
          <a:solidFill>
            <a:srgbClr val="FFFFFF"/>
          </a:solidFill>
          <a:ln w="9525">
            <a:solidFill>
              <a:srgbClr val="C9D6CF"/>
            </a:solidFill>
            <a:prstDash val="solid"/>
          </a:ln>
        </p:spPr>
      </p:sp>
      <p:sp>
        <p:nvSpPr>
          <p:cNvPr id="24" name="Text 22"/>
          <p:cNvSpPr txBox="1"/>
          <p:nvPr/>
        </p:nvSpPr>
        <p:spPr>
          <a:xfrm>
            <a:off x="3977640" y="3621024"/>
            <a:ext cx="4526280" cy="256032"/>
          </a:xfrm>
          <a:prstGeom prst="rect">
            <a:avLst/>
          </a:prstGeom>
          <a:noFill/>
          <a:ln/>
        </p:spPr>
        <p:txBody>
          <a:bodyPr wrap="square" lIns="0" tIns="0" rIns="0" bIns="0" rtlCol="0" anchor="ctr"/>
          <a:lstStyle/>
          <a:p>
            <a:pPr indent="0" marL="0">
              <a:buNone/>
            </a:pPr>
            <a:r>
              <a:rPr lang="en-US" sz="1050" b="1" dirty="0">
                <a:solidFill>
                  <a:srgbClr val="1F2A25"/>
                </a:solidFill>
                <a:latin typeface="Meiryo" pitchFamily="34" charset="0"/>
                <a:ea typeface="Meiryo" pitchFamily="34" charset="-122"/>
                <a:cs typeface="Meiryo" pitchFamily="34" charset="-120"/>
              </a:rPr>
              <a:t>自社ガードレール層</a:t>
            </a:r>
            <a:endParaRPr lang="en-US" sz="1050" dirty="0"/>
          </a:p>
        </p:txBody>
      </p:sp>
      <p:sp>
        <p:nvSpPr>
          <p:cNvPr id="25" name="Text 23"/>
          <p:cNvSpPr txBox="1"/>
          <p:nvPr/>
        </p:nvSpPr>
        <p:spPr>
          <a:xfrm>
            <a:off x="3977640" y="387705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Cloud DLP による PII 検知・マスキング、出力の grounding 検証、Human-in-the-loop 振分け</a:t>
            </a:r>
            <a:endParaRPr lang="en-US" sz="850" dirty="0"/>
          </a:p>
        </p:txBody>
      </p:sp>
      <p:sp>
        <p:nvSpPr>
          <p:cNvPr id="26" name="Shape 24"/>
          <p:cNvSpPr/>
          <p:nvPr/>
        </p:nvSpPr>
        <p:spPr>
          <a:xfrm>
            <a:off x="3840480" y="4434840"/>
            <a:ext cx="4800600" cy="777240"/>
          </a:xfrm>
          <a:prstGeom prst="roundRect">
            <a:avLst>
              <a:gd name="adj" fmla="val 9412"/>
            </a:avLst>
          </a:prstGeom>
          <a:solidFill>
            <a:srgbClr val="E5EEF4"/>
          </a:solidFill>
          <a:ln w="9525">
            <a:solidFill>
              <a:srgbClr val="3B6E8F"/>
            </a:solidFill>
            <a:prstDash val="solid"/>
          </a:ln>
        </p:spPr>
      </p:sp>
      <p:sp>
        <p:nvSpPr>
          <p:cNvPr id="27" name="Text 25"/>
          <p:cNvSpPr txBox="1"/>
          <p:nvPr/>
        </p:nvSpPr>
        <p:spPr>
          <a:xfrm>
            <a:off x="3977640" y="4489704"/>
            <a:ext cx="4526280" cy="256032"/>
          </a:xfrm>
          <a:prstGeom prst="rect">
            <a:avLst/>
          </a:prstGeom>
          <a:noFill/>
          <a:ln/>
        </p:spPr>
        <p:txBody>
          <a:bodyPr wrap="square" lIns="0" tIns="0" rIns="0" bIns="0" rtlCol="0" anchor="ctr"/>
          <a:lstStyle/>
          <a:p>
            <a:pPr indent="0" marL="0">
              <a:buNone/>
            </a:pPr>
            <a:r>
              <a:rPr lang="en-US" sz="1050" b="1" dirty="0">
                <a:solidFill>
                  <a:srgbClr val="3B6E8F"/>
                </a:solidFill>
                <a:latin typeface="Meiryo" pitchFamily="34" charset="0"/>
                <a:ea typeface="Meiryo" pitchFamily="34" charset="-122"/>
                <a:cs typeface="Meiryo" pitchFamily="34" charset="-120"/>
              </a:rPr>
              <a:t>Private Service Connect</a:t>
            </a:r>
            <a:endParaRPr lang="en-US" sz="1050" dirty="0"/>
          </a:p>
        </p:txBody>
      </p:sp>
      <p:sp>
        <p:nvSpPr>
          <p:cNvPr id="28" name="Text 26"/>
          <p:cNvSpPr txBox="1"/>
          <p:nvPr/>
        </p:nvSpPr>
        <p:spPr>
          <a:xfrm>
            <a:off x="3977640" y="4745736"/>
            <a:ext cx="4526280" cy="457200"/>
          </a:xfrm>
          <a:prstGeom prst="rect">
            <a:avLst/>
          </a:prstGeom>
          <a:noFill/>
          <a:ln/>
        </p:spPr>
        <p:txBody>
          <a:bodyPr wrap="square" lIns="0" tIns="0" rIns="0" bIns="0" rtlCol="0" anchor="ctr"/>
          <a:lstStyle/>
          <a:p>
            <a:pPr indent="0" marL="0">
              <a:lnSpc>
                <a:spcPct val="112000"/>
              </a:lnSpc>
              <a:buNone/>
            </a:pPr>
            <a:r>
              <a:rPr lang="en-US" sz="850" dirty="0">
                <a:solidFill>
                  <a:srgbClr val="5B6B63"/>
                </a:solidFill>
                <a:latin typeface="Meiryo" pitchFamily="34" charset="0"/>
                <a:ea typeface="Meiryo" pitchFamily="34" charset="-122"/>
                <a:cs typeface="Meiryo" pitchFamily="34" charset="-120"/>
              </a:rPr>
              <a:t>オンプレから GenAI API へ到達。公衆網を経由しない</a:t>
            </a:r>
            <a:endParaRPr lang="en-US" sz="850" dirty="0"/>
          </a:p>
        </p:txBody>
      </p:sp>
      <p:sp>
        <p:nvSpPr>
          <p:cNvPr id="29" name="Shape 27"/>
          <p:cNvSpPr/>
          <p:nvPr/>
        </p:nvSpPr>
        <p:spPr>
          <a:xfrm>
            <a:off x="9144000" y="1371600"/>
            <a:ext cx="2514600" cy="4023360"/>
          </a:xfrm>
          <a:prstGeom prst="roundRect">
            <a:avLst>
              <a:gd name="adj" fmla="val 3636"/>
            </a:avLst>
          </a:prstGeom>
          <a:solidFill>
            <a:srgbClr val="1B3A2F"/>
          </a:solidFill>
          <a:ln w="12700">
            <a:solidFill>
              <a:srgbClr val="1B3A2F"/>
            </a:solidFill>
            <a:prstDash val="solid"/>
          </a:ln>
        </p:spPr>
      </p:sp>
      <p:sp>
        <p:nvSpPr>
          <p:cNvPr id="30" name="Text 28"/>
          <p:cNvSpPr txBox="1"/>
          <p:nvPr/>
        </p:nvSpPr>
        <p:spPr>
          <a:xfrm>
            <a:off x="9281160" y="1463040"/>
            <a:ext cx="2240280" cy="274320"/>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Vertex AI（Google 運用）</a:t>
            </a:r>
            <a:endParaRPr lang="en-US" sz="1000" dirty="0"/>
          </a:p>
        </p:txBody>
      </p:sp>
      <p:sp>
        <p:nvSpPr>
          <p:cNvPr id="31" name="Shape 29"/>
          <p:cNvSpPr/>
          <p:nvPr/>
        </p:nvSpPr>
        <p:spPr>
          <a:xfrm>
            <a:off x="9281160" y="1828800"/>
            <a:ext cx="2240280" cy="1024128"/>
          </a:xfrm>
          <a:prstGeom prst="roundRect">
            <a:avLst>
              <a:gd name="adj" fmla="val 5357"/>
            </a:avLst>
          </a:prstGeom>
          <a:solidFill>
            <a:srgbClr val="2A4D3E"/>
          </a:solidFill>
          <a:ln w="12700">
            <a:solidFill>
              <a:srgbClr val="2A4D3E"/>
            </a:solidFill>
            <a:prstDash val="solid"/>
          </a:ln>
        </p:spPr>
      </p:sp>
      <p:sp>
        <p:nvSpPr>
          <p:cNvPr id="32" name="Text 30"/>
          <p:cNvSpPr txBox="1"/>
          <p:nvPr/>
        </p:nvSpPr>
        <p:spPr>
          <a:xfrm>
            <a:off x="9390888" y="1892808"/>
            <a:ext cx="2020824" cy="274320"/>
          </a:xfrm>
          <a:prstGeom prst="rect">
            <a:avLst/>
          </a:prstGeom>
          <a:noFill/>
          <a:ln/>
        </p:spPr>
        <p:txBody>
          <a:bodyPr wrap="square" lIns="0" tIns="0" rIns="0" bIns="0" rtlCol="0" anchor="ctr"/>
          <a:lstStyle/>
          <a:p>
            <a:pPr indent="0" marL="0">
              <a:buNone/>
            </a:pPr>
            <a:r>
              <a:rPr lang="en-US" sz="900" b="1" dirty="0">
                <a:solidFill>
                  <a:srgbClr val="C8891A"/>
                </a:solidFill>
                <a:latin typeface="Meiryo" pitchFamily="34" charset="0"/>
                <a:ea typeface="Meiryo" pitchFamily="34" charset="-122"/>
                <a:cs typeface="Meiryo" pitchFamily="34" charset="-120"/>
              </a:rPr>
              <a:t>locational endpoint</a:t>
            </a:r>
            <a:endParaRPr lang="en-US" sz="900" dirty="0"/>
          </a:p>
        </p:txBody>
      </p:sp>
      <p:sp>
        <p:nvSpPr>
          <p:cNvPr id="33" name="Text 31"/>
          <p:cNvSpPr txBox="1"/>
          <p:nvPr/>
        </p:nvSpPr>
        <p:spPr>
          <a:xfrm>
            <a:off x="9390888" y="2176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asia-northeast1／2。global endpoint は組織ポリシーで禁止する</a:t>
            </a:r>
            <a:endParaRPr lang="en-US" sz="800" dirty="0"/>
          </a:p>
        </p:txBody>
      </p:sp>
      <p:sp>
        <p:nvSpPr>
          <p:cNvPr id="34" name="Shape 32"/>
          <p:cNvSpPr/>
          <p:nvPr/>
        </p:nvSpPr>
        <p:spPr>
          <a:xfrm>
            <a:off x="9281160" y="2971800"/>
            <a:ext cx="2240280" cy="1024128"/>
          </a:xfrm>
          <a:prstGeom prst="roundRect">
            <a:avLst>
              <a:gd name="adj" fmla="val 5357"/>
            </a:avLst>
          </a:prstGeom>
          <a:solidFill>
            <a:srgbClr val="2A4D3E"/>
          </a:solidFill>
          <a:ln w="12700">
            <a:solidFill>
              <a:srgbClr val="2A4D3E"/>
            </a:solidFill>
            <a:prstDash val="solid"/>
          </a:ln>
        </p:spPr>
      </p:sp>
      <p:sp>
        <p:nvSpPr>
          <p:cNvPr id="35" name="Text 33"/>
          <p:cNvSpPr txBox="1"/>
          <p:nvPr/>
        </p:nvSpPr>
        <p:spPr>
          <a:xfrm>
            <a:off x="9390888" y="3035808"/>
            <a:ext cx="2020824" cy="274320"/>
          </a:xfrm>
          <a:prstGeom prst="rect">
            <a:avLst/>
          </a:prstGeom>
          <a:noFill/>
          <a:ln/>
        </p:spPr>
        <p:txBody>
          <a:bodyPr wrap="square" lIns="0" tIns="0" rIns="0" bIns="0" rtlCol="0" anchor="ctr"/>
          <a:lstStyle/>
          <a:p>
            <a:pPr indent="0" marL="0">
              <a:buNone/>
            </a:pPr>
            <a:r>
              <a:rPr lang="en-US" sz="900" b="1" dirty="0">
                <a:solidFill>
                  <a:srgbClr val="C8891A"/>
                </a:solidFill>
                <a:latin typeface="Meiryo" pitchFamily="34" charset="0"/>
                <a:ea typeface="Meiryo" pitchFamily="34" charset="-122"/>
                <a:cs typeface="Meiryo" pitchFamily="34" charset="-120"/>
              </a:rPr>
              <a:t>abuse monitoring</a:t>
            </a:r>
            <a:endParaRPr lang="en-US" sz="900" dirty="0"/>
          </a:p>
        </p:txBody>
      </p:sp>
      <p:sp>
        <p:nvSpPr>
          <p:cNvPr id="36" name="Text 34"/>
          <p:cNvSpPr txBox="1"/>
          <p:nvPr/>
        </p:nvSpPr>
        <p:spPr>
          <a:xfrm>
            <a:off x="9390888" y="3319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既定でプロンプトを最大 90 日、同一リージョン内に保存。承認された Google 社員が閲覧しうる</a:t>
            </a:r>
            <a:endParaRPr lang="en-US" sz="800" dirty="0"/>
          </a:p>
        </p:txBody>
      </p:sp>
      <p:sp>
        <p:nvSpPr>
          <p:cNvPr id="37" name="Shape 35"/>
          <p:cNvSpPr/>
          <p:nvPr/>
        </p:nvSpPr>
        <p:spPr>
          <a:xfrm>
            <a:off x="9281160" y="4114800"/>
            <a:ext cx="2240280" cy="1024128"/>
          </a:xfrm>
          <a:prstGeom prst="roundRect">
            <a:avLst>
              <a:gd name="adj" fmla="val 5357"/>
            </a:avLst>
          </a:prstGeom>
          <a:solidFill>
            <a:srgbClr val="2A4D3E"/>
          </a:solidFill>
          <a:ln w="12700">
            <a:solidFill>
              <a:srgbClr val="2A4D3E"/>
            </a:solidFill>
            <a:prstDash val="solid"/>
          </a:ln>
        </p:spPr>
      </p:sp>
      <p:sp>
        <p:nvSpPr>
          <p:cNvPr id="38" name="Text 36"/>
          <p:cNvSpPr txBox="1"/>
          <p:nvPr/>
        </p:nvSpPr>
        <p:spPr>
          <a:xfrm>
            <a:off x="9390888" y="4178808"/>
            <a:ext cx="2020824" cy="274320"/>
          </a:xfrm>
          <a:prstGeom prst="rect">
            <a:avLst/>
          </a:prstGeom>
          <a:noFill/>
          <a:ln/>
        </p:spPr>
        <p:txBody>
          <a:bodyPr wrap="square" lIns="0" tIns="0" rIns="0" bIns="0" rtlCol="0" anchor="ctr"/>
          <a:lstStyle/>
          <a:p>
            <a:pPr indent="0" marL="0">
              <a:buNone/>
            </a:pPr>
            <a:r>
              <a:rPr lang="en-US" sz="900" b="1" dirty="0">
                <a:solidFill>
                  <a:srgbClr val="C8891A"/>
                </a:solidFill>
                <a:latin typeface="Meiryo" pitchFamily="34" charset="0"/>
                <a:ea typeface="Meiryo" pitchFamily="34" charset="-122"/>
                <a:cs typeface="Meiryo" pitchFamily="34" charset="-120"/>
              </a:rPr>
              <a:t>Access Transparency ／ Approval</a:t>
            </a:r>
            <a:endParaRPr lang="en-US" sz="900" dirty="0"/>
          </a:p>
        </p:txBody>
      </p:sp>
      <p:sp>
        <p:nvSpPr>
          <p:cNvPr id="39" name="Text 37"/>
          <p:cNvSpPr txBox="1"/>
          <p:nvPr/>
        </p:nvSpPr>
        <p:spPr>
          <a:xfrm>
            <a:off x="9390888" y="4462272"/>
            <a:ext cx="2020824" cy="640080"/>
          </a:xfrm>
          <a:prstGeom prst="rect">
            <a:avLst/>
          </a:prstGeom>
          <a:noFill/>
          <a:ln/>
        </p:spPr>
        <p:txBody>
          <a:bodyPr wrap="square" lIns="0" tIns="0" rIns="0" bIns="0" rtlCol="0" anchor="ctr"/>
          <a:lstStyle/>
          <a:p>
            <a:pPr indent="0" marL="0">
              <a:lnSpc>
                <a:spcPct val="112000"/>
              </a:lnSpc>
              <a:buNone/>
            </a:pPr>
            <a:r>
              <a:rPr lang="en-US" sz="800" dirty="0">
                <a:solidFill>
                  <a:srgbClr val="D7E3DC"/>
                </a:solidFill>
                <a:latin typeface="Meiryo" pitchFamily="34" charset="0"/>
                <a:ea typeface="Meiryo" pitchFamily="34" charset="-122"/>
                <a:cs typeface="Meiryo" pitchFamily="34" charset="-120"/>
              </a:rPr>
              <a:t>Google 社員のアクセスがログに出る（所在地・雇用主体・職種）。要求を承認／拒否できる</a:t>
            </a:r>
            <a:endParaRPr lang="en-US" sz="800" dirty="0"/>
          </a:p>
        </p:txBody>
      </p:sp>
      <p:sp>
        <p:nvSpPr>
          <p:cNvPr id="40" name="Shape 38"/>
          <p:cNvSpPr/>
          <p:nvPr/>
        </p:nvSpPr>
        <p:spPr>
          <a:xfrm>
            <a:off x="3337560" y="3246120"/>
            <a:ext cx="365760" cy="0"/>
          </a:xfrm>
          <a:prstGeom prst="line">
            <a:avLst/>
          </a:prstGeom>
          <a:noFill/>
          <a:ln w="25400">
            <a:solidFill>
              <a:srgbClr val="2E5A48"/>
            </a:solidFill>
            <a:prstDash val="solid"/>
            <a:tailEnd type="triangle"/>
          </a:ln>
        </p:spPr>
      </p:sp>
      <p:sp>
        <p:nvSpPr>
          <p:cNvPr id="41" name="Text 39"/>
          <p:cNvSpPr txBox="1"/>
          <p:nvPr/>
        </p:nvSpPr>
        <p:spPr>
          <a:xfrm>
            <a:off x="3355848" y="2852928"/>
            <a:ext cx="329184" cy="347472"/>
          </a:xfrm>
          <a:prstGeom prst="rect">
            <a:avLst/>
          </a:prstGeom>
          <a:noFill/>
          <a:ln/>
        </p:spPr>
        <p:txBody>
          <a:bodyPr wrap="square" lIns="0" tIns="0" rIns="0" bIns="0" rtlCol="0" anchor="ctr"/>
          <a:lstStyle/>
          <a:p>
            <a:pPr algn="ctr" indent="0" marL="0">
              <a:buNone/>
            </a:pPr>
            <a:r>
              <a:rPr lang="en-US" sz="700" dirty="0">
                <a:solidFill>
                  <a:srgbClr val="2E5A48"/>
                </a:solidFill>
                <a:latin typeface="Meiryo" pitchFamily="34" charset="0"/>
                <a:ea typeface="Meiryo" pitchFamily="34" charset="-122"/>
                <a:cs typeface="Meiryo" pitchFamily="34" charset="-120"/>
              </a:rPr>
              <a:t>IC /</a:t>
            </a:r>
            <a:endParaRPr lang="en-US" sz="700" dirty="0"/>
          </a:p>
          <a:p>
            <a:pPr algn="ctr" indent="0" marL="0">
              <a:buNone/>
            </a:pPr>
            <a:r>
              <a:rPr lang="en-US" sz="700" dirty="0">
                <a:solidFill>
                  <a:srgbClr val="2E5A48"/>
                </a:solidFill>
                <a:latin typeface="Meiryo" pitchFamily="34" charset="0"/>
                <a:ea typeface="Meiryo" pitchFamily="34" charset="-122"/>
                <a:cs typeface="Meiryo" pitchFamily="34" charset="-120"/>
              </a:rPr>
              <a:t>VPN</a:t>
            </a:r>
            <a:endParaRPr lang="en-US" sz="700" dirty="0"/>
          </a:p>
        </p:txBody>
      </p:sp>
      <p:sp>
        <p:nvSpPr>
          <p:cNvPr id="42" name="Shape 40"/>
          <p:cNvSpPr/>
          <p:nvPr/>
        </p:nvSpPr>
        <p:spPr>
          <a:xfrm>
            <a:off x="8778240" y="4389120"/>
            <a:ext cx="365760" cy="0"/>
          </a:xfrm>
          <a:prstGeom prst="line">
            <a:avLst/>
          </a:prstGeom>
          <a:noFill/>
          <a:ln w="25400">
            <a:solidFill>
              <a:srgbClr val="3B6E8F"/>
            </a:solidFill>
            <a:prstDash val="solid"/>
            <a:tailEnd type="triangle"/>
          </a:ln>
        </p:spPr>
      </p:sp>
      <p:sp>
        <p:nvSpPr>
          <p:cNvPr id="43" name="Text 41"/>
          <p:cNvSpPr txBox="1"/>
          <p:nvPr/>
        </p:nvSpPr>
        <p:spPr>
          <a:xfrm>
            <a:off x="8732520" y="4069080"/>
            <a:ext cx="457200" cy="256032"/>
          </a:xfrm>
          <a:prstGeom prst="rect">
            <a:avLst/>
          </a:prstGeom>
          <a:noFill/>
          <a:ln/>
        </p:spPr>
        <p:txBody>
          <a:bodyPr wrap="square" lIns="0" tIns="0" rIns="0" bIns="0" rtlCol="0" anchor="ctr"/>
          <a:lstStyle/>
          <a:p>
            <a:pPr algn="ctr" indent="0" marL="0">
              <a:buNone/>
            </a:pPr>
            <a:r>
              <a:rPr lang="en-US" sz="700" dirty="0">
                <a:solidFill>
                  <a:srgbClr val="3B6E8F"/>
                </a:solidFill>
                <a:latin typeface="Meiryo" pitchFamily="34" charset="0"/>
                <a:ea typeface="Meiryo" pitchFamily="34" charset="-122"/>
                <a:cs typeface="Meiryo" pitchFamily="34" charset="-120"/>
              </a:rPr>
              <a:t>TLS</a:t>
            </a:r>
            <a:endParaRPr lang="en-US" sz="700" dirty="0"/>
          </a:p>
        </p:txBody>
      </p:sp>
      <p:sp>
        <p:nvSpPr>
          <p:cNvPr id="44" name="Shape 42"/>
          <p:cNvSpPr/>
          <p:nvPr/>
        </p:nvSpPr>
        <p:spPr>
          <a:xfrm>
            <a:off x="548640" y="5532120"/>
            <a:ext cx="3611880" cy="822960"/>
          </a:xfrm>
          <a:prstGeom prst="roundRect">
            <a:avLst>
              <a:gd name="adj" fmla="val 8889"/>
            </a:avLst>
          </a:prstGeom>
          <a:solidFill>
            <a:srgbClr val="FBF1DF"/>
          </a:solidFill>
          <a:ln w="9525">
            <a:solidFill>
              <a:srgbClr val="FBF1DF"/>
            </a:solidFill>
            <a:prstDash val="solid"/>
          </a:ln>
        </p:spPr>
      </p:sp>
      <p:sp>
        <p:nvSpPr>
          <p:cNvPr id="45" name="Text 43"/>
          <p:cNvSpPr txBox="1"/>
          <p:nvPr/>
        </p:nvSpPr>
        <p:spPr>
          <a:xfrm>
            <a:off x="658368" y="5577840"/>
            <a:ext cx="3383280" cy="201168"/>
          </a:xfrm>
          <a:prstGeom prst="rect">
            <a:avLst/>
          </a:prstGeom>
          <a:noFill/>
          <a:ln/>
        </p:spPr>
        <p:txBody>
          <a:bodyPr wrap="square" lIns="0" tIns="0" rIns="0" bIns="0" rtlCol="0" anchor="ctr"/>
          <a:lstStyle/>
          <a:p>
            <a:pPr indent="0" marL="0">
              <a:buNone/>
            </a:pPr>
            <a:r>
              <a:rPr lang="en-US" sz="950" b="1" dirty="0">
                <a:solidFill>
                  <a:srgbClr val="8F5F0E"/>
                </a:solidFill>
                <a:latin typeface="Meiryo" pitchFamily="34" charset="0"/>
                <a:ea typeface="Meiryo" pitchFamily="34" charset="-122"/>
                <a:cs typeface="Meiryo" pitchFamily="34" charset="-120"/>
              </a:rPr>
              <a:t>組織ポリシーによる強制</a:t>
            </a:r>
            <a:endParaRPr lang="en-US" sz="950" dirty="0"/>
          </a:p>
        </p:txBody>
      </p:sp>
      <p:sp>
        <p:nvSpPr>
          <p:cNvPr id="46" name="Text 44"/>
          <p:cNvSpPr txBox="1"/>
          <p:nvPr/>
        </p:nvSpPr>
        <p:spPr>
          <a:xfrm>
            <a:off x="65836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gcp.restrictEndpointUsage で locational endpoint のみ許可し global を禁止。※ gcp.resourceLocations は SDK／REST に効かないため単独では不可</a:t>
            </a:r>
            <a:endParaRPr lang="en-US" sz="750" dirty="0"/>
          </a:p>
        </p:txBody>
      </p:sp>
      <p:sp>
        <p:nvSpPr>
          <p:cNvPr id="47" name="Shape 45"/>
          <p:cNvSpPr/>
          <p:nvPr/>
        </p:nvSpPr>
        <p:spPr>
          <a:xfrm>
            <a:off x="4297680" y="5532120"/>
            <a:ext cx="3611880" cy="822960"/>
          </a:xfrm>
          <a:prstGeom prst="roundRect">
            <a:avLst>
              <a:gd name="adj" fmla="val 8889"/>
            </a:avLst>
          </a:prstGeom>
          <a:solidFill>
            <a:srgbClr val="FBF1DF"/>
          </a:solidFill>
          <a:ln w="9525">
            <a:solidFill>
              <a:srgbClr val="FBF1DF"/>
            </a:solidFill>
            <a:prstDash val="solid"/>
          </a:ln>
        </p:spPr>
      </p:sp>
      <p:sp>
        <p:nvSpPr>
          <p:cNvPr id="48" name="Text 46"/>
          <p:cNvSpPr txBox="1"/>
          <p:nvPr/>
        </p:nvSpPr>
        <p:spPr>
          <a:xfrm>
            <a:off x="4407408" y="5577840"/>
            <a:ext cx="3383280" cy="201168"/>
          </a:xfrm>
          <a:prstGeom prst="rect">
            <a:avLst/>
          </a:prstGeom>
          <a:noFill/>
          <a:ln/>
        </p:spPr>
        <p:txBody>
          <a:bodyPr wrap="square" lIns="0" tIns="0" rIns="0" bIns="0" rtlCol="0" anchor="ctr"/>
          <a:lstStyle/>
          <a:p>
            <a:pPr indent="0" marL="0">
              <a:buNone/>
            </a:pPr>
            <a:r>
              <a:rPr lang="en-US" sz="950" b="1" dirty="0">
                <a:solidFill>
                  <a:srgbClr val="8F5F0E"/>
                </a:solidFill>
                <a:latin typeface="Meiryo" pitchFamily="34" charset="0"/>
                <a:ea typeface="Meiryo" pitchFamily="34" charset="-122"/>
                <a:cs typeface="Meiryo" pitchFamily="34" charset="-120"/>
              </a:rPr>
              <a:t>データ境界</a:t>
            </a:r>
            <a:endParaRPr lang="en-US" sz="950" dirty="0"/>
          </a:p>
        </p:txBody>
      </p:sp>
      <p:sp>
        <p:nvSpPr>
          <p:cNvPr id="49" name="Text 47"/>
          <p:cNvSpPr txBox="1"/>
          <p:nvPr/>
        </p:nvSpPr>
        <p:spPr>
          <a:xfrm>
            <a:off x="440740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VPC Service Controls に aiplatform.googleapis.com を入れる。IAM 上正当な主体による境界外への持ち出しも止まる</a:t>
            </a:r>
            <a:endParaRPr lang="en-US" sz="750" dirty="0"/>
          </a:p>
        </p:txBody>
      </p:sp>
      <p:sp>
        <p:nvSpPr>
          <p:cNvPr id="50" name="Shape 48"/>
          <p:cNvSpPr/>
          <p:nvPr/>
        </p:nvSpPr>
        <p:spPr>
          <a:xfrm>
            <a:off x="8046720" y="5532120"/>
            <a:ext cx="3611880" cy="822960"/>
          </a:xfrm>
          <a:prstGeom prst="roundRect">
            <a:avLst>
              <a:gd name="adj" fmla="val 8889"/>
            </a:avLst>
          </a:prstGeom>
          <a:solidFill>
            <a:srgbClr val="FBF1DF"/>
          </a:solidFill>
          <a:ln w="9525">
            <a:solidFill>
              <a:srgbClr val="FBF1DF"/>
            </a:solidFill>
            <a:prstDash val="solid"/>
          </a:ln>
        </p:spPr>
      </p:sp>
      <p:sp>
        <p:nvSpPr>
          <p:cNvPr id="51" name="Text 49"/>
          <p:cNvSpPr txBox="1"/>
          <p:nvPr/>
        </p:nvSpPr>
        <p:spPr>
          <a:xfrm>
            <a:off x="8156448" y="5577840"/>
            <a:ext cx="3383280" cy="201168"/>
          </a:xfrm>
          <a:prstGeom prst="rect">
            <a:avLst/>
          </a:prstGeom>
          <a:noFill/>
          <a:ln/>
        </p:spPr>
        <p:txBody>
          <a:bodyPr wrap="square" lIns="0" tIns="0" rIns="0" bIns="0" rtlCol="0" anchor="ctr"/>
          <a:lstStyle/>
          <a:p>
            <a:pPr indent="0" marL="0">
              <a:buNone/>
            </a:pPr>
            <a:r>
              <a:rPr lang="en-US" sz="950" b="1" dirty="0">
                <a:solidFill>
                  <a:srgbClr val="8F5F0E"/>
                </a:solidFill>
                <a:latin typeface="Meiryo" pitchFamily="34" charset="0"/>
                <a:ea typeface="Meiryo" pitchFamily="34" charset="-122"/>
                <a:cs typeface="Meiryo" pitchFamily="34" charset="-120"/>
              </a:rPr>
              <a:t>鍵とログ</a:t>
            </a:r>
            <a:endParaRPr lang="en-US" sz="950" dirty="0"/>
          </a:p>
        </p:txBody>
      </p:sp>
      <p:sp>
        <p:nvSpPr>
          <p:cNvPr id="52" name="Text 50"/>
          <p:cNvSpPr txBox="1"/>
          <p:nvPr/>
        </p:nvSpPr>
        <p:spPr>
          <a:xfrm>
            <a:off x="8156448" y="5797296"/>
            <a:ext cx="3383280" cy="530352"/>
          </a:xfrm>
          <a:prstGeom prst="rect">
            <a:avLst/>
          </a:prstGeom>
          <a:noFill/>
          <a:ln/>
        </p:spPr>
        <p:txBody>
          <a:bodyPr wrap="square" lIns="0" tIns="0" rIns="0" bIns="0" rtlCol="0" anchor="ctr"/>
          <a:lstStyle/>
          <a:p>
            <a:pPr indent="0" marL="0">
              <a:lnSpc>
                <a:spcPct val="110000"/>
              </a:lnSpc>
              <a:buNone/>
            </a:pPr>
            <a:r>
              <a:rPr lang="en-US" sz="750" dirty="0">
                <a:solidFill>
                  <a:srgbClr val="1F2A25"/>
                </a:solidFill>
                <a:latin typeface="Meiryo" pitchFamily="34" charset="0"/>
                <a:ea typeface="Meiryo" pitchFamily="34" charset="-122"/>
                <a:cs typeface="Meiryo" pitchFamily="34" charset="-120"/>
              </a:rPr>
              <a:t>CMEK。request-response logging で full_request／full_response を BigQuery に記録（既定 off、サンプリング率を指定）</a:t>
            </a:r>
            <a:endParaRPr lang="en-US" sz="750" dirty="0"/>
          </a:p>
        </p:txBody>
      </p:sp>
      <p:sp>
        <p:nvSpPr>
          <p:cNvPr id="53" name="Text 5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54" name="Text 5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C の 8 要件充足状況</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第 1 部で定義した要件に、Vertex AI（asia-northeast1）を当てた結果。強度 L1〜L5 は p.9 の階梯</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371600"/>
                <a:gridCol w="3931920"/>
                <a:gridCol w="4690872"/>
                <a:gridCol w="1097280"/>
              </a:tblGrid>
              <a:tr h="292608">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要件</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担保されていること</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破れる条件・残る課題</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到達強度</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① データの所在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asia-northeast1／2 の locational endpoint が存在。組織ポリシー gcp.restrictEndpointUsage で global を禁止できる。Assured Workloads の Japan Data Boundary は data in use にも及ぶ</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gcp.resourceLocations は Agent Studio(UI) にしか効かず「Gen AI SDK・REST API では強制されない」と公式に明記。Grounding with Google Search と RAG Engine は data residency の対象外。日本リージョンでの Gemini 世代別提供可否は未確認</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② 保持</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申請が承認されれば「当該アカウントのプロンプトを一切保存しない」状態にできる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既定は保存する。“Google may log customer prompts … stored securely for up to 90 days in the same region”。承認された Google 社員が閲覧しうる。承認は Google の裁量</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③ 学習利用</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無学習は Service Specific Terms の AI/ML セクションで規律される建て付け</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逐語が公開ページから取得できず、条番号も 2026-02-18 に繰り上げ。AI サービスの subprocessor 活動に「Data Labeling」が明記されており、無学習表明との整合を書面で確認する必要がある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要確認</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④ 第三者アクセス</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Access Transparency が Google 社員のアクセスを記録（アクセス者の物理的所在地・雇用主体・職種まで）。Access Approval で要求を承認／拒否でき、Online prediction が明示的に対象</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但し書き：“Access to your data in Gemini Enterprise Agent Platform by Google personnel isn't always logged.” Key Access Justifications は Workbench のみで Gemini 推論は非対応。Gemini 推論の TEE 提供形態はない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L3〜L4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⑤ ネットワーク経路</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Private Service Connect で到達。VPC Service Controls のサービス境界に aiplatform.googleapis.com を入れられる（GA）。境界は正当な認証情報を持つ主体による持ち出しも止める</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①の resourceLocations の欠陥により、経路と処理先の固定は restrictEndpointUsage に依存する。VPC-SC の制限事項の詳細は未確認</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L1〜L2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⑥ 鍵・ログの主権</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request-response logging で full_request／full_response をそのまま BigQuery に記録できる。サンプリング率を 0〜1 で指定可。Gemini と Claude が対象</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既定は off。有効化すると本文が BigQuery に平文で蓄積されるため、BigQuery 側の CMEK・VPC-SC・リージョンを併せて統制する必要がある。CMEK の対象範囲と推論中の扱いは未確認</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⑦ 委託先管理</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Vertex AI 単体で ISMAP 登録済み（2024-07-31）。subprocessor の追加は 30 日前に通知</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標準約款の準拠法はカリフォルニア州法、専属管轄はサンタクララ郡（契約主体は Google Cloud Japan G.K.）。顧客・独立監査人による監査は「Applicable Privacy Law が要求する場合」に限定（第三者監査報告のレビューは無条件）。FISC 参照はユーザ会作成・第 11 版・生成 AI 未カバー。Anthropic は subprocessor ではない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L3</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850" b="1" dirty="0">
                          <a:solidFill>
                            <a:srgbClr val="1F2A25"/>
                          </a:solidFill>
                          <a:latin typeface="Meiryo" pitchFamily="34" charset="0"/>
                          <a:ea typeface="Meiryo" pitchFamily="34" charset="-122"/>
                          <a:cs typeface="Meiryo" pitchFamily="34" charset="-120"/>
                        </a:rPr>
                        <a:t>⑧ 可用性・継続性</a:t>
                      </a:r>
                      <a:endParaRPr lang="en-US" sz="8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Gemini Online Inference 専用の SLA。Provisioned Throughput には 99% の latency SLO が付く。廃止は原則 12 か月前通知</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dirty="0">
                          <a:solidFill>
                            <a:srgbClr val="1F2A25"/>
                          </a:solidFill>
                          <a:latin typeface="Meiryo" pitchFamily="34" charset="0"/>
                          <a:ea typeface="Meiryo" pitchFamily="34" charset="-122"/>
                          <a:cs typeface="Meiryo" pitchFamily="34" charset="-120"/>
                        </a:rPr>
                        <a:t>稼働率は 99.5%（A・B の 99.9% より低く、一部モデルは 95%）。quota 起因と Grounding with Google Search は SLA 除外。推奨ライフスパンを超えたモデルは SLA が効かない</a:t>
                      </a:r>
                      <a:endParaRPr lang="en-US" sz="7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algn="ctr" indent="0" marL="0">
                        <a:buNone/>
                      </a:pPr>
                      <a:r>
                        <a:rPr lang="en-US" sz="900" b="1" dirty="0">
                          <a:solidFill>
                            <a:srgbClr val="1F2A25"/>
                          </a:solidFill>
                          <a:latin typeface="Meiryo" pitchFamily="34" charset="0"/>
                          <a:ea typeface="Meiryo" pitchFamily="34" charset="-122"/>
                          <a:cs typeface="Meiryo" pitchFamily="34" charset="-120"/>
                        </a:rPr>
                        <a:t>L2〜L4</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パターン C の設計上の落とし穴：公式仕様から確認できた 6 点</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統制の見える化では 3 者中もっとも進んでいる一方、契約面と可用性で固有の弱点がある</a:t>
            </a:r>
            <a:endParaRPr lang="en-US" sz="1200" dirty="0"/>
          </a:p>
        </p:txBody>
      </p:sp>
      <p:sp>
        <p:nvSpPr>
          <p:cNvPr id="4" name="Shape 2"/>
          <p:cNvSpPr/>
          <p:nvPr/>
        </p:nvSpPr>
        <p:spPr>
          <a:xfrm>
            <a:off x="548640" y="1353312"/>
            <a:ext cx="11091672" cy="731520"/>
          </a:xfrm>
          <a:prstGeom prst="roundRect">
            <a:avLst>
              <a:gd name="adj" fmla="val 10000"/>
            </a:avLst>
          </a:prstGeom>
          <a:solidFill>
            <a:srgbClr val="F9E7E2"/>
          </a:solidFill>
          <a:ln w="9525">
            <a:solidFill>
              <a:srgbClr val="F9E7E2"/>
            </a:solidFill>
            <a:prstDash val="solid"/>
          </a:ln>
        </p:spPr>
      </p:sp>
      <p:sp>
        <p:nvSpPr>
          <p:cNvPr id="5" name="Shape 3"/>
          <p:cNvSpPr/>
          <p:nvPr/>
        </p:nvSpPr>
        <p:spPr>
          <a:xfrm>
            <a:off x="713232" y="1536192"/>
            <a:ext cx="365760" cy="365760"/>
          </a:xfrm>
          <a:prstGeom prst="ellipse">
            <a:avLst/>
          </a:prstGeom>
          <a:solidFill>
            <a:srgbClr val="B5402A"/>
          </a:solidFill>
          <a:ln w="12700">
            <a:solidFill>
              <a:srgbClr val="B5402A"/>
            </a:solidFill>
            <a:prstDash val="solid"/>
          </a:ln>
        </p:spPr>
      </p:sp>
      <p:sp>
        <p:nvSpPr>
          <p:cNvPr id="6" name="Text 4"/>
          <p:cNvSpPr txBox="1"/>
          <p:nvPr/>
        </p:nvSpPr>
        <p:spPr>
          <a:xfrm>
            <a:off x="713232" y="1536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txBox="1"/>
          <p:nvPr/>
        </p:nvSpPr>
        <p:spPr>
          <a:xfrm>
            <a:off x="1243584" y="1408176"/>
            <a:ext cx="10241280" cy="237744"/>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標準約款の準拠法はカリフォルニア州法、専属管轄はサンタクララ郡</a:t>
            </a:r>
            <a:endParaRPr lang="en-US" sz="1150" dirty="0"/>
          </a:p>
        </p:txBody>
      </p:sp>
      <p:sp>
        <p:nvSpPr>
          <p:cNvPr id="8" name="Text 6"/>
          <p:cNvSpPr txBox="1"/>
          <p:nvPr/>
        </p:nvSpPr>
        <p:spPr>
          <a:xfrm>
            <a:off x="1243584" y="164592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契約主体は Google Cloud Japan 合同会社だが、GCP 利用規約 14.12(c) により日本を含む「その他すべての事業体」は California 法・Santa Clara County の専属管轄となる。A（AWS Japan G.K.）と B（MCA 日本版）はいずれも日本法・東京地方裁判所。→ 日本法・日本管轄が必要なら個別交渉事項であり、可否を先に確認する。</a:t>
            </a:r>
            <a:endParaRPr lang="en-US" sz="850" dirty="0"/>
          </a:p>
        </p:txBody>
      </p:sp>
      <p:sp>
        <p:nvSpPr>
          <p:cNvPr id="9" name="Shape 7"/>
          <p:cNvSpPr/>
          <p:nvPr/>
        </p:nvSpPr>
        <p:spPr>
          <a:xfrm>
            <a:off x="548640" y="2176272"/>
            <a:ext cx="11091672" cy="731520"/>
          </a:xfrm>
          <a:prstGeom prst="roundRect">
            <a:avLst>
              <a:gd name="adj" fmla="val 10000"/>
            </a:avLst>
          </a:prstGeom>
          <a:solidFill>
            <a:srgbClr val="F9E7E2"/>
          </a:solidFill>
          <a:ln w="9525">
            <a:solidFill>
              <a:srgbClr val="F9E7E2"/>
            </a:solidFill>
            <a:prstDash val="solid"/>
          </a:ln>
        </p:spPr>
      </p:sp>
      <p:sp>
        <p:nvSpPr>
          <p:cNvPr id="10" name="Shape 8"/>
          <p:cNvSpPr/>
          <p:nvPr/>
        </p:nvSpPr>
        <p:spPr>
          <a:xfrm>
            <a:off x="713232" y="2359152"/>
            <a:ext cx="365760" cy="365760"/>
          </a:xfrm>
          <a:prstGeom prst="ellipse">
            <a:avLst/>
          </a:prstGeom>
          <a:solidFill>
            <a:srgbClr val="B5402A"/>
          </a:solidFill>
          <a:ln w="12700">
            <a:solidFill>
              <a:srgbClr val="B5402A"/>
            </a:solidFill>
            <a:prstDash val="solid"/>
          </a:ln>
        </p:spPr>
      </p:sp>
      <p:sp>
        <p:nvSpPr>
          <p:cNvPr id="11" name="Text 9"/>
          <p:cNvSpPr txBox="1"/>
          <p:nvPr/>
        </p:nvSpPr>
        <p:spPr>
          <a:xfrm>
            <a:off x="713232" y="2359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txBox="1"/>
          <p:nvPr/>
        </p:nvSpPr>
        <p:spPr>
          <a:xfrm>
            <a:off x="1243584" y="2231136"/>
            <a:ext cx="10241280" cy="237744"/>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リージョン制限の組織ポリシーがアプリからの呼び出しに効かない</a:t>
            </a:r>
            <a:endParaRPr lang="en-US" sz="1150" dirty="0"/>
          </a:p>
        </p:txBody>
      </p:sp>
      <p:sp>
        <p:nvSpPr>
          <p:cNvPr id="13" name="Text 11"/>
          <p:cNvSpPr txBox="1"/>
          <p:nvPr/>
        </p:nvSpPr>
        <p:spPr>
          <a:xfrm>
            <a:off x="1243584" y="246888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公式明記：“Resource location restrictions are not enforced in the following interfaces: Gen AI SDK for Python … REST API.” gcp.resourceLocations が効くのは Agent Studio（UI）のみ。→ 日本リージョンへの固定は gcp.restrictEndpointUsage で行う。resourceLocations だけを根拠に「国内固定」と説明すると監査で崩れる。</a:t>
            </a:r>
            <a:endParaRPr lang="en-US" sz="850" dirty="0"/>
          </a:p>
        </p:txBody>
      </p:sp>
      <p:sp>
        <p:nvSpPr>
          <p:cNvPr id="14" name="Shape 12"/>
          <p:cNvSpPr/>
          <p:nvPr/>
        </p:nvSpPr>
        <p:spPr>
          <a:xfrm>
            <a:off x="548640" y="2999232"/>
            <a:ext cx="11091672" cy="731520"/>
          </a:xfrm>
          <a:prstGeom prst="roundRect">
            <a:avLst>
              <a:gd name="adj" fmla="val 10000"/>
            </a:avLst>
          </a:prstGeom>
          <a:solidFill>
            <a:srgbClr val="FBF1DF"/>
          </a:solidFill>
          <a:ln w="9525">
            <a:solidFill>
              <a:srgbClr val="FBF1DF"/>
            </a:solidFill>
            <a:prstDash val="solid"/>
          </a:ln>
        </p:spPr>
      </p:sp>
      <p:sp>
        <p:nvSpPr>
          <p:cNvPr id="15" name="Shape 13"/>
          <p:cNvSpPr/>
          <p:nvPr/>
        </p:nvSpPr>
        <p:spPr>
          <a:xfrm>
            <a:off x="713232" y="3182112"/>
            <a:ext cx="365760" cy="365760"/>
          </a:xfrm>
          <a:prstGeom prst="ellipse">
            <a:avLst/>
          </a:prstGeom>
          <a:solidFill>
            <a:srgbClr val="C8891A"/>
          </a:solidFill>
          <a:ln w="12700">
            <a:solidFill>
              <a:srgbClr val="C8891A"/>
            </a:solidFill>
            <a:prstDash val="solid"/>
          </a:ln>
        </p:spPr>
      </p:sp>
      <p:sp>
        <p:nvSpPr>
          <p:cNvPr id="16" name="Text 14"/>
          <p:cNvSpPr txBox="1"/>
          <p:nvPr/>
        </p:nvSpPr>
        <p:spPr>
          <a:xfrm>
            <a:off x="713232" y="3182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7" name="Text 15"/>
          <p:cNvSpPr txBox="1"/>
          <p:nvPr/>
        </p:nvSpPr>
        <p:spPr>
          <a:xfrm>
            <a:off x="1243584" y="305409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Access Transparency には「常に記録されるとは限らない」但し書きがある</a:t>
            </a:r>
            <a:endParaRPr lang="en-US" sz="1150" dirty="0"/>
          </a:p>
        </p:txBody>
      </p:sp>
      <p:sp>
        <p:nvSpPr>
          <p:cNvPr id="18" name="Text 16"/>
          <p:cNvSpPr txBox="1"/>
          <p:nvPr/>
        </p:nvSpPr>
        <p:spPr>
          <a:xfrm>
            <a:off x="1243584" y="329184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“Access to your data in Gemini Enterprise Agent Platform by Google personnel isn't always logged.” 3 者中で唯一、運用者アクセスを可視化できる統制だが、完全な可視性ではない。→ 優位点として説明する際は必ずこの一文を併記し、Limitations の具体内容を Google に確認する。</a:t>
            </a:r>
            <a:endParaRPr lang="en-US" sz="850" dirty="0"/>
          </a:p>
        </p:txBody>
      </p:sp>
      <p:sp>
        <p:nvSpPr>
          <p:cNvPr id="19" name="Shape 17"/>
          <p:cNvSpPr/>
          <p:nvPr/>
        </p:nvSpPr>
        <p:spPr>
          <a:xfrm>
            <a:off x="548640" y="3822192"/>
            <a:ext cx="11091672" cy="731520"/>
          </a:xfrm>
          <a:prstGeom prst="roundRect">
            <a:avLst>
              <a:gd name="adj" fmla="val 10000"/>
            </a:avLst>
          </a:prstGeom>
          <a:solidFill>
            <a:srgbClr val="FBF1DF"/>
          </a:solidFill>
          <a:ln w="9525">
            <a:solidFill>
              <a:srgbClr val="FBF1DF"/>
            </a:solidFill>
            <a:prstDash val="solid"/>
          </a:ln>
        </p:spPr>
      </p:sp>
      <p:sp>
        <p:nvSpPr>
          <p:cNvPr id="20" name="Shape 18"/>
          <p:cNvSpPr/>
          <p:nvPr/>
        </p:nvSpPr>
        <p:spPr>
          <a:xfrm>
            <a:off x="713232" y="4005072"/>
            <a:ext cx="365760" cy="365760"/>
          </a:xfrm>
          <a:prstGeom prst="ellipse">
            <a:avLst/>
          </a:prstGeom>
          <a:solidFill>
            <a:srgbClr val="C8891A"/>
          </a:solidFill>
          <a:ln w="12700">
            <a:solidFill>
              <a:srgbClr val="C8891A"/>
            </a:solidFill>
            <a:prstDash val="solid"/>
          </a:ln>
        </p:spPr>
      </p:sp>
      <p:sp>
        <p:nvSpPr>
          <p:cNvPr id="21" name="Text 19"/>
          <p:cNvSpPr txBox="1"/>
          <p:nvPr/>
        </p:nvSpPr>
        <p:spPr>
          <a:xfrm>
            <a:off x="713232" y="4005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2" name="Text 20"/>
          <p:cNvSpPr txBox="1"/>
          <p:nvPr/>
        </p:nvSpPr>
        <p:spPr>
          <a:xfrm>
            <a:off x="1243584" y="387705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Key Access Justifications は Gemini 推論に効かない</a:t>
            </a:r>
            <a:endParaRPr lang="en-US" sz="1150" dirty="0"/>
          </a:p>
        </p:txBody>
      </p:sp>
      <p:sp>
        <p:nvSpPr>
          <p:cNvPr id="23" name="Text 21"/>
          <p:cNvSpPr txBox="1"/>
          <p:nvPr/>
        </p:nvSpPr>
        <p:spPr>
          <a:xfrm>
            <a:off x="1243584" y="411480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対応サービス表に載るのは Workbench のみ。「鍵アクセス要求を理由付きで拒否できる」統制を Gemini 推論に当てはめるのは誤り。→ ④の担保は Access Transparency ／ Access Approval に限られる。</a:t>
            </a:r>
            <a:endParaRPr lang="en-US" sz="850" dirty="0"/>
          </a:p>
        </p:txBody>
      </p:sp>
      <p:sp>
        <p:nvSpPr>
          <p:cNvPr id="24" name="Shape 22"/>
          <p:cNvSpPr/>
          <p:nvPr/>
        </p:nvSpPr>
        <p:spPr>
          <a:xfrm>
            <a:off x="548640" y="4645152"/>
            <a:ext cx="11091672" cy="731520"/>
          </a:xfrm>
          <a:prstGeom prst="roundRect">
            <a:avLst>
              <a:gd name="adj" fmla="val 10000"/>
            </a:avLst>
          </a:prstGeom>
          <a:solidFill>
            <a:srgbClr val="FBF1DF"/>
          </a:solidFill>
          <a:ln w="9525">
            <a:solidFill>
              <a:srgbClr val="FBF1DF"/>
            </a:solidFill>
            <a:prstDash val="solid"/>
          </a:ln>
        </p:spPr>
      </p:sp>
      <p:sp>
        <p:nvSpPr>
          <p:cNvPr id="25" name="Shape 23"/>
          <p:cNvSpPr/>
          <p:nvPr/>
        </p:nvSpPr>
        <p:spPr>
          <a:xfrm>
            <a:off x="713232" y="4828032"/>
            <a:ext cx="365760" cy="365760"/>
          </a:xfrm>
          <a:prstGeom prst="ellipse">
            <a:avLst/>
          </a:prstGeom>
          <a:solidFill>
            <a:srgbClr val="C8891A"/>
          </a:solidFill>
          <a:ln w="12700">
            <a:solidFill>
              <a:srgbClr val="C8891A"/>
            </a:solidFill>
            <a:prstDash val="solid"/>
          </a:ln>
        </p:spPr>
      </p:sp>
      <p:sp>
        <p:nvSpPr>
          <p:cNvPr id="26" name="Text 24"/>
          <p:cNvSpPr txBox="1"/>
          <p:nvPr/>
        </p:nvSpPr>
        <p:spPr>
          <a:xfrm>
            <a:off x="713232"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27" name="Text 25"/>
          <p:cNvSpPr txBox="1"/>
          <p:nvPr/>
        </p:nvSpPr>
        <p:spPr>
          <a:xfrm>
            <a:off x="1243584" y="470001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「Japan &amp; Support」に相当するパッケージがない</a:t>
            </a:r>
            <a:endParaRPr lang="en-US" sz="1150" dirty="0"/>
          </a:p>
        </p:txBody>
      </p:sp>
      <p:sp>
        <p:nvSpPr>
          <p:cNvPr id="28" name="Text 26"/>
          <p:cNvSpPr txBox="1"/>
          <p:nvPr/>
        </p:nvSpPr>
        <p:spPr>
          <a:xfrm>
            <a:off x="1243584" y="493776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Assured Workloads では豪州・EU・米国・カナダ・イスラエル向けにサポート要員の所在地を限定するパッケージがあるが、日本にはデータ所在のみを扱う Japan Data Boundary しかない。→ サポート要員の所在地限定を要件にできない。</a:t>
            </a:r>
            <a:endParaRPr lang="en-US" sz="850" dirty="0"/>
          </a:p>
        </p:txBody>
      </p:sp>
      <p:sp>
        <p:nvSpPr>
          <p:cNvPr id="29" name="Shape 27"/>
          <p:cNvSpPr/>
          <p:nvPr/>
        </p:nvSpPr>
        <p:spPr>
          <a:xfrm>
            <a:off x="548640" y="5468112"/>
            <a:ext cx="11091672" cy="731520"/>
          </a:xfrm>
          <a:prstGeom prst="roundRect">
            <a:avLst>
              <a:gd name="adj" fmla="val 10000"/>
            </a:avLst>
          </a:prstGeom>
          <a:solidFill>
            <a:srgbClr val="FBF1DF"/>
          </a:solidFill>
          <a:ln w="9525">
            <a:solidFill>
              <a:srgbClr val="FBF1DF"/>
            </a:solidFill>
            <a:prstDash val="solid"/>
          </a:ln>
        </p:spPr>
      </p:sp>
      <p:sp>
        <p:nvSpPr>
          <p:cNvPr id="30" name="Shape 28"/>
          <p:cNvSpPr/>
          <p:nvPr/>
        </p:nvSpPr>
        <p:spPr>
          <a:xfrm>
            <a:off x="713232" y="5650992"/>
            <a:ext cx="365760" cy="365760"/>
          </a:xfrm>
          <a:prstGeom prst="ellipse">
            <a:avLst/>
          </a:prstGeom>
          <a:solidFill>
            <a:srgbClr val="C8891A"/>
          </a:solidFill>
          <a:ln w="12700">
            <a:solidFill>
              <a:srgbClr val="C8891A"/>
            </a:solidFill>
            <a:prstDash val="solid"/>
          </a:ln>
        </p:spPr>
      </p:sp>
      <p:sp>
        <p:nvSpPr>
          <p:cNvPr id="31" name="Text 29"/>
          <p:cNvSpPr txBox="1"/>
          <p:nvPr/>
        </p:nvSpPr>
        <p:spPr>
          <a:xfrm>
            <a:off x="713232" y="5650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32" name="Text 30"/>
          <p:cNvSpPr txBox="1"/>
          <p:nvPr/>
        </p:nvSpPr>
        <p:spPr>
          <a:xfrm>
            <a:off x="1243584" y="5522976"/>
            <a:ext cx="10241280" cy="237744"/>
          </a:xfrm>
          <a:prstGeom prst="rect">
            <a:avLst/>
          </a:prstGeom>
          <a:noFill/>
          <a:ln/>
        </p:spPr>
        <p:txBody>
          <a:bodyPr wrap="square" lIns="0" tIns="0" rIns="0" bIns="0" rtlCol="0" anchor="ctr"/>
          <a:lstStyle/>
          <a:p>
            <a:pPr indent="0" marL="0">
              <a:buNone/>
            </a:pPr>
            <a:r>
              <a:rPr lang="en-US" sz="1150" b="1" dirty="0">
                <a:solidFill>
                  <a:srgbClr val="8F5F0E"/>
                </a:solidFill>
                <a:latin typeface="Meiryo" pitchFamily="34" charset="0"/>
                <a:ea typeface="Meiryo" pitchFamily="34" charset="-122"/>
                <a:cs typeface="Meiryo" pitchFamily="34" charset="-120"/>
              </a:rPr>
              <a:t>SLA が 99.5%、一部モデルは 95%</a:t>
            </a:r>
            <a:endParaRPr lang="en-US" sz="1150" dirty="0"/>
          </a:p>
        </p:txBody>
      </p:sp>
      <p:sp>
        <p:nvSpPr>
          <p:cNvPr id="33" name="Text 31"/>
          <p:cNvSpPr txBox="1"/>
          <p:nvPr/>
        </p:nvSpPr>
        <p:spPr>
          <a:xfrm>
            <a:off x="1243584" y="5760720"/>
            <a:ext cx="10241280" cy="42062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A・B の 99.9% より低い。Provisioned Throughput には 99% の latency SLO が付くが、稼働率とは別。quota 起因のエラーと Grounding with Google Search は SLA 除外。推奨ライフスパンを超えたモデルの利用も除外事由。→ 可用性目標を SLA に依存させない設計が必要。</a:t>
            </a:r>
            <a:endParaRPr lang="en-US" sz="850" dirty="0"/>
          </a:p>
        </p:txBody>
      </p:sp>
      <p:sp>
        <p:nvSpPr>
          <p:cNvPr id="34"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5" name="Text 3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3 パターンの比較 ― 決定に効く 8 点</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どれが安全かではなく、どの要件を重く見るかで決まる</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914400"/>
        </p:xfrm>
        <a:graphic>
          <a:graphicData uri="http://schemas.openxmlformats.org/drawingml/2006/table">
            <a:tbl>
              <a:tblPr/>
              <a:tblGrid>
                <a:gridCol w="1463040"/>
                <a:gridCol w="2880360"/>
                <a:gridCol w="2880360"/>
                <a:gridCol w="3154680"/>
                <a:gridCol w="713232"/>
              </a:tblGrid>
              <a:tr h="411480">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論点</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A：Amazon Bedrock（東京）</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B：Microsoft Foundry（Japan East）</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C：Google Vertex AI（asia-northeast1）</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優</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準拠法・管轄（⑦）</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日本法・東京地裁（AWS Japan G.K. と契約）</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日本法・東京地裁（MCA 日本版）</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カリフォルニア州法・サンタクララ郡の専属管轄（契約主体は Google Cloud Japan G.K.）</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A・B</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5B6B63"/>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インシデント通知の期限（⑤）</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“without undue delay” のみで時間の定めがない</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“in no more than 72 hours” を公式に明記（breach 宣言時点起算。DPA 上の位置づけは原本で法務確認）</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“without undue delay” のみで時間の定めがない</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B</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3B6E8F"/>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運用者アクセスの可視化（④）</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検知不可。ZOA による構造的遮断で担保</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検知不可。SAW ＋ JIT 承認という手続統制</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Access Transparency で記録され Access Approval で承認／拒否できる。ただし「常に記録されるとは限らない」</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C</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8F5F0E"/>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経路外への持ち出しの防止（⑤）</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SCP ＋ Endpoint policy（IAM 権限の上限を絞る）</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Azure Policy（リソース構成を統制。データプレーンは RBAC＋NW）</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VPC Service Controls のデータ境界。正当な認証情報を持つ主体による越境も止まる</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C</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8F5F0E"/>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国内完結でのモデル世代（①）</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jp. profile で Claude Sonnet 4.6・Opus 4.8 まで従量課金</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国内処理の従量課金は gpt-4o と gpt-4.1-mini のみ。GPT-5 系の国内処理は容量予約が必要</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locational endpoint はあるが、日本での Gemini 世代別提供可否は未確認</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既定の保持（②）</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既定で保存しない（Fable 5 等は例外）</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既定で保存し人的レビューあり。申請承認で停止</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既定で最大 90 日を同一リージョンに保存。申請承認で停止</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プロンプト本文の記録（⑥）</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invocation logging が公式機能。本番運用を想定</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本文を残す公式ログ機能がない。API Management か自前ゲートウェイが前提</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request-response logging で BigQuery に記録（既定 off）</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A・C</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5B6B63"/>
                    </a:solidFill>
                  </a:tcPr>
                </a:tc>
              </a:tr>
              <a:tr h="411480">
                <a:tc>
                  <a:txBody>
                    <a:bodyPr/>
                    <a:lstStyle/>
                    <a:p>
                      <a:pPr indent="0" marL="0">
                        <a:buNone/>
                      </a:pPr>
                      <a:r>
                        <a:rPr lang="en-US" sz="750" b="1" dirty="0">
                          <a:solidFill>
                            <a:srgbClr val="1F2A25"/>
                          </a:solidFill>
                          <a:latin typeface="Meiryo" pitchFamily="34" charset="0"/>
                          <a:ea typeface="Meiryo" pitchFamily="34" charset="-122"/>
                          <a:cs typeface="Meiryo" pitchFamily="34" charset="-120"/>
                        </a:rPr>
                        <a:t>稼働率 SLA（⑧）</a:t>
                      </a:r>
                      <a:endParaRPr lang="en-US" sz="7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99.9%（Error の定義は 500 のみ）</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Availability SLA あり。本文は docx 配布で Web 非公開</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00" dirty="0">
                          <a:solidFill>
                            <a:srgbClr val="1F2A25"/>
                          </a:solidFill>
                          <a:latin typeface="Meiryo" pitchFamily="34" charset="0"/>
                          <a:ea typeface="Meiryo" pitchFamily="34" charset="-122"/>
                          <a:cs typeface="Meiryo" pitchFamily="34" charset="-120"/>
                        </a:rPr>
                        <a:t>99.5%。一部モデルは 95%。quota 起因は除外</a:t>
                      </a:r>
                      <a:endParaRPr lang="en-US" sz="70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FFFFFF"/>
                          </a:solidFill>
                          <a:latin typeface="Meiryo" pitchFamily="34" charset="0"/>
                          <a:ea typeface="Meiryo" pitchFamily="34" charset="-122"/>
                          <a:cs typeface="Meiryo" pitchFamily="34" charset="-120"/>
                        </a:rPr>
                        <a:t>A</a:t>
                      </a:r>
                      <a:endParaRPr lang="en-US" sz="850" dirty="0">
                        <a:latin typeface="Meiryo" charset="0"/>
                        <a:ea typeface="Meiryo" charset="0"/>
                        <a:cs typeface="Meiryo" charset="0"/>
                      </a:endParaRPr>
                    </a:p>
                  </a:txBody>
                  <a:tcPr marL="32004" marR="32004" marT="32004" marB="3200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bl>
          </a:graphicData>
        </a:graphic>
      </p:graphicFrame>
      <p:sp>
        <p:nvSpPr>
          <p:cNvPr id="5" name="Shape 2"/>
          <p:cNvSpPr/>
          <p:nvPr/>
        </p:nvSpPr>
        <p:spPr>
          <a:xfrm>
            <a:off x="548640" y="5486400"/>
            <a:ext cx="11091672" cy="868680"/>
          </a:xfrm>
          <a:prstGeom prst="roundRect">
            <a:avLst>
              <a:gd name="adj" fmla="val 8421"/>
            </a:avLst>
          </a:prstGeom>
          <a:solidFill>
            <a:srgbClr val="F9E7E2"/>
          </a:solidFill>
          <a:ln w="9525">
            <a:solidFill>
              <a:srgbClr val="F9E7E2"/>
            </a:solidFill>
            <a:prstDash val="solid"/>
          </a:ln>
        </p:spPr>
      </p:sp>
      <p:sp>
        <p:nvSpPr>
          <p:cNvPr id="6" name="Text 3"/>
          <p:cNvSpPr txBox="1"/>
          <p:nvPr/>
        </p:nvSpPr>
        <p:spPr>
          <a:xfrm>
            <a:off x="731520" y="5532120"/>
            <a:ext cx="1828800" cy="237744"/>
          </a:xfrm>
          <a:prstGeom prst="rect">
            <a:avLst/>
          </a:prstGeom>
          <a:noFill/>
          <a:ln/>
        </p:spPr>
        <p:txBody>
          <a:bodyPr wrap="square" lIns="0" tIns="0" rIns="0" bIns="0" rtlCol="0" anchor="ctr"/>
          <a:lstStyle/>
          <a:p>
            <a:pPr indent="0" marL="0">
              <a:buNone/>
            </a:pPr>
            <a:r>
              <a:rPr lang="en-US" sz="1100" b="1" dirty="0">
                <a:solidFill>
                  <a:srgbClr val="B5402A"/>
                </a:solidFill>
                <a:latin typeface="Meiryo" pitchFamily="34" charset="0"/>
                <a:ea typeface="Meiryo" pitchFamily="34" charset="-122"/>
                <a:cs typeface="Meiryo" pitchFamily="34" charset="-120"/>
              </a:rPr>
              <a:t>判断軸</a:t>
            </a:r>
            <a:endParaRPr lang="en-US" sz="1100" dirty="0"/>
          </a:p>
        </p:txBody>
      </p:sp>
      <p:sp>
        <p:nvSpPr>
          <p:cNvPr id="7" name="Text 4"/>
          <p:cNvSpPr txBox="1"/>
          <p:nvPr/>
        </p:nvSpPr>
        <p:spPr>
          <a:xfrm>
            <a:off x="731520" y="5751576"/>
            <a:ext cx="10744200" cy="566928"/>
          </a:xfrm>
          <a:prstGeom prst="rect">
            <a:avLst/>
          </a:prstGeom>
          <a:noFill/>
          <a:ln/>
        </p:spPr>
        <p:txBody>
          <a:bodyPr wrap="square" lIns="0" tIns="0" rIns="0" bIns="0" rtlCol="0" anchor="t"/>
          <a:lstStyle/>
          <a:p>
            <a:pPr marL="152400" indent="-152400">
              <a:lnSpc>
                <a:spcPct val="112000"/>
              </a:lnSpc>
              <a:spcAft>
                <a:spcPts val="100"/>
              </a:spcAft>
              <a:buSzPct val="100000"/>
              <a:buChar char="•"/>
            </a:pPr>
            <a:r>
              <a:rPr lang="en-US" sz="800" dirty="0">
                <a:solidFill>
                  <a:srgbClr val="1F2A25"/>
                </a:solidFill>
                <a:latin typeface="Meiryo" pitchFamily="34" charset="0"/>
                <a:ea typeface="Meiryo" pitchFamily="34" charset="-122"/>
                <a:cs typeface="Meiryo" pitchFamily="34" charset="-120"/>
              </a:rPr>
              <a:t>C は統制の「見える化」で頭一つ抜ける（運用者アクセスを承認・拒否でき、データ境界で持ち出しを止められる）。一方で準拠法・管轄が日本でない点は金融機関には重い ― 個別交渉できるかを先に確認する</a:t>
            </a:r>
            <a:endParaRPr lang="en-US" sz="800" dirty="0"/>
          </a:p>
          <a:p>
            <a:pPr marL="152400" indent="-152400">
              <a:lnSpc>
                <a:spcPct val="112000"/>
              </a:lnSpc>
              <a:spcAft>
                <a:spcPts val="100"/>
              </a:spcAft>
              <a:buSzPct val="100000"/>
              <a:buChar char="•"/>
            </a:pPr>
            <a:r>
              <a:rPr lang="en-US" sz="800" dirty="0">
                <a:solidFill>
                  <a:srgbClr val="1F2A25"/>
                </a:solidFill>
                <a:latin typeface="Meiryo" pitchFamily="34" charset="0"/>
                <a:ea typeface="Meiryo" pitchFamily="34" charset="-122"/>
                <a:cs typeface="Meiryo" pitchFamily="34" charset="-120"/>
              </a:rPr>
              <a:t>契約相手の数は B（Azure OpenAI は Microsoft 一社）と C（Gemini は Google 一社）が単純で、A は AWS ＋ Anthropic の二層。ただし B・C でも Claude 等の他社モデルを使えば二層に戻る</a:t>
            </a:r>
            <a:endParaRPr lang="en-US" sz="800" dirty="0"/>
          </a:p>
          <a:p>
            <a:pPr marL="152400" indent="-152400">
              <a:lnSpc>
                <a:spcPct val="112000"/>
              </a:lnSpc>
              <a:spcAft>
                <a:spcPts val="100"/>
              </a:spcAft>
              <a:buSzPct val="100000"/>
              <a:buChar char="•"/>
            </a:pPr>
            <a:r>
              <a:rPr lang="en-US" sz="800" dirty="0">
                <a:solidFill>
                  <a:srgbClr val="1F2A25"/>
                </a:solidFill>
                <a:latin typeface="Meiryo" pitchFamily="34" charset="0"/>
                <a:ea typeface="Meiryo" pitchFamily="34" charset="-122"/>
                <a:cs typeface="Meiryo" pitchFamily="34" charset="-120"/>
              </a:rPr>
              <a:t>3 者に共通して埋まらない穴は変わらない ― ③学習利用は検証できず、責任上限はいずれも直前 12 か月、漏えい損害の回収経路がない。ベンダー選択はこの 3 点を解決しない</a:t>
            </a:r>
            <a:endParaRPr lang="en-US" sz="800" dirty="0"/>
          </a:p>
        </p:txBody>
      </p:sp>
      <p:sp>
        <p:nvSpPr>
          <p:cNvPr id="8"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731520" y="155448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第 3 部　実行に向けて</a:t>
            </a:r>
            <a:endParaRPr lang="en-US" sz="3200" dirty="0"/>
          </a:p>
        </p:txBody>
      </p:sp>
      <p:sp>
        <p:nvSpPr>
          <p:cNvPr id="3" name="Text 1"/>
          <p:cNvSpPr txBox="1"/>
          <p:nvPr/>
        </p:nvSpPr>
        <p:spPr>
          <a:xfrm>
            <a:off x="731520" y="2487168"/>
            <a:ext cx="10515600" cy="365760"/>
          </a:xfrm>
          <a:prstGeom prst="rect">
            <a:avLst/>
          </a:prstGeom>
          <a:noFill/>
          <a:ln/>
        </p:spPr>
        <p:txBody>
          <a:bodyPr wrap="square" lIns="0" tIns="0" rIns="0" bIns="0" rtlCol="0" anchor="ctr"/>
          <a:lstStyle/>
          <a:p>
            <a:pPr indent="0" marL="0">
              <a:buNone/>
            </a:pPr>
            <a:r>
              <a:rPr lang="en-US" sz="1400" dirty="0">
                <a:solidFill>
                  <a:srgbClr val="BFD0C7"/>
                </a:solidFill>
                <a:latin typeface="Meiryo" pitchFamily="34" charset="0"/>
                <a:ea typeface="Meiryo" pitchFamily="34" charset="-122"/>
                <a:cs typeface="Meiryo" pitchFamily="34" charset="-120"/>
              </a:rPr>
              <a:t>要件と評価が揃った上で、当行が決めること。分類との対応付け、設計方針、報告義務、そして埋まらない部分の受容</a:t>
            </a:r>
            <a:endParaRPr lang="en-US" sz="1400" dirty="0"/>
          </a:p>
        </p:txBody>
      </p:sp>
      <p:sp>
        <p:nvSpPr>
          <p:cNvPr id="4" name="Shape 2"/>
          <p:cNvSpPr/>
          <p:nvPr/>
        </p:nvSpPr>
        <p:spPr>
          <a:xfrm>
            <a:off x="731520" y="3383280"/>
            <a:ext cx="2560320" cy="1828800"/>
          </a:xfrm>
          <a:prstGeom prst="roundRect">
            <a:avLst>
              <a:gd name="adj" fmla="val 4000"/>
            </a:avLst>
          </a:prstGeom>
          <a:solidFill>
            <a:srgbClr val="1E3D31"/>
          </a:solidFill>
          <a:ln w="12700">
            <a:solidFill>
              <a:srgbClr val="1E3D31"/>
            </a:solidFill>
            <a:prstDash val="solid"/>
          </a:ln>
        </p:spPr>
      </p:sp>
      <p:sp>
        <p:nvSpPr>
          <p:cNvPr id="5" name="Shape 3"/>
          <p:cNvSpPr/>
          <p:nvPr/>
        </p:nvSpPr>
        <p:spPr>
          <a:xfrm>
            <a:off x="896112" y="3547872"/>
            <a:ext cx="329184" cy="329184"/>
          </a:xfrm>
          <a:prstGeom prst="ellipse">
            <a:avLst/>
          </a:prstGeom>
          <a:solidFill>
            <a:srgbClr val="C8891A"/>
          </a:solidFill>
          <a:ln w="12700">
            <a:solidFill>
              <a:srgbClr val="C8891A"/>
            </a:solidFill>
            <a:prstDash val="solid"/>
          </a:ln>
        </p:spPr>
      </p:sp>
      <p:sp>
        <p:nvSpPr>
          <p:cNvPr id="6" name="Text 4"/>
          <p:cNvSpPr txBox="1"/>
          <p:nvPr/>
        </p:nvSpPr>
        <p:spPr>
          <a:xfrm>
            <a:off x="8961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txBox="1"/>
          <p:nvPr/>
        </p:nvSpPr>
        <p:spPr>
          <a:xfrm>
            <a:off x="1298448" y="3520440"/>
            <a:ext cx="1828800" cy="384048"/>
          </a:xfrm>
          <a:prstGeom prst="rect">
            <a:avLst/>
          </a:prstGeom>
          <a:noFill/>
          <a:ln/>
        </p:spPr>
        <p:txBody>
          <a:bodyPr wrap="square" lIns="0" tIns="0" rIns="0" bIns="0" rtlCol="0" anchor="ctr"/>
          <a:lstStyle/>
          <a:p>
            <a:pPr indent="0" marL="0">
              <a:buNone/>
            </a:pPr>
            <a:r>
              <a:rPr lang="en-US" sz="1100" b="1" dirty="0">
                <a:solidFill>
                  <a:srgbClr val="C8891A"/>
                </a:solidFill>
                <a:latin typeface="Meiryo" pitchFamily="34" charset="0"/>
                <a:ea typeface="Meiryo" pitchFamily="34" charset="-122"/>
                <a:cs typeface="Meiryo" pitchFamily="34" charset="-120"/>
              </a:rPr>
              <a:t>情報分類 × 許容環境</a:t>
            </a:r>
            <a:endParaRPr lang="en-US" sz="1100" dirty="0"/>
          </a:p>
        </p:txBody>
      </p:sp>
      <p:sp>
        <p:nvSpPr>
          <p:cNvPr id="8" name="Text 6"/>
          <p:cNvSpPr txBox="1"/>
          <p:nvPr/>
        </p:nvSpPr>
        <p:spPr>
          <a:xfrm>
            <a:off x="896112" y="4005072"/>
            <a:ext cx="2231136" cy="109728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「ほとんどが機密」を、環境と統制で扱える粒度に分解する（p.33）</a:t>
            </a:r>
            <a:endParaRPr lang="en-US" sz="900" dirty="0"/>
          </a:p>
        </p:txBody>
      </p:sp>
      <p:sp>
        <p:nvSpPr>
          <p:cNvPr id="9" name="Shape 7"/>
          <p:cNvSpPr/>
          <p:nvPr/>
        </p:nvSpPr>
        <p:spPr>
          <a:xfrm>
            <a:off x="3474720" y="3383280"/>
            <a:ext cx="2560320" cy="1828800"/>
          </a:xfrm>
          <a:prstGeom prst="roundRect">
            <a:avLst>
              <a:gd name="adj" fmla="val 4000"/>
            </a:avLst>
          </a:prstGeom>
          <a:solidFill>
            <a:srgbClr val="1E3D31"/>
          </a:solidFill>
          <a:ln w="12700">
            <a:solidFill>
              <a:srgbClr val="1E3D31"/>
            </a:solidFill>
            <a:prstDash val="solid"/>
          </a:ln>
        </p:spPr>
      </p:sp>
      <p:sp>
        <p:nvSpPr>
          <p:cNvPr id="10" name="Shape 8"/>
          <p:cNvSpPr/>
          <p:nvPr/>
        </p:nvSpPr>
        <p:spPr>
          <a:xfrm>
            <a:off x="3639312" y="3547872"/>
            <a:ext cx="329184" cy="329184"/>
          </a:xfrm>
          <a:prstGeom prst="ellipse">
            <a:avLst/>
          </a:prstGeom>
          <a:solidFill>
            <a:srgbClr val="C8891A"/>
          </a:solidFill>
          <a:ln w="12700">
            <a:solidFill>
              <a:srgbClr val="C8891A"/>
            </a:solidFill>
            <a:prstDash val="solid"/>
          </a:ln>
        </p:spPr>
      </p:sp>
      <p:sp>
        <p:nvSpPr>
          <p:cNvPr id="11" name="Text 9"/>
          <p:cNvSpPr txBox="1"/>
          <p:nvPr/>
        </p:nvSpPr>
        <p:spPr>
          <a:xfrm>
            <a:off x="36393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2" name="Text 10"/>
          <p:cNvSpPr txBox="1"/>
          <p:nvPr/>
        </p:nvSpPr>
        <p:spPr>
          <a:xfrm>
            <a:off x="4041648" y="3520440"/>
            <a:ext cx="1828800" cy="384048"/>
          </a:xfrm>
          <a:prstGeom prst="rect">
            <a:avLst/>
          </a:prstGeom>
          <a:noFill/>
          <a:ln/>
        </p:spPr>
        <p:txBody>
          <a:bodyPr wrap="square" lIns="0" tIns="0" rIns="0" bIns="0" rtlCol="0" anchor="ctr"/>
          <a:lstStyle/>
          <a:p>
            <a:pPr indent="0" marL="0">
              <a:buNone/>
            </a:pPr>
            <a:r>
              <a:rPr lang="en-US" sz="1100" b="1" dirty="0">
                <a:solidFill>
                  <a:srgbClr val="C8891A"/>
                </a:solidFill>
                <a:latin typeface="Meiryo" pitchFamily="34" charset="0"/>
                <a:ea typeface="Meiryo" pitchFamily="34" charset="-122"/>
                <a:cs typeface="Meiryo" pitchFamily="34" charset="-120"/>
              </a:rPr>
              <a:t>設計方針と報告義務</a:t>
            </a:r>
            <a:endParaRPr lang="en-US" sz="1100" dirty="0"/>
          </a:p>
        </p:txBody>
      </p:sp>
      <p:sp>
        <p:nvSpPr>
          <p:cNvPr id="13" name="Text 11"/>
          <p:cNvSpPr txBox="1"/>
          <p:nvPr/>
        </p:nvSpPr>
        <p:spPr>
          <a:xfrm>
            <a:off x="3639312" y="4005072"/>
            <a:ext cx="2231136" cy="109728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ハルシネーション対策は設計で決まる（p.34）。漏えい時は 4 系統の報告が並走する（p.35）</a:t>
            </a:r>
            <a:endParaRPr lang="en-US" sz="900" dirty="0"/>
          </a:p>
        </p:txBody>
      </p:sp>
      <p:sp>
        <p:nvSpPr>
          <p:cNvPr id="14" name="Shape 12"/>
          <p:cNvSpPr/>
          <p:nvPr/>
        </p:nvSpPr>
        <p:spPr>
          <a:xfrm>
            <a:off x="6217920" y="3383280"/>
            <a:ext cx="2560320" cy="1828800"/>
          </a:xfrm>
          <a:prstGeom prst="roundRect">
            <a:avLst>
              <a:gd name="adj" fmla="val 4000"/>
            </a:avLst>
          </a:prstGeom>
          <a:solidFill>
            <a:srgbClr val="1E3D31"/>
          </a:solidFill>
          <a:ln w="12700">
            <a:solidFill>
              <a:srgbClr val="1E3D31"/>
            </a:solidFill>
            <a:prstDash val="solid"/>
          </a:ln>
        </p:spPr>
      </p:sp>
      <p:sp>
        <p:nvSpPr>
          <p:cNvPr id="15" name="Shape 13"/>
          <p:cNvSpPr/>
          <p:nvPr/>
        </p:nvSpPr>
        <p:spPr>
          <a:xfrm>
            <a:off x="6382512" y="3547872"/>
            <a:ext cx="329184" cy="329184"/>
          </a:xfrm>
          <a:prstGeom prst="ellipse">
            <a:avLst/>
          </a:prstGeom>
          <a:solidFill>
            <a:srgbClr val="C8891A"/>
          </a:solidFill>
          <a:ln w="12700">
            <a:solidFill>
              <a:srgbClr val="C8891A"/>
            </a:solidFill>
            <a:prstDash val="solid"/>
          </a:ln>
        </p:spPr>
      </p:sp>
      <p:sp>
        <p:nvSpPr>
          <p:cNvPr id="16" name="Text 14"/>
          <p:cNvSpPr txBox="1"/>
          <p:nvPr/>
        </p:nvSpPr>
        <p:spPr>
          <a:xfrm>
            <a:off x="63825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7" name="Text 15"/>
          <p:cNvSpPr txBox="1"/>
          <p:nvPr/>
        </p:nvSpPr>
        <p:spPr>
          <a:xfrm>
            <a:off x="6784848" y="3520440"/>
            <a:ext cx="1828800" cy="384048"/>
          </a:xfrm>
          <a:prstGeom prst="rect">
            <a:avLst/>
          </a:prstGeom>
          <a:noFill/>
          <a:ln/>
        </p:spPr>
        <p:txBody>
          <a:bodyPr wrap="square" lIns="0" tIns="0" rIns="0" bIns="0" rtlCol="0" anchor="ctr"/>
          <a:lstStyle/>
          <a:p>
            <a:pPr indent="0" marL="0">
              <a:buNone/>
            </a:pPr>
            <a:r>
              <a:rPr lang="en-US" sz="1100" b="1" dirty="0">
                <a:solidFill>
                  <a:srgbClr val="C8891A"/>
                </a:solidFill>
                <a:latin typeface="Meiryo" pitchFamily="34" charset="0"/>
                <a:ea typeface="Meiryo" pitchFamily="34" charset="-122"/>
                <a:cs typeface="Meiryo" pitchFamily="34" charset="-120"/>
              </a:rPr>
              <a:t>リスク受容の作法</a:t>
            </a:r>
            <a:endParaRPr lang="en-US" sz="1100" dirty="0"/>
          </a:p>
        </p:txBody>
      </p:sp>
      <p:sp>
        <p:nvSpPr>
          <p:cNvPr id="18" name="Text 16"/>
          <p:cNvSpPr txBox="1"/>
          <p:nvPr/>
        </p:nvSpPr>
        <p:spPr>
          <a:xfrm>
            <a:off x="6382512" y="4005072"/>
            <a:ext cx="2231136" cy="109728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埋まらない部分を、決議として成立する形にする（p.36）</a:t>
            </a:r>
            <a:endParaRPr lang="en-US" sz="900" dirty="0"/>
          </a:p>
        </p:txBody>
      </p:sp>
      <p:sp>
        <p:nvSpPr>
          <p:cNvPr id="19" name="Shape 17"/>
          <p:cNvSpPr/>
          <p:nvPr/>
        </p:nvSpPr>
        <p:spPr>
          <a:xfrm>
            <a:off x="8961120" y="3383280"/>
            <a:ext cx="2560320" cy="1828800"/>
          </a:xfrm>
          <a:prstGeom prst="roundRect">
            <a:avLst>
              <a:gd name="adj" fmla="val 4000"/>
            </a:avLst>
          </a:prstGeom>
          <a:solidFill>
            <a:srgbClr val="1E3D31"/>
          </a:solidFill>
          <a:ln w="12700">
            <a:solidFill>
              <a:srgbClr val="1E3D31"/>
            </a:solidFill>
            <a:prstDash val="solid"/>
          </a:ln>
        </p:spPr>
      </p:sp>
      <p:sp>
        <p:nvSpPr>
          <p:cNvPr id="20" name="Shape 18"/>
          <p:cNvSpPr/>
          <p:nvPr/>
        </p:nvSpPr>
        <p:spPr>
          <a:xfrm>
            <a:off x="9125712" y="3547872"/>
            <a:ext cx="329184" cy="329184"/>
          </a:xfrm>
          <a:prstGeom prst="ellipse">
            <a:avLst/>
          </a:prstGeom>
          <a:solidFill>
            <a:srgbClr val="C8891A"/>
          </a:solidFill>
          <a:ln w="12700">
            <a:solidFill>
              <a:srgbClr val="C8891A"/>
            </a:solidFill>
            <a:prstDash val="solid"/>
          </a:ln>
        </p:spPr>
      </p:sp>
      <p:sp>
        <p:nvSpPr>
          <p:cNvPr id="21" name="Text 19"/>
          <p:cNvSpPr txBox="1"/>
          <p:nvPr/>
        </p:nvSpPr>
        <p:spPr>
          <a:xfrm>
            <a:off x="9125712"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22" name="Text 20"/>
          <p:cNvSpPr txBox="1"/>
          <p:nvPr/>
        </p:nvSpPr>
        <p:spPr>
          <a:xfrm>
            <a:off x="9528048" y="3520440"/>
            <a:ext cx="1828800" cy="384048"/>
          </a:xfrm>
          <a:prstGeom prst="rect">
            <a:avLst/>
          </a:prstGeom>
          <a:noFill/>
          <a:ln/>
        </p:spPr>
        <p:txBody>
          <a:bodyPr wrap="square" lIns="0" tIns="0" rIns="0" bIns="0" rtlCol="0" anchor="ctr"/>
          <a:lstStyle/>
          <a:p>
            <a:pPr indent="0" marL="0">
              <a:buNone/>
            </a:pPr>
            <a:r>
              <a:rPr lang="en-US" sz="1100" b="1" dirty="0">
                <a:solidFill>
                  <a:srgbClr val="C8891A"/>
                </a:solidFill>
                <a:latin typeface="Meiryo" pitchFamily="34" charset="0"/>
                <a:ea typeface="Meiryo" pitchFamily="34" charset="-122"/>
                <a:cs typeface="Meiryo" pitchFamily="34" charset="-120"/>
              </a:rPr>
              <a:t>決議と実行計画</a:t>
            </a:r>
            <a:endParaRPr lang="en-US" sz="1100" dirty="0"/>
          </a:p>
        </p:txBody>
      </p:sp>
      <p:sp>
        <p:nvSpPr>
          <p:cNvPr id="23" name="Text 21"/>
          <p:cNvSpPr txBox="1"/>
          <p:nvPr/>
        </p:nvSpPr>
        <p:spPr>
          <a:xfrm>
            <a:off x="9125712" y="4005072"/>
            <a:ext cx="2231136" cy="1097280"/>
          </a:xfrm>
          <a:prstGeom prst="rect">
            <a:avLst/>
          </a:prstGeom>
          <a:noFill/>
          <a:ln/>
        </p:spPr>
        <p:txBody>
          <a:bodyPr wrap="square" lIns="0" tIns="0" rIns="0" bIns="0" rtlCol="0" anchor="t"/>
          <a:lstStyle/>
          <a:p>
            <a:pPr indent="0" marL="0">
              <a:lnSpc>
                <a:spcPct val="118000"/>
              </a:lnSpc>
              <a:buNone/>
            </a:pPr>
            <a:r>
              <a:rPr lang="en-US" sz="900" dirty="0">
                <a:solidFill>
                  <a:srgbClr val="C7D5CD"/>
                </a:solidFill>
                <a:latin typeface="Meiryo" pitchFamily="34" charset="0"/>
                <a:ea typeface="Meiryo" pitchFamily="34" charset="-122"/>
                <a:cs typeface="Meiryo" pitchFamily="34" charset="-120"/>
              </a:rPr>
              <a:t>AI導入組織で決めること（p.37）と、次の 90 日（p.38）</a:t>
            </a:r>
            <a:endParaRPr lang="en-US" sz="900" dirty="0"/>
          </a:p>
        </p:txBody>
      </p:sp>
      <p:sp>
        <p:nvSpPr>
          <p:cNvPr id="24"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5" name="Text 2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情報分類 × 許容環境の対応付け（仮置き：当行分類規程で差し替え）</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「ほとんどが機密」を、環境と統制で扱える粒度に分解する</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286000"/>
                <a:gridCol w="2194560"/>
                <a:gridCol w="2377440"/>
                <a:gridCol w="2468880"/>
                <a:gridCol w="173736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仮の階層</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例</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許容環境</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必須統制</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先行用途の例</a:t>
                      </a:r>
                      <a:endParaRPr lang="en-US" sz="10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100584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S：顧客個人情報・法人関係情報・インサイダー情報</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9E7E2"/>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顧客属性、取引明細、M&amp;A 案件情報、未公表決算</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国内完結が可能な構成に限定（A：jp. profile／B：Standard・Provisioned／C：locational endpoint）。用途ごとに個別稟議。当面は S を含む RAG は対象外</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PII 検知＋マスキング、Human-in-the-loop 必須、invocation logging 必須（CMK）、閲覧権限は業務所管＋監査に限定</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通話・応対記録の要約（マスキング後）、稟議書ドラフト（担当者確認前提）</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86868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A：社外秘（業務情報）</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BF1D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設計書、社内規程、ソースコード、会議録、未公表の施策</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国内完結構成を標準とする。国外処理を伴う構成は業務所管の承認で可（最新世代が必要な場合）</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分類ラベル必須、RAG の行レベル権限、ログ保持、モデル追加時の再審査</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社内文書検索・要約、コードレビュー支援、規程照会</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8580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I：内部限り</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一般的な業務連絡、公開前提の資料草稿</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国内完結・国外処理のいずれも可。SaaS 直接利用も可</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利用ポリシー周知、DLP による S/A 混入検知</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文書作成支援、翻訳、議事録</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P：公開情報</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公開資料、開示書類、法令</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制限なし</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開示書類検索、法令調査</a:t>
                      </a:r>
                      <a:endParaRPr lang="en-US" sz="95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074920"/>
            <a:ext cx="11064240" cy="1188720"/>
          </a:xfrm>
          <a:prstGeom prst="roundRect">
            <a:avLst>
              <a:gd name="adj" fmla="val 6154"/>
            </a:avLst>
          </a:prstGeom>
          <a:solidFill>
            <a:srgbClr val="F4F7F5"/>
          </a:solidFill>
          <a:ln w="9525">
            <a:solidFill>
              <a:srgbClr val="C9D6CF"/>
            </a:solidFill>
            <a:prstDash val="solid"/>
          </a:ln>
        </p:spPr>
      </p:sp>
      <p:sp>
        <p:nvSpPr>
          <p:cNvPr id="6" name="Text 3"/>
          <p:cNvSpPr txBox="1"/>
          <p:nvPr/>
        </p:nvSpPr>
        <p:spPr>
          <a:xfrm>
            <a:off x="731520" y="5166360"/>
            <a:ext cx="3657600" cy="320040"/>
          </a:xfrm>
          <a:prstGeom prst="rect">
            <a:avLst/>
          </a:prstGeom>
          <a:noFill/>
          <a:ln/>
        </p:spPr>
        <p:txBody>
          <a:bodyPr wrap="square" lIns="0" tIns="0" rIns="0" bIns="0" rtlCol="0" anchor="t"/>
          <a:lstStyle/>
          <a:p>
            <a:pPr indent="0" marL="0">
              <a:buNone/>
            </a:pPr>
            <a:r>
              <a:rPr lang="en-US" sz="1300" b="1" dirty="0">
                <a:solidFill>
                  <a:srgbClr val="1B3A2F"/>
                </a:solidFill>
                <a:latin typeface="Meiryo" pitchFamily="34" charset="0"/>
                <a:ea typeface="Meiryo" pitchFamily="34" charset="-122"/>
                <a:cs typeface="Meiryo" pitchFamily="34" charset="-120"/>
              </a:rPr>
              <a:t>この表を確定するためにAI導入組織で決めること</a:t>
            </a:r>
            <a:endParaRPr lang="en-US" sz="1300" dirty="0"/>
          </a:p>
        </p:txBody>
      </p:sp>
      <p:sp>
        <p:nvSpPr>
          <p:cNvPr id="7" name="Text 4"/>
          <p:cNvSpPr txBox="1"/>
          <p:nvPr/>
        </p:nvSpPr>
        <p:spPr>
          <a:xfrm>
            <a:off x="731520" y="5486400"/>
            <a:ext cx="10698480" cy="77724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現行の「機密」を S / A に分割できるか。分割の判断主体（情報所管部門 or 情報セキュリティ部門）。</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S に「国内完結」を必須とするか（→ パターンによって使えるモデル世代が変わる。p.31）。</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S を含む RAG（顧客データを参照する営業支援等）を第 2 段階に置くか、当初から対象にするか。</a:t>
            </a:r>
            <a:endParaRPr lang="en-US" sz="1000" dirty="0"/>
          </a:p>
        </p:txBody>
      </p:sp>
      <p:sp>
        <p:nvSpPr>
          <p:cNvPr id="8"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ハルシネーション対策は「モデルの格」ではなく設計で決まる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利用に至るまでの 4 つの局面ごとに実装を対応付ける（金融庁 AI DP 1.1 の論点を当行で再構成した整理）</a:t>
            </a:r>
            <a:endParaRPr lang="en-US" sz="1200" dirty="0"/>
          </a:p>
        </p:txBody>
      </p:sp>
      <p:sp>
        <p:nvSpPr>
          <p:cNvPr id="4" name="Shape 2"/>
          <p:cNvSpPr/>
          <p:nvPr/>
        </p:nvSpPr>
        <p:spPr>
          <a:xfrm>
            <a:off x="548640" y="1417320"/>
            <a:ext cx="5394960" cy="1920240"/>
          </a:xfrm>
          <a:prstGeom prst="roundRect">
            <a:avLst>
              <a:gd name="adj" fmla="val 3810"/>
            </a:avLst>
          </a:prstGeom>
          <a:solidFill>
            <a:srgbClr val="F4F7F5"/>
          </a:solidFill>
          <a:ln w="9525">
            <a:solidFill>
              <a:srgbClr val="C9D6CF"/>
            </a:solidFill>
            <a:prstDash val="solid"/>
          </a:ln>
        </p:spPr>
      </p:sp>
      <p:sp>
        <p:nvSpPr>
          <p:cNvPr id="5" name="Text 3"/>
          <p:cNvSpPr txBox="1"/>
          <p:nvPr/>
        </p:nvSpPr>
        <p:spPr>
          <a:xfrm>
            <a:off x="731520" y="1527048"/>
            <a:ext cx="5029200" cy="320040"/>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① 設計と事前検証</a:t>
            </a:r>
            <a:endParaRPr lang="en-US" sz="1400" dirty="0"/>
          </a:p>
        </p:txBody>
      </p:sp>
      <p:sp>
        <p:nvSpPr>
          <p:cNvPr id="6" name="Text 4"/>
          <p:cNvSpPr txBox="1"/>
          <p:nvPr/>
        </p:nvSpPr>
        <p:spPr>
          <a:xfrm>
            <a:off x="731520" y="1947672"/>
            <a:ext cx="5029200" cy="128016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RAG で社内文書に grounding。引用元の提示を必須化</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用途ごとに評価データセットを整備し、導入前に正答率・根拠一致率を計測</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モデル選定は評価結果で決める（jp. 対応モデル内で比較）</a:t>
            </a:r>
            <a:endParaRPr lang="en-US" sz="1150" dirty="0"/>
          </a:p>
        </p:txBody>
      </p:sp>
      <p:sp>
        <p:nvSpPr>
          <p:cNvPr id="7" name="Shape 5"/>
          <p:cNvSpPr/>
          <p:nvPr/>
        </p:nvSpPr>
        <p:spPr>
          <a:xfrm>
            <a:off x="6217920" y="1417320"/>
            <a:ext cx="5394960" cy="1920240"/>
          </a:xfrm>
          <a:prstGeom prst="roundRect">
            <a:avLst>
              <a:gd name="adj" fmla="val 3810"/>
            </a:avLst>
          </a:prstGeom>
          <a:solidFill>
            <a:srgbClr val="F4F7F5"/>
          </a:solidFill>
          <a:ln w="9525">
            <a:solidFill>
              <a:srgbClr val="C9D6CF"/>
            </a:solidFill>
            <a:prstDash val="solid"/>
          </a:ln>
        </p:spPr>
      </p:sp>
      <p:sp>
        <p:nvSpPr>
          <p:cNvPr id="8" name="Text 6"/>
          <p:cNvSpPr txBox="1"/>
          <p:nvPr/>
        </p:nvSpPr>
        <p:spPr>
          <a:xfrm>
            <a:off x="6400800" y="1527048"/>
            <a:ext cx="5029200" cy="320040"/>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② 利用者への説明</a:t>
            </a:r>
            <a:endParaRPr lang="en-US" sz="1400" dirty="0"/>
          </a:p>
        </p:txBody>
      </p:sp>
      <p:sp>
        <p:nvSpPr>
          <p:cNvPr id="9" name="Text 7"/>
          <p:cNvSpPr txBox="1"/>
          <p:nvPr/>
        </p:nvSpPr>
        <p:spPr>
          <a:xfrm>
            <a:off x="6400800" y="1947672"/>
            <a:ext cx="5029200" cy="128016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生成 AI の回答であること・誤りを含みうることを UI で明示</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顧客向けはリスク低減策が確立するまで人の判断を介する（DP 1.1 の実態と同じ）</a:t>
            </a:r>
            <a:endParaRPr lang="en-US" sz="1150" dirty="0"/>
          </a:p>
        </p:txBody>
      </p:sp>
      <p:sp>
        <p:nvSpPr>
          <p:cNvPr id="10" name="Shape 8"/>
          <p:cNvSpPr/>
          <p:nvPr/>
        </p:nvSpPr>
        <p:spPr>
          <a:xfrm>
            <a:off x="548640" y="3520440"/>
            <a:ext cx="5394960" cy="1920240"/>
          </a:xfrm>
          <a:prstGeom prst="roundRect">
            <a:avLst>
              <a:gd name="adj" fmla="val 3810"/>
            </a:avLst>
          </a:prstGeom>
          <a:solidFill>
            <a:srgbClr val="F4F7F5"/>
          </a:solidFill>
          <a:ln w="9525">
            <a:solidFill>
              <a:srgbClr val="C9D6CF"/>
            </a:solidFill>
            <a:prstDash val="solid"/>
          </a:ln>
        </p:spPr>
      </p:sp>
      <p:sp>
        <p:nvSpPr>
          <p:cNvPr id="11" name="Text 9"/>
          <p:cNvSpPr txBox="1"/>
          <p:nvPr/>
        </p:nvSpPr>
        <p:spPr>
          <a:xfrm>
            <a:off x="731520" y="3630168"/>
            <a:ext cx="5029200" cy="320040"/>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③ 検証とモニタリング</a:t>
            </a:r>
            <a:endParaRPr lang="en-US" sz="1400" dirty="0"/>
          </a:p>
        </p:txBody>
      </p:sp>
      <p:sp>
        <p:nvSpPr>
          <p:cNvPr id="12" name="Text 10"/>
          <p:cNvSpPr txBox="1"/>
          <p:nvPr/>
        </p:nvSpPr>
        <p:spPr>
          <a:xfrm>
            <a:off x="731520" y="4050792"/>
            <a:ext cx="5029200" cy="128016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出力の grounding スコア（自社実装）と閾値、不合格は人へ振分け</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会話ログの sampling レビュー、誤答の傾向分析</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モデル更新時は同一評価セットで回帰確認</a:t>
            </a:r>
            <a:endParaRPr lang="en-US" sz="1150" dirty="0"/>
          </a:p>
        </p:txBody>
      </p:sp>
      <p:sp>
        <p:nvSpPr>
          <p:cNvPr id="13" name="Shape 11"/>
          <p:cNvSpPr/>
          <p:nvPr/>
        </p:nvSpPr>
        <p:spPr>
          <a:xfrm>
            <a:off x="6217920" y="3520440"/>
            <a:ext cx="5394960" cy="1920240"/>
          </a:xfrm>
          <a:prstGeom prst="roundRect">
            <a:avLst>
              <a:gd name="adj" fmla="val 3810"/>
            </a:avLst>
          </a:prstGeom>
          <a:solidFill>
            <a:srgbClr val="F4F7F5"/>
          </a:solidFill>
          <a:ln w="9525">
            <a:solidFill>
              <a:srgbClr val="C9D6CF"/>
            </a:solidFill>
            <a:prstDash val="solid"/>
          </a:ln>
        </p:spPr>
      </p:sp>
      <p:sp>
        <p:nvSpPr>
          <p:cNvPr id="14" name="Text 12"/>
          <p:cNvSpPr txBox="1"/>
          <p:nvPr/>
        </p:nvSpPr>
        <p:spPr>
          <a:xfrm>
            <a:off x="6400800" y="3630168"/>
            <a:ext cx="5029200" cy="320040"/>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④ ガバナンス</a:t>
            </a:r>
            <a:endParaRPr lang="en-US" sz="1400" dirty="0"/>
          </a:p>
        </p:txBody>
      </p:sp>
      <p:sp>
        <p:nvSpPr>
          <p:cNvPr id="15" name="Text 13"/>
          <p:cNvSpPr txBox="1"/>
          <p:nvPr/>
        </p:nvSpPr>
        <p:spPr>
          <a:xfrm>
            <a:off x="6400800" y="4050792"/>
            <a:ext cx="5029200" cy="128016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ユースケースごとのリスク評価とモデル・インベントリー</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全社リテラシー研修、利用ポリシーの周知（FISC 第14版のマネジメント基準）</a:t>
            </a:r>
            <a:endParaRPr lang="en-US" sz="1150" dirty="0"/>
          </a:p>
          <a:p>
            <a:pPr marL="152400" indent="-152400">
              <a:lnSpc>
                <a:spcPct val="112000"/>
              </a:lnSpc>
              <a:spcAft>
                <a:spcPts val="800"/>
              </a:spcAft>
              <a:buSzPct val="100000"/>
              <a:buChar char="•"/>
            </a:pPr>
            <a:r>
              <a:rPr lang="en-US" sz="1150" dirty="0">
                <a:solidFill>
                  <a:srgbClr val="1F2A25"/>
                </a:solidFill>
                <a:latin typeface="Meiryo" pitchFamily="34" charset="0"/>
                <a:ea typeface="Meiryo" pitchFamily="34" charset="-122"/>
                <a:cs typeface="Meiryo" pitchFamily="34" charset="-120"/>
              </a:rPr>
              <a:t>KPI（利用率・誤答率・人手差戻し率）をAI導入組織で定期報告</a:t>
            </a:r>
            <a:endParaRPr lang="en-US" sz="1150" dirty="0"/>
          </a:p>
        </p:txBody>
      </p:sp>
      <p:sp>
        <p:nvSpPr>
          <p:cNvPr id="16" name="Shape 14"/>
          <p:cNvSpPr/>
          <p:nvPr/>
        </p:nvSpPr>
        <p:spPr>
          <a:xfrm>
            <a:off x="548640" y="5715000"/>
            <a:ext cx="11064240" cy="594360"/>
          </a:xfrm>
          <a:prstGeom prst="roundRect">
            <a:avLst>
              <a:gd name="adj" fmla="val 12308"/>
            </a:avLst>
          </a:prstGeom>
          <a:solidFill>
            <a:srgbClr val="FBF1DF"/>
          </a:solidFill>
          <a:ln w="9525">
            <a:solidFill>
              <a:srgbClr val="FBF1DF"/>
            </a:solidFill>
            <a:prstDash val="solid"/>
          </a:ln>
        </p:spPr>
      </p:sp>
      <p:sp>
        <p:nvSpPr>
          <p:cNvPr id="17" name="Text 15"/>
          <p:cNvSpPr txBox="1"/>
          <p:nvPr/>
        </p:nvSpPr>
        <p:spPr>
          <a:xfrm>
            <a:off x="731520" y="5779008"/>
            <a:ext cx="10698480" cy="502920"/>
          </a:xfrm>
          <a:prstGeom prst="rect">
            <a:avLst/>
          </a:prstGeom>
          <a:noFill/>
          <a:ln/>
        </p:spPr>
        <p:txBody>
          <a:bodyPr wrap="square" lIns="0" tIns="0" rIns="0" bIns="0" rtlCol="0" anchor="ctr"/>
          <a:lstStyle/>
          <a:p>
            <a:pPr algn="l" indent="0" marL="0">
              <a:lnSpc>
                <a:spcPct val="115000"/>
              </a:lnSpc>
              <a:spcAft>
                <a:spcPts val="400"/>
              </a:spcAft>
              <a:buNone/>
            </a:pPr>
            <a:r>
              <a:rPr lang="en-US" sz="1150" b="1" dirty="0">
                <a:solidFill>
                  <a:srgbClr val="C8891A"/>
                </a:solidFill>
                <a:latin typeface="Meiryo" pitchFamily="34" charset="0"/>
                <a:ea typeface="Meiryo" pitchFamily="34" charset="-122"/>
                <a:cs typeface="Meiryo" pitchFamily="34" charset="-120"/>
              </a:rPr>
              <a:t>含意：RAG を組む以上、機密文書をモデルに渡す前提になる。ハルシネーション対策と情報分類は別の論点ではなく、同じ環境設計の中で一緒に決まる。</a:t>
            </a:r>
            <a:endParaRPr lang="en-US" sz="1150" dirty="0"/>
          </a:p>
        </p:txBody>
      </p:sp>
      <p:sp>
        <p:nvSpPr>
          <p:cNvPr id="18"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19" name="Text 17"/>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漏えいが起きたとき：4 系統の報告が並走する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最短の期限は金融庁の「認識次第、直ちに」。AWS からの通知を待つ設計では守れない</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011680"/>
                <a:gridCol w="1737360"/>
                <a:gridCol w="2194560"/>
                <a:gridCol w="5148072"/>
              </a:tblGrid>
              <a:tr h="329184">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報告先</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期限</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根拠</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内容・様式</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77724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金融庁（障害等報告）</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認識次第、直ちに</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主要行等向け監督指針 III-3-7-1-3</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障害発生等報告書（様式 4-46）。ランサムウェア・DDoS は関係省庁申合せの共通様式（2025-10-01 適用）。復旧時・原因解明時に続報、解明前でも 1 か月以内に現状報告</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91440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個人情報保護委員会</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速報 3〜5 日</a:t>
                      </a:r>
                      <a:endParaRPr lang="en-US" sz="900" dirty="0">
                        <a:latin typeface="Meiryo" charset="0"/>
                        <a:ea typeface="Meiryo" charset="0"/>
                        <a:cs typeface="Meiryo" charset="0"/>
                      </a:endParaRPr>
                    </a:p>
                    <a:p>
                      <a:pPr algn="ctr" indent="0" marL="0">
                        <a:buNone/>
                      </a:pPr>
                      <a:r>
                        <a:rPr lang="en-US" sz="900" b="1" dirty="0">
                          <a:solidFill>
                            <a:srgbClr val="B5402A"/>
                          </a:solidFill>
                          <a:latin typeface="Meiryo" pitchFamily="34" charset="0"/>
                          <a:ea typeface="Meiryo" pitchFamily="34" charset="-122"/>
                          <a:cs typeface="Meiryo" pitchFamily="34" charset="-120"/>
                        </a:rPr>
                        <a:t>確報 30 日（不正目的 60 日）</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個情法 26 条 1 項、規則 7 条・8 条</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規則 7 条の 4 類型。銀行は「不正利用により財産的被害が生じるおそれ」に該当することがほとんど。1,000 人超は無条件で対象。金融庁長官が受理権限の委任を受けている場合は金融庁へ</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58368">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金融庁（個人情報）</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速やかに</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金融分野 GL 第 11 条 1 項・2 項</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PPC 報告とは別建て。2 項により「個人データ」に至らない「個人情報」の漏えいも監督当局報告の対象になる</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本人</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速やかに</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個情法 26 条 2 項</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事態の状況に応じ、本人の権利利益を保護するために必要な範囲で通知</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金融庁（不祥事件届出）</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b="1" dirty="0">
                          <a:solidFill>
                            <a:srgbClr val="B5402A"/>
                          </a:solidFill>
                          <a:latin typeface="Meiryo" pitchFamily="34" charset="0"/>
                          <a:ea typeface="Meiryo" pitchFamily="34" charset="-122"/>
                          <a:cs typeface="Meiryo" pitchFamily="34" charset="-120"/>
                        </a:rPr>
                        <a:t>発生を知った日から 30 日以内</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銀行法 53 条・施行規則 35 条</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不祥事件等届出書。※情報漏えいが施行規則 35 条の「不祥事件」に該当するかは法務で要確認</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257800"/>
            <a:ext cx="3611880" cy="1051560"/>
          </a:xfrm>
          <a:prstGeom prst="roundRect">
            <a:avLst>
              <a:gd name="adj" fmla="val 6957"/>
            </a:avLst>
          </a:prstGeom>
          <a:solidFill>
            <a:srgbClr val="F9E7E2"/>
          </a:solidFill>
          <a:ln w="9525">
            <a:solidFill>
              <a:srgbClr val="F9E7E2"/>
            </a:solidFill>
            <a:prstDash val="solid"/>
          </a:ln>
        </p:spPr>
      </p:sp>
      <p:sp>
        <p:nvSpPr>
          <p:cNvPr id="6" name="Text 3"/>
          <p:cNvSpPr txBox="1"/>
          <p:nvPr/>
        </p:nvSpPr>
        <p:spPr>
          <a:xfrm>
            <a:off x="685800" y="5312664"/>
            <a:ext cx="3337560" cy="329184"/>
          </a:xfrm>
          <a:prstGeom prst="rect">
            <a:avLst/>
          </a:prstGeom>
          <a:noFill/>
          <a:ln/>
        </p:spPr>
        <p:txBody>
          <a:bodyPr wrap="square" lIns="0" tIns="0" rIns="0" bIns="0" rtlCol="0" anchor="t"/>
          <a:lstStyle/>
          <a:p>
            <a:pPr indent="0" marL="0">
              <a:buNone/>
            </a:pPr>
            <a:r>
              <a:rPr lang="en-US" sz="950" b="1" dirty="0">
                <a:solidFill>
                  <a:srgbClr val="B5402A"/>
                </a:solidFill>
                <a:latin typeface="Meiryo" pitchFamily="34" charset="0"/>
                <a:ea typeface="Meiryo" pitchFamily="34" charset="-122"/>
                <a:cs typeface="Meiryo" pitchFamily="34" charset="-120"/>
              </a:rPr>
              <a:t>委託先が報告しても当行の義務は消えない</a:t>
            </a:r>
            <a:endParaRPr lang="en-US" sz="950" dirty="0"/>
          </a:p>
        </p:txBody>
      </p:sp>
      <p:sp>
        <p:nvSpPr>
          <p:cNvPr id="7" name="Text 4"/>
          <p:cNvSpPr txBox="1"/>
          <p:nvPr/>
        </p:nvSpPr>
        <p:spPr>
          <a:xfrm>
            <a:off x="685800" y="5660136"/>
            <a:ext cx="3337560" cy="621792"/>
          </a:xfrm>
          <a:prstGeom prst="rect">
            <a:avLst/>
          </a:prstGeom>
          <a:noFill/>
          <a:ln/>
        </p:spPr>
        <p:txBody>
          <a:bodyPr wrap="square" lIns="0" tIns="0" rIns="0" bIns="0" rtlCol="0" anchor="t"/>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委託先（AWS）が法 26 条 1 項ただし書・規則 9 条により委託元へ通知して報告義務を免れるのは委託先側。委託元＝当行の報告義務は残る（PPC FAQ）</a:t>
            </a:r>
            <a:endParaRPr lang="en-US" sz="800" dirty="0"/>
          </a:p>
        </p:txBody>
      </p:sp>
      <p:sp>
        <p:nvSpPr>
          <p:cNvPr id="8" name="Shape 5"/>
          <p:cNvSpPr/>
          <p:nvPr/>
        </p:nvSpPr>
        <p:spPr>
          <a:xfrm>
            <a:off x="4288536" y="5257800"/>
            <a:ext cx="3611880" cy="1051560"/>
          </a:xfrm>
          <a:prstGeom prst="roundRect">
            <a:avLst>
              <a:gd name="adj" fmla="val 6957"/>
            </a:avLst>
          </a:prstGeom>
          <a:solidFill>
            <a:srgbClr val="F9E7E2"/>
          </a:solidFill>
          <a:ln w="9525">
            <a:solidFill>
              <a:srgbClr val="F9E7E2"/>
            </a:solidFill>
            <a:prstDash val="solid"/>
          </a:ln>
        </p:spPr>
      </p:sp>
      <p:sp>
        <p:nvSpPr>
          <p:cNvPr id="9" name="Text 6"/>
          <p:cNvSpPr txBox="1"/>
          <p:nvPr/>
        </p:nvSpPr>
        <p:spPr>
          <a:xfrm>
            <a:off x="4425696" y="5312664"/>
            <a:ext cx="3337560" cy="329184"/>
          </a:xfrm>
          <a:prstGeom prst="rect">
            <a:avLst/>
          </a:prstGeom>
          <a:noFill/>
          <a:ln/>
        </p:spPr>
        <p:txBody>
          <a:bodyPr wrap="square" lIns="0" tIns="0" rIns="0" bIns="0" rtlCol="0" anchor="t"/>
          <a:lstStyle/>
          <a:p>
            <a:pPr indent="0" marL="0">
              <a:buNone/>
            </a:pPr>
            <a:r>
              <a:rPr lang="en-US" sz="950" b="1" dirty="0">
                <a:solidFill>
                  <a:srgbClr val="B5402A"/>
                </a:solidFill>
                <a:latin typeface="Meiryo" pitchFamily="34" charset="0"/>
                <a:ea typeface="Meiryo" pitchFamily="34" charset="-122"/>
                <a:cs typeface="Meiryo" pitchFamily="34" charset="-120"/>
              </a:rPr>
              <a:t>AWS の通知には時間の定めがない</a:t>
            </a:r>
            <a:endParaRPr lang="en-US" sz="950" dirty="0"/>
          </a:p>
        </p:txBody>
      </p:sp>
      <p:sp>
        <p:nvSpPr>
          <p:cNvPr id="10" name="Text 7"/>
          <p:cNvSpPr txBox="1"/>
          <p:nvPr/>
        </p:nvSpPr>
        <p:spPr>
          <a:xfrm>
            <a:off x="4425696" y="5660136"/>
            <a:ext cx="3337560" cy="621792"/>
          </a:xfrm>
          <a:prstGeom prst="rect">
            <a:avLst/>
          </a:prstGeom>
          <a:noFill/>
          <a:ln/>
        </p:spPr>
        <p:txBody>
          <a:bodyPr wrap="square" lIns="0" tIns="0" rIns="0" bIns="0" rtlCol="0" anchor="t"/>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AWS DPA §9.1 は “notify Customer of a Security Incident without undue delay after becoming aware” のみ。§9.2 は「開示できる範囲で」と留保。3〜5 日の速報を AWS 起点で守る契約上の裏付けはない</a:t>
            </a:r>
            <a:endParaRPr lang="en-US" sz="800" dirty="0"/>
          </a:p>
        </p:txBody>
      </p:sp>
      <p:sp>
        <p:nvSpPr>
          <p:cNvPr id="11" name="Shape 8"/>
          <p:cNvSpPr/>
          <p:nvPr/>
        </p:nvSpPr>
        <p:spPr>
          <a:xfrm>
            <a:off x="8028432" y="5257800"/>
            <a:ext cx="3611880" cy="1051560"/>
          </a:xfrm>
          <a:prstGeom prst="roundRect">
            <a:avLst>
              <a:gd name="adj" fmla="val 6957"/>
            </a:avLst>
          </a:prstGeom>
          <a:solidFill>
            <a:srgbClr val="F9E7E2"/>
          </a:solidFill>
          <a:ln w="9525">
            <a:solidFill>
              <a:srgbClr val="F9E7E2"/>
            </a:solidFill>
            <a:prstDash val="solid"/>
          </a:ln>
        </p:spPr>
      </p:sp>
      <p:sp>
        <p:nvSpPr>
          <p:cNvPr id="12" name="Text 9"/>
          <p:cNvSpPr txBox="1"/>
          <p:nvPr/>
        </p:nvSpPr>
        <p:spPr>
          <a:xfrm>
            <a:off x="8165592" y="5312664"/>
            <a:ext cx="3337560" cy="329184"/>
          </a:xfrm>
          <a:prstGeom prst="rect">
            <a:avLst/>
          </a:prstGeom>
          <a:noFill/>
          <a:ln/>
        </p:spPr>
        <p:txBody>
          <a:bodyPr wrap="square" lIns="0" tIns="0" rIns="0" bIns="0" rtlCol="0" anchor="t"/>
          <a:lstStyle/>
          <a:p>
            <a:pPr indent="0" marL="0">
              <a:buNone/>
            </a:pPr>
            <a:r>
              <a:rPr lang="en-US" sz="950" b="1" dirty="0">
                <a:solidFill>
                  <a:srgbClr val="B5402A"/>
                </a:solidFill>
                <a:latin typeface="Meiryo" pitchFamily="34" charset="0"/>
                <a:ea typeface="Meiryo" pitchFamily="34" charset="-122"/>
                <a:cs typeface="Meiryo" pitchFamily="34" charset="-120"/>
              </a:rPr>
              <a:t>だから自前検知を代替統制として文書化する</a:t>
            </a:r>
            <a:endParaRPr lang="en-US" sz="950" dirty="0"/>
          </a:p>
        </p:txBody>
      </p:sp>
      <p:sp>
        <p:nvSpPr>
          <p:cNvPr id="13" name="Text 10"/>
          <p:cNvSpPr txBox="1"/>
          <p:nvPr/>
        </p:nvSpPr>
        <p:spPr>
          <a:xfrm>
            <a:off x="8165592" y="5660136"/>
            <a:ext cx="3337560" cy="621792"/>
          </a:xfrm>
          <a:prstGeom prst="rect">
            <a:avLst/>
          </a:prstGeom>
          <a:noFill/>
          <a:ln/>
        </p:spPr>
        <p:txBody>
          <a:bodyPr wrap="square" lIns="0" tIns="0" rIns="0" bIns="0" rtlCol="0" anchor="t"/>
          <a:lstStyle/>
          <a:p>
            <a:pPr indent="0" marL="0">
              <a:lnSpc>
                <a:spcPct val="112000"/>
              </a:lnSpc>
              <a:buNone/>
            </a:pPr>
            <a:r>
              <a:rPr lang="en-US" sz="800" dirty="0">
                <a:solidFill>
                  <a:srgbClr val="1F2A25"/>
                </a:solidFill>
                <a:latin typeface="Meiryo" pitchFamily="34" charset="0"/>
                <a:ea typeface="Meiryo" pitchFamily="34" charset="-122"/>
                <a:cs typeface="Meiryo" pitchFamily="34" charset="-120"/>
              </a:rPr>
              <a:t>CloudTrail（既定で記録）、model invocation logging（要有効化）、GuardDuty AI Protection、S3／Macie。サイバー GL 2.6 は契約に「インシデント発生時の対応及び報告」を明記することを求めており、契約で埋まらない分を統制で埋めた旨を残す</a:t>
            </a:r>
            <a:endParaRPr lang="en-US" sz="800" dirty="0"/>
          </a:p>
        </p:txBody>
      </p:sp>
      <p:sp>
        <p:nvSpPr>
          <p:cNvPr id="14"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15" name="Text 1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リスク受容の作法 ― 何を、誰が、どう受容するか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どのパターンを選んでも③学習利用は検証できず、責任上限は 12 か月、損害の回収経路はない。埋まらない部分は「受容」として決議する</a:t>
            </a:r>
            <a:endParaRPr lang="en-US" sz="1200" dirty="0"/>
          </a:p>
        </p:txBody>
      </p:sp>
      <p:sp>
        <p:nvSpPr>
          <p:cNvPr id="4" name="Shape 2"/>
          <p:cNvSpPr/>
          <p:nvPr/>
        </p:nvSpPr>
        <p:spPr>
          <a:xfrm>
            <a:off x="548640" y="1325880"/>
            <a:ext cx="5029200" cy="3017520"/>
          </a:xfrm>
          <a:prstGeom prst="roundRect">
            <a:avLst>
              <a:gd name="adj" fmla="val 2424"/>
            </a:avLst>
          </a:prstGeom>
          <a:solidFill>
            <a:srgbClr val="F4F7F5"/>
          </a:solidFill>
          <a:ln w="9525">
            <a:solidFill>
              <a:srgbClr val="C9D6CF"/>
            </a:solidFill>
            <a:prstDash val="solid"/>
          </a:ln>
        </p:spPr>
      </p:sp>
      <p:sp>
        <p:nvSpPr>
          <p:cNvPr id="5" name="Text 3"/>
          <p:cNvSpPr txBox="1"/>
          <p:nvPr/>
        </p:nvSpPr>
        <p:spPr>
          <a:xfrm>
            <a:off x="713232" y="1417320"/>
            <a:ext cx="4700016"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なぜ受容という形になるのか</a:t>
            </a:r>
            <a:endParaRPr lang="en-US" sz="1200" dirty="0"/>
          </a:p>
        </p:txBody>
      </p:sp>
      <p:sp>
        <p:nvSpPr>
          <p:cNvPr id="6" name="Text 4"/>
          <p:cNvSpPr txBox="1"/>
          <p:nvPr/>
        </p:nvSpPr>
        <p:spPr>
          <a:xfrm>
            <a:off x="713232" y="1755648"/>
            <a:ext cx="4700016" cy="2514600"/>
          </a:xfrm>
          <a:prstGeom prst="rect">
            <a:avLst/>
          </a:prstGeom>
          <a:noFill/>
          <a:ln/>
        </p:spPr>
        <p:txBody>
          <a:bodyPr wrap="square" lIns="0" tIns="0" rIns="0" bIns="0" rtlCol="0" anchor="t"/>
          <a:lstStyle/>
          <a:p>
            <a:pPr marL="152400" indent="-152400">
              <a:lnSpc>
                <a:spcPct val="112000"/>
              </a:lnSpc>
              <a:spcAft>
                <a:spcPts val="800"/>
              </a:spcAft>
              <a:buSzPct val="100000"/>
              <a:buChar char="•"/>
            </a:pPr>
            <a:r>
              <a:rPr lang="en-US" sz="950" dirty="0">
                <a:solidFill>
                  <a:srgbClr val="1F2A25"/>
                </a:solidFill>
                <a:latin typeface="Meiryo" pitchFamily="34" charset="0"/>
                <a:ea typeface="Meiryo" pitchFamily="34" charset="-122"/>
                <a:cs typeface="Meiryo" pitchFamily="34" charset="-120"/>
              </a:rPr>
              <a:t>埋まらない 3 つの穴は AI 固有ではない。委託先が自社システム内で何をしたかは外から確かめられない ― 情報を扱う外部委託すべてに共通する構造であり、当行が既に何度も受容してきたものと同じ</a:t>
            </a:r>
            <a:endParaRPr lang="en-US" sz="950" dirty="0"/>
          </a:p>
          <a:p>
            <a:pPr marL="152400" indent="-152400">
              <a:lnSpc>
                <a:spcPct val="112000"/>
              </a:lnSpc>
              <a:spcAft>
                <a:spcPts val="800"/>
              </a:spcAft>
              <a:buSzPct val="100000"/>
              <a:buChar char="•"/>
            </a:pPr>
            <a:r>
              <a:rPr lang="en-US" sz="950" dirty="0">
                <a:solidFill>
                  <a:srgbClr val="1F2A25"/>
                </a:solidFill>
                <a:latin typeface="Meiryo" pitchFamily="34" charset="0"/>
                <a:ea typeface="Meiryo" pitchFamily="34" charset="-122"/>
                <a:cs typeface="Meiryo" pitchFamily="34" charset="-120"/>
              </a:rPr>
              <a:t>本当に新しいのは「プロンプトが業務の文脈をそのまま含む」「全行員が自由文で送る」「出力が業務判断に混ざる」の 3 点。いずれも要件①②⑤⑥で統制できる範囲にある</a:t>
            </a:r>
            <a:endParaRPr lang="en-US" sz="950" dirty="0"/>
          </a:p>
          <a:p>
            <a:pPr marL="152400" indent="-152400">
              <a:lnSpc>
                <a:spcPct val="112000"/>
              </a:lnSpc>
              <a:spcAft>
                <a:spcPts val="800"/>
              </a:spcAft>
              <a:buSzPct val="100000"/>
              <a:buChar char="•"/>
            </a:pPr>
            <a:r>
              <a:rPr lang="en-US" sz="950" dirty="0">
                <a:solidFill>
                  <a:srgbClr val="1F2A25"/>
                </a:solidFill>
                <a:latin typeface="Meiryo" pitchFamily="34" charset="0"/>
                <a:ea typeface="Meiryo" pitchFamily="34" charset="-122"/>
                <a:cs typeface="Meiryo" pitchFamily="34" charset="-120"/>
              </a:rPr>
              <a:t>検証できない予防は、相手方が違反時に失うものの大きさで代替評価できる。取引先の信用リスクを評価して受容するのと同じ枠組みで説明できる</a:t>
            </a:r>
            <a:endParaRPr lang="en-US" sz="950" dirty="0"/>
          </a:p>
        </p:txBody>
      </p:sp>
      <p:sp>
        <p:nvSpPr>
          <p:cNvPr id="7" name="Shape 5"/>
          <p:cNvSpPr/>
          <p:nvPr/>
        </p:nvSpPr>
        <p:spPr>
          <a:xfrm>
            <a:off x="5806440" y="1325880"/>
            <a:ext cx="5833872" cy="3017520"/>
          </a:xfrm>
          <a:prstGeom prst="roundRect">
            <a:avLst>
              <a:gd name="adj" fmla="val 2424"/>
            </a:avLst>
          </a:prstGeom>
          <a:solidFill>
            <a:srgbClr val="EEF5F1"/>
          </a:solidFill>
          <a:ln w="9525">
            <a:solidFill>
              <a:srgbClr val="2E5A48"/>
            </a:solidFill>
            <a:prstDash val="solid"/>
          </a:ln>
        </p:spPr>
      </p:sp>
      <p:sp>
        <p:nvSpPr>
          <p:cNvPr id="8" name="Text 6"/>
          <p:cNvSpPr txBox="1"/>
          <p:nvPr/>
        </p:nvSpPr>
        <p:spPr>
          <a:xfrm>
            <a:off x="5971032" y="1417320"/>
            <a:ext cx="5504688" cy="256032"/>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受容を決議に変える 6 要素</a:t>
            </a:r>
            <a:endParaRPr lang="en-US" sz="1200" dirty="0"/>
          </a:p>
        </p:txBody>
      </p:sp>
      <p:sp>
        <p:nvSpPr>
          <p:cNvPr id="9" name="Shape 7"/>
          <p:cNvSpPr/>
          <p:nvPr/>
        </p:nvSpPr>
        <p:spPr>
          <a:xfrm>
            <a:off x="5971032" y="1801368"/>
            <a:ext cx="256032" cy="256032"/>
          </a:xfrm>
          <a:prstGeom prst="ellipse">
            <a:avLst/>
          </a:prstGeom>
          <a:solidFill>
            <a:srgbClr val="1B3A2F"/>
          </a:solidFill>
          <a:ln w="12700">
            <a:solidFill>
              <a:srgbClr val="1B3A2F"/>
            </a:solidFill>
            <a:prstDash val="solid"/>
          </a:ln>
        </p:spPr>
      </p:sp>
      <p:sp>
        <p:nvSpPr>
          <p:cNvPr id="10" name="Text 8"/>
          <p:cNvSpPr txBox="1"/>
          <p:nvPr/>
        </p:nvSpPr>
        <p:spPr>
          <a:xfrm>
            <a:off x="5971032" y="18013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1</a:t>
            </a:r>
            <a:endParaRPr lang="en-US" sz="900" dirty="0"/>
          </a:p>
        </p:txBody>
      </p:sp>
      <p:sp>
        <p:nvSpPr>
          <p:cNvPr id="11" name="Text 9"/>
          <p:cNvSpPr txBox="1"/>
          <p:nvPr/>
        </p:nvSpPr>
        <p:spPr>
          <a:xfrm>
            <a:off x="6309360" y="178308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受容する残存リスクの特定</a:t>
            </a:r>
            <a:endParaRPr lang="en-US" sz="950" dirty="0"/>
          </a:p>
        </p:txBody>
      </p:sp>
      <p:sp>
        <p:nvSpPr>
          <p:cNvPr id="12" name="Text 10"/>
          <p:cNvSpPr txBox="1"/>
          <p:nvPr/>
        </p:nvSpPr>
        <p:spPr>
          <a:xfrm>
            <a:off x="8275320" y="178308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統制マップ（p.10）の右端の列がそのまま対象になる</a:t>
            </a:r>
            <a:endParaRPr lang="en-US" sz="850" dirty="0"/>
          </a:p>
        </p:txBody>
      </p:sp>
      <p:sp>
        <p:nvSpPr>
          <p:cNvPr id="13" name="Shape 11"/>
          <p:cNvSpPr/>
          <p:nvPr/>
        </p:nvSpPr>
        <p:spPr>
          <a:xfrm>
            <a:off x="5971032" y="2212848"/>
            <a:ext cx="256032" cy="256032"/>
          </a:xfrm>
          <a:prstGeom prst="ellipse">
            <a:avLst/>
          </a:prstGeom>
          <a:solidFill>
            <a:srgbClr val="1B3A2F"/>
          </a:solidFill>
          <a:ln w="12700">
            <a:solidFill>
              <a:srgbClr val="1B3A2F"/>
            </a:solidFill>
            <a:prstDash val="solid"/>
          </a:ln>
        </p:spPr>
      </p:sp>
      <p:sp>
        <p:nvSpPr>
          <p:cNvPr id="14" name="Text 12"/>
          <p:cNvSpPr txBox="1"/>
          <p:nvPr/>
        </p:nvSpPr>
        <p:spPr>
          <a:xfrm>
            <a:off x="5971032" y="22128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
        <p:nvSpPr>
          <p:cNvPr id="15" name="Text 13"/>
          <p:cNvSpPr txBox="1"/>
          <p:nvPr/>
        </p:nvSpPr>
        <p:spPr>
          <a:xfrm>
            <a:off x="6309360" y="219456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受容の権限者</a:t>
            </a:r>
            <a:endParaRPr lang="en-US" sz="950" dirty="0"/>
          </a:p>
        </p:txBody>
      </p:sp>
      <p:sp>
        <p:nvSpPr>
          <p:cNvPr id="16" name="Text 14"/>
          <p:cNvSpPr txBox="1"/>
          <p:nvPr/>
        </p:nvSpPr>
        <p:spPr>
          <a:xfrm>
            <a:off x="8275320" y="219456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権限規程上どのレベルの決裁事項か。AI導入組織か、経営会議か</a:t>
            </a:r>
            <a:endParaRPr lang="en-US" sz="850" dirty="0"/>
          </a:p>
        </p:txBody>
      </p:sp>
      <p:sp>
        <p:nvSpPr>
          <p:cNvPr id="17" name="Shape 15"/>
          <p:cNvSpPr/>
          <p:nvPr/>
        </p:nvSpPr>
        <p:spPr>
          <a:xfrm>
            <a:off x="5971032" y="2624328"/>
            <a:ext cx="256032" cy="256032"/>
          </a:xfrm>
          <a:prstGeom prst="ellipse">
            <a:avLst/>
          </a:prstGeom>
          <a:solidFill>
            <a:srgbClr val="1B3A2F"/>
          </a:solidFill>
          <a:ln w="12700">
            <a:solidFill>
              <a:srgbClr val="1B3A2F"/>
            </a:solidFill>
            <a:prstDash val="solid"/>
          </a:ln>
        </p:spPr>
      </p:sp>
      <p:sp>
        <p:nvSpPr>
          <p:cNvPr id="18" name="Text 16"/>
          <p:cNvSpPr txBox="1"/>
          <p:nvPr/>
        </p:nvSpPr>
        <p:spPr>
          <a:xfrm>
            <a:off x="5971032" y="26243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sp>
        <p:nvSpPr>
          <p:cNvPr id="19" name="Text 17"/>
          <p:cNvSpPr txBox="1"/>
          <p:nvPr/>
        </p:nvSpPr>
        <p:spPr>
          <a:xfrm>
            <a:off x="6309360" y="260604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範囲と条件</a:t>
            </a:r>
            <a:endParaRPr lang="en-US" sz="950" dirty="0"/>
          </a:p>
        </p:txBody>
      </p:sp>
      <p:sp>
        <p:nvSpPr>
          <p:cNvPr id="20" name="Text 18"/>
          <p:cNvSpPr txBox="1"/>
          <p:nvPr/>
        </p:nvSpPr>
        <p:spPr>
          <a:xfrm>
            <a:off x="8275320" y="260604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どの分類・どの用途・どの期間に限って受容するのか</a:t>
            </a:r>
            <a:endParaRPr lang="en-US" sz="850" dirty="0"/>
          </a:p>
        </p:txBody>
      </p:sp>
      <p:sp>
        <p:nvSpPr>
          <p:cNvPr id="21" name="Shape 19"/>
          <p:cNvSpPr/>
          <p:nvPr/>
        </p:nvSpPr>
        <p:spPr>
          <a:xfrm>
            <a:off x="5971032" y="3035808"/>
            <a:ext cx="256032" cy="256032"/>
          </a:xfrm>
          <a:prstGeom prst="ellipse">
            <a:avLst/>
          </a:prstGeom>
          <a:solidFill>
            <a:srgbClr val="1B3A2F"/>
          </a:solidFill>
          <a:ln w="12700">
            <a:solidFill>
              <a:srgbClr val="1B3A2F"/>
            </a:solidFill>
            <a:prstDash val="solid"/>
          </a:ln>
        </p:spPr>
      </p:sp>
      <p:sp>
        <p:nvSpPr>
          <p:cNvPr id="22" name="Text 20"/>
          <p:cNvSpPr txBox="1"/>
          <p:nvPr/>
        </p:nvSpPr>
        <p:spPr>
          <a:xfrm>
            <a:off x="5971032" y="303580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sp>
        <p:nvSpPr>
          <p:cNvPr id="23" name="Text 21"/>
          <p:cNvSpPr txBox="1"/>
          <p:nvPr/>
        </p:nvSpPr>
        <p:spPr>
          <a:xfrm>
            <a:off x="6309360" y="301752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補償統制</a:t>
            </a:r>
            <a:endParaRPr lang="en-US" sz="950" dirty="0"/>
          </a:p>
        </p:txBody>
      </p:sp>
      <p:sp>
        <p:nvSpPr>
          <p:cNvPr id="24" name="Text 22"/>
          <p:cNvSpPr txBox="1"/>
          <p:nvPr/>
        </p:nvSpPr>
        <p:spPr>
          <a:xfrm>
            <a:off x="8275320" y="301752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埋まらない予防を、検知・是正・保険でどこまで補ったか</a:t>
            </a:r>
            <a:endParaRPr lang="en-US" sz="850" dirty="0"/>
          </a:p>
        </p:txBody>
      </p:sp>
      <p:sp>
        <p:nvSpPr>
          <p:cNvPr id="25" name="Shape 23"/>
          <p:cNvSpPr/>
          <p:nvPr/>
        </p:nvSpPr>
        <p:spPr>
          <a:xfrm>
            <a:off x="5971032" y="3447288"/>
            <a:ext cx="256032" cy="256032"/>
          </a:xfrm>
          <a:prstGeom prst="ellipse">
            <a:avLst/>
          </a:prstGeom>
          <a:solidFill>
            <a:srgbClr val="1B3A2F"/>
          </a:solidFill>
          <a:ln w="12700">
            <a:solidFill>
              <a:srgbClr val="1B3A2F"/>
            </a:solidFill>
            <a:prstDash val="solid"/>
          </a:ln>
        </p:spPr>
      </p:sp>
      <p:sp>
        <p:nvSpPr>
          <p:cNvPr id="26" name="Text 24"/>
          <p:cNvSpPr txBox="1"/>
          <p:nvPr/>
        </p:nvSpPr>
        <p:spPr>
          <a:xfrm>
            <a:off x="5971032"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27" name="Text 25"/>
          <p:cNvSpPr txBox="1"/>
          <p:nvPr/>
        </p:nvSpPr>
        <p:spPr>
          <a:xfrm>
            <a:off x="6309360" y="342900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再評価のトリガー</a:t>
            </a:r>
            <a:endParaRPr lang="en-US" sz="950" dirty="0"/>
          </a:p>
        </p:txBody>
      </p:sp>
      <p:sp>
        <p:nvSpPr>
          <p:cNvPr id="28" name="Text 26"/>
          <p:cNvSpPr txBox="1"/>
          <p:nvPr/>
        </p:nvSpPr>
        <p:spPr>
          <a:xfrm>
            <a:off x="8275320" y="342900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モデル追加、契約改定、インシデント発生、年次</a:t>
            </a:r>
            <a:endParaRPr lang="en-US" sz="850" dirty="0"/>
          </a:p>
        </p:txBody>
      </p:sp>
      <p:sp>
        <p:nvSpPr>
          <p:cNvPr id="29" name="Shape 27"/>
          <p:cNvSpPr/>
          <p:nvPr/>
        </p:nvSpPr>
        <p:spPr>
          <a:xfrm>
            <a:off x="5971032" y="3858768"/>
            <a:ext cx="256032" cy="256032"/>
          </a:xfrm>
          <a:prstGeom prst="ellipse">
            <a:avLst/>
          </a:prstGeom>
          <a:solidFill>
            <a:srgbClr val="1B3A2F"/>
          </a:solidFill>
          <a:ln w="12700">
            <a:solidFill>
              <a:srgbClr val="1B3A2F"/>
            </a:solidFill>
            <a:prstDash val="solid"/>
          </a:ln>
        </p:spPr>
      </p:sp>
      <p:sp>
        <p:nvSpPr>
          <p:cNvPr id="30" name="Text 28"/>
          <p:cNvSpPr txBox="1"/>
          <p:nvPr/>
        </p:nvSpPr>
        <p:spPr>
          <a:xfrm>
            <a:off x="5971032" y="38587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6</a:t>
            </a:r>
            <a:endParaRPr lang="en-US" sz="900" dirty="0"/>
          </a:p>
        </p:txBody>
      </p:sp>
      <p:sp>
        <p:nvSpPr>
          <p:cNvPr id="31" name="Text 29"/>
          <p:cNvSpPr txBox="1"/>
          <p:nvPr/>
        </p:nvSpPr>
        <p:spPr>
          <a:xfrm>
            <a:off x="6309360" y="3840480"/>
            <a:ext cx="1920240" cy="256032"/>
          </a:xfrm>
          <a:prstGeom prst="rect">
            <a:avLst/>
          </a:prstGeom>
          <a:noFill/>
          <a:ln/>
        </p:spPr>
        <p:txBody>
          <a:bodyPr wrap="square" lIns="0" tIns="0" rIns="0" bIns="0" rtlCol="0" anchor="t"/>
          <a:lstStyle/>
          <a:p>
            <a:pPr indent="0" marL="0">
              <a:buNone/>
            </a:pPr>
            <a:r>
              <a:rPr lang="en-US" sz="950" b="1" dirty="0">
                <a:solidFill>
                  <a:srgbClr val="1B3A2F"/>
                </a:solidFill>
                <a:latin typeface="Meiryo" pitchFamily="34" charset="0"/>
                <a:ea typeface="Meiryo" pitchFamily="34" charset="-122"/>
                <a:cs typeface="Meiryo" pitchFamily="34" charset="-120"/>
              </a:rPr>
              <a:t>撤退基準</a:t>
            </a:r>
            <a:endParaRPr lang="en-US" sz="950" dirty="0"/>
          </a:p>
        </p:txBody>
      </p:sp>
      <p:sp>
        <p:nvSpPr>
          <p:cNvPr id="32" name="Text 30"/>
          <p:cNvSpPr txBox="1"/>
          <p:nvPr/>
        </p:nvSpPr>
        <p:spPr>
          <a:xfrm>
            <a:off x="8275320" y="3840480"/>
            <a:ext cx="3200400" cy="365760"/>
          </a:xfrm>
          <a:prstGeom prst="rect">
            <a:avLst/>
          </a:prstGeom>
          <a:noFill/>
          <a:ln/>
        </p:spPr>
        <p:txBody>
          <a:bodyPr wrap="square" lIns="0" tIns="0" rIns="0" bIns="0" rtlCol="0" anchor="t"/>
          <a:lstStyle/>
          <a:p>
            <a:pPr indent="0" marL="0">
              <a:lnSpc>
                <a:spcPct val="110000"/>
              </a:lnSpc>
              <a:buNone/>
            </a:pPr>
            <a:r>
              <a:rPr lang="en-US" sz="850" dirty="0">
                <a:solidFill>
                  <a:srgbClr val="1F2A25"/>
                </a:solidFill>
                <a:latin typeface="Meiryo" pitchFamily="34" charset="0"/>
                <a:ea typeface="Meiryo" pitchFamily="34" charset="-122"/>
                <a:cs typeface="Meiryo" pitchFamily="34" charset="-120"/>
              </a:rPr>
              <a:t>どうなったらやめるかを、始める前に決めておく</a:t>
            </a:r>
            <a:endParaRPr lang="en-US" sz="850" dirty="0"/>
          </a:p>
        </p:txBody>
      </p:sp>
      <p:sp>
        <p:nvSpPr>
          <p:cNvPr id="33" name="Shape 31"/>
          <p:cNvSpPr/>
          <p:nvPr/>
        </p:nvSpPr>
        <p:spPr>
          <a:xfrm>
            <a:off x="548640" y="4480560"/>
            <a:ext cx="11091672" cy="1143000"/>
          </a:xfrm>
          <a:prstGeom prst="roundRect">
            <a:avLst>
              <a:gd name="adj" fmla="val 6400"/>
            </a:avLst>
          </a:prstGeom>
          <a:solidFill>
            <a:srgbClr val="F9E7E2"/>
          </a:solidFill>
          <a:ln w="9525">
            <a:solidFill>
              <a:srgbClr val="F9E7E2"/>
            </a:solidFill>
            <a:prstDash val="solid"/>
          </a:ln>
        </p:spPr>
      </p:sp>
      <p:sp>
        <p:nvSpPr>
          <p:cNvPr id="34" name="Text 32"/>
          <p:cNvSpPr txBox="1"/>
          <p:nvPr/>
        </p:nvSpPr>
        <p:spPr>
          <a:xfrm>
            <a:off x="731520" y="4544568"/>
            <a:ext cx="2743200" cy="237744"/>
          </a:xfrm>
          <a:prstGeom prst="rect">
            <a:avLst/>
          </a:prstGeom>
          <a:noFill/>
          <a:ln/>
        </p:spPr>
        <p:txBody>
          <a:bodyPr wrap="square" lIns="0" tIns="0" rIns="0" bIns="0" rtlCol="0" anchor="ctr"/>
          <a:lstStyle/>
          <a:p>
            <a:pPr indent="0" marL="0">
              <a:buNone/>
            </a:pPr>
            <a:r>
              <a:rPr lang="en-US" sz="1100" b="1" dirty="0">
                <a:solidFill>
                  <a:srgbClr val="B5402A"/>
                </a:solidFill>
                <a:latin typeface="Meiryo" pitchFamily="34" charset="0"/>
                <a:ea typeface="Meiryo" pitchFamily="34" charset="-122"/>
                <a:cs typeface="Meiryo" pitchFamily="34" charset="-120"/>
              </a:rPr>
              <a:t>決議文の型</a:t>
            </a:r>
            <a:endParaRPr lang="en-US" sz="1100" dirty="0"/>
          </a:p>
        </p:txBody>
      </p:sp>
      <p:sp>
        <p:nvSpPr>
          <p:cNvPr id="35" name="Text 33"/>
          <p:cNvSpPr txBox="1"/>
          <p:nvPr/>
        </p:nvSpPr>
        <p:spPr>
          <a:xfrm>
            <a:off x="731520" y="4818888"/>
            <a:ext cx="10744200" cy="731520"/>
          </a:xfrm>
          <a:prstGeom prst="rect">
            <a:avLst/>
          </a:prstGeom>
          <a:noFill/>
          <a:ln/>
        </p:spPr>
        <p:txBody>
          <a:bodyPr wrap="square" lIns="0" tIns="0" rIns="0" bIns="0" rtlCol="0" anchor="ctr"/>
          <a:lstStyle/>
          <a:p>
            <a:pPr indent="0" marL="0">
              <a:lnSpc>
                <a:spcPct val="125000"/>
              </a:lnSpc>
              <a:buNone/>
            </a:pPr>
            <a:r>
              <a:rPr lang="en-US" sz="1050" b="1" dirty="0">
                <a:solidFill>
                  <a:srgbClr val="B5402A"/>
                </a:solidFill>
                <a:latin typeface="Meiryo" pitchFamily="34" charset="0"/>
                <a:ea typeface="Meiryo" pitchFamily="34" charset="-122"/>
                <a:cs typeface="Meiryo" pitchFamily="34" charset="-120"/>
              </a:rPr>
              <a:t>✕　</a:t>
            </a:r>
            <a:pPr indent="0" marL="0">
              <a:lnSpc>
                <a:spcPct val="125000"/>
              </a:lnSpc>
              <a:buNone/>
            </a:pPr>
            <a:r>
              <a:rPr lang="en-US" sz="1050" dirty="0">
                <a:solidFill>
                  <a:srgbClr val="1F2A25"/>
                </a:solidFill>
                <a:latin typeface="Meiryo" pitchFamily="34" charset="0"/>
                <a:ea typeface="Meiryo" pitchFamily="34" charset="-122"/>
                <a:cs typeface="Meiryo" pitchFamily="34" charset="-120"/>
              </a:rPr>
              <a:t>「生成 AI を使うリスクを受容する」― 決議として成立せず、監督当局にも説明できない</a:t>
            </a:r>
            <a:endParaRPr lang="en-US" sz="1050" dirty="0"/>
          </a:p>
          <a:p>
            <a:pPr indent="0" marL="0">
              <a:lnSpc>
                <a:spcPct val="125000"/>
              </a:lnSpc>
              <a:buNone/>
            </a:pPr>
            <a:r>
              <a:rPr lang="en-US" sz="1050" b="1" dirty="0">
                <a:solidFill>
                  <a:srgbClr val="1B3A2F"/>
                </a:solidFill>
                <a:latin typeface="Meiryo" pitchFamily="34" charset="0"/>
                <a:ea typeface="Meiryo" pitchFamily="34" charset="-122"/>
                <a:cs typeface="Meiryo" pitchFamily="34" charset="-120"/>
              </a:rPr>
              <a:t>◯　</a:t>
            </a:r>
            <a:pPr indent="0" marL="0">
              <a:lnSpc>
                <a:spcPct val="125000"/>
              </a:lnSpc>
              <a:buNone/>
            </a:pPr>
            <a:r>
              <a:rPr lang="en-US" sz="1050" b="1" dirty="0">
                <a:solidFill>
                  <a:srgbClr val="1B3A2F"/>
                </a:solidFill>
                <a:latin typeface="Meiryo" pitchFamily="34" charset="0"/>
                <a:ea typeface="Meiryo" pitchFamily="34" charset="-122"/>
                <a:cs typeface="Meiryo" pitchFamily="34" charset="-120"/>
              </a:rPr>
              <a:t>「分類 A の社内文書検索において、③学習利用が検証できないリスクを、契約条項と第三者監査報告を根拠に、年次再評価を条件として受容する」</a:t>
            </a:r>
            <a:endParaRPr lang="en-US" sz="1050" dirty="0"/>
          </a:p>
        </p:txBody>
      </p:sp>
      <p:sp>
        <p:nvSpPr>
          <p:cNvPr id="36" name="Shape 34"/>
          <p:cNvSpPr/>
          <p:nvPr/>
        </p:nvSpPr>
        <p:spPr>
          <a:xfrm>
            <a:off x="548640" y="5760720"/>
            <a:ext cx="11091672" cy="594360"/>
          </a:xfrm>
          <a:prstGeom prst="roundRect">
            <a:avLst>
              <a:gd name="adj" fmla="val 12308"/>
            </a:avLst>
          </a:prstGeom>
          <a:solidFill>
            <a:srgbClr val="FBF1DF"/>
          </a:solidFill>
          <a:ln w="9525">
            <a:solidFill>
              <a:srgbClr val="FBF1DF"/>
            </a:solidFill>
            <a:prstDash val="solid"/>
          </a:ln>
        </p:spPr>
      </p:sp>
      <p:sp>
        <p:nvSpPr>
          <p:cNvPr id="37" name="Text 35"/>
          <p:cNvSpPr txBox="1"/>
          <p:nvPr/>
        </p:nvSpPr>
        <p:spPr>
          <a:xfrm>
            <a:off x="731520" y="5815584"/>
            <a:ext cx="3108960" cy="457200"/>
          </a:xfrm>
          <a:prstGeom prst="rect">
            <a:avLst/>
          </a:prstGeom>
          <a:noFill/>
          <a:ln/>
        </p:spPr>
        <p:txBody>
          <a:bodyPr wrap="square" lIns="0" tIns="0" rIns="0" bIns="0" rtlCol="0" anchor="ctr"/>
          <a:lstStyle/>
          <a:p>
            <a:pPr indent="0" marL="0">
              <a:buNone/>
            </a:pPr>
            <a:r>
              <a:rPr lang="en-US" sz="950" b="1" dirty="0">
                <a:solidFill>
                  <a:srgbClr val="8F5F0E"/>
                </a:solidFill>
                <a:latin typeface="Meiryo" pitchFamily="34" charset="0"/>
                <a:ea typeface="Meiryo" pitchFamily="34" charset="-122"/>
                <a:cs typeface="Meiryo" pitchFamily="34" charset="-120"/>
              </a:rPr>
              <a:t>受容しないことのリスクも判断材料</a:t>
            </a:r>
            <a:endParaRPr lang="en-US" sz="950" dirty="0"/>
          </a:p>
        </p:txBody>
      </p:sp>
      <p:sp>
        <p:nvSpPr>
          <p:cNvPr id="38" name="Text 36"/>
          <p:cNvSpPr txBox="1"/>
          <p:nvPr/>
        </p:nvSpPr>
        <p:spPr>
          <a:xfrm>
            <a:off x="3931920" y="5815584"/>
            <a:ext cx="7543800" cy="502920"/>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日本銀行 2026-08 調査では利用中 79.3%、機密性が高い情報まで入力を許容しているのが 55.1%。金融庁 AI DP 1.1 は技術中立で既存法令を適用する立場を採り、新規制は設けていない。「使わない」は当局が求める姿勢ではなく、業界水準からも外れつつある。</a:t>
            </a:r>
            <a:endParaRPr lang="en-US" sz="850" dirty="0"/>
          </a:p>
        </p:txBody>
      </p:sp>
      <p:sp>
        <p:nvSpPr>
          <p:cNvPr id="39" name="Text 3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0" name="Text 3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AI導入組織で決めること</a:t>
            </a:r>
            <a:endParaRPr lang="en-US" sz="2600" dirty="0"/>
          </a:p>
        </p:txBody>
      </p:sp>
      <p:sp>
        <p:nvSpPr>
          <p:cNvPr id="3" name="Text 1"/>
          <p:cNvSpPr txBox="1"/>
          <p:nvPr/>
        </p:nvSpPr>
        <p:spPr>
          <a:xfrm>
            <a:off x="548640" y="932688"/>
            <a:ext cx="10972800" cy="365760"/>
          </a:xfrm>
          <a:prstGeom prst="rect">
            <a:avLst/>
          </a:prstGeom>
          <a:noFill/>
          <a:ln/>
        </p:spPr>
        <p:txBody>
          <a:bodyPr wrap="square" lIns="0" tIns="0" rIns="0" bIns="0" rtlCol="0" anchor="ctr"/>
          <a:lstStyle/>
          <a:p>
            <a:pPr indent="0" marL="0">
              <a:buNone/>
            </a:pPr>
            <a:r>
              <a:rPr lang="en-US" sz="1300" dirty="0">
                <a:solidFill>
                  <a:srgbClr val="9FB5AA"/>
                </a:solidFill>
                <a:latin typeface="Meiryo" pitchFamily="34" charset="0"/>
                <a:ea typeface="Meiryo" pitchFamily="34" charset="-122"/>
                <a:cs typeface="Meiryo" pitchFamily="34" charset="-120"/>
              </a:rPr>
              <a:t>技術では決まらず、経営判断を要する 5 点</a:t>
            </a:r>
            <a:endParaRPr lang="en-US" sz="1300" dirty="0"/>
          </a:p>
        </p:txBody>
      </p:sp>
      <p:sp>
        <p:nvSpPr>
          <p:cNvPr id="4" name="Shape 2"/>
          <p:cNvSpPr/>
          <p:nvPr/>
        </p:nvSpPr>
        <p:spPr>
          <a:xfrm>
            <a:off x="548640" y="1463040"/>
            <a:ext cx="11091672" cy="859536"/>
          </a:xfrm>
          <a:prstGeom prst="roundRect">
            <a:avLst>
              <a:gd name="adj" fmla="val 7447"/>
            </a:avLst>
          </a:prstGeom>
          <a:solidFill>
            <a:srgbClr val="1E3D31"/>
          </a:solidFill>
          <a:ln w="12700">
            <a:solidFill>
              <a:srgbClr val="1E3D31"/>
            </a:solidFill>
            <a:prstDash val="solid"/>
          </a:ln>
        </p:spPr>
      </p:sp>
      <p:sp>
        <p:nvSpPr>
          <p:cNvPr id="5" name="Shape 3"/>
          <p:cNvSpPr/>
          <p:nvPr/>
        </p:nvSpPr>
        <p:spPr>
          <a:xfrm>
            <a:off x="777240" y="1700784"/>
            <a:ext cx="402336" cy="402336"/>
          </a:xfrm>
          <a:prstGeom prst="ellipse">
            <a:avLst/>
          </a:prstGeom>
          <a:solidFill>
            <a:srgbClr val="C8891A"/>
          </a:solidFill>
          <a:ln w="12700">
            <a:solidFill>
              <a:srgbClr val="C8891A"/>
            </a:solidFill>
            <a:prstDash val="solid"/>
          </a:ln>
        </p:spPr>
      </p:sp>
      <p:sp>
        <p:nvSpPr>
          <p:cNvPr id="6" name="Text 4"/>
          <p:cNvSpPr txBox="1"/>
          <p:nvPr/>
        </p:nvSpPr>
        <p:spPr>
          <a:xfrm>
            <a:off x="777240" y="1700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7" name="Text 5"/>
          <p:cNvSpPr txBox="1"/>
          <p:nvPr/>
        </p:nvSpPr>
        <p:spPr>
          <a:xfrm>
            <a:off x="1353312" y="1554480"/>
            <a:ext cx="10058400" cy="2926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主環境をどのパターンにするか</a:t>
            </a:r>
            <a:endParaRPr lang="en-US" sz="1350" dirty="0"/>
          </a:p>
        </p:txBody>
      </p:sp>
      <p:sp>
        <p:nvSpPr>
          <p:cNvPr id="8" name="Text 6"/>
          <p:cNvSpPr txBox="1"/>
          <p:nvPr/>
        </p:nvSpPr>
        <p:spPr>
          <a:xfrm>
            <a:off x="1353312" y="1865376"/>
            <a:ext cx="10058400" cy="420624"/>
          </a:xfrm>
          <a:prstGeom prst="rect">
            <a:avLst/>
          </a:prstGeom>
          <a:noFill/>
          <a:ln/>
        </p:spPr>
        <p:txBody>
          <a:bodyPr wrap="square" lIns="0" tIns="0" rIns="0" bIns="0" rtlCol="0" anchor="t"/>
          <a:lstStyle/>
          <a:p>
            <a:pPr indent="0" marL="0">
              <a:lnSpc>
                <a:spcPct val="115000"/>
              </a:lnSpc>
              <a:buNone/>
            </a:pPr>
            <a:r>
              <a:rPr lang="en-US" sz="950" dirty="0">
                <a:solidFill>
                  <a:srgbClr val="C7D5CD"/>
                </a:solidFill>
                <a:latin typeface="Meiryo" pitchFamily="34" charset="0"/>
                <a:ea typeface="Meiryo" pitchFamily="34" charset="-122"/>
                <a:cs typeface="Meiryo" pitchFamily="34" charset="-120"/>
              </a:rPr>
              <a:t>A：Bedrock（東京・jp. profile）／B：Foundry（Japan East）／C：Vertex AI（asia-northeast1）。自社構築（非中国系 open-weight）は前処理専用の補完に留める。判断軸は p.31</a:t>
            </a:r>
            <a:endParaRPr lang="en-US" sz="950" dirty="0"/>
          </a:p>
        </p:txBody>
      </p:sp>
      <p:sp>
        <p:nvSpPr>
          <p:cNvPr id="9" name="Shape 7"/>
          <p:cNvSpPr/>
          <p:nvPr/>
        </p:nvSpPr>
        <p:spPr>
          <a:xfrm>
            <a:off x="548640" y="2432304"/>
            <a:ext cx="11091672" cy="859536"/>
          </a:xfrm>
          <a:prstGeom prst="roundRect">
            <a:avLst>
              <a:gd name="adj" fmla="val 7447"/>
            </a:avLst>
          </a:prstGeom>
          <a:solidFill>
            <a:srgbClr val="1E3D31"/>
          </a:solidFill>
          <a:ln w="12700">
            <a:solidFill>
              <a:srgbClr val="1E3D31"/>
            </a:solidFill>
            <a:prstDash val="solid"/>
          </a:ln>
        </p:spPr>
      </p:sp>
      <p:sp>
        <p:nvSpPr>
          <p:cNvPr id="10" name="Shape 8"/>
          <p:cNvSpPr/>
          <p:nvPr/>
        </p:nvSpPr>
        <p:spPr>
          <a:xfrm>
            <a:off x="777240" y="2670048"/>
            <a:ext cx="402336" cy="402336"/>
          </a:xfrm>
          <a:prstGeom prst="ellipse">
            <a:avLst/>
          </a:prstGeom>
          <a:solidFill>
            <a:srgbClr val="C8891A"/>
          </a:solidFill>
          <a:ln w="12700">
            <a:solidFill>
              <a:srgbClr val="C8891A"/>
            </a:solidFill>
            <a:prstDash val="solid"/>
          </a:ln>
        </p:spPr>
      </p:sp>
      <p:sp>
        <p:nvSpPr>
          <p:cNvPr id="11" name="Text 9"/>
          <p:cNvSpPr txBox="1"/>
          <p:nvPr/>
        </p:nvSpPr>
        <p:spPr>
          <a:xfrm>
            <a:off x="777240" y="2670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2" name="Text 10"/>
          <p:cNvSpPr txBox="1"/>
          <p:nvPr/>
        </p:nvSpPr>
        <p:spPr>
          <a:xfrm>
            <a:off x="1353312" y="2523744"/>
            <a:ext cx="10058400" cy="2926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現行「機密」を分類として細分できるか</a:t>
            </a:r>
            <a:endParaRPr lang="en-US" sz="1350" dirty="0"/>
          </a:p>
        </p:txBody>
      </p:sp>
      <p:sp>
        <p:nvSpPr>
          <p:cNvPr id="13" name="Text 11"/>
          <p:cNvSpPr txBox="1"/>
          <p:nvPr/>
        </p:nvSpPr>
        <p:spPr>
          <a:xfrm>
            <a:off x="1353312" y="2834640"/>
            <a:ext cx="10058400" cy="420624"/>
          </a:xfrm>
          <a:prstGeom prst="rect">
            <a:avLst/>
          </a:prstGeom>
          <a:noFill/>
          <a:ln/>
        </p:spPr>
        <p:txBody>
          <a:bodyPr wrap="square" lIns="0" tIns="0" rIns="0" bIns="0" rtlCol="0" anchor="t"/>
          <a:lstStyle/>
          <a:p>
            <a:pPr indent="0" marL="0">
              <a:lnSpc>
                <a:spcPct val="115000"/>
              </a:lnSpc>
              <a:buNone/>
            </a:pPr>
            <a:r>
              <a:rPr lang="en-US" sz="950" dirty="0">
                <a:solidFill>
                  <a:srgbClr val="C7D5CD"/>
                </a:solidFill>
                <a:latin typeface="Meiryo" pitchFamily="34" charset="0"/>
                <a:ea typeface="Meiryo" pitchFamily="34" charset="-122"/>
                <a:cs typeface="Meiryo" pitchFamily="34" charset="-120"/>
              </a:rPr>
              <a:t>S／A に分割し、分類ごとの許容環境と必須統制を p.33 の形で明文化する。分割の判断主体（情報所管部門か情報セキュリティ部門か）も決める</a:t>
            </a:r>
            <a:endParaRPr lang="en-US" sz="950" dirty="0"/>
          </a:p>
        </p:txBody>
      </p:sp>
      <p:sp>
        <p:nvSpPr>
          <p:cNvPr id="14" name="Shape 12"/>
          <p:cNvSpPr/>
          <p:nvPr/>
        </p:nvSpPr>
        <p:spPr>
          <a:xfrm>
            <a:off x="548640" y="3401568"/>
            <a:ext cx="11091672" cy="859536"/>
          </a:xfrm>
          <a:prstGeom prst="roundRect">
            <a:avLst>
              <a:gd name="adj" fmla="val 7447"/>
            </a:avLst>
          </a:prstGeom>
          <a:solidFill>
            <a:srgbClr val="1E3D31"/>
          </a:solidFill>
          <a:ln w="12700">
            <a:solidFill>
              <a:srgbClr val="1E3D31"/>
            </a:solidFill>
            <a:prstDash val="solid"/>
          </a:ln>
        </p:spPr>
      </p:sp>
      <p:sp>
        <p:nvSpPr>
          <p:cNvPr id="15" name="Shape 13"/>
          <p:cNvSpPr/>
          <p:nvPr/>
        </p:nvSpPr>
        <p:spPr>
          <a:xfrm>
            <a:off x="777240" y="3639312"/>
            <a:ext cx="402336" cy="402336"/>
          </a:xfrm>
          <a:prstGeom prst="ellipse">
            <a:avLst/>
          </a:prstGeom>
          <a:solidFill>
            <a:srgbClr val="B5402A"/>
          </a:solidFill>
          <a:ln w="12700">
            <a:solidFill>
              <a:srgbClr val="B5402A"/>
            </a:solidFill>
            <a:prstDash val="solid"/>
          </a:ln>
        </p:spPr>
      </p:sp>
      <p:sp>
        <p:nvSpPr>
          <p:cNvPr id="16" name="Text 14"/>
          <p:cNvSpPr txBox="1"/>
          <p:nvPr/>
        </p:nvSpPr>
        <p:spPr>
          <a:xfrm>
            <a:off x="777240" y="36393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17" name="Text 15"/>
          <p:cNvSpPr txBox="1"/>
          <p:nvPr/>
        </p:nvSpPr>
        <p:spPr>
          <a:xfrm>
            <a:off x="1353312" y="3493008"/>
            <a:ext cx="10058400" cy="2926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S 分類に「国内完結」を必須とするか</a:t>
            </a:r>
            <a:endParaRPr lang="en-US" sz="1350" dirty="0"/>
          </a:p>
        </p:txBody>
      </p:sp>
      <p:sp>
        <p:nvSpPr>
          <p:cNvPr id="18" name="Text 16"/>
          <p:cNvSpPr txBox="1"/>
          <p:nvPr/>
        </p:nvSpPr>
        <p:spPr>
          <a:xfrm>
            <a:off x="1353312" y="3803904"/>
            <a:ext cx="10058400" cy="420624"/>
          </a:xfrm>
          <a:prstGeom prst="rect">
            <a:avLst/>
          </a:prstGeom>
          <a:noFill/>
          <a:ln/>
        </p:spPr>
        <p:txBody>
          <a:bodyPr wrap="square" lIns="0" tIns="0" rIns="0" bIns="0" rtlCol="0" anchor="t"/>
          <a:lstStyle/>
          <a:p>
            <a:pPr indent="0" marL="0">
              <a:lnSpc>
                <a:spcPct val="115000"/>
              </a:lnSpc>
              <a:buNone/>
            </a:pPr>
            <a:r>
              <a:rPr lang="en-US" sz="950" dirty="0">
                <a:solidFill>
                  <a:srgbClr val="C7D5CD"/>
                </a:solidFill>
                <a:latin typeface="Meiryo" pitchFamily="34" charset="0"/>
                <a:ea typeface="Meiryo" pitchFamily="34" charset="-122"/>
                <a:cs typeface="Meiryo" pitchFamily="34" charset="-120"/>
              </a:rPr>
              <a:t>必須にすると、パターンによって使えるモデル世代が 1 世代以上前に固定される。AWS 網内・非保存を条件に国外処理を容認する選択肢もある</a:t>
            </a:r>
            <a:endParaRPr lang="en-US" sz="950" dirty="0"/>
          </a:p>
        </p:txBody>
      </p:sp>
      <p:sp>
        <p:nvSpPr>
          <p:cNvPr id="19" name="Shape 17"/>
          <p:cNvSpPr/>
          <p:nvPr/>
        </p:nvSpPr>
        <p:spPr>
          <a:xfrm>
            <a:off x="548640" y="4370832"/>
            <a:ext cx="11091672" cy="859536"/>
          </a:xfrm>
          <a:prstGeom prst="roundRect">
            <a:avLst>
              <a:gd name="adj" fmla="val 7447"/>
            </a:avLst>
          </a:prstGeom>
          <a:solidFill>
            <a:srgbClr val="1E3D31"/>
          </a:solidFill>
          <a:ln w="12700">
            <a:solidFill>
              <a:srgbClr val="1E3D31"/>
            </a:solidFill>
            <a:prstDash val="solid"/>
          </a:ln>
        </p:spPr>
      </p:sp>
      <p:sp>
        <p:nvSpPr>
          <p:cNvPr id="20" name="Shape 18"/>
          <p:cNvSpPr/>
          <p:nvPr/>
        </p:nvSpPr>
        <p:spPr>
          <a:xfrm>
            <a:off x="777240" y="4608576"/>
            <a:ext cx="402336" cy="402336"/>
          </a:xfrm>
          <a:prstGeom prst="ellipse">
            <a:avLst/>
          </a:prstGeom>
          <a:solidFill>
            <a:srgbClr val="C8891A"/>
          </a:solidFill>
          <a:ln w="12700">
            <a:solidFill>
              <a:srgbClr val="C8891A"/>
            </a:solidFill>
            <a:prstDash val="solid"/>
          </a:ln>
        </p:spPr>
      </p:sp>
      <p:sp>
        <p:nvSpPr>
          <p:cNvPr id="21" name="Text 19"/>
          <p:cNvSpPr txBox="1"/>
          <p:nvPr/>
        </p:nvSpPr>
        <p:spPr>
          <a:xfrm>
            <a:off x="777240" y="4608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2" name="Text 20"/>
          <p:cNvSpPr txBox="1"/>
          <p:nvPr/>
        </p:nvSpPr>
        <p:spPr>
          <a:xfrm>
            <a:off x="1353312" y="4462272"/>
            <a:ext cx="10058400" cy="2926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保持・共有条件付きのモデルを対象外とするか</a:t>
            </a:r>
            <a:endParaRPr lang="en-US" sz="1350" dirty="0"/>
          </a:p>
        </p:txBody>
      </p:sp>
      <p:sp>
        <p:nvSpPr>
          <p:cNvPr id="23" name="Text 21"/>
          <p:cNvSpPr txBox="1"/>
          <p:nvPr/>
        </p:nvSpPr>
        <p:spPr>
          <a:xfrm>
            <a:off x="1353312" y="4773168"/>
            <a:ext cx="10058400" cy="420624"/>
          </a:xfrm>
          <a:prstGeom prst="rect">
            <a:avLst/>
          </a:prstGeom>
          <a:noFill/>
          <a:ln/>
        </p:spPr>
        <p:txBody>
          <a:bodyPr wrap="square" lIns="0" tIns="0" rIns="0" bIns="0" rtlCol="0" anchor="t"/>
          <a:lstStyle/>
          <a:p>
            <a:pPr indent="0" marL="0">
              <a:lnSpc>
                <a:spcPct val="115000"/>
              </a:lnSpc>
              <a:buNone/>
            </a:pPr>
            <a:r>
              <a:rPr lang="en-US" sz="950" dirty="0">
                <a:solidFill>
                  <a:srgbClr val="C7D5CD"/>
                </a:solidFill>
                <a:latin typeface="Meiryo" pitchFamily="34" charset="0"/>
                <a:ea typeface="Meiryo" pitchFamily="34" charset="-122"/>
                <a:cs typeface="Meiryo" pitchFamily="34" charset="-120"/>
              </a:rPr>
              <a:t>Claude Fable 5 のように入出力の保持と提供者共有が必須のモデルを禁止し、技術的に強制するか。モデル追加時の再審査を手順化する</a:t>
            </a:r>
            <a:endParaRPr lang="en-US" sz="950" dirty="0"/>
          </a:p>
        </p:txBody>
      </p:sp>
      <p:sp>
        <p:nvSpPr>
          <p:cNvPr id="24" name="Shape 22"/>
          <p:cNvSpPr/>
          <p:nvPr/>
        </p:nvSpPr>
        <p:spPr>
          <a:xfrm>
            <a:off x="548640" y="5340096"/>
            <a:ext cx="11091672" cy="859536"/>
          </a:xfrm>
          <a:prstGeom prst="roundRect">
            <a:avLst>
              <a:gd name="adj" fmla="val 7447"/>
            </a:avLst>
          </a:prstGeom>
          <a:solidFill>
            <a:srgbClr val="1E3D31"/>
          </a:solidFill>
          <a:ln w="12700">
            <a:solidFill>
              <a:srgbClr val="1E3D31"/>
            </a:solidFill>
            <a:prstDash val="solid"/>
          </a:ln>
        </p:spPr>
      </p:sp>
      <p:sp>
        <p:nvSpPr>
          <p:cNvPr id="25" name="Shape 23"/>
          <p:cNvSpPr/>
          <p:nvPr/>
        </p:nvSpPr>
        <p:spPr>
          <a:xfrm>
            <a:off x="777240" y="5577840"/>
            <a:ext cx="402336" cy="402336"/>
          </a:xfrm>
          <a:prstGeom prst="ellipse">
            <a:avLst/>
          </a:prstGeom>
          <a:solidFill>
            <a:srgbClr val="B5402A"/>
          </a:solidFill>
          <a:ln w="12700">
            <a:solidFill>
              <a:srgbClr val="B5402A"/>
            </a:solidFill>
            <a:prstDash val="solid"/>
          </a:ln>
        </p:spPr>
      </p:sp>
      <p:sp>
        <p:nvSpPr>
          <p:cNvPr id="26" name="Text 24"/>
          <p:cNvSpPr txBox="1"/>
          <p:nvPr/>
        </p:nvSpPr>
        <p:spPr>
          <a:xfrm>
            <a:off x="777240" y="55778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27" name="Text 25"/>
          <p:cNvSpPr txBox="1"/>
          <p:nvPr/>
        </p:nvSpPr>
        <p:spPr>
          <a:xfrm>
            <a:off x="1353312" y="5431536"/>
            <a:ext cx="10058400" cy="2926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残存リスクをどのレベルで受容するか</a:t>
            </a:r>
            <a:endParaRPr lang="en-US" sz="1350" dirty="0"/>
          </a:p>
        </p:txBody>
      </p:sp>
      <p:sp>
        <p:nvSpPr>
          <p:cNvPr id="28" name="Text 26"/>
          <p:cNvSpPr txBox="1"/>
          <p:nvPr/>
        </p:nvSpPr>
        <p:spPr>
          <a:xfrm>
            <a:off x="1353312" y="5742432"/>
            <a:ext cx="10058400" cy="420624"/>
          </a:xfrm>
          <a:prstGeom prst="rect">
            <a:avLst/>
          </a:prstGeom>
          <a:noFill/>
          <a:ln/>
        </p:spPr>
        <p:txBody>
          <a:bodyPr wrap="square" lIns="0" tIns="0" rIns="0" bIns="0" rtlCol="0" anchor="t"/>
          <a:lstStyle/>
          <a:p>
            <a:pPr indent="0" marL="0">
              <a:lnSpc>
                <a:spcPct val="115000"/>
              </a:lnSpc>
              <a:buNone/>
            </a:pPr>
            <a:r>
              <a:rPr lang="en-US" sz="950" dirty="0">
                <a:solidFill>
                  <a:srgbClr val="C7D5CD"/>
                </a:solidFill>
                <a:latin typeface="Meiryo" pitchFamily="34" charset="0"/>
                <a:ea typeface="Meiryo" pitchFamily="34" charset="-122"/>
                <a:cs typeface="Meiryo" pitchFamily="34" charset="-120"/>
              </a:rPr>
              <a:t>統制マップ（p.10）の右端の列を、権限規程上どのレベルの決裁事項として受容するか。受容の範囲・条件・再評価トリガー・撤退基準を p.36 の型で決議する</a:t>
            </a:r>
            <a:endParaRPr lang="en-US" sz="950" dirty="0"/>
          </a:p>
        </p:txBody>
      </p:sp>
      <p:sp>
        <p:nvSpPr>
          <p:cNvPr id="29" name="Text 2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0" name="Text 2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次の 90 日</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決議を前提に、実行と確認を並行させる。※ は外部への確認事項</a:t>
            </a:r>
            <a:endParaRPr lang="en-US" sz="1200" dirty="0"/>
          </a:p>
        </p:txBody>
      </p:sp>
      <p:sp>
        <p:nvSpPr>
          <p:cNvPr id="4" name="Shape 2"/>
          <p:cNvSpPr/>
          <p:nvPr/>
        </p:nvSpPr>
        <p:spPr>
          <a:xfrm>
            <a:off x="548640" y="1371600"/>
            <a:ext cx="3611880" cy="3794760"/>
          </a:xfrm>
          <a:prstGeom prst="roundRect">
            <a:avLst>
              <a:gd name="adj" fmla="val 2025"/>
            </a:avLst>
          </a:prstGeom>
          <a:solidFill>
            <a:srgbClr val="F4F7F5"/>
          </a:solidFill>
          <a:ln w="9525">
            <a:solidFill>
              <a:srgbClr val="C9D6CF"/>
            </a:solidFill>
            <a:prstDash val="solid"/>
          </a:ln>
        </p:spPr>
      </p:sp>
      <p:sp>
        <p:nvSpPr>
          <p:cNvPr id="5" name="Shape 3"/>
          <p:cNvSpPr/>
          <p:nvPr/>
        </p:nvSpPr>
        <p:spPr>
          <a:xfrm>
            <a:off x="713232" y="1508760"/>
            <a:ext cx="3282696" cy="475488"/>
          </a:xfrm>
          <a:prstGeom prst="roundRect">
            <a:avLst>
              <a:gd name="adj" fmla="val 11538"/>
            </a:avLst>
          </a:prstGeom>
          <a:solidFill>
            <a:srgbClr val="1B3A2F"/>
          </a:solidFill>
          <a:ln w="12700">
            <a:solidFill>
              <a:srgbClr val="1B3A2F"/>
            </a:solidFill>
            <a:prstDash val="solid"/>
          </a:ln>
        </p:spPr>
      </p:sp>
      <p:sp>
        <p:nvSpPr>
          <p:cNvPr id="6" name="Text 4"/>
          <p:cNvSpPr txBox="1"/>
          <p:nvPr/>
        </p:nvSpPr>
        <p:spPr>
          <a:xfrm>
            <a:off x="841248" y="1536192"/>
            <a:ext cx="1371600" cy="420624"/>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〜30 日</a:t>
            </a:r>
            <a:endParaRPr lang="en-US" sz="1500" dirty="0"/>
          </a:p>
        </p:txBody>
      </p:sp>
      <p:sp>
        <p:nvSpPr>
          <p:cNvPr id="7" name="Text 5"/>
          <p:cNvSpPr txBox="1"/>
          <p:nvPr/>
        </p:nvSpPr>
        <p:spPr>
          <a:xfrm>
            <a:off x="2240280" y="1536192"/>
            <a:ext cx="1737360" cy="420624"/>
          </a:xfrm>
          <a:prstGeom prst="rect">
            <a:avLst/>
          </a:prstGeom>
          <a:noFill/>
          <a:ln/>
        </p:spPr>
        <p:txBody>
          <a:bodyPr wrap="square" lIns="0" tIns="0" rIns="0" bIns="0" rtlCol="0" anchor="ctr"/>
          <a:lstStyle/>
          <a:p>
            <a:pPr algn="r" indent="0" marL="0">
              <a:buNone/>
            </a:pPr>
            <a:r>
              <a:rPr lang="en-US" sz="1100" b="1" dirty="0">
                <a:solidFill>
                  <a:srgbClr val="FFFFFF"/>
                </a:solidFill>
                <a:latin typeface="Meiryo" pitchFamily="34" charset="0"/>
                <a:ea typeface="Meiryo" pitchFamily="34" charset="-122"/>
                <a:cs typeface="Meiryo" pitchFamily="34" charset="-120"/>
              </a:rPr>
              <a:t>前提を固める</a:t>
            </a:r>
            <a:endParaRPr lang="en-US" sz="1100" dirty="0"/>
          </a:p>
        </p:txBody>
      </p:sp>
      <p:sp>
        <p:nvSpPr>
          <p:cNvPr id="8" name="Text 6"/>
          <p:cNvSpPr txBox="1"/>
          <p:nvPr/>
        </p:nvSpPr>
        <p:spPr>
          <a:xfrm>
            <a:off x="713232" y="2148840"/>
            <a:ext cx="3282696" cy="2926080"/>
          </a:xfrm>
          <a:prstGeom prst="rect">
            <a:avLst/>
          </a:prstGeom>
          <a:noFill/>
          <a:ln/>
        </p:spPr>
        <p:txBody>
          <a:bodyPr wrap="square" lIns="0" tIns="0" rIns="0" bIns="0" rtlCol="0" anchor="t"/>
          <a:lstStyle/>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分類規程の受領と S／A 分割案の作成</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3 パターンの契約条件の法務レビュー（準拠法・管轄、責任制限、通知期限、監査権、再委託）</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外的環境の把握（事業者所在国の制度）の公表文案</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 Reserved tier の提供可否と単価（AWS）／日本向け Financial Services Amendment（Microsoft）／準拠法の個別交渉可否（Google）</a:t>
            </a:r>
            <a:endParaRPr lang="en-US" sz="1050" dirty="0"/>
          </a:p>
        </p:txBody>
      </p:sp>
      <p:sp>
        <p:nvSpPr>
          <p:cNvPr id="9" name="Shape 7"/>
          <p:cNvSpPr/>
          <p:nvPr/>
        </p:nvSpPr>
        <p:spPr>
          <a:xfrm>
            <a:off x="4297680" y="1371600"/>
            <a:ext cx="3611880" cy="3794760"/>
          </a:xfrm>
          <a:prstGeom prst="roundRect">
            <a:avLst>
              <a:gd name="adj" fmla="val 2025"/>
            </a:avLst>
          </a:prstGeom>
          <a:solidFill>
            <a:srgbClr val="F4F7F5"/>
          </a:solidFill>
          <a:ln w="9525">
            <a:solidFill>
              <a:srgbClr val="C9D6CF"/>
            </a:solidFill>
            <a:prstDash val="solid"/>
          </a:ln>
        </p:spPr>
      </p:sp>
      <p:sp>
        <p:nvSpPr>
          <p:cNvPr id="10" name="Shape 8"/>
          <p:cNvSpPr/>
          <p:nvPr/>
        </p:nvSpPr>
        <p:spPr>
          <a:xfrm>
            <a:off x="4462272" y="1508760"/>
            <a:ext cx="3282696" cy="475488"/>
          </a:xfrm>
          <a:prstGeom prst="roundRect">
            <a:avLst>
              <a:gd name="adj" fmla="val 11538"/>
            </a:avLst>
          </a:prstGeom>
          <a:solidFill>
            <a:srgbClr val="3B6E8F"/>
          </a:solidFill>
          <a:ln w="12700">
            <a:solidFill>
              <a:srgbClr val="3B6E8F"/>
            </a:solidFill>
            <a:prstDash val="solid"/>
          </a:ln>
        </p:spPr>
      </p:sp>
      <p:sp>
        <p:nvSpPr>
          <p:cNvPr id="11" name="Text 9"/>
          <p:cNvSpPr txBox="1"/>
          <p:nvPr/>
        </p:nvSpPr>
        <p:spPr>
          <a:xfrm>
            <a:off x="4590288" y="1536192"/>
            <a:ext cx="1371600" cy="420624"/>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〜60 日</a:t>
            </a:r>
            <a:endParaRPr lang="en-US" sz="1500" dirty="0"/>
          </a:p>
        </p:txBody>
      </p:sp>
      <p:sp>
        <p:nvSpPr>
          <p:cNvPr id="12" name="Text 10"/>
          <p:cNvSpPr txBox="1"/>
          <p:nvPr/>
        </p:nvSpPr>
        <p:spPr>
          <a:xfrm>
            <a:off x="5989320" y="1536192"/>
            <a:ext cx="1737360" cy="420624"/>
          </a:xfrm>
          <a:prstGeom prst="rect">
            <a:avLst/>
          </a:prstGeom>
          <a:noFill/>
          <a:ln/>
        </p:spPr>
        <p:txBody>
          <a:bodyPr wrap="square" lIns="0" tIns="0" rIns="0" bIns="0" rtlCol="0" anchor="ctr"/>
          <a:lstStyle/>
          <a:p>
            <a:pPr algn="r" indent="0" marL="0">
              <a:buNone/>
            </a:pPr>
            <a:r>
              <a:rPr lang="en-US" sz="1100" b="1" dirty="0">
                <a:solidFill>
                  <a:srgbClr val="FFFFFF"/>
                </a:solidFill>
                <a:latin typeface="Meiryo" pitchFamily="34" charset="0"/>
                <a:ea typeface="Meiryo" pitchFamily="34" charset="-122"/>
                <a:cs typeface="Meiryo" pitchFamily="34" charset="-120"/>
              </a:rPr>
              <a:t>作って測る</a:t>
            </a:r>
            <a:endParaRPr lang="en-US" sz="1100" dirty="0"/>
          </a:p>
        </p:txBody>
      </p:sp>
      <p:sp>
        <p:nvSpPr>
          <p:cNvPr id="13" name="Text 11"/>
          <p:cNvSpPr txBox="1"/>
          <p:nvPr/>
        </p:nvSpPr>
        <p:spPr>
          <a:xfrm>
            <a:off x="4462272" y="2148840"/>
            <a:ext cx="3282696" cy="2926080"/>
          </a:xfrm>
          <a:prstGeom prst="rect">
            <a:avLst/>
          </a:prstGeom>
          <a:noFill/>
          <a:ln/>
        </p:spPr>
        <p:txBody>
          <a:bodyPr wrap="square" lIns="0" tIns="0" rIns="0" bIns="0" rtlCol="0" anchor="t"/>
          <a:lstStyle/>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閉域 PoC 環境の構築（リージョン限定の強制、閉域経路、CMK、ログ）</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分類 A の用途 2〜3 件で評価データセットと grounding 検証を実装</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quota の見積りと申請、監視・アラームの整備</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FISC 第 14 版・監督指針への対照表ドラフト</a:t>
            </a:r>
            <a:endParaRPr lang="en-US" sz="1050" dirty="0"/>
          </a:p>
        </p:txBody>
      </p:sp>
      <p:sp>
        <p:nvSpPr>
          <p:cNvPr id="14" name="Shape 12"/>
          <p:cNvSpPr/>
          <p:nvPr/>
        </p:nvSpPr>
        <p:spPr>
          <a:xfrm>
            <a:off x="8046720" y="1371600"/>
            <a:ext cx="3611880" cy="3794760"/>
          </a:xfrm>
          <a:prstGeom prst="roundRect">
            <a:avLst>
              <a:gd name="adj" fmla="val 2025"/>
            </a:avLst>
          </a:prstGeom>
          <a:solidFill>
            <a:srgbClr val="F4F7F5"/>
          </a:solidFill>
          <a:ln w="9525">
            <a:solidFill>
              <a:srgbClr val="C9D6CF"/>
            </a:solidFill>
            <a:prstDash val="solid"/>
          </a:ln>
        </p:spPr>
      </p:sp>
      <p:sp>
        <p:nvSpPr>
          <p:cNvPr id="15" name="Shape 13"/>
          <p:cNvSpPr/>
          <p:nvPr/>
        </p:nvSpPr>
        <p:spPr>
          <a:xfrm>
            <a:off x="8211312" y="1508760"/>
            <a:ext cx="3282696" cy="475488"/>
          </a:xfrm>
          <a:prstGeom prst="roundRect">
            <a:avLst>
              <a:gd name="adj" fmla="val 11538"/>
            </a:avLst>
          </a:prstGeom>
          <a:solidFill>
            <a:srgbClr val="8F5F0E"/>
          </a:solidFill>
          <a:ln w="12700">
            <a:solidFill>
              <a:srgbClr val="8F5F0E"/>
            </a:solidFill>
            <a:prstDash val="solid"/>
          </a:ln>
        </p:spPr>
      </p:sp>
      <p:sp>
        <p:nvSpPr>
          <p:cNvPr id="16" name="Text 14"/>
          <p:cNvSpPr txBox="1"/>
          <p:nvPr/>
        </p:nvSpPr>
        <p:spPr>
          <a:xfrm>
            <a:off x="8339328" y="1536192"/>
            <a:ext cx="1371600" cy="420624"/>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〜90 日</a:t>
            </a:r>
            <a:endParaRPr lang="en-US" sz="1500" dirty="0"/>
          </a:p>
        </p:txBody>
      </p:sp>
      <p:sp>
        <p:nvSpPr>
          <p:cNvPr id="17" name="Text 15"/>
          <p:cNvSpPr txBox="1"/>
          <p:nvPr/>
        </p:nvSpPr>
        <p:spPr>
          <a:xfrm>
            <a:off x="9738360" y="1536192"/>
            <a:ext cx="1737360" cy="420624"/>
          </a:xfrm>
          <a:prstGeom prst="rect">
            <a:avLst/>
          </a:prstGeom>
          <a:noFill/>
          <a:ln/>
        </p:spPr>
        <p:txBody>
          <a:bodyPr wrap="square" lIns="0" tIns="0" rIns="0" bIns="0" rtlCol="0" anchor="ctr"/>
          <a:lstStyle/>
          <a:p>
            <a:pPr algn="r" indent="0" marL="0">
              <a:buNone/>
            </a:pPr>
            <a:r>
              <a:rPr lang="en-US" sz="1100" b="1" dirty="0">
                <a:solidFill>
                  <a:srgbClr val="FFFFFF"/>
                </a:solidFill>
                <a:latin typeface="Meiryo" pitchFamily="34" charset="0"/>
                <a:ea typeface="Meiryo" pitchFamily="34" charset="-122"/>
                <a:cs typeface="Meiryo" pitchFamily="34" charset="-120"/>
              </a:rPr>
              <a:t>決めて動かす</a:t>
            </a:r>
            <a:endParaRPr lang="en-US" sz="1100" dirty="0"/>
          </a:p>
        </p:txBody>
      </p:sp>
      <p:sp>
        <p:nvSpPr>
          <p:cNvPr id="18" name="Text 16"/>
          <p:cNvSpPr txBox="1"/>
          <p:nvPr/>
        </p:nvSpPr>
        <p:spPr>
          <a:xfrm>
            <a:off x="8211312" y="2148840"/>
            <a:ext cx="3282696" cy="2926080"/>
          </a:xfrm>
          <a:prstGeom prst="rect">
            <a:avLst/>
          </a:prstGeom>
          <a:noFill/>
          <a:ln/>
        </p:spPr>
        <p:txBody>
          <a:bodyPr wrap="square" lIns="0" tIns="0" rIns="0" bIns="0" rtlCol="0" anchor="t"/>
          <a:lstStyle/>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AI導入組織へ PoC 結果を報告（正答率・根拠一致率・人手差戻し率・成功率）</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分類 A の本番稟議（サポート契約・予算を含む）と、分類 S の第 2 段階計画</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モデル台帳と Legacy 移行手順の運用開始</a:t>
            </a:r>
            <a:endParaRPr lang="en-US" sz="1050" dirty="0"/>
          </a:p>
          <a:p>
            <a:pPr marL="152400" indent="-152400">
              <a:lnSpc>
                <a:spcPct val="112000"/>
              </a:lnSpc>
              <a:spcAft>
                <a:spcPts val="1200"/>
              </a:spcAft>
              <a:buSzPct val="100000"/>
              <a:buChar char="•"/>
            </a:pPr>
            <a:r>
              <a:rPr lang="en-US" sz="1050" dirty="0">
                <a:solidFill>
                  <a:srgbClr val="1F2A25"/>
                </a:solidFill>
                <a:latin typeface="Meiryo" pitchFamily="34" charset="0"/>
                <a:ea typeface="Meiryo" pitchFamily="34" charset="-122"/>
                <a:cs typeface="Meiryo" pitchFamily="34" charset="-120"/>
              </a:rPr>
              <a:t>経済安保・金商法の残論点を金融庁窓口／法務で確認</a:t>
            </a:r>
            <a:endParaRPr lang="en-US" sz="1050" dirty="0"/>
          </a:p>
        </p:txBody>
      </p:sp>
      <p:sp>
        <p:nvSpPr>
          <p:cNvPr id="19" name="Shape 17"/>
          <p:cNvSpPr/>
          <p:nvPr/>
        </p:nvSpPr>
        <p:spPr>
          <a:xfrm>
            <a:off x="548640" y="5303520"/>
            <a:ext cx="11091672" cy="1051560"/>
          </a:xfrm>
          <a:prstGeom prst="roundRect">
            <a:avLst>
              <a:gd name="adj" fmla="val 6957"/>
            </a:avLst>
          </a:prstGeom>
          <a:solidFill>
            <a:srgbClr val="FBF1DF"/>
          </a:solidFill>
          <a:ln w="9525">
            <a:solidFill>
              <a:srgbClr val="FBF1DF"/>
            </a:solidFill>
            <a:prstDash val="solid"/>
          </a:ln>
        </p:spPr>
      </p:sp>
      <p:sp>
        <p:nvSpPr>
          <p:cNvPr id="20" name="Text 18"/>
          <p:cNvSpPr txBox="1"/>
          <p:nvPr/>
        </p:nvSpPr>
        <p:spPr>
          <a:xfrm>
            <a:off x="731520" y="5367528"/>
            <a:ext cx="3657600" cy="237744"/>
          </a:xfrm>
          <a:prstGeom prst="rect">
            <a:avLst/>
          </a:prstGeom>
          <a:noFill/>
          <a:ln/>
        </p:spPr>
        <p:txBody>
          <a:bodyPr wrap="square" lIns="0" tIns="0" rIns="0" bIns="0" rtlCol="0" anchor="ctr"/>
          <a:lstStyle/>
          <a:p>
            <a:pPr indent="0" marL="0">
              <a:buNone/>
            </a:pPr>
            <a:r>
              <a:rPr lang="en-US" sz="1100" b="1" dirty="0">
                <a:solidFill>
                  <a:srgbClr val="8F5F0E"/>
                </a:solidFill>
                <a:latin typeface="Meiryo" pitchFamily="34" charset="0"/>
                <a:ea typeface="Meiryo" pitchFamily="34" charset="-122"/>
                <a:cs typeface="Meiryo" pitchFamily="34" charset="-120"/>
              </a:rPr>
              <a:t>この計画が前提とするもの</a:t>
            </a:r>
            <a:endParaRPr lang="en-US" sz="1100" dirty="0"/>
          </a:p>
        </p:txBody>
      </p:sp>
      <p:sp>
        <p:nvSpPr>
          <p:cNvPr id="21" name="Text 19"/>
          <p:cNvSpPr txBox="1"/>
          <p:nvPr/>
        </p:nvSpPr>
        <p:spPr>
          <a:xfrm>
            <a:off x="731520" y="5623560"/>
            <a:ext cx="10744200" cy="658368"/>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分類規程の受領が最初のクリティカルパス。ここが遅れると全体が後ろ倒しになる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30 日目の外部確認（※）の回答が揃わないとパターン選定は確定できない。回答待ちの間も、3 パターンで共通の部分（分類タグ検査、評価データセット、監視設計）から PoC に着手できる</a:t>
            </a:r>
            <a:endParaRPr lang="en-US" sz="900" dirty="0"/>
          </a:p>
          <a:p>
            <a:pPr marL="152400" indent="-152400">
              <a:lnSpc>
                <a:spcPct val="112000"/>
              </a:lnSpc>
              <a:spcAft>
                <a:spcPts val="200"/>
              </a:spcAft>
              <a:buSzPct val="100000"/>
              <a:buChar char="•"/>
            </a:pPr>
            <a:r>
              <a:rPr lang="en-US" sz="900" dirty="0">
                <a:solidFill>
                  <a:srgbClr val="1F2A25"/>
                </a:solidFill>
                <a:latin typeface="Meiryo" pitchFamily="34" charset="0"/>
                <a:ea typeface="Meiryo" pitchFamily="34" charset="-122"/>
                <a:cs typeface="Meiryo" pitchFamily="34" charset="-120"/>
              </a:rPr>
              <a:t>分類 S の用途は本計画に含めない。分類 A の本番稼働と統制の実績を踏まえ、第 2 段階として再設計する</a:t>
            </a:r>
            <a:endParaRPr lang="en-US" sz="900" dirty="0"/>
          </a:p>
        </p:txBody>
      </p:sp>
      <p:sp>
        <p:nvSpPr>
          <p:cNvPr id="22"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3" name="Text 2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2261E"/>
        </a:solidFill>
      </p:bgPr>
    </p:bg>
    <p:spTree>
      <p:nvGrpSpPr>
        <p:cNvPr id="1" name=""/>
        <p:cNvGrpSpPr/>
        <p:nvPr/>
      </p:nvGrpSpPr>
      <p:grpSpPr>
        <a:xfrm>
          <a:off x="0" y="0"/>
          <a:ext cx="0" cy="0"/>
          <a:chOff x="0" y="0"/>
          <a:chExt cx="0" cy="0"/>
        </a:xfrm>
      </p:grpSpPr>
      <p:sp>
        <p:nvSpPr>
          <p:cNvPr id="2" name="Text 0"/>
          <p:cNvSpPr txBox="1"/>
          <p:nvPr/>
        </p:nvSpPr>
        <p:spPr>
          <a:xfrm>
            <a:off x="731520" y="155448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付録</a:t>
            </a:r>
            <a:endParaRPr lang="en-US" sz="3200" dirty="0"/>
          </a:p>
        </p:txBody>
      </p:sp>
      <p:sp>
        <p:nvSpPr>
          <p:cNvPr id="3" name="Text 1"/>
          <p:cNvSpPr txBox="1"/>
          <p:nvPr/>
        </p:nvSpPr>
        <p:spPr>
          <a:xfrm>
            <a:off x="731520" y="2487168"/>
            <a:ext cx="10515600" cy="365760"/>
          </a:xfrm>
          <a:prstGeom prst="rect">
            <a:avLst/>
          </a:prstGeom>
          <a:noFill/>
          <a:ln/>
        </p:spPr>
        <p:txBody>
          <a:bodyPr wrap="square" lIns="0" tIns="0" rIns="0" bIns="0" rtlCol="0" anchor="ctr"/>
          <a:lstStyle/>
          <a:p>
            <a:pPr indent="0" marL="0">
              <a:buNone/>
            </a:pPr>
            <a:r>
              <a:rPr lang="en-US" sz="1400" dirty="0">
                <a:solidFill>
                  <a:srgbClr val="BFD0C7"/>
                </a:solidFill>
                <a:latin typeface="Meiryo" pitchFamily="34" charset="0"/>
                <a:ea typeface="Meiryo" pitchFamily="34" charset="-122"/>
                <a:cs typeface="Meiryo" pitchFamily="34" charset="-120"/>
              </a:rPr>
              <a:t>本編で結論だけを示した箇所の根拠と詳細。議論が深まったときに参照する</a:t>
            </a:r>
            <a:endParaRPr lang="en-US" sz="1400" dirty="0"/>
          </a:p>
        </p:txBody>
      </p:sp>
      <p:sp>
        <p:nvSpPr>
          <p:cNvPr id="4" name="Shape 2"/>
          <p:cNvSpPr/>
          <p:nvPr/>
        </p:nvSpPr>
        <p:spPr>
          <a:xfrm>
            <a:off x="731520" y="3063240"/>
            <a:ext cx="10698480" cy="512064"/>
          </a:xfrm>
          <a:prstGeom prst="roundRect">
            <a:avLst>
              <a:gd name="adj" fmla="val 10714"/>
            </a:avLst>
          </a:prstGeom>
          <a:solidFill>
            <a:srgbClr val="1E3D31"/>
          </a:solidFill>
          <a:ln w="12700">
            <a:solidFill>
              <a:srgbClr val="1E3D31"/>
            </a:solidFill>
            <a:prstDash val="solid"/>
          </a:ln>
        </p:spPr>
      </p:sp>
      <p:sp>
        <p:nvSpPr>
          <p:cNvPr id="5" name="Text 3"/>
          <p:cNvSpPr txBox="1"/>
          <p:nvPr/>
        </p:nvSpPr>
        <p:spPr>
          <a:xfrm>
            <a:off x="914400" y="3191256"/>
            <a:ext cx="118872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p.40〜47</a:t>
            </a:r>
            <a:endParaRPr lang="en-US" sz="1050" dirty="0"/>
          </a:p>
        </p:txBody>
      </p:sp>
      <p:sp>
        <p:nvSpPr>
          <p:cNvPr id="6" name="Text 4"/>
          <p:cNvSpPr txBox="1"/>
          <p:nvPr/>
        </p:nvSpPr>
        <p:spPr>
          <a:xfrm>
            <a:off x="2194560" y="3191256"/>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パターン A の要件別 詳細</a:t>
            </a:r>
            <a:endParaRPr lang="en-US" sz="1100" dirty="0"/>
          </a:p>
        </p:txBody>
      </p:sp>
      <p:sp>
        <p:nvSpPr>
          <p:cNvPr id="7" name="Text 5"/>
          <p:cNvSpPr txBox="1"/>
          <p:nvPr/>
        </p:nvSpPr>
        <p:spPr>
          <a:xfrm>
            <a:off x="5212080" y="3200400"/>
            <a:ext cx="6035040" cy="274320"/>
          </a:xfrm>
          <a:prstGeom prst="rect">
            <a:avLst/>
          </a:prstGeom>
          <a:noFill/>
          <a:ln/>
        </p:spPr>
        <p:txBody>
          <a:bodyPr wrap="square" lIns="0" tIns="0" rIns="0" bIns="0" rtlCol="0" anchor="ctr"/>
          <a:lstStyle/>
          <a:p>
            <a:pPr indent="0" marL="0">
              <a:buNone/>
            </a:pPr>
            <a:r>
              <a:rPr lang="en-US" sz="850" dirty="0">
                <a:solidFill>
                  <a:srgbClr val="C7D5CD"/>
                </a:solidFill>
                <a:latin typeface="Meiryo" pitchFamily="34" charset="0"/>
                <a:ea typeface="Meiryo" pitchFamily="34" charset="-122"/>
                <a:cs typeface="Meiryo" pitchFamily="34" charset="-120"/>
              </a:rPr>
              <a:t>8 要件それぞれについて、担保／破れる条件／破れたときどうなるか（検知・責任・報告・救済）／決めること</a:t>
            </a:r>
            <a:endParaRPr lang="en-US" sz="850" dirty="0"/>
          </a:p>
        </p:txBody>
      </p:sp>
      <p:sp>
        <p:nvSpPr>
          <p:cNvPr id="8" name="Shape 6"/>
          <p:cNvSpPr/>
          <p:nvPr/>
        </p:nvSpPr>
        <p:spPr>
          <a:xfrm>
            <a:off x="731520" y="3666744"/>
            <a:ext cx="10698480" cy="512064"/>
          </a:xfrm>
          <a:prstGeom prst="roundRect">
            <a:avLst>
              <a:gd name="adj" fmla="val 10714"/>
            </a:avLst>
          </a:prstGeom>
          <a:solidFill>
            <a:srgbClr val="1E3D31"/>
          </a:solidFill>
          <a:ln w="12700">
            <a:solidFill>
              <a:srgbClr val="1E3D31"/>
            </a:solidFill>
            <a:prstDash val="solid"/>
          </a:ln>
        </p:spPr>
      </p:sp>
      <p:sp>
        <p:nvSpPr>
          <p:cNvPr id="9" name="Text 7"/>
          <p:cNvSpPr txBox="1"/>
          <p:nvPr/>
        </p:nvSpPr>
        <p:spPr>
          <a:xfrm>
            <a:off x="914400" y="3794760"/>
            <a:ext cx="118872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p.48〜50</a:t>
            </a:r>
            <a:endParaRPr lang="en-US" sz="1050" dirty="0"/>
          </a:p>
        </p:txBody>
      </p:sp>
      <p:sp>
        <p:nvSpPr>
          <p:cNvPr id="10" name="Text 8"/>
          <p:cNvSpPr txBox="1"/>
          <p:nvPr/>
        </p:nvSpPr>
        <p:spPr>
          <a:xfrm>
            <a:off x="2194560" y="3794760"/>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パターン A の可用性・調達・運用</a:t>
            </a:r>
            <a:endParaRPr lang="en-US" sz="1100" dirty="0"/>
          </a:p>
        </p:txBody>
      </p:sp>
      <p:sp>
        <p:nvSpPr>
          <p:cNvPr id="11" name="Text 9"/>
          <p:cNvSpPr txBox="1"/>
          <p:nvPr/>
        </p:nvSpPr>
        <p:spPr>
          <a:xfrm>
            <a:off x="5212080" y="3803904"/>
            <a:ext cx="6035040" cy="274320"/>
          </a:xfrm>
          <a:prstGeom prst="rect">
            <a:avLst/>
          </a:prstGeom>
          <a:noFill/>
          <a:ln/>
        </p:spPr>
        <p:txBody>
          <a:bodyPr wrap="square" lIns="0" tIns="0" rIns="0" bIns="0" rtlCol="0" anchor="ctr"/>
          <a:lstStyle/>
          <a:p>
            <a:pPr indent="0" marL="0">
              <a:buNone/>
            </a:pPr>
            <a:r>
              <a:rPr lang="en-US" sz="850" dirty="0">
                <a:solidFill>
                  <a:srgbClr val="C7D5CD"/>
                </a:solidFill>
                <a:latin typeface="Meiryo" pitchFamily="34" charset="0"/>
                <a:ea typeface="Meiryo" pitchFamily="34" charset="-122"/>
                <a:cs typeface="Meiryo" pitchFamily="34" charset="-120"/>
              </a:rPr>
              <a:t>SLA の範囲とその外側の設計、契約・費用構造・稟議、AI 基盤サービスとして回すための運用機能</a:t>
            </a:r>
            <a:endParaRPr lang="en-US" sz="850" dirty="0"/>
          </a:p>
        </p:txBody>
      </p:sp>
      <p:sp>
        <p:nvSpPr>
          <p:cNvPr id="12" name="Shape 10"/>
          <p:cNvSpPr/>
          <p:nvPr/>
        </p:nvSpPr>
        <p:spPr>
          <a:xfrm>
            <a:off x="731520" y="4270248"/>
            <a:ext cx="10698480" cy="512064"/>
          </a:xfrm>
          <a:prstGeom prst="roundRect">
            <a:avLst>
              <a:gd name="adj" fmla="val 10714"/>
            </a:avLst>
          </a:prstGeom>
          <a:solidFill>
            <a:srgbClr val="1E3D31"/>
          </a:solidFill>
          <a:ln w="12700">
            <a:solidFill>
              <a:srgbClr val="1E3D31"/>
            </a:solidFill>
            <a:prstDash val="solid"/>
          </a:ln>
        </p:spPr>
      </p:sp>
      <p:sp>
        <p:nvSpPr>
          <p:cNvPr id="13" name="Text 11"/>
          <p:cNvSpPr txBox="1"/>
          <p:nvPr/>
        </p:nvSpPr>
        <p:spPr>
          <a:xfrm>
            <a:off x="914400" y="4398264"/>
            <a:ext cx="118872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p.51〜53</a:t>
            </a:r>
            <a:endParaRPr lang="en-US" sz="1050" dirty="0"/>
          </a:p>
        </p:txBody>
      </p:sp>
      <p:sp>
        <p:nvSpPr>
          <p:cNvPr id="14" name="Text 12"/>
          <p:cNvSpPr txBox="1"/>
          <p:nvPr/>
        </p:nvSpPr>
        <p:spPr>
          <a:xfrm>
            <a:off x="2194560" y="4398264"/>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データフローと責任分界／根拠</a:t>
            </a:r>
            <a:endParaRPr lang="en-US" sz="1100" dirty="0"/>
          </a:p>
        </p:txBody>
      </p:sp>
      <p:sp>
        <p:nvSpPr>
          <p:cNvPr id="15" name="Text 13"/>
          <p:cNvSpPr txBox="1"/>
          <p:nvPr/>
        </p:nvSpPr>
        <p:spPr>
          <a:xfrm>
            <a:off x="5212080" y="4407408"/>
            <a:ext cx="6035040" cy="274320"/>
          </a:xfrm>
          <a:prstGeom prst="rect">
            <a:avLst/>
          </a:prstGeom>
          <a:noFill/>
          <a:ln/>
        </p:spPr>
        <p:txBody>
          <a:bodyPr wrap="square" lIns="0" tIns="0" rIns="0" bIns="0" rtlCol="0" anchor="ctr"/>
          <a:lstStyle/>
          <a:p>
            <a:pPr indent="0" marL="0">
              <a:buNone/>
            </a:pPr>
            <a:r>
              <a:rPr lang="en-US" sz="850" dirty="0">
                <a:solidFill>
                  <a:srgbClr val="C7D5CD"/>
                </a:solidFill>
                <a:latin typeface="Meiryo" pitchFamily="34" charset="0"/>
                <a:ea typeface="Meiryo" pitchFamily="34" charset="-122"/>
                <a:cs typeface="Meiryo" pitchFamily="34" charset="-120"/>
              </a:rPr>
              <a:t>段階ごとの責任分界、データ取扱いに関する公式表明、国内完結の技術的裏付けと世代のトレードオフ</a:t>
            </a:r>
            <a:endParaRPr lang="en-US" sz="850" dirty="0"/>
          </a:p>
        </p:txBody>
      </p:sp>
      <p:sp>
        <p:nvSpPr>
          <p:cNvPr id="16" name="Shape 14"/>
          <p:cNvSpPr/>
          <p:nvPr/>
        </p:nvSpPr>
        <p:spPr>
          <a:xfrm>
            <a:off x="731520" y="4873752"/>
            <a:ext cx="10698480" cy="512064"/>
          </a:xfrm>
          <a:prstGeom prst="roundRect">
            <a:avLst>
              <a:gd name="adj" fmla="val 10714"/>
            </a:avLst>
          </a:prstGeom>
          <a:solidFill>
            <a:srgbClr val="1E3D31"/>
          </a:solidFill>
          <a:ln w="12700">
            <a:solidFill>
              <a:srgbClr val="1E3D31"/>
            </a:solidFill>
            <a:prstDash val="solid"/>
          </a:ln>
        </p:spPr>
      </p:sp>
      <p:sp>
        <p:nvSpPr>
          <p:cNvPr id="17" name="Text 15"/>
          <p:cNvSpPr txBox="1"/>
          <p:nvPr/>
        </p:nvSpPr>
        <p:spPr>
          <a:xfrm>
            <a:off x="914400" y="5001768"/>
            <a:ext cx="118872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p.54</a:t>
            </a:r>
            <a:endParaRPr lang="en-US" sz="1050" dirty="0"/>
          </a:p>
        </p:txBody>
      </p:sp>
      <p:sp>
        <p:nvSpPr>
          <p:cNvPr id="18" name="Text 16"/>
          <p:cNvSpPr txBox="1"/>
          <p:nvPr/>
        </p:nvSpPr>
        <p:spPr>
          <a:xfrm>
            <a:off x="2194560" y="5001768"/>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業界水準</a:t>
            </a:r>
            <a:endParaRPr lang="en-US" sz="1100" dirty="0"/>
          </a:p>
        </p:txBody>
      </p:sp>
      <p:sp>
        <p:nvSpPr>
          <p:cNvPr id="19" name="Text 17"/>
          <p:cNvSpPr txBox="1"/>
          <p:nvPr/>
        </p:nvSpPr>
        <p:spPr>
          <a:xfrm>
            <a:off x="5212080" y="5010912"/>
            <a:ext cx="6035040" cy="274320"/>
          </a:xfrm>
          <a:prstGeom prst="rect">
            <a:avLst/>
          </a:prstGeom>
          <a:noFill/>
          <a:ln/>
        </p:spPr>
        <p:txBody>
          <a:bodyPr wrap="square" lIns="0" tIns="0" rIns="0" bIns="0" rtlCol="0" anchor="ctr"/>
          <a:lstStyle/>
          <a:p>
            <a:pPr indent="0" marL="0">
              <a:buNone/>
            </a:pPr>
            <a:r>
              <a:rPr lang="en-US" sz="850" dirty="0">
                <a:solidFill>
                  <a:srgbClr val="C7D5CD"/>
                </a:solidFill>
                <a:latin typeface="Meiryo" pitchFamily="34" charset="0"/>
                <a:ea typeface="Meiryo" pitchFamily="34" charset="-122"/>
                <a:cs typeface="Meiryo" pitchFamily="34" charset="-120"/>
              </a:rPr>
              <a:t>日本銀行の 2026-08 調査と、邦銀の公開事例</a:t>
            </a:r>
            <a:endParaRPr lang="en-US" sz="850" dirty="0"/>
          </a:p>
        </p:txBody>
      </p:sp>
      <p:sp>
        <p:nvSpPr>
          <p:cNvPr id="20" name="Shape 18"/>
          <p:cNvSpPr/>
          <p:nvPr/>
        </p:nvSpPr>
        <p:spPr>
          <a:xfrm>
            <a:off x="731520" y="5477256"/>
            <a:ext cx="10698480" cy="512064"/>
          </a:xfrm>
          <a:prstGeom prst="roundRect">
            <a:avLst>
              <a:gd name="adj" fmla="val 10714"/>
            </a:avLst>
          </a:prstGeom>
          <a:solidFill>
            <a:srgbClr val="1E3D31"/>
          </a:solidFill>
          <a:ln w="12700">
            <a:solidFill>
              <a:srgbClr val="1E3D31"/>
            </a:solidFill>
            <a:prstDash val="solid"/>
          </a:ln>
        </p:spPr>
      </p:sp>
      <p:sp>
        <p:nvSpPr>
          <p:cNvPr id="21" name="Text 19"/>
          <p:cNvSpPr txBox="1"/>
          <p:nvPr/>
        </p:nvSpPr>
        <p:spPr>
          <a:xfrm>
            <a:off x="914400" y="5605272"/>
            <a:ext cx="1188720" cy="274320"/>
          </a:xfrm>
          <a:prstGeom prst="rect">
            <a:avLst/>
          </a:prstGeom>
          <a:noFill/>
          <a:ln/>
        </p:spPr>
        <p:txBody>
          <a:bodyPr wrap="square" lIns="0" tIns="0" rIns="0" bIns="0" rtlCol="0" anchor="ctr"/>
          <a:lstStyle/>
          <a:p>
            <a:pPr indent="0" marL="0">
              <a:buNone/>
            </a:pPr>
            <a:r>
              <a:rPr lang="en-US" sz="1050" b="1" dirty="0">
                <a:solidFill>
                  <a:srgbClr val="C8891A"/>
                </a:solidFill>
                <a:latin typeface="Meiryo" pitchFamily="34" charset="0"/>
                <a:ea typeface="Meiryo" pitchFamily="34" charset="-122"/>
                <a:cs typeface="Meiryo" pitchFamily="34" charset="-120"/>
              </a:rPr>
              <a:t>p.55〜59</a:t>
            </a:r>
            <a:endParaRPr lang="en-US" sz="1050" dirty="0"/>
          </a:p>
        </p:txBody>
      </p:sp>
      <p:sp>
        <p:nvSpPr>
          <p:cNvPr id="22" name="Text 20"/>
          <p:cNvSpPr txBox="1"/>
          <p:nvPr/>
        </p:nvSpPr>
        <p:spPr>
          <a:xfrm>
            <a:off x="2194560" y="5605272"/>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Meiryo" pitchFamily="34" charset="0"/>
                <a:ea typeface="Meiryo" pitchFamily="34" charset="-122"/>
                <a:cs typeface="Meiryo" pitchFamily="34" charset="-120"/>
              </a:rPr>
              <a:t>参考文献</a:t>
            </a:r>
            <a:endParaRPr lang="en-US" sz="1100" dirty="0"/>
          </a:p>
        </p:txBody>
      </p:sp>
      <p:sp>
        <p:nvSpPr>
          <p:cNvPr id="23" name="Text 21"/>
          <p:cNvSpPr txBox="1"/>
          <p:nvPr/>
        </p:nvSpPr>
        <p:spPr>
          <a:xfrm>
            <a:off x="5212080" y="5614416"/>
            <a:ext cx="6035040" cy="274320"/>
          </a:xfrm>
          <a:prstGeom prst="rect">
            <a:avLst/>
          </a:prstGeom>
          <a:noFill/>
          <a:ln/>
        </p:spPr>
        <p:txBody>
          <a:bodyPr wrap="square" lIns="0" tIns="0" rIns="0" bIns="0" rtlCol="0" anchor="ctr"/>
          <a:lstStyle/>
          <a:p>
            <a:pPr indent="0" marL="0">
              <a:buNone/>
            </a:pPr>
            <a:r>
              <a:rPr lang="en-US" sz="850" dirty="0">
                <a:solidFill>
                  <a:srgbClr val="C7D5CD"/>
                </a:solidFill>
                <a:latin typeface="Meiryo" pitchFamily="34" charset="0"/>
                <a:ea typeface="Meiryo" pitchFamily="34" charset="-122"/>
                <a:cs typeface="Meiryo" pitchFamily="34" charset="-120"/>
              </a:rPr>
              <a:t>法令・監督当局・業界／Bedrock／契約・可用性／Microsoft Foundry／Google Vertex AI</a:t>
            </a:r>
            <a:endParaRPr lang="en-US" sz="850" dirty="0"/>
          </a:p>
        </p:txBody>
      </p:sp>
      <p:sp>
        <p:nvSpPr>
          <p:cNvPr id="24"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5" name="Text 2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要件①　データの所在：パターン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推論処理がどの国・リージョンで行われるか。転送経路と、abuse detection で保持される場合の保存先も含む</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jp. inference profile は東京（ap-northeast-1）⇄ 大阪（ap-northeast-3）のみ。AWS 公式：“requests to an inference profile tied to a geography stay within that geography”</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経路は AWS 網内。リージョン間はインターネットを経由せず暗号化される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abuse detection で保持される場合も保存先は destination region ＝ jp. なら日本国内2リージョン</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KB・invocation log・設定は source region に固定（AWS 明記）</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CloudTrail の additionalEventData.inferenceRegion で処理リージョンを事後確認できる</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global プロファイルの誤用。global CRIS では aws:RequestedRegion が文字列 “unspecified” になり、素朴なリージョン制限 SCP をすり抜ける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jp. 非対応モデル（Sonnet 5／Opus 5）を使いたい業務側の圧力</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Guardrails Standard tier は cross-region 必須で、東京からの宛先にムンバイ・ソウル等を含む</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KB やログを別リージョンへ複製する運用（DR 目的の善意の設定変更）</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CloudTrail の inferenceRegion を月次で突合すれば事後に判る。ただしリアルタイム検知は自作の EventBridge ルールが必要（該当する AWS Config managed rule は存在しない）</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責任・影響</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国外処理そのものは漏えいではない。問題は、AI導入組織・監督当局に説明した前提（国内完結）と実態が食い違うこと。個情法の「クラウド例外」「外国第三者提供」の整理が崩れ、内部統制上の不備として扱われる</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是正</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SCP で jp.* 以外の inference profile を Deny すれば技術的に発生しない。global 禁止は ArnLike で inference-profile/global.* を Deny する専用の SCP が必要</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S 分類に「国内完結（jp. 限定）」を必須とするか、AWS 網内・非保存を条件に国外処理を容認するか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jp. 非対応モデルを使う場合の申請・承認フロー（業務所管の承認で足りるか、AI導入組織への付議か）</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要件②　保持（Retention）：パターン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入出力がベンダー側に保存されるか、期間、目的。既定は保存しないが、モデルによって例外がある</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公式（abuse detection ページ）：“by default, Amazon Bedrock does not store model inputs or outputs”（ZDR）</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SCP で bedrock:DataRetentionMode を none 以外に設定する操作を Deny できる（許容値：none／default／provider_data_share／inherit）</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有効モードは project → account → model default の順で最初の非 inherit 値</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保持される場合も、既定では第三者モデル提供者と共有されない（opt in した場合を除く）</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Claude Fable 5 は入出力を最大 30 日保持し、かつ Anthropic への共有 opt-in が必須。ZDR と両立しない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OpenAI GPT-5.x 系は classifier で検知されたトラフィックを最大 30 日保持</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今後のモデルで同種の条件が広がる可能性（AWS は「一部の先進モデルはより厳しい条件」と明記）</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invocation logging を有効化すると入出力の全文が自社 S3／CloudWatch に残る（自社保持だが機密の集積になる）</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モデル追加時の審査でしか判らない。DataRetentionMode の設定変更は CloudTrail に残るが、モデル固有の保持条件は台帳で管理するしかない</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責任・影響</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保持データは destination region に置かれ、opt-in 時は人的レビューの対象になり得る。令和 8 年改正個情法は「委託を受けた業務の遂行に必要な範囲を超えて取り扱ってはならない」義務を委託先に明文化しており、範囲外取扱いの整理が要る</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救済</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契約違反があっても AWS Customer Agreement 9.2 で直前 12 か月の支払額が上限、9.1(B) で「コンテンツの価値」、(C) で逸失利益が除外される。実損の回収経路はほぼない</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DataRetentionMode=none を組織全体の SCP で強制するか（＝保持必須モデルは技術的に使えなくなる）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対象モデルについて full ZDR を AWS アカウントチームに申請するか（eligible customers 向けの申請事項）</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invocation log の保持期間・閲覧権限・マスキング方針</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要件③　学習利用：パターン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入出力が基盤モデルの学習に使われないか。AWS・Anthropic の双方に明文の表明がある</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FAQ：“AWS and the third-party model providers will not use any inputs to or outputs from Amazon Bedrock to train … any third-party models.”</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FAQ：“Users' inputs and model outputs are not shared with any model providers.”</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Anthropic on Bedrock Commercial Terms（2025-08-18 版）：“Anthropic may not train models on Customer Content from Services.”</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モデルはステートレスで、プロンプトが重みに残ることはない</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上記 FAQ と、abuse detection ページの「Fable 5 は Anthropic への共有に opt in が必須」は一見矛盾する。整理を AWS に書面照会する必要がある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opt-in 必須モデルを採用すると、保持トラフィックが提供者に渡り人的レビューの対象になる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fine-tuning／model customization を行う場合は学習データが自社管理になるが、別の統制（データ準備・成果物の保護）が必要</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学習に使われたことを外部から検知する手段は事実上ない。担保は契約と第三者監査レポート（SOC／ISO）に依存する</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責任・影響</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契約違反の立証が困難。個情法上は委託の範囲外取扱いに当たり得るが、当行が事実を把握できない構造にある</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救済</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要件②と同じく AWS §9 の上限に服する。Anthropic 側の事故については Anthropic on Bedrock Commercial Terms（責任上限 12 か月、拘束的仲裁）が別に適用され、責任追及ラインが分断される</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FAQ と abuse detection ページの整合について AWS に書面回答を求めるか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opt-in（provider_data_share）が必須のモデルを禁止リストに入れ、モデル台帳で管理するか</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要件④　第三者アクセス：パターン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AWS の運用者・モデル提供者・第三者が入出力を見られるか。設計上の遮断とその限界</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公式：“Amazon Bedrock uses a zero operator access (ZOA) data security model … no operators of the service can access model input or output”</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Bedrock の次世代推論エンジン Mantle は Nitro System 上で動作。“there is no mechanism for any AWS operator to sign in to underlying compute systems or access any customer data, such as inference prompts or completions”。SSH・シリアルコンソールは Mantle のどこにも導入されていない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Model Deployment Account はリージョン×提供者ごとに AWS が運用し、提供者はログ・プロンプト・応答にアクセスできない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Nitro System には NCC Group による第三者評価（2023-04）がある</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Bedrock／Mantle 固有の第三者セキュリティ評価は未確認（第三者評価が存在するのは Nitro System）</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Fable 5 等の opt-in 時は “potential human review” が発生する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米国法に基づく政府機関からの要請（CLOUD Act）</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自社側の権限設計の穴（RAG の権限過多、認証情報の持ち出し）は ZOA では防げない</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AWS 側のアクセスは当行からは検知できない。設計上の遮断と第三者監査レポートの入手で代替する</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政府アクセス</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AWS 公表：“As of June 2025, there have been no data requests to AWS that resulted in disclosure of enterprise or government content data stored outside the U.S.” DPA では要請を顧客へ転送する努力と事前通知の努力を約束するが、法的に禁じられる場合は通知されない</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委託先整理</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Anthropic は AWS の sub-processor 一覧に掲載がなく、AWS Service Terms 50.12 で “Third-Party Content” と整理されている。AWS DPA の Security Incident 通知義務が Anthropic 側の事故を当然にはカバーしない</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ZOA・Nitro の設計と第三者評価を、委託先評価の証跡として採用してよいか（監査権の代替になるか）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Anthropic を「再委託先」とみるか「AWS の供給者（Third-Party Content）」とみるか — 法務で確定させる</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要件⑤　ネットワーク経路：パターン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閉域で到達できるか。そして経路が破れて社外に出たとき、誰が何をいつ報告するのか</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PrivateLink（com.amazonaws.&lt;region&gt;.bedrock-runtime）で到達。VPC は private subnet のみ、IGW／NAT なし</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オンプレからは Direct Connect／VPN。TLS 1.2 以上（AWS は 1.3 を推奨）</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aws:SourceVpce を Deny 条件に使うと、VPC エンドポイント経由でない要求ではキー自体が存在しないため StringNotEquals が成立し、社外からの直接呼出しを落とせる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Endpoint policy と SCP で宛先（inference profile）と経路を固定できる</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SCP／endpoint policy の drift。Guardrail の有効性や invocation logging の有効化を検査する AWS Config managed rule は存在せず、検知は自作（Config custom rule ／ EventBridge）</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認証情報の持ち出しによる社外からの直接呼出し</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RAG の metadata filter をクライアント入力で組み立てる実装（AWS 側は何も止めない）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agent の tool 経由の外部送信。AgentCore は既定で VPC 外に出ないが NetworkMode=PUBLIC が存在する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invocation log を置いた S3 の公開設定・bucket ACL 有効化（ACL が有効だと bucket policy が効かない）</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CloudTrail は InvokeModel／Converse を management event として既定で記録するが、プロンプト本文は含まれない（modelId のみ）。内容の記録には invocation logging が別途必要。GuardDuty AI Protection は Impact:IAMUser/AnomalousModelInvocation、CostHarvesting、PromptInjection.Direct を検出（PromptInjection は Guardrails が前提）</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責任・報告</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報告義務を負うのは委託元＝当行。委託先が法 26 条 1 項ただし書・規則 9 条により委託元へ通知して免除されるのは委託先側であり、当行の義務は消えない。PPC 速報 3〜5 日／確報 30 日（不正目的 60 日）、金融庁は「認識次第、直ちに」。AWS の DPA は “without undue delay” のみで時間の定めがなく、AWS の通知を待つ設計では速報期限を守れない（詳細 p.35）</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救済</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漏えいに SLA クレジットは発生しない（SLA は可用性のみ）。損害賠償は AWS §9.2 の 12 か月上限に服し、9.1(B)(C) でコンテンツの価値と逸失利益が除外される。回収経路は実質的に自己負担かサイバー保険のみ</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検知の責任部署と SIEM 連携。AWS の通知を待たない自前検知を代替統制として文書化するか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サイバー保険の付保範囲（委託先起因事故、当局対応費用、第三者システム障害）を個別に確認するか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AWS との契約に「インシデント発生時の対応及び報告」を明記できるか（サイバー GL 2.6 の基本対応事項）</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要件⑥　鍵・ログの主権：パターン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暗号鍵と監査ログを自社が管理できるか。そしてログ自体が機密の集積になる問題</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KMS CMK を Knowledge Base のデータソース、Guardrail、ログに適用できる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CloudTrail は Bedrock Runtime の InvokeModel／InvokeModelWithResponseStream／Converse／ConverseStream を management event として既定で記録（data event の有効化不要）</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Model invocation logging で入出力の全文、token 数、呼出し元 ARN、request ID を S3／CloudWatch に記録できる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Security Hub に AI Security Best Practices standard と Bedrock.1（データソースの CMK 暗号化）がある</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invocation logging は既定オフ。有効化すると入出力の全文が残り、ログ自体が最も濃い機密の集積になる。AWS はこの点を明示的に警告していない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100KB 超の body と画像はインラインではなく S3 に個別オブジェクトとして保存される（CloudWatch のみの設定でも S3 が要る）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bucket ACL が有効だと bucket policy が効かない（AWS 明記）</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CMK は保存データが対象で、推論中のメモリ上のデータは対象外</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CloudTrail にプロンプト本文は入らないため、logging を切ると内容の追跡ができない</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S3 Block Public Access、IAM Access Analyzer、Amazon Macie（AWS が data protection ページで推奨）。Security Hub の Bedrock.1／AI Security Best Practices standard</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責任・影響</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ログ側の漏えいは本体と同等かそれ以上の影響を持つ。公開設定ミスは最も件数の多い事故類型であり、責任共有モデル上は完全に当行側の責任範囲（AWS：“You are responsible for maintaining control over your content”）</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報告</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ログに顧客情報が含まれる以上、ログの漏えいも要件⑤と同じ報告義務を発生させる。金融分野 GL 第 11 条 2 項により、個人データに至らない「個人情報」の漏えいも監督当局報告の対象</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invocation logging を分類ごとにオン／オフするか（S は必須、I 以下は任意 等）</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ログの保持期間・閲覧権限・マスキング、および Macie の適用範囲</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要件⑦　委託先管理：パターン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銀行法・監督指針・FISC の外部委託要件を満たせるか。監査権と責任追及ラインの限界</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は ISO 27001／27017／27018／27701、SOC 1／2／3 を NDA 付で AWS Artifact から提供。第三者監査は年次</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ISMAP は AWS として登録済み（東京・大阪を含む）。Bedrock の個別対象は ISMAP ポータルの最新リストで確認する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AWS 自身が「FISC 安全対策基準対応リファレンス」と金融リファレンスアーキテクチャ日本版を公開</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DPA §6.1：sub-processor 追加は 30 日前に告知</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オンサイト監査権はない。DPA 上、顧客監査は AWS が手配する第三者監査で履行される建付けで、当行の内部監査部門による往査を認める条項は存在しない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日本の金融規制当局向けの Financial Services Contract Addendum 相当は未確認（EBA／MAS／APRA 向けには存在）</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sub-processor 変更への異議は解約・利用停止・リージョン移転のみで、拒否権はない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Anthropic は sub-processor 一覧に不掲載。Service Terms 50.12 の Third-Party Content として、Anthropic on Bedrock Commercial Terms（責任上限 12 か月、拘束的仲裁）が別に適用される</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責任追及</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AWS 側の事故は AWS DPA と Customer Agreement、Anthropic 側の事故は Anthropic の Commercial Terms と、責任追及ラインが分断される。委託先管理は二層で整理する必要がある</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委託元の責任</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委託先起因でも当行の監督責任と報告義務は残る。先例：NTT ビジネスソリューションズ／ProCX（2024-01-24、約 928 万人、PPC は委託元 69 団体の監督について「確認が必要」として継続調査）、LINE ヤフー（2024-03-28 勧告）、イセトー（2025-03-19 指導、約 308 万人、委託元 41 団体）</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海外先例</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OCC は Capital One に対し、重要な IT 業務をパブリッククラウドへ移行する前の実効的なリスクアセスメント体制を確立できなかったこと等を理由に 8,000 万ドルの制裁金（2020-08-06）。処罰の対象は技術的失敗ではなくガバナンスの欠如</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監査権の代替（SOC／ISO／ISMAP ＋ 自社統制の文書化）で監督指針の外部委託要件を満たすと整理できるか — 法務・監査部門の判断</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Anthropic の法的位置づけ（再委託先か供給者か）と、それに応じた委託先台帳の登録単位</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要件⑧　可用性・継続性：パターン A（Bedrock）での充足</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サービスとして SLA・容量・モデル寿命を担保できるか（要件の定義は p.18、詳細は付録 p.48〜50）</a:t>
            </a:r>
            <a:endParaRPr lang="en-US" sz="1200" dirty="0"/>
          </a:p>
        </p:txBody>
      </p:sp>
      <p:sp>
        <p:nvSpPr>
          <p:cNvPr id="4" name="Shape 2"/>
          <p:cNvSpPr/>
          <p:nvPr/>
        </p:nvSpPr>
        <p:spPr>
          <a:xfrm>
            <a:off x="548640" y="1325880"/>
            <a:ext cx="3154680" cy="4069080"/>
          </a:xfrm>
          <a:prstGeom prst="roundRect">
            <a:avLst>
              <a:gd name="adj" fmla="val 2319"/>
            </a:avLst>
          </a:prstGeom>
          <a:solidFill>
            <a:srgbClr val="F4F7F5"/>
          </a:solidFill>
          <a:ln w="9525">
            <a:solidFill>
              <a:srgbClr val="C9D6CF"/>
            </a:solidFill>
            <a:prstDash val="solid"/>
          </a:ln>
        </p:spPr>
      </p:sp>
      <p:sp>
        <p:nvSpPr>
          <p:cNvPr id="5" name="Text 3"/>
          <p:cNvSpPr txBox="1"/>
          <p:nvPr/>
        </p:nvSpPr>
        <p:spPr>
          <a:xfrm>
            <a:off x="713232" y="1435608"/>
            <a:ext cx="2825496"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担保されていること</a:t>
            </a:r>
            <a:endParaRPr lang="en-US" sz="1150" dirty="0"/>
          </a:p>
        </p:txBody>
      </p:sp>
      <p:sp>
        <p:nvSpPr>
          <p:cNvPr id="6" name="Text 4"/>
          <p:cNvSpPr txBox="1"/>
          <p:nvPr/>
        </p:nvSpPr>
        <p:spPr>
          <a:xfrm>
            <a:off x="713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Bedrock SLA：月次稼働率 99.9%（リージョン単位）。クレジットは 10／25／100%</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Reserved tier は 99.5% を target とし、超過分は Standard tier へ自動オーバーフロー（Sonnet 4.5／Haiku 4.5／Sonnet 4.6／Opus 4.5 が対象）</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quota は Service Quotas で増枠申請可。jp. 経由は東京（source region）で管理</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モデルは提供開始から最低 12 か月、Legacy 状態は最低 6 か月</a:t>
            </a:r>
            <a:endParaRPr lang="en-US" sz="900" dirty="0"/>
          </a:p>
        </p:txBody>
      </p:sp>
      <p:sp>
        <p:nvSpPr>
          <p:cNvPr id="7" name="Shape 5"/>
          <p:cNvSpPr/>
          <p:nvPr/>
        </p:nvSpPr>
        <p:spPr>
          <a:xfrm>
            <a:off x="3977640" y="1325880"/>
            <a:ext cx="3154680" cy="4069080"/>
          </a:xfrm>
          <a:prstGeom prst="roundRect">
            <a:avLst>
              <a:gd name="adj" fmla="val 2319"/>
            </a:avLst>
          </a:prstGeom>
          <a:solidFill>
            <a:srgbClr val="FBF1DF"/>
          </a:solidFill>
          <a:ln w="9525">
            <a:solidFill>
              <a:srgbClr val="FBF1DF"/>
            </a:solidFill>
            <a:prstDash val="solid"/>
          </a:ln>
        </p:spPr>
      </p:sp>
      <p:sp>
        <p:nvSpPr>
          <p:cNvPr id="8" name="Text 6"/>
          <p:cNvSpPr txBox="1"/>
          <p:nvPr/>
        </p:nvSpPr>
        <p:spPr>
          <a:xfrm>
            <a:off x="4142232" y="1435608"/>
            <a:ext cx="2825496" cy="274320"/>
          </a:xfrm>
          <a:prstGeom prst="rect">
            <a:avLst/>
          </a:prstGeom>
          <a:noFill/>
          <a:ln/>
        </p:spPr>
        <p:txBody>
          <a:bodyPr wrap="square" lIns="0" tIns="0" rIns="0" bIns="0" rtlCol="0" anchor="ctr"/>
          <a:lstStyle/>
          <a:p>
            <a:pPr indent="0" marL="0">
              <a:buNone/>
            </a:pPr>
            <a:r>
              <a:rPr lang="en-US" sz="1150" b="1" dirty="0">
                <a:solidFill>
                  <a:srgbClr val="C8891A"/>
                </a:solidFill>
                <a:latin typeface="Meiryo" pitchFamily="34" charset="0"/>
                <a:ea typeface="Meiryo" pitchFamily="34" charset="-122"/>
                <a:cs typeface="Meiryo" pitchFamily="34" charset="-120"/>
              </a:rPr>
              <a:t>担保が破れる条件</a:t>
            </a:r>
            <a:endParaRPr lang="en-US" sz="1150" dirty="0"/>
          </a:p>
        </p:txBody>
      </p:sp>
      <p:sp>
        <p:nvSpPr>
          <p:cNvPr id="9" name="Text 7"/>
          <p:cNvSpPr txBox="1"/>
          <p:nvPr/>
        </p:nvSpPr>
        <p:spPr>
          <a:xfrm>
            <a:off x="4142232" y="1783080"/>
            <a:ext cx="2825496" cy="3502152"/>
          </a:xfrm>
          <a:prstGeom prst="rect">
            <a:avLst/>
          </a:prstGeom>
          <a:noFill/>
          <a:ln/>
        </p:spPr>
        <p:txBody>
          <a:bodyPr wrap="square" lIns="0" tIns="0" rIns="0" bIns="0" rtlCol="0" anchor="t"/>
          <a:lstStyle/>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SLA の Error は「500 を返した Request」のみ。実運用で起きる 429 ThrottlingException／503 ServiceUnavailable は SLA 上の Unavailable にならない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jp. profile は容量分散であって DR ではない（AWS 明言）。S 分類は jp. 限定のため global への fallback もできない</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Opus 4.7／4.8 と Sonnet 5／Opus 5 は Reserved tier 非対応。Provisioned Throughput は inference profile 非対応</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Knowledge Base はリージョン間複製不可（OpenSearch Serverless の制限）</a:t>
            </a:r>
            <a:endParaRPr lang="en-US" sz="900" dirty="0"/>
          </a:p>
          <a:p>
            <a:pPr marL="152400" indent="-152400">
              <a:lnSpc>
                <a:spcPct val="112000"/>
              </a:lnSpc>
              <a:spcAft>
                <a:spcPts val="700"/>
              </a:spcAft>
              <a:buSzPct val="100000"/>
              <a:buChar char="•"/>
            </a:pPr>
            <a:r>
              <a:rPr lang="en-US" sz="900" dirty="0">
                <a:solidFill>
                  <a:srgbClr val="1F2A25"/>
                </a:solidFill>
                <a:latin typeface="Meiryo" pitchFamily="34" charset="0"/>
                <a:ea typeface="Meiryo" pitchFamily="34" charset="-122"/>
                <a:cs typeface="Meiryo" pitchFamily="34" charset="-120"/>
              </a:rPr>
              <a:t>Legacy 期の extended access では提供者が価格を設定（前例：2 倍）</a:t>
            </a:r>
            <a:endParaRPr lang="en-US" sz="900" dirty="0"/>
          </a:p>
        </p:txBody>
      </p:sp>
      <p:sp>
        <p:nvSpPr>
          <p:cNvPr id="10" name="Shape 8"/>
          <p:cNvSpPr/>
          <p:nvPr/>
        </p:nvSpPr>
        <p:spPr>
          <a:xfrm>
            <a:off x="7406640" y="1325880"/>
            <a:ext cx="4233672" cy="4069080"/>
          </a:xfrm>
          <a:prstGeom prst="roundRect">
            <a:avLst>
              <a:gd name="adj" fmla="val 1798"/>
            </a:avLst>
          </a:prstGeom>
          <a:solidFill>
            <a:srgbClr val="F9E7E2"/>
          </a:solidFill>
          <a:ln w="9525">
            <a:solidFill>
              <a:srgbClr val="F9E7E2"/>
            </a:solidFill>
            <a:prstDash val="solid"/>
          </a:ln>
        </p:spPr>
      </p:sp>
      <p:sp>
        <p:nvSpPr>
          <p:cNvPr id="11" name="Text 9"/>
          <p:cNvSpPr txBox="1"/>
          <p:nvPr/>
        </p:nvSpPr>
        <p:spPr>
          <a:xfrm>
            <a:off x="7571232" y="1435608"/>
            <a:ext cx="3904488" cy="274320"/>
          </a:xfrm>
          <a:prstGeom prst="rect">
            <a:avLst/>
          </a:prstGeom>
          <a:noFill/>
          <a:ln/>
        </p:spPr>
        <p:txBody>
          <a:bodyPr wrap="square" lIns="0" tIns="0" rIns="0" bIns="0" rtlCol="0" anchor="ctr"/>
          <a:lstStyle/>
          <a:p>
            <a:pPr indent="0" marL="0">
              <a:buNone/>
            </a:pPr>
            <a:r>
              <a:rPr lang="en-US" sz="1150" b="1" dirty="0">
                <a:solidFill>
                  <a:srgbClr val="B5402A"/>
                </a:solidFill>
                <a:latin typeface="Meiryo" pitchFamily="34" charset="0"/>
                <a:ea typeface="Meiryo" pitchFamily="34" charset="-122"/>
                <a:cs typeface="Meiryo" pitchFamily="34" charset="-120"/>
              </a:rPr>
              <a:t>破れたときどうなるか</a:t>
            </a:r>
            <a:endParaRPr lang="en-US" sz="1150" dirty="0"/>
          </a:p>
        </p:txBody>
      </p:sp>
      <p:sp>
        <p:nvSpPr>
          <p:cNvPr id="12" name="Text 10"/>
          <p:cNvSpPr txBox="1"/>
          <p:nvPr/>
        </p:nvSpPr>
        <p:spPr>
          <a:xfrm>
            <a:off x="7571232" y="178308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検知</a:t>
            </a:r>
            <a:endParaRPr lang="en-US" sz="950" dirty="0"/>
          </a:p>
        </p:txBody>
      </p:sp>
      <p:sp>
        <p:nvSpPr>
          <p:cNvPr id="13" name="Text 11"/>
          <p:cNvSpPr txBox="1"/>
          <p:nvPr/>
        </p:nvSpPr>
        <p:spPr>
          <a:xfrm>
            <a:off x="7571232" y="200253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CloudWatch の InvocationThrottles／InvocationServerErrors／LegacyModelInvocations。モデル寿命は AWS Health の planned lifecycle events を EventBridge でチケット化</a:t>
            </a:r>
            <a:endParaRPr lang="en-US" sz="850" dirty="0"/>
          </a:p>
        </p:txBody>
      </p:sp>
      <p:sp>
        <p:nvSpPr>
          <p:cNvPr id="14" name="Text 12"/>
          <p:cNvSpPr txBox="1"/>
          <p:nvPr/>
        </p:nvSpPr>
        <p:spPr>
          <a:xfrm>
            <a:off x="7571232" y="295656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責任・報告</a:t>
            </a:r>
            <a:endParaRPr lang="en-US" sz="950" dirty="0"/>
          </a:p>
        </p:txBody>
      </p:sp>
      <p:sp>
        <p:nvSpPr>
          <p:cNvPr id="15" name="Text 13"/>
          <p:cNvSpPr txBox="1"/>
          <p:nvPr/>
        </p:nvSpPr>
        <p:spPr>
          <a:xfrm>
            <a:off x="7571232" y="317601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金融庁への障害等報告は監督指針上「認識次第、直ちに」。復旧時・原因解明時に続報、解明前でも 1 か月以内に現状報告。様式 4-46、サイバー事案は 2025-10-01 適用の共通様式</a:t>
            </a:r>
            <a:endParaRPr lang="en-US" sz="850" dirty="0"/>
          </a:p>
        </p:txBody>
      </p:sp>
      <p:sp>
        <p:nvSpPr>
          <p:cNvPr id="16" name="Text 14"/>
          <p:cNvSpPr txBox="1"/>
          <p:nvPr/>
        </p:nvSpPr>
        <p:spPr>
          <a:xfrm>
            <a:off x="7571232" y="4130040"/>
            <a:ext cx="3904488" cy="219456"/>
          </a:xfrm>
          <a:prstGeom prst="rect">
            <a:avLst/>
          </a:prstGeom>
          <a:noFill/>
          <a:ln/>
        </p:spPr>
        <p:txBody>
          <a:bodyPr wrap="square" lIns="0" tIns="0" rIns="0" bIns="0" rtlCol="0" anchor="ctr"/>
          <a:lstStyle/>
          <a:p>
            <a:pPr indent="0" marL="0">
              <a:buNone/>
            </a:pPr>
            <a:r>
              <a:rPr lang="en-US" sz="950" b="1" dirty="0">
                <a:solidFill>
                  <a:srgbClr val="B5402A"/>
                </a:solidFill>
                <a:latin typeface="Meiryo" pitchFamily="34" charset="0"/>
                <a:ea typeface="Meiryo" pitchFamily="34" charset="-122"/>
                <a:cs typeface="Meiryo" pitchFamily="34" charset="-120"/>
              </a:rPr>
              <a:t>救済</a:t>
            </a:r>
            <a:endParaRPr lang="en-US" sz="950" dirty="0"/>
          </a:p>
        </p:txBody>
      </p:sp>
      <p:sp>
        <p:nvSpPr>
          <p:cNvPr id="17" name="Text 15"/>
          <p:cNvSpPr txBox="1"/>
          <p:nvPr/>
        </p:nvSpPr>
        <p:spPr>
          <a:xfrm>
            <a:off x="7571232" y="4349496"/>
            <a:ext cx="3904488" cy="917448"/>
          </a:xfrm>
          <a:prstGeom prst="rect">
            <a:avLst/>
          </a:prstGeom>
          <a:noFill/>
          <a:ln/>
        </p:spPr>
        <p:txBody>
          <a:bodyPr wrap="square" lIns="0" tIns="0" rIns="0" bIns="0" rtlCol="0" anchor="t"/>
          <a:lstStyle/>
          <a:p>
            <a:pPr indent="0" marL="0">
              <a:lnSpc>
                <a:spcPct val="115000"/>
              </a:lnSpc>
              <a:buNone/>
            </a:pPr>
            <a:r>
              <a:rPr lang="en-US" sz="850" dirty="0">
                <a:solidFill>
                  <a:srgbClr val="1F2A25"/>
                </a:solidFill>
                <a:latin typeface="Meiryo" pitchFamily="34" charset="0"/>
                <a:ea typeface="Meiryo" pitchFamily="34" charset="-122"/>
                <a:cs typeface="Meiryo" pitchFamily="34" charset="-120"/>
              </a:rPr>
              <a:t>SLA クレジットが “sole and exclusive remedy”。業務停止による損害は回収できない。Reserved tier の 99.5% は target であって SLA ではない</a:t>
            </a:r>
            <a:endParaRPr lang="en-US" sz="850" dirty="0"/>
          </a:p>
        </p:txBody>
      </p:sp>
      <p:sp>
        <p:nvSpPr>
          <p:cNvPr id="18" name="Shape 16"/>
          <p:cNvSpPr/>
          <p:nvPr/>
        </p:nvSpPr>
        <p:spPr>
          <a:xfrm>
            <a:off x="548640" y="5532120"/>
            <a:ext cx="11091672" cy="822960"/>
          </a:xfrm>
          <a:prstGeom prst="roundRect">
            <a:avLst>
              <a:gd name="adj" fmla="val 8889"/>
            </a:avLst>
          </a:prstGeom>
          <a:solidFill>
            <a:srgbClr val="E9F0EC"/>
          </a:solidFill>
          <a:ln w="9525">
            <a:solidFill>
              <a:srgbClr val="E9F0EC"/>
            </a:solidFill>
            <a:prstDash val="solid"/>
          </a:ln>
        </p:spPr>
      </p:sp>
      <p:sp>
        <p:nvSpPr>
          <p:cNvPr id="19" name="Text 17"/>
          <p:cNvSpPr txBox="1"/>
          <p:nvPr/>
        </p:nvSpPr>
        <p:spPr>
          <a:xfrm>
            <a:off x="731520" y="5586984"/>
            <a:ext cx="2743200" cy="219456"/>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AI導入組織が決めること</a:t>
            </a:r>
            <a:endParaRPr lang="en-US" sz="1050" dirty="0"/>
          </a:p>
        </p:txBody>
      </p:sp>
      <p:sp>
        <p:nvSpPr>
          <p:cNvPr id="20" name="Text 18"/>
          <p:cNvSpPr txBox="1"/>
          <p:nvPr/>
        </p:nvSpPr>
        <p:spPr>
          <a:xfrm>
            <a:off x="731520" y="5833872"/>
            <a:ext cx="10744200" cy="502920"/>
          </a:xfrm>
          <a:prstGeom prst="rect">
            <a:avLst/>
          </a:prstGeom>
          <a:noFill/>
          <a:ln/>
        </p:spPr>
        <p:txBody>
          <a:bodyPr wrap="square" lIns="0" tIns="0" rIns="0" bIns="0" rtlCol="0" anchor="t"/>
          <a:lstStyle/>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分類ごとの縮退方針（S は人手縮退、A は global への fallback を許すか）</a:t>
            </a:r>
            <a:endParaRPr lang="en-US" sz="950" dirty="0"/>
          </a:p>
          <a:p>
            <a:pPr marL="152400" indent="-152400">
              <a:lnSpc>
                <a:spcPct val="112000"/>
              </a:lnSpc>
              <a:spcAft>
                <a:spcPts val="200"/>
              </a:spcAft>
              <a:buSzPct val="100000"/>
              <a:buChar char="•"/>
            </a:pPr>
            <a:r>
              <a:rPr lang="en-US" sz="950" dirty="0">
                <a:solidFill>
                  <a:srgbClr val="1F2A25"/>
                </a:solidFill>
                <a:latin typeface="Meiryo" pitchFamily="34" charset="0"/>
                <a:ea typeface="Meiryo" pitchFamily="34" charset="-122"/>
                <a:cs typeface="Meiryo" pitchFamily="34" charset="-120"/>
              </a:rPr>
              <a:t>可用性目標を「利用者から見た成功率（429／503 を含む）」で定義し、AI導入組織に定期報告するか</a:t>
            </a:r>
            <a:endParaRPr lang="en-US" sz="950" dirty="0"/>
          </a:p>
        </p:txBody>
      </p:sp>
      <p:sp>
        <p:nvSpPr>
          <p:cNvPr id="21"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2"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【付録】パターン A の可用性：SLA の範囲と、その外側の設計</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SLA 99.9% は「リージョン単位・HTTP 500 のみ」。throttling も jp. のルーティングも SLA の外にある</a:t>
            </a:r>
            <a:endParaRPr lang="en-US" sz="1200" dirty="0"/>
          </a:p>
        </p:txBody>
      </p:sp>
      <p:sp>
        <p:nvSpPr>
          <p:cNvPr id="4" name="Text 2"/>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300" b="1" dirty="0">
                <a:solidFill>
                  <a:srgbClr val="1B3A2F"/>
                </a:solidFill>
                <a:latin typeface="Meiryo" pitchFamily="34" charset="0"/>
                <a:ea typeface="Meiryo" pitchFamily="34" charset="-122"/>
                <a:cs typeface="Meiryo" pitchFamily="34" charset="-120"/>
              </a:rPr>
              <a:t>AWS 公式仕様から確認できた事実</a:t>
            </a:r>
            <a:endParaRPr lang="en-US" sz="1300" dirty="0"/>
          </a:p>
        </p:txBody>
      </p:sp>
      <p:sp>
        <p:nvSpPr>
          <p:cNvPr id="5" name="Shape 3"/>
          <p:cNvSpPr/>
          <p:nvPr/>
        </p:nvSpPr>
        <p:spPr>
          <a:xfrm>
            <a:off x="548640" y="1783080"/>
            <a:ext cx="310896" cy="310896"/>
          </a:xfrm>
          <a:prstGeom prst="ellipse">
            <a:avLst/>
          </a:prstGeom>
          <a:solidFill>
            <a:srgbClr val="1B3A2F"/>
          </a:solidFill>
          <a:ln w="12700">
            <a:solidFill>
              <a:srgbClr val="1B3A2F"/>
            </a:solidFill>
            <a:prstDash val="solid"/>
          </a:ln>
        </p:spPr>
      </p:sp>
      <p:sp>
        <p:nvSpPr>
          <p:cNvPr id="6" name="Text 4"/>
          <p:cNvSpPr txBox="1"/>
          <p:nvPr/>
        </p:nvSpPr>
        <p:spPr>
          <a:xfrm>
            <a:off x="548640" y="1783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txBox="1"/>
          <p:nvPr/>
        </p:nvSpPr>
        <p:spPr>
          <a:xfrm>
            <a:off x="960120" y="1737360"/>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SLA 99.9%（月次・リージョン単位）</a:t>
            </a:r>
            <a:endParaRPr lang="en-US" sz="1050" dirty="0"/>
          </a:p>
        </p:txBody>
      </p:sp>
      <p:sp>
        <p:nvSpPr>
          <p:cNvPr id="8" name="Text 6"/>
          <p:cNvSpPr txBox="1"/>
          <p:nvPr/>
        </p:nvSpPr>
        <p:spPr>
          <a:xfrm>
            <a:off x="960120" y="1975104"/>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Error の定義は「500 を返した Request」のみ。429 ThrottlingException／503 ServiceUnavailable は SLA 上の Unavailable にならない。クレジットは 10／25／100%。</a:t>
            </a:r>
            <a:endParaRPr lang="en-US" sz="850" dirty="0"/>
          </a:p>
        </p:txBody>
      </p:sp>
      <p:sp>
        <p:nvSpPr>
          <p:cNvPr id="9" name="Shape 7"/>
          <p:cNvSpPr/>
          <p:nvPr/>
        </p:nvSpPr>
        <p:spPr>
          <a:xfrm>
            <a:off x="548640" y="2532888"/>
            <a:ext cx="310896" cy="310896"/>
          </a:xfrm>
          <a:prstGeom prst="ellipse">
            <a:avLst/>
          </a:prstGeom>
          <a:solidFill>
            <a:srgbClr val="1B3A2F"/>
          </a:solidFill>
          <a:ln w="12700">
            <a:solidFill>
              <a:srgbClr val="1B3A2F"/>
            </a:solidFill>
            <a:prstDash val="solid"/>
          </a:ln>
        </p:spPr>
      </p:sp>
      <p:sp>
        <p:nvSpPr>
          <p:cNvPr id="10" name="Text 8"/>
          <p:cNvSpPr txBox="1"/>
          <p:nvPr/>
        </p:nvSpPr>
        <p:spPr>
          <a:xfrm>
            <a:off x="548640" y="25328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1" name="Text 9"/>
          <p:cNvSpPr txBox="1"/>
          <p:nvPr/>
        </p:nvSpPr>
        <p:spPr>
          <a:xfrm>
            <a:off x="960120" y="2487168"/>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jp. profile は容量分散であって DR ではない</a:t>
            </a:r>
            <a:endParaRPr lang="en-US" sz="1050" dirty="0"/>
          </a:p>
        </p:txBody>
      </p:sp>
      <p:sp>
        <p:nvSpPr>
          <p:cNvPr id="12" name="Text 10"/>
          <p:cNvSpPr txBox="1"/>
          <p:nvPr/>
        </p:nvSpPr>
        <p:spPr>
          <a:xfrm>
            <a:off x="960120" y="2724912"/>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AWS 明言：“It does not, however, function as a disaster recovery or automatic failover system, and should not be treated as one.” 東阪 DR は別途設計。</a:t>
            </a:r>
            <a:endParaRPr lang="en-US" sz="850" dirty="0"/>
          </a:p>
        </p:txBody>
      </p:sp>
      <p:sp>
        <p:nvSpPr>
          <p:cNvPr id="13" name="Shape 11"/>
          <p:cNvSpPr/>
          <p:nvPr/>
        </p:nvSpPr>
        <p:spPr>
          <a:xfrm>
            <a:off x="548640" y="3282696"/>
            <a:ext cx="310896" cy="310896"/>
          </a:xfrm>
          <a:prstGeom prst="ellipse">
            <a:avLst/>
          </a:prstGeom>
          <a:solidFill>
            <a:srgbClr val="1B3A2F"/>
          </a:solidFill>
          <a:ln w="12700">
            <a:solidFill>
              <a:srgbClr val="1B3A2F"/>
            </a:solidFill>
            <a:prstDash val="solid"/>
          </a:ln>
        </p:spPr>
      </p:sp>
      <p:sp>
        <p:nvSpPr>
          <p:cNvPr id="14" name="Text 12"/>
          <p:cNvSpPr txBox="1"/>
          <p:nvPr/>
        </p:nvSpPr>
        <p:spPr>
          <a:xfrm>
            <a:off x="548640" y="32826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5" name="Text 13"/>
          <p:cNvSpPr txBox="1"/>
          <p:nvPr/>
        </p:nvSpPr>
        <p:spPr>
          <a:xfrm>
            <a:off x="960120" y="3236976"/>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Reserved tier は 99.5% を target（SLA ではない）</a:t>
            </a:r>
            <a:endParaRPr lang="en-US" sz="1050" dirty="0"/>
          </a:p>
        </p:txBody>
      </p:sp>
      <p:sp>
        <p:nvSpPr>
          <p:cNvPr id="16" name="Text 14"/>
          <p:cNvSpPr txBox="1"/>
          <p:nvPr/>
        </p:nvSpPr>
        <p:spPr>
          <a:xfrm>
            <a:off x="960120" y="3474720"/>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対象は Sonnet 4.5／Haiku 4.5／Sonnet 4.6／Opus 4.5。Opus 4.7／4.8 と Sonnet 5／Opus 5 は非対応。Priority／Flex tier も Claude 非対応。jp. での提供可否は AWS に要確認。</a:t>
            </a:r>
            <a:endParaRPr lang="en-US" sz="850" dirty="0"/>
          </a:p>
        </p:txBody>
      </p:sp>
      <p:sp>
        <p:nvSpPr>
          <p:cNvPr id="17" name="Shape 15"/>
          <p:cNvSpPr/>
          <p:nvPr/>
        </p:nvSpPr>
        <p:spPr>
          <a:xfrm>
            <a:off x="548640" y="4032504"/>
            <a:ext cx="310896" cy="310896"/>
          </a:xfrm>
          <a:prstGeom prst="ellipse">
            <a:avLst/>
          </a:prstGeom>
          <a:solidFill>
            <a:srgbClr val="1B3A2F"/>
          </a:solidFill>
          <a:ln w="12700">
            <a:solidFill>
              <a:srgbClr val="1B3A2F"/>
            </a:solidFill>
            <a:prstDash val="solid"/>
          </a:ln>
        </p:spPr>
      </p:sp>
      <p:sp>
        <p:nvSpPr>
          <p:cNvPr id="18" name="Text 16"/>
          <p:cNvSpPr txBox="1"/>
          <p:nvPr/>
        </p:nvSpPr>
        <p:spPr>
          <a:xfrm>
            <a:off x="548640" y="40325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19" name="Text 17"/>
          <p:cNvSpPr txBox="1"/>
          <p:nvPr/>
        </p:nvSpPr>
        <p:spPr>
          <a:xfrm>
            <a:off x="960120" y="3986784"/>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quota はモデル×リージョン×アカウント</a:t>
            </a:r>
            <a:endParaRPr lang="en-US" sz="1050" dirty="0"/>
          </a:p>
        </p:txBody>
      </p:sp>
      <p:sp>
        <p:nvSpPr>
          <p:cNvPr id="20" name="Text 18"/>
          <p:cNvSpPr txBox="1"/>
          <p:nvPr/>
        </p:nvSpPr>
        <p:spPr>
          <a:xfrm>
            <a:off x="960120" y="4224528"/>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TPM／RPM／TPD。jp. 経由は東京（source region）で申請。Opus 4.8 は出力 1 token ＝ quota 15 token（burndown 15x）、Sonnet 5／Opus 5 は 10x。max_tokens を大きくすると先食いして 429 が増える。</a:t>
            </a:r>
            <a:endParaRPr lang="en-US" sz="850" dirty="0"/>
          </a:p>
        </p:txBody>
      </p:sp>
      <p:sp>
        <p:nvSpPr>
          <p:cNvPr id="21" name="Shape 19"/>
          <p:cNvSpPr/>
          <p:nvPr/>
        </p:nvSpPr>
        <p:spPr>
          <a:xfrm>
            <a:off x="548640" y="4782312"/>
            <a:ext cx="310896" cy="310896"/>
          </a:xfrm>
          <a:prstGeom prst="ellipse">
            <a:avLst/>
          </a:prstGeom>
          <a:solidFill>
            <a:srgbClr val="1B3A2F"/>
          </a:solidFill>
          <a:ln w="12700">
            <a:solidFill>
              <a:srgbClr val="1B3A2F"/>
            </a:solidFill>
            <a:prstDash val="solid"/>
          </a:ln>
        </p:spPr>
      </p:sp>
      <p:sp>
        <p:nvSpPr>
          <p:cNvPr id="22" name="Text 20"/>
          <p:cNvSpPr txBox="1"/>
          <p:nvPr/>
        </p:nvSpPr>
        <p:spPr>
          <a:xfrm>
            <a:off x="548640" y="4782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a:t>
            </a:r>
            <a:endParaRPr lang="en-US" sz="1100" dirty="0"/>
          </a:p>
        </p:txBody>
      </p:sp>
      <p:sp>
        <p:nvSpPr>
          <p:cNvPr id="23" name="Text 21"/>
          <p:cNvSpPr txBox="1"/>
          <p:nvPr/>
        </p:nvSpPr>
        <p:spPr>
          <a:xfrm>
            <a:off x="960120" y="4736592"/>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Knowledge Base はリージョン間複製不可</a:t>
            </a:r>
            <a:endParaRPr lang="en-US" sz="1050" dirty="0"/>
          </a:p>
        </p:txBody>
      </p:sp>
      <p:sp>
        <p:nvSpPr>
          <p:cNvPr id="24" name="Text 22"/>
          <p:cNvSpPr txBox="1"/>
          <p:nvPr/>
        </p:nvSpPr>
        <p:spPr>
          <a:xfrm>
            <a:off x="960120" y="4974336"/>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OpenSearch Serverless：“Cross-Region search and replication aren't supported.” 大阪で使うなら S3 CRR＋索引の再構築が必要。invocation logging も同一リージョン限定。</a:t>
            </a:r>
            <a:endParaRPr lang="en-US" sz="850" dirty="0"/>
          </a:p>
        </p:txBody>
      </p:sp>
      <p:sp>
        <p:nvSpPr>
          <p:cNvPr id="25" name="Shape 23"/>
          <p:cNvSpPr/>
          <p:nvPr/>
        </p:nvSpPr>
        <p:spPr>
          <a:xfrm>
            <a:off x="548640" y="5532120"/>
            <a:ext cx="310896" cy="310896"/>
          </a:xfrm>
          <a:prstGeom prst="ellipse">
            <a:avLst/>
          </a:prstGeom>
          <a:solidFill>
            <a:srgbClr val="1B3A2F"/>
          </a:solidFill>
          <a:ln w="12700">
            <a:solidFill>
              <a:srgbClr val="1B3A2F"/>
            </a:solidFill>
            <a:prstDash val="solid"/>
          </a:ln>
        </p:spPr>
      </p:sp>
      <p:sp>
        <p:nvSpPr>
          <p:cNvPr id="26" name="Text 24"/>
          <p:cNvSpPr txBox="1"/>
          <p:nvPr/>
        </p:nvSpPr>
        <p:spPr>
          <a:xfrm>
            <a:off x="548640" y="55321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a:t>
            </a:r>
            <a:endParaRPr lang="en-US" sz="1100" dirty="0"/>
          </a:p>
        </p:txBody>
      </p:sp>
      <p:sp>
        <p:nvSpPr>
          <p:cNvPr id="27" name="Text 25"/>
          <p:cNvSpPr txBox="1"/>
          <p:nvPr/>
        </p:nvSpPr>
        <p:spPr>
          <a:xfrm>
            <a:off x="960120" y="5486400"/>
            <a:ext cx="507492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モデル寿命：提供 ≥12 か月、Legacy ≥6 か月</a:t>
            </a:r>
            <a:endParaRPr lang="en-US" sz="1050" dirty="0"/>
          </a:p>
        </p:txBody>
      </p:sp>
      <p:sp>
        <p:nvSpPr>
          <p:cNvPr id="28" name="Text 26"/>
          <p:cNvSpPr txBox="1"/>
          <p:nvPr/>
        </p:nvSpPr>
        <p:spPr>
          <a:xfrm>
            <a:off x="960120" y="5724144"/>
            <a:ext cx="5074920" cy="493776"/>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Legacy 3 か月後の extended access 期は値上げ（Claude 3.5 Sonnet は 2 倍の前例）。Sonnet 4.5／Haiku 4.5 は 2026-09-29／10-01 以降いつでも Legacy 化し得る。移行は自動では行われない。</a:t>
            </a:r>
            <a:endParaRPr lang="en-US" sz="850" dirty="0"/>
          </a:p>
        </p:txBody>
      </p:sp>
      <p:sp>
        <p:nvSpPr>
          <p:cNvPr id="29" name="Shape 27"/>
          <p:cNvSpPr/>
          <p:nvPr/>
        </p:nvSpPr>
        <p:spPr>
          <a:xfrm>
            <a:off x="6355080" y="1371600"/>
            <a:ext cx="5257800" cy="4892040"/>
          </a:xfrm>
          <a:prstGeom prst="roundRect">
            <a:avLst>
              <a:gd name="adj" fmla="val 1495"/>
            </a:avLst>
          </a:prstGeom>
          <a:solidFill>
            <a:srgbClr val="F4F7F5"/>
          </a:solidFill>
          <a:ln w="9525">
            <a:solidFill>
              <a:srgbClr val="C9D6CF"/>
            </a:solidFill>
            <a:prstDash val="solid"/>
          </a:ln>
        </p:spPr>
      </p:sp>
      <p:sp>
        <p:nvSpPr>
          <p:cNvPr id="30" name="Text 28"/>
          <p:cNvSpPr txBox="1"/>
          <p:nvPr/>
        </p:nvSpPr>
        <p:spPr>
          <a:xfrm>
            <a:off x="6537960" y="1463040"/>
            <a:ext cx="4892040" cy="320040"/>
          </a:xfrm>
          <a:prstGeom prst="rect">
            <a:avLst/>
          </a:prstGeom>
          <a:noFill/>
          <a:ln/>
        </p:spPr>
        <p:txBody>
          <a:bodyPr wrap="square" lIns="0" tIns="0" rIns="0" bIns="0" rtlCol="0" anchor="t"/>
          <a:lstStyle/>
          <a:p>
            <a:pPr indent="0" marL="0">
              <a:buNone/>
            </a:pPr>
            <a:r>
              <a:rPr lang="en-US" sz="1300" b="1" dirty="0">
                <a:solidFill>
                  <a:srgbClr val="1B3A2F"/>
                </a:solidFill>
                <a:latin typeface="Meiryo" pitchFamily="34" charset="0"/>
                <a:ea typeface="Meiryo" pitchFamily="34" charset="-122"/>
                <a:cs typeface="Meiryo" pitchFamily="34" charset="-120"/>
              </a:rPr>
              <a:t>設計での応答（分類階層ごとに違う）</a:t>
            </a:r>
            <a:endParaRPr lang="en-US" sz="1300" dirty="0"/>
          </a:p>
        </p:txBody>
      </p:sp>
      <p:sp>
        <p:nvSpPr>
          <p:cNvPr id="31" name="Shape 29"/>
          <p:cNvSpPr/>
          <p:nvPr/>
        </p:nvSpPr>
        <p:spPr>
          <a:xfrm>
            <a:off x="6537960" y="1828800"/>
            <a:ext cx="1051560" cy="256032"/>
          </a:xfrm>
          <a:prstGeom prst="roundRect">
            <a:avLst>
              <a:gd name="adj" fmla="val 50000"/>
            </a:avLst>
          </a:prstGeom>
          <a:solidFill>
            <a:srgbClr val="B5402A"/>
          </a:solidFill>
          <a:ln w="12700">
            <a:solidFill>
              <a:srgbClr val="B5402A"/>
            </a:solidFill>
            <a:prstDash val="solid"/>
          </a:ln>
        </p:spPr>
      </p:sp>
      <p:sp>
        <p:nvSpPr>
          <p:cNvPr id="32" name="Text 30"/>
          <p:cNvSpPr txBox="1"/>
          <p:nvPr/>
        </p:nvSpPr>
        <p:spPr>
          <a:xfrm>
            <a:off x="6537960" y="1828800"/>
            <a:ext cx="1051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S（機密）</a:t>
            </a:r>
            <a:endParaRPr lang="en-US" sz="900" dirty="0"/>
          </a:p>
        </p:txBody>
      </p:sp>
      <p:sp>
        <p:nvSpPr>
          <p:cNvPr id="33" name="Text 31"/>
          <p:cNvSpPr txBox="1"/>
          <p:nvPr/>
        </p:nvSpPr>
        <p:spPr>
          <a:xfrm>
            <a:off x="6537960" y="2130552"/>
            <a:ext cx="4892040" cy="749808"/>
          </a:xfrm>
          <a:prstGeom prst="rect">
            <a:avLst/>
          </a:prstGeom>
          <a:noFill/>
          <a:ln/>
        </p:spPr>
        <p:txBody>
          <a:bodyPr wrap="square" lIns="0" tIns="0" rIns="0" bIns="0" rtlCol="0" anchor="ctr"/>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jp. 限定のため global への fallback は不可。障害時は「人手へ縮退」を業務手順に組み込む（フロンティア AI 要請⑧の停止時対応と同じ扱い）。業務上必須の用途は Reserved tier（Sonnet 4.6）で容量を確保。</a:t>
            </a:r>
            <a:endParaRPr lang="en-US" sz="900" dirty="0"/>
          </a:p>
        </p:txBody>
      </p:sp>
      <p:sp>
        <p:nvSpPr>
          <p:cNvPr id="34" name="Shape 32"/>
          <p:cNvSpPr/>
          <p:nvPr/>
        </p:nvSpPr>
        <p:spPr>
          <a:xfrm>
            <a:off x="6537960" y="2907792"/>
            <a:ext cx="1051560" cy="256032"/>
          </a:xfrm>
          <a:prstGeom prst="roundRect">
            <a:avLst>
              <a:gd name="adj" fmla="val 50000"/>
            </a:avLst>
          </a:prstGeom>
          <a:solidFill>
            <a:srgbClr val="C8891A"/>
          </a:solidFill>
          <a:ln w="12700">
            <a:solidFill>
              <a:srgbClr val="C8891A"/>
            </a:solidFill>
            <a:prstDash val="solid"/>
          </a:ln>
        </p:spPr>
      </p:sp>
      <p:sp>
        <p:nvSpPr>
          <p:cNvPr id="35" name="Text 33"/>
          <p:cNvSpPr txBox="1"/>
          <p:nvPr/>
        </p:nvSpPr>
        <p:spPr>
          <a:xfrm>
            <a:off x="6537960" y="2907792"/>
            <a:ext cx="1051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A（社外秘）</a:t>
            </a:r>
            <a:endParaRPr lang="en-US" sz="900" dirty="0"/>
          </a:p>
        </p:txBody>
      </p:sp>
      <p:sp>
        <p:nvSpPr>
          <p:cNvPr id="36" name="Text 34"/>
          <p:cNvSpPr txBox="1"/>
          <p:nvPr/>
        </p:nvSpPr>
        <p:spPr>
          <a:xfrm>
            <a:off x="6537960" y="3209544"/>
            <a:ext cx="4892040" cy="749808"/>
          </a:xfrm>
          <a:prstGeom prst="rect">
            <a:avLst/>
          </a:prstGeom>
          <a:noFill/>
          <a:ln/>
        </p:spPr>
        <p:txBody>
          <a:bodyPr wrap="square" lIns="0" tIns="0" rIns="0" bIns="0" rtlCol="0" anchor="ctr"/>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jp. → global の順で fallback を許可（業務所管の事前承認）。retry は exponential backoff（1s→60s、jitter、最大 5 回）、429 と 503 を分けて扱う。</a:t>
            </a:r>
            <a:endParaRPr lang="en-US" sz="900" dirty="0"/>
          </a:p>
        </p:txBody>
      </p:sp>
      <p:sp>
        <p:nvSpPr>
          <p:cNvPr id="37" name="Shape 35"/>
          <p:cNvSpPr/>
          <p:nvPr/>
        </p:nvSpPr>
        <p:spPr>
          <a:xfrm>
            <a:off x="6537960" y="3986784"/>
            <a:ext cx="1051560" cy="256032"/>
          </a:xfrm>
          <a:prstGeom prst="roundRect">
            <a:avLst>
              <a:gd name="adj" fmla="val 50000"/>
            </a:avLst>
          </a:prstGeom>
          <a:solidFill>
            <a:srgbClr val="1B3A2F"/>
          </a:solidFill>
          <a:ln w="12700">
            <a:solidFill>
              <a:srgbClr val="1B3A2F"/>
            </a:solidFill>
            <a:prstDash val="solid"/>
          </a:ln>
        </p:spPr>
      </p:sp>
      <p:sp>
        <p:nvSpPr>
          <p:cNvPr id="38" name="Text 36"/>
          <p:cNvSpPr txBox="1"/>
          <p:nvPr/>
        </p:nvSpPr>
        <p:spPr>
          <a:xfrm>
            <a:off x="6537960" y="3986784"/>
            <a:ext cx="1051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共通</a:t>
            </a:r>
            <a:endParaRPr lang="en-US" sz="900" dirty="0"/>
          </a:p>
        </p:txBody>
      </p:sp>
      <p:sp>
        <p:nvSpPr>
          <p:cNvPr id="39" name="Text 37"/>
          <p:cNvSpPr txBox="1"/>
          <p:nvPr/>
        </p:nvSpPr>
        <p:spPr>
          <a:xfrm>
            <a:off x="6537960" y="4288536"/>
            <a:ext cx="4892040" cy="749808"/>
          </a:xfrm>
          <a:prstGeom prst="rect">
            <a:avLst/>
          </a:prstGeom>
          <a:noFill/>
          <a:ln/>
        </p:spPr>
        <p:txBody>
          <a:bodyPr wrap="square" lIns="0" tIns="0" rIns="0" bIns="0" rtlCol="0" anchor="ctr"/>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quota は用途別の application inference profile ごとに見積り、東京で事前申請。KB は S3 CRR で大阪に複製し索引再構築の runbook を用意。モデル台帳に「No sooner than」日付を持ち、Legacy 通知から 3 か月以内に移行完了。</a:t>
            </a:r>
            <a:endParaRPr lang="en-US" sz="900" dirty="0"/>
          </a:p>
        </p:txBody>
      </p:sp>
      <p:sp>
        <p:nvSpPr>
          <p:cNvPr id="40" name="Shape 38"/>
          <p:cNvSpPr/>
          <p:nvPr/>
        </p:nvSpPr>
        <p:spPr>
          <a:xfrm>
            <a:off x="6537960" y="5065776"/>
            <a:ext cx="1051560" cy="256032"/>
          </a:xfrm>
          <a:prstGeom prst="roundRect">
            <a:avLst>
              <a:gd name="adj" fmla="val 50000"/>
            </a:avLst>
          </a:prstGeom>
          <a:solidFill>
            <a:srgbClr val="1B3A2F"/>
          </a:solidFill>
          <a:ln w="12700">
            <a:solidFill>
              <a:srgbClr val="1B3A2F"/>
            </a:solidFill>
            <a:prstDash val="solid"/>
          </a:ln>
        </p:spPr>
      </p:sp>
      <p:sp>
        <p:nvSpPr>
          <p:cNvPr id="41" name="Text 39"/>
          <p:cNvSpPr txBox="1"/>
          <p:nvPr/>
        </p:nvSpPr>
        <p:spPr>
          <a:xfrm>
            <a:off x="6537960" y="5065776"/>
            <a:ext cx="1051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可用性目標</a:t>
            </a:r>
            <a:endParaRPr lang="en-US" sz="900" dirty="0"/>
          </a:p>
        </p:txBody>
      </p:sp>
      <p:sp>
        <p:nvSpPr>
          <p:cNvPr id="42" name="Text 40"/>
          <p:cNvSpPr txBox="1"/>
          <p:nvPr/>
        </p:nvSpPr>
        <p:spPr>
          <a:xfrm>
            <a:off x="6537960" y="5367528"/>
            <a:ext cx="4892040" cy="749808"/>
          </a:xfrm>
          <a:prstGeom prst="rect">
            <a:avLst/>
          </a:prstGeom>
          <a:noFill/>
          <a:ln/>
        </p:spPr>
        <p:txBody>
          <a:bodyPr wrap="square" lIns="0" tIns="0" rIns="0" bIns="0" rtlCol="0" anchor="ctr"/>
          <a:lstStyle/>
          <a:p>
            <a:pPr indent="0" marL="0">
              <a:lnSpc>
                <a:spcPct val="115000"/>
              </a:lnSpc>
              <a:buNone/>
            </a:pPr>
            <a:r>
              <a:rPr lang="en-US" sz="900" dirty="0">
                <a:solidFill>
                  <a:srgbClr val="1F2A25"/>
                </a:solidFill>
                <a:latin typeface="Meiryo" pitchFamily="34" charset="0"/>
                <a:ea typeface="Meiryo" pitchFamily="34" charset="-122"/>
                <a:cs typeface="Meiryo" pitchFamily="34" charset="-120"/>
              </a:rPr>
              <a:t>AI 基盤サービスとしての目標は「Bedrock の SLA」ではなく「利用者から見た成功率（429／503 含む）」で定義し、CloudWatch の InvocationThrottles／ServerErrors で計測する。</a:t>
            </a:r>
            <a:endParaRPr lang="en-US" sz="900" dirty="0"/>
          </a:p>
        </p:txBody>
      </p:sp>
      <p:sp>
        <p:nvSpPr>
          <p:cNvPr id="43" name="Text 4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44" name="Text 4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【付録】パターン A の調達：契約・費用構造・稟議で押さえる事項</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Bedrock は AWS 利用料として調達できる。ただし Anthropic モデル固有の条件（EULA・消費税・寿命）が別にある</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5669280"/>
                <a:gridCol w="3566160"/>
              </a:tblGrid>
              <a:tr h="329184">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項目</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事実（2026-08 時点）</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00" b="1" dirty="0">
                          <a:solidFill>
                            <a:srgbClr val="FFFFFF"/>
                          </a:solidFill>
                          <a:latin typeface="Meiryo" pitchFamily="34" charset="0"/>
                          <a:ea typeface="Meiryo" pitchFamily="34" charset="-122"/>
                          <a:cs typeface="Meiryo" pitchFamily="34" charset="-120"/>
                        </a:rPr>
                        <a:t>稟議・予算での扱い</a:t>
                      </a:r>
                      <a:endParaRPr lang="en-US" sz="10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566928">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契約主体・請求</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契約当事者はアマゾン ウェブ サービス ジャパン合同会社（2022-02〜）。請求書払いは JPY／USD、適格請求書対応（T6011001106696）</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既存の AWS 契約・請求ルートに乗る。委託先台帳は AWS Japan G.K. で登録済みなら追加不要</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4008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Anthropic モデルの消費税</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2026-06-30 以降、AWS が媒介者交付特例により Anthropic に代わって消費税 10% を上乗せ徴収し適格請求書を発行（Anthropic 登録番号 T7700150134388）</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Claude 利用料は税抜見積に +10%。2026-02〜05 利用分は通常の商業請求書（追加請求なし）</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8580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従量課金の単価</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jp. profile は source region（東京）価格で課金、global 比で約 10% 高い。Batch は 50% 引き。Anthropic 標準価格：Sonnet 4.6 $3／$15、Opus 4.8 $5／$25、Haiku 4.5 $1／$5（per 1M tokens）</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「国内完結」の費用は約 +10%。東京の実単価は pricing ページで要確認（動的表示）</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8580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容量の予約</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Reserved tier：1K TPM 単位の固定価格、1 or 3 か月、最小 100K input TPM／10K output TPM、account team 経由で購入。Provisioned Throughput は inference profile 非対応（東京の Claude では実質不可）</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S 分類の必須用途のみ Reserved を見積り。それ以外は on-demand＋quota 申請</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4008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モデル利用開始の手続</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serverless モデルは既定で有効化され、初回呼出しで EULA に同意した扱い。Anthropic は use case form の提出が必須（Organization 管理アカウントで 1 回）</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法務が EULA を確認するまで SCP で bedrock:InvokeModel を Deny。use case form は管理アカウントから提出</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640080">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サポート</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Enterprise Support：$5K／月または月額利用料の 10%（〜$150K）、7%（〜$500K）、5%（〜$1M）、3%（超）。TAM 付、Business-critical down 応答 15 分以内</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本番化時点で Enterprise Support 前提の予算。EDP／private pricing の条件は非公開（営業と協議）</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66928">
                <a:tc>
                  <a:txBody>
                    <a:bodyPr/>
                    <a:lstStyle/>
                    <a:p>
                      <a:pPr indent="0" marL="0">
                        <a:buNone/>
                      </a:pPr>
                      <a:r>
                        <a:rPr lang="en-US" sz="900" b="1" dirty="0">
                          <a:solidFill>
                            <a:srgbClr val="1F2A25"/>
                          </a:solidFill>
                          <a:latin typeface="Meiryo" pitchFamily="34" charset="0"/>
                          <a:ea typeface="Meiryo" pitchFamily="34" charset="-122"/>
                          <a:cs typeface="Meiryo" pitchFamily="34" charset="-120"/>
                        </a:rPr>
                        <a:t>寿命に伴う費用変動</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Legacy → extended access 期は提供者が価格を設定（前例：2 倍）。EOL 後は呼出し失敗</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00" dirty="0">
                          <a:solidFill>
                            <a:srgbClr val="1F2A25"/>
                          </a:solidFill>
                          <a:latin typeface="Meiryo" pitchFamily="34" charset="0"/>
                          <a:ea typeface="Meiryo" pitchFamily="34" charset="-122"/>
                          <a:cs typeface="Meiryo" pitchFamily="34" charset="-120"/>
                        </a:rPr>
                        <a:t>モデル更新の工数と一時的な単価上昇を年次予算に織り込む。契約上の「代替委託」要件（施行規則 13 条の 6 の 8）にも対応</a:t>
                      </a:r>
                      <a:endParaRPr lang="en-US" sz="900" dirty="0">
                        <a:latin typeface="Meiryo" charset="0"/>
                        <a:ea typeface="Meiryo" charset="0"/>
                        <a:cs typeface="Meiryo" charset="0"/>
                      </a:endParaRPr>
                    </a:p>
                  </a:txBody>
                  <a:tcPr marL="45720" marR="45720" marT="45720" marB="4572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【付録】運用：AI 基盤サービスとして回すための 6 つの運用機能</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AI 基盤の運営チームが「モデルを提供する」のではなく「統制されたサービスを提供する」体制</a:t>
            </a:r>
            <a:endParaRPr lang="en-US" sz="1200" dirty="0"/>
          </a:p>
        </p:txBody>
      </p:sp>
      <p:sp>
        <p:nvSpPr>
          <p:cNvPr id="4" name="Shape 2"/>
          <p:cNvSpPr/>
          <p:nvPr/>
        </p:nvSpPr>
        <p:spPr>
          <a:xfrm>
            <a:off x="548640" y="1371600"/>
            <a:ext cx="3611880" cy="2286000"/>
          </a:xfrm>
          <a:prstGeom prst="roundRect">
            <a:avLst>
              <a:gd name="adj" fmla="val 3200"/>
            </a:avLst>
          </a:prstGeom>
          <a:solidFill>
            <a:srgbClr val="F4F7F5"/>
          </a:solidFill>
          <a:ln w="9525">
            <a:solidFill>
              <a:srgbClr val="C9D6CF"/>
            </a:solidFill>
            <a:prstDash val="solid"/>
          </a:ln>
        </p:spPr>
      </p:sp>
      <p:sp>
        <p:nvSpPr>
          <p:cNvPr id="5" name="Shape 3"/>
          <p:cNvSpPr/>
          <p:nvPr/>
        </p:nvSpPr>
        <p:spPr>
          <a:xfrm>
            <a:off x="685800" y="1508760"/>
            <a:ext cx="329184" cy="329184"/>
          </a:xfrm>
          <a:prstGeom prst="ellipse">
            <a:avLst/>
          </a:prstGeom>
          <a:solidFill>
            <a:srgbClr val="1B3A2F"/>
          </a:solidFill>
          <a:ln w="12700">
            <a:solidFill>
              <a:srgbClr val="1B3A2F"/>
            </a:solidFill>
            <a:prstDash val="solid"/>
          </a:ln>
        </p:spPr>
      </p:sp>
      <p:sp>
        <p:nvSpPr>
          <p:cNvPr id="6" name="Text 4"/>
          <p:cNvSpPr txBox="1"/>
          <p:nvPr/>
        </p:nvSpPr>
        <p:spPr>
          <a:xfrm>
            <a:off x="685800" y="1508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txBox="1"/>
          <p:nvPr/>
        </p:nvSpPr>
        <p:spPr>
          <a:xfrm>
            <a:off x="1097280" y="150876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監視・可観測性</a:t>
            </a:r>
            <a:endParaRPr lang="en-US" sz="1200" dirty="0"/>
          </a:p>
        </p:txBody>
      </p:sp>
      <p:sp>
        <p:nvSpPr>
          <p:cNvPr id="8" name="Text 6"/>
          <p:cNvSpPr txBox="1"/>
          <p:nvPr/>
        </p:nvSpPr>
        <p:spPr>
          <a:xfrm>
            <a:off x="685800" y="193852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CloudWatch AWS/Bedrock：Invocations／InvocationLatency／InvocationThrottles／ServerErrors／Token 数（ModelId 別）</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アラーム：InvocationThrottles（quota 枯渇）、ServerErrors（SLA 証跡）、LegacyModelInvocations &gt; 0（EOL 対応漏れ）</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CloudTrail の inferenceRegion で東京／大阪の処理実績を月次で確認</a:t>
            </a:r>
            <a:endParaRPr lang="en-US" sz="1000" dirty="0"/>
          </a:p>
        </p:txBody>
      </p:sp>
      <p:sp>
        <p:nvSpPr>
          <p:cNvPr id="9" name="Shape 7"/>
          <p:cNvSpPr/>
          <p:nvPr/>
        </p:nvSpPr>
        <p:spPr>
          <a:xfrm>
            <a:off x="4297680" y="1371600"/>
            <a:ext cx="3611880" cy="2286000"/>
          </a:xfrm>
          <a:prstGeom prst="roundRect">
            <a:avLst>
              <a:gd name="adj" fmla="val 3200"/>
            </a:avLst>
          </a:prstGeom>
          <a:solidFill>
            <a:srgbClr val="F4F7F5"/>
          </a:solidFill>
          <a:ln w="9525">
            <a:solidFill>
              <a:srgbClr val="C9D6CF"/>
            </a:solidFill>
            <a:prstDash val="solid"/>
          </a:ln>
        </p:spPr>
      </p:sp>
      <p:sp>
        <p:nvSpPr>
          <p:cNvPr id="10" name="Shape 8"/>
          <p:cNvSpPr/>
          <p:nvPr/>
        </p:nvSpPr>
        <p:spPr>
          <a:xfrm>
            <a:off x="4434840" y="1508760"/>
            <a:ext cx="329184" cy="329184"/>
          </a:xfrm>
          <a:prstGeom prst="ellipse">
            <a:avLst/>
          </a:prstGeom>
          <a:solidFill>
            <a:srgbClr val="1B3A2F"/>
          </a:solidFill>
          <a:ln w="12700">
            <a:solidFill>
              <a:srgbClr val="1B3A2F"/>
            </a:solidFill>
            <a:prstDash val="solid"/>
          </a:ln>
        </p:spPr>
      </p:sp>
      <p:sp>
        <p:nvSpPr>
          <p:cNvPr id="11" name="Text 9"/>
          <p:cNvSpPr txBox="1"/>
          <p:nvPr/>
        </p:nvSpPr>
        <p:spPr>
          <a:xfrm>
            <a:off x="4434840" y="1508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2" name="Text 10"/>
          <p:cNvSpPr txBox="1"/>
          <p:nvPr/>
        </p:nvSpPr>
        <p:spPr>
          <a:xfrm>
            <a:off x="4846320" y="150876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モデルライフサイクル管理</a:t>
            </a:r>
            <a:endParaRPr lang="en-US" sz="1200" dirty="0"/>
          </a:p>
        </p:txBody>
      </p:sp>
      <p:sp>
        <p:nvSpPr>
          <p:cNvPr id="13" name="Text 11"/>
          <p:cNvSpPr txBox="1"/>
          <p:nvPr/>
        </p:nvSpPr>
        <p:spPr>
          <a:xfrm>
            <a:off x="4434840" y="193852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AWS Health（EventBridge aws.health）で Bedrock の scheduledChange をチケット化</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モデル台帳：ID、jp. 対応、Legacy／EOL 日、利用アプリ、評価結果</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Legacy 通知から 3 か月以内に移行。同一評価セットで回帰確認後に切替</a:t>
            </a:r>
            <a:endParaRPr lang="en-US" sz="1000" dirty="0"/>
          </a:p>
        </p:txBody>
      </p:sp>
      <p:sp>
        <p:nvSpPr>
          <p:cNvPr id="14" name="Shape 12"/>
          <p:cNvSpPr/>
          <p:nvPr/>
        </p:nvSpPr>
        <p:spPr>
          <a:xfrm>
            <a:off x="8046720" y="1371600"/>
            <a:ext cx="3611880" cy="2286000"/>
          </a:xfrm>
          <a:prstGeom prst="roundRect">
            <a:avLst>
              <a:gd name="adj" fmla="val 3200"/>
            </a:avLst>
          </a:prstGeom>
          <a:solidFill>
            <a:srgbClr val="F4F7F5"/>
          </a:solidFill>
          <a:ln w="9525">
            <a:solidFill>
              <a:srgbClr val="C9D6CF"/>
            </a:solidFill>
            <a:prstDash val="solid"/>
          </a:ln>
        </p:spPr>
      </p:sp>
      <p:sp>
        <p:nvSpPr>
          <p:cNvPr id="15" name="Shape 13"/>
          <p:cNvSpPr/>
          <p:nvPr/>
        </p:nvSpPr>
        <p:spPr>
          <a:xfrm>
            <a:off x="8183880" y="1508760"/>
            <a:ext cx="329184" cy="329184"/>
          </a:xfrm>
          <a:prstGeom prst="ellipse">
            <a:avLst/>
          </a:prstGeom>
          <a:solidFill>
            <a:srgbClr val="1B3A2F"/>
          </a:solidFill>
          <a:ln w="12700">
            <a:solidFill>
              <a:srgbClr val="1B3A2F"/>
            </a:solidFill>
            <a:prstDash val="solid"/>
          </a:ln>
        </p:spPr>
      </p:sp>
      <p:sp>
        <p:nvSpPr>
          <p:cNvPr id="16" name="Text 14"/>
          <p:cNvSpPr txBox="1"/>
          <p:nvPr/>
        </p:nvSpPr>
        <p:spPr>
          <a:xfrm>
            <a:off x="8183880" y="1508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7" name="Text 15"/>
          <p:cNvSpPr txBox="1"/>
          <p:nvPr/>
        </p:nvSpPr>
        <p:spPr>
          <a:xfrm>
            <a:off x="8595360" y="150876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変更管理・評価</a:t>
            </a:r>
            <a:endParaRPr lang="en-US" sz="1200" dirty="0"/>
          </a:p>
        </p:txBody>
      </p:sp>
      <p:sp>
        <p:nvSpPr>
          <p:cNvPr id="18" name="Text 16"/>
          <p:cNvSpPr txBox="1"/>
          <p:nvPr/>
        </p:nvSpPr>
        <p:spPr>
          <a:xfrm>
            <a:off x="8183880" y="193852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モデル ID は固定（Sonnet 4.6 以降はサフィックスなし。自動移行はない）</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Prompt management で prompt を version 管理、変更は評価データセット合格を条件に反映</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AI DP 1.1 のモデル・リスク管理：インベントリー、性能指標、KPI をAI導入組織へ定期報告</a:t>
            </a:r>
            <a:endParaRPr lang="en-US" sz="1000" dirty="0"/>
          </a:p>
        </p:txBody>
      </p:sp>
      <p:sp>
        <p:nvSpPr>
          <p:cNvPr id="19" name="Shape 17"/>
          <p:cNvSpPr/>
          <p:nvPr/>
        </p:nvSpPr>
        <p:spPr>
          <a:xfrm>
            <a:off x="548640" y="3840480"/>
            <a:ext cx="3611880" cy="2286000"/>
          </a:xfrm>
          <a:prstGeom prst="roundRect">
            <a:avLst>
              <a:gd name="adj" fmla="val 3200"/>
            </a:avLst>
          </a:prstGeom>
          <a:solidFill>
            <a:srgbClr val="F4F7F5"/>
          </a:solidFill>
          <a:ln w="9525">
            <a:solidFill>
              <a:srgbClr val="C9D6CF"/>
            </a:solidFill>
            <a:prstDash val="solid"/>
          </a:ln>
        </p:spPr>
      </p:sp>
      <p:sp>
        <p:nvSpPr>
          <p:cNvPr id="20" name="Shape 18"/>
          <p:cNvSpPr/>
          <p:nvPr/>
        </p:nvSpPr>
        <p:spPr>
          <a:xfrm>
            <a:off x="685800" y="3977640"/>
            <a:ext cx="329184" cy="329184"/>
          </a:xfrm>
          <a:prstGeom prst="ellipse">
            <a:avLst/>
          </a:prstGeom>
          <a:solidFill>
            <a:srgbClr val="1B3A2F"/>
          </a:solidFill>
          <a:ln w="12700">
            <a:solidFill>
              <a:srgbClr val="1B3A2F"/>
            </a:solidFill>
            <a:prstDash val="solid"/>
          </a:ln>
        </p:spPr>
      </p:sp>
      <p:sp>
        <p:nvSpPr>
          <p:cNvPr id="21" name="Text 19"/>
          <p:cNvSpPr txBox="1"/>
          <p:nvPr/>
        </p:nvSpPr>
        <p:spPr>
          <a:xfrm>
            <a:off x="685800" y="3977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22" name="Text 20"/>
          <p:cNvSpPr txBox="1"/>
          <p:nvPr/>
        </p:nvSpPr>
        <p:spPr>
          <a:xfrm>
            <a:off x="1097280" y="397764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容量・コスト管理</a:t>
            </a:r>
            <a:endParaRPr lang="en-US" sz="1200" dirty="0"/>
          </a:p>
        </p:txBody>
      </p:sp>
      <p:sp>
        <p:nvSpPr>
          <p:cNvPr id="23" name="Text 21"/>
          <p:cNvSpPr txBox="1"/>
          <p:nvPr/>
        </p:nvSpPr>
        <p:spPr>
          <a:xfrm>
            <a:off x="685800" y="440740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用途ごとに application inference profile を作成しタグで按分</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quota は用途別に見積り、東京で申請。max_tokens の上限をゲートウェイで制御</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Budgets／Cost Anomaly Detection。Legacy 期の単価上昇を予算に反映</a:t>
            </a:r>
            <a:endParaRPr lang="en-US" sz="1000" dirty="0"/>
          </a:p>
        </p:txBody>
      </p:sp>
      <p:sp>
        <p:nvSpPr>
          <p:cNvPr id="24" name="Shape 22"/>
          <p:cNvSpPr/>
          <p:nvPr/>
        </p:nvSpPr>
        <p:spPr>
          <a:xfrm>
            <a:off x="4297680" y="3840480"/>
            <a:ext cx="3611880" cy="2286000"/>
          </a:xfrm>
          <a:prstGeom prst="roundRect">
            <a:avLst>
              <a:gd name="adj" fmla="val 3200"/>
            </a:avLst>
          </a:prstGeom>
          <a:solidFill>
            <a:srgbClr val="F4F7F5"/>
          </a:solidFill>
          <a:ln w="9525">
            <a:solidFill>
              <a:srgbClr val="C9D6CF"/>
            </a:solidFill>
            <a:prstDash val="solid"/>
          </a:ln>
        </p:spPr>
      </p:sp>
      <p:sp>
        <p:nvSpPr>
          <p:cNvPr id="25" name="Shape 23"/>
          <p:cNvSpPr/>
          <p:nvPr/>
        </p:nvSpPr>
        <p:spPr>
          <a:xfrm>
            <a:off x="4434840" y="3977640"/>
            <a:ext cx="329184" cy="329184"/>
          </a:xfrm>
          <a:prstGeom prst="ellipse">
            <a:avLst/>
          </a:prstGeom>
          <a:solidFill>
            <a:srgbClr val="1B3A2F"/>
          </a:solidFill>
          <a:ln w="12700">
            <a:solidFill>
              <a:srgbClr val="1B3A2F"/>
            </a:solidFill>
            <a:prstDash val="solid"/>
          </a:ln>
        </p:spPr>
      </p:sp>
      <p:sp>
        <p:nvSpPr>
          <p:cNvPr id="26" name="Text 24"/>
          <p:cNvSpPr txBox="1"/>
          <p:nvPr/>
        </p:nvSpPr>
        <p:spPr>
          <a:xfrm>
            <a:off x="4434840" y="3977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a:t>
            </a:r>
            <a:endParaRPr lang="en-US" sz="1100" dirty="0"/>
          </a:p>
        </p:txBody>
      </p:sp>
      <p:sp>
        <p:nvSpPr>
          <p:cNvPr id="27" name="Text 25"/>
          <p:cNvSpPr txBox="1"/>
          <p:nvPr/>
        </p:nvSpPr>
        <p:spPr>
          <a:xfrm>
            <a:off x="4846320" y="397764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インシデント・継続性</a:t>
            </a:r>
            <a:endParaRPr lang="en-US" sz="1200" dirty="0"/>
          </a:p>
        </p:txBody>
      </p:sp>
      <p:sp>
        <p:nvSpPr>
          <p:cNvPr id="28" name="Text 26"/>
          <p:cNvSpPr txBox="1"/>
          <p:nvPr/>
        </p:nvSpPr>
        <p:spPr>
          <a:xfrm>
            <a:off x="4434840" y="440740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429／503 の runbook（backoff、fallback の可否は分類で決定）</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Bedrock 停止時の業務継続手順（人手縮退）を用途ごとに定義。要請⑧に対応</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KB の大阪再構築 runbook、年次で復旧訓練</a:t>
            </a:r>
            <a:endParaRPr lang="en-US" sz="1000" dirty="0"/>
          </a:p>
        </p:txBody>
      </p:sp>
      <p:sp>
        <p:nvSpPr>
          <p:cNvPr id="29" name="Shape 27"/>
          <p:cNvSpPr/>
          <p:nvPr/>
        </p:nvSpPr>
        <p:spPr>
          <a:xfrm>
            <a:off x="8046720" y="3840480"/>
            <a:ext cx="3611880" cy="2286000"/>
          </a:xfrm>
          <a:prstGeom prst="roundRect">
            <a:avLst>
              <a:gd name="adj" fmla="val 3200"/>
            </a:avLst>
          </a:prstGeom>
          <a:solidFill>
            <a:srgbClr val="F4F7F5"/>
          </a:solidFill>
          <a:ln w="9525">
            <a:solidFill>
              <a:srgbClr val="C9D6CF"/>
            </a:solidFill>
            <a:prstDash val="solid"/>
          </a:ln>
        </p:spPr>
      </p:sp>
      <p:sp>
        <p:nvSpPr>
          <p:cNvPr id="30" name="Shape 28"/>
          <p:cNvSpPr/>
          <p:nvPr/>
        </p:nvSpPr>
        <p:spPr>
          <a:xfrm>
            <a:off x="8183880" y="3977640"/>
            <a:ext cx="329184" cy="329184"/>
          </a:xfrm>
          <a:prstGeom prst="ellipse">
            <a:avLst/>
          </a:prstGeom>
          <a:solidFill>
            <a:srgbClr val="1B3A2F"/>
          </a:solidFill>
          <a:ln w="12700">
            <a:solidFill>
              <a:srgbClr val="1B3A2F"/>
            </a:solidFill>
            <a:prstDash val="solid"/>
          </a:ln>
        </p:spPr>
      </p:sp>
      <p:sp>
        <p:nvSpPr>
          <p:cNvPr id="31" name="Text 29"/>
          <p:cNvSpPr txBox="1"/>
          <p:nvPr/>
        </p:nvSpPr>
        <p:spPr>
          <a:xfrm>
            <a:off x="8183880" y="3977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a:t>
            </a:r>
            <a:endParaRPr lang="en-US" sz="1100" dirty="0"/>
          </a:p>
        </p:txBody>
      </p:sp>
      <p:sp>
        <p:nvSpPr>
          <p:cNvPr id="32" name="Text 30"/>
          <p:cNvSpPr txBox="1"/>
          <p:nvPr/>
        </p:nvSpPr>
        <p:spPr>
          <a:xfrm>
            <a:off x="8595360" y="3977640"/>
            <a:ext cx="2926080" cy="329184"/>
          </a:xfrm>
          <a:prstGeom prst="rect">
            <a:avLst/>
          </a:prstGeom>
          <a:noFill/>
          <a:ln/>
        </p:spPr>
        <p:txBody>
          <a:bodyPr wrap="square" lIns="0" tIns="0" rIns="0" bIns="0" rtlCol="0" anchor="ctr"/>
          <a:lstStyle/>
          <a:p>
            <a:pPr indent="0" marL="0">
              <a:buNone/>
            </a:pPr>
            <a:r>
              <a:rPr lang="en-US" sz="1200" b="1" dirty="0">
                <a:solidFill>
                  <a:srgbClr val="1B3A2F"/>
                </a:solidFill>
                <a:latin typeface="Meiryo" pitchFamily="34" charset="0"/>
                <a:ea typeface="Meiryo" pitchFamily="34" charset="-122"/>
                <a:cs typeface="Meiryo" pitchFamily="34" charset="-120"/>
              </a:rPr>
              <a:t>委託先・セキュリティ運用</a:t>
            </a:r>
            <a:endParaRPr lang="en-US" sz="1200" dirty="0"/>
          </a:p>
        </p:txBody>
      </p:sp>
      <p:sp>
        <p:nvSpPr>
          <p:cNvPr id="33" name="Text 31"/>
          <p:cNvSpPr txBox="1"/>
          <p:nvPr/>
        </p:nvSpPr>
        <p:spPr>
          <a:xfrm>
            <a:off x="8183880" y="4407408"/>
            <a:ext cx="3337560" cy="1645920"/>
          </a:xfrm>
          <a:prstGeom prst="rect">
            <a:avLst/>
          </a:prstGeom>
          <a:noFill/>
          <a:ln/>
        </p:spPr>
        <p:txBody>
          <a:bodyPr wrap="square" lIns="0" tIns="0" rIns="0" bIns="0" rtlCol="0" anchor="t"/>
          <a:lstStyle/>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AWS Artifact で SOC／ISO／ISMAP 証跡を年次入手、委託先評価を更新</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SCP／Endpoint policy の drift 検知（jp. 限定、DataRetentionMode=none、経路固定）</a:t>
            </a:r>
            <a:endParaRPr lang="en-US" sz="1000" dirty="0"/>
          </a:p>
          <a:p>
            <a:pPr marL="152400" indent="-152400">
              <a:lnSpc>
                <a:spcPct val="112000"/>
              </a:lnSpc>
              <a:spcAft>
                <a:spcPts val="600"/>
              </a:spcAft>
              <a:buSzPct val="100000"/>
              <a:buChar char="•"/>
            </a:pPr>
            <a:r>
              <a:rPr lang="en-US" sz="1000" dirty="0">
                <a:solidFill>
                  <a:srgbClr val="1F2A25"/>
                </a:solidFill>
                <a:latin typeface="Meiryo" pitchFamily="34" charset="0"/>
                <a:ea typeface="Meiryo" pitchFamily="34" charset="-122"/>
                <a:cs typeface="Meiryo" pitchFamily="34" charset="-120"/>
              </a:rPr>
              <a:t>invocation log の閲覧権限・保持期間の定期レビュー。open-weight 追加時はモデル系譜を確認</a:t>
            </a:r>
            <a:endParaRPr lang="en-US" sz="1000" dirty="0"/>
          </a:p>
        </p:txBody>
      </p:sp>
      <p:sp>
        <p:nvSpPr>
          <p:cNvPr id="34" name="Text 32"/>
          <p:cNvSpPr txBox="1"/>
          <p:nvPr/>
        </p:nvSpPr>
        <p:spPr>
          <a:xfrm>
            <a:off x="548640" y="6053328"/>
            <a:ext cx="11064240" cy="228600"/>
          </a:xfrm>
          <a:prstGeom prst="rect">
            <a:avLst/>
          </a:prstGeom>
          <a:noFill/>
          <a:ln/>
        </p:spPr>
        <p:txBody>
          <a:bodyPr wrap="square" lIns="0" tIns="0" rIns="0" bIns="0" rtlCol="0" anchor="ctr"/>
          <a:lstStyle/>
          <a:p>
            <a:pPr indent="0" marL="0">
              <a:buNone/>
            </a:pPr>
            <a:r>
              <a:rPr lang="en-US" sz="850" dirty="0">
                <a:solidFill>
                  <a:srgbClr val="5B6B63"/>
                </a:solidFill>
                <a:latin typeface="Meiryo" pitchFamily="34" charset="0"/>
                <a:ea typeface="Meiryo" pitchFamily="34" charset="-122"/>
                <a:cs typeface="Meiryo" pitchFamily="34" charset="-120"/>
              </a:rPr>
              <a:t>参照：AWS Well-Architected Generative AI Lens（2025-11）Operational Excellence GENOP01〜05、Reliability GENREL01〜06 に対応</a:t>
            </a:r>
            <a:endParaRPr lang="en-US" sz="850" dirty="0"/>
          </a:p>
        </p:txBody>
      </p:sp>
      <p:sp>
        <p:nvSpPr>
          <p:cNvPr id="35" name="Text 3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36" name="Text 34"/>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【付録】データフローと責任分界（パターン A）</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機密情報が「どこで・誰の管理下で・どう扱われるか」を段階ごとに固定する</a:t>
            </a:r>
            <a:endParaRPr lang="en-US" sz="1200" dirty="0"/>
          </a:p>
        </p:txBody>
      </p:sp>
      <p:sp>
        <p:nvSpPr>
          <p:cNvPr id="4" name="Shape 2"/>
          <p:cNvSpPr/>
          <p:nvPr/>
        </p:nvSpPr>
        <p:spPr>
          <a:xfrm>
            <a:off x="548640" y="1417320"/>
            <a:ext cx="2606040" cy="2331720"/>
          </a:xfrm>
          <a:prstGeom prst="roundRect">
            <a:avLst>
              <a:gd name="adj" fmla="val 3137"/>
            </a:avLst>
          </a:prstGeom>
          <a:solidFill>
            <a:srgbClr val="F4F7F5"/>
          </a:solidFill>
          <a:ln w="9525">
            <a:solidFill>
              <a:srgbClr val="C9D6CF"/>
            </a:solidFill>
            <a:prstDash val="solid"/>
          </a:ln>
        </p:spPr>
      </p:sp>
      <p:sp>
        <p:nvSpPr>
          <p:cNvPr id="5" name="Text 3"/>
          <p:cNvSpPr txBox="1"/>
          <p:nvPr/>
        </p:nvSpPr>
        <p:spPr>
          <a:xfrm>
            <a:off x="685800" y="1527048"/>
            <a:ext cx="2331720" cy="292608"/>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1. 入力</a:t>
            </a:r>
            <a:endParaRPr lang="en-US" sz="1400" dirty="0"/>
          </a:p>
        </p:txBody>
      </p:sp>
      <p:sp>
        <p:nvSpPr>
          <p:cNvPr id="6" name="Shape 4"/>
          <p:cNvSpPr/>
          <p:nvPr/>
        </p:nvSpPr>
        <p:spPr>
          <a:xfrm>
            <a:off x="685800" y="1874520"/>
            <a:ext cx="1188720" cy="256032"/>
          </a:xfrm>
          <a:prstGeom prst="roundRect">
            <a:avLst>
              <a:gd name="adj" fmla="val 50000"/>
            </a:avLst>
          </a:prstGeom>
          <a:solidFill>
            <a:srgbClr val="1B3A2F"/>
          </a:solidFill>
          <a:ln w="12700">
            <a:solidFill>
              <a:srgbClr val="1B3A2F"/>
            </a:solidFill>
            <a:prstDash val="solid"/>
          </a:ln>
        </p:spPr>
      </p:sp>
      <p:sp>
        <p:nvSpPr>
          <p:cNvPr id="7" name="Text 5"/>
          <p:cNvSpPr txBox="1"/>
          <p:nvPr/>
        </p:nvSpPr>
        <p:spPr>
          <a:xfrm>
            <a:off x="685800" y="187452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社内</a:t>
            </a:r>
            <a:endParaRPr lang="en-US" sz="900" dirty="0"/>
          </a:p>
        </p:txBody>
      </p:sp>
      <p:sp>
        <p:nvSpPr>
          <p:cNvPr id="8" name="Text 6"/>
          <p:cNvSpPr txBox="1"/>
          <p:nvPr/>
        </p:nvSpPr>
        <p:spPr>
          <a:xfrm>
            <a:off x="685800" y="2286000"/>
            <a:ext cx="2331720" cy="137160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利用者認証・分類ラベル付与</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DLP／PII 検知で分類超過を遮断</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プロンプト・添付を監査ログへ</a:t>
            </a:r>
            <a:endParaRPr lang="en-US" sz="1000" dirty="0"/>
          </a:p>
        </p:txBody>
      </p:sp>
      <p:sp>
        <p:nvSpPr>
          <p:cNvPr id="9" name="Shape 7"/>
          <p:cNvSpPr/>
          <p:nvPr/>
        </p:nvSpPr>
        <p:spPr>
          <a:xfrm>
            <a:off x="3172968" y="2560320"/>
            <a:ext cx="192024" cy="0"/>
          </a:xfrm>
          <a:prstGeom prst="line">
            <a:avLst/>
          </a:prstGeom>
          <a:noFill/>
          <a:ln w="25400">
            <a:solidFill>
              <a:srgbClr val="2E5A48"/>
            </a:solidFill>
            <a:prstDash val="solid"/>
            <a:tailEnd type="triangle"/>
          </a:ln>
        </p:spPr>
      </p:sp>
      <p:sp>
        <p:nvSpPr>
          <p:cNvPr id="10" name="Shape 8"/>
          <p:cNvSpPr/>
          <p:nvPr/>
        </p:nvSpPr>
        <p:spPr>
          <a:xfrm>
            <a:off x="3383280" y="1417320"/>
            <a:ext cx="2606040" cy="2331720"/>
          </a:xfrm>
          <a:prstGeom prst="roundRect">
            <a:avLst>
              <a:gd name="adj" fmla="val 3137"/>
            </a:avLst>
          </a:prstGeom>
          <a:solidFill>
            <a:srgbClr val="E5EEF4"/>
          </a:solidFill>
          <a:ln w="9525">
            <a:solidFill>
              <a:srgbClr val="C9D6CF"/>
            </a:solidFill>
            <a:prstDash val="solid"/>
          </a:ln>
        </p:spPr>
      </p:sp>
      <p:sp>
        <p:nvSpPr>
          <p:cNvPr id="11" name="Text 9"/>
          <p:cNvSpPr txBox="1"/>
          <p:nvPr/>
        </p:nvSpPr>
        <p:spPr>
          <a:xfrm>
            <a:off x="3520440" y="1527048"/>
            <a:ext cx="2331720" cy="292608"/>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2. 経路</a:t>
            </a:r>
            <a:endParaRPr lang="en-US" sz="1400" dirty="0"/>
          </a:p>
        </p:txBody>
      </p:sp>
      <p:sp>
        <p:nvSpPr>
          <p:cNvPr id="12" name="Shape 10"/>
          <p:cNvSpPr/>
          <p:nvPr/>
        </p:nvSpPr>
        <p:spPr>
          <a:xfrm>
            <a:off x="3520440" y="1874520"/>
            <a:ext cx="1188720" cy="256032"/>
          </a:xfrm>
          <a:prstGeom prst="roundRect">
            <a:avLst>
              <a:gd name="adj" fmla="val 50000"/>
            </a:avLst>
          </a:prstGeom>
          <a:solidFill>
            <a:srgbClr val="1B3A2F"/>
          </a:solidFill>
          <a:ln w="12700">
            <a:solidFill>
              <a:srgbClr val="1B3A2F"/>
            </a:solidFill>
            <a:prstDash val="solid"/>
          </a:ln>
        </p:spPr>
      </p:sp>
      <p:sp>
        <p:nvSpPr>
          <p:cNvPr id="13" name="Text 11"/>
          <p:cNvSpPr txBox="1"/>
          <p:nvPr/>
        </p:nvSpPr>
        <p:spPr>
          <a:xfrm>
            <a:off x="3520440" y="187452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当行 AWS</a:t>
            </a:r>
            <a:endParaRPr lang="en-US" sz="900" dirty="0"/>
          </a:p>
        </p:txBody>
      </p:sp>
      <p:sp>
        <p:nvSpPr>
          <p:cNvPr id="14" name="Text 12"/>
          <p:cNvSpPr txBox="1"/>
          <p:nvPr/>
        </p:nvSpPr>
        <p:spPr>
          <a:xfrm>
            <a:off x="3520440" y="2286000"/>
            <a:ext cx="2331720" cy="137160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PrivateLink（IGW なし）</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TLS 1.2 以上で暗号化</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Endpoint policy／SCP で宛先固定</a:t>
            </a:r>
            <a:endParaRPr lang="en-US" sz="1000" dirty="0"/>
          </a:p>
        </p:txBody>
      </p:sp>
      <p:sp>
        <p:nvSpPr>
          <p:cNvPr id="15" name="Shape 13"/>
          <p:cNvSpPr/>
          <p:nvPr/>
        </p:nvSpPr>
        <p:spPr>
          <a:xfrm>
            <a:off x="6007608" y="2560320"/>
            <a:ext cx="192024" cy="0"/>
          </a:xfrm>
          <a:prstGeom prst="line">
            <a:avLst/>
          </a:prstGeom>
          <a:noFill/>
          <a:ln w="25400">
            <a:solidFill>
              <a:srgbClr val="2E5A48"/>
            </a:solidFill>
            <a:prstDash val="solid"/>
            <a:tailEnd type="triangle"/>
          </a:ln>
        </p:spPr>
      </p:sp>
      <p:sp>
        <p:nvSpPr>
          <p:cNvPr id="16" name="Shape 14"/>
          <p:cNvSpPr/>
          <p:nvPr/>
        </p:nvSpPr>
        <p:spPr>
          <a:xfrm>
            <a:off x="6217920" y="1417320"/>
            <a:ext cx="2606040" cy="2331720"/>
          </a:xfrm>
          <a:prstGeom prst="roundRect">
            <a:avLst>
              <a:gd name="adj" fmla="val 3137"/>
            </a:avLst>
          </a:prstGeom>
          <a:solidFill>
            <a:srgbClr val="DDE9E2"/>
          </a:solidFill>
          <a:ln w="9525">
            <a:solidFill>
              <a:srgbClr val="C9D6CF"/>
            </a:solidFill>
            <a:prstDash val="solid"/>
          </a:ln>
        </p:spPr>
      </p:sp>
      <p:sp>
        <p:nvSpPr>
          <p:cNvPr id="17" name="Text 15"/>
          <p:cNvSpPr txBox="1"/>
          <p:nvPr/>
        </p:nvSpPr>
        <p:spPr>
          <a:xfrm>
            <a:off x="6355080" y="1527048"/>
            <a:ext cx="2331720" cy="292608"/>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3. 推論</a:t>
            </a:r>
            <a:endParaRPr lang="en-US" sz="1400" dirty="0"/>
          </a:p>
        </p:txBody>
      </p:sp>
      <p:sp>
        <p:nvSpPr>
          <p:cNvPr id="18" name="Shape 16"/>
          <p:cNvSpPr/>
          <p:nvPr/>
        </p:nvSpPr>
        <p:spPr>
          <a:xfrm>
            <a:off x="6355080" y="1874520"/>
            <a:ext cx="1188720" cy="256032"/>
          </a:xfrm>
          <a:prstGeom prst="roundRect">
            <a:avLst>
              <a:gd name="adj" fmla="val 50000"/>
            </a:avLst>
          </a:prstGeom>
          <a:solidFill>
            <a:srgbClr val="1B3A2F"/>
          </a:solidFill>
          <a:ln w="12700">
            <a:solidFill>
              <a:srgbClr val="1B3A2F"/>
            </a:solidFill>
            <a:prstDash val="solid"/>
          </a:ln>
        </p:spPr>
      </p:sp>
      <p:sp>
        <p:nvSpPr>
          <p:cNvPr id="19" name="Text 17"/>
          <p:cNvSpPr txBox="1"/>
          <p:nvPr/>
        </p:nvSpPr>
        <p:spPr>
          <a:xfrm>
            <a:off x="6355080" y="187452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AWS（Bedrock）</a:t>
            </a:r>
            <a:endParaRPr lang="en-US" sz="900" dirty="0"/>
          </a:p>
        </p:txBody>
      </p:sp>
      <p:sp>
        <p:nvSpPr>
          <p:cNvPr id="20" name="Text 18"/>
          <p:cNvSpPr txBox="1"/>
          <p:nvPr/>
        </p:nvSpPr>
        <p:spPr>
          <a:xfrm>
            <a:off x="6355080" y="2286000"/>
            <a:ext cx="2331720" cy="137160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jp. profile：東京⇄大阪のみ</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入出力は非保存・非学習</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Anthropic は内容にアクセス不可</a:t>
            </a:r>
            <a:endParaRPr lang="en-US" sz="1000" dirty="0"/>
          </a:p>
        </p:txBody>
      </p:sp>
      <p:sp>
        <p:nvSpPr>
          <p:cNvPr id="21" name="Shape 19"/>
          <p:cNvSpPr/>
          <p:nvPr/>
        </p:nvSpPr>
        <p:spPr>
          <a:xfrm>
            <a:off x="8842248" y="2560320"/>
            <a:ext cx="192024" cy="0"/>
          </a:xfrm>
          <a:prstGeom prst="line">
            <a:avLst/>
          </a:prstGeom>
          <a:noFill/>
          <a:ln w="25400">
            <a:solidFill>
              <a:srgbClr val="2E5A48"/>
            </a:solidFill>
            <a:prstDash val="solid"/>
            <a:tailEnd type="triangle"/>
          </a:ln>
        </p:spPr>
      </p:sp>
      <p:sp>
        <p:nvSpPr>
          <p:cNvPr id="22" name="Shape 20"/>
          <p:cNvSpPr/>
          <p:nvPr/>
        </p:nvSpPr>
        <p:spPr>
          <a:xfrm>
            <a:off x="9052560" y="1417320"/>
            <a:ext cx="2606040" cy="2331720"/>
          </a:xfrm>
          <a:prstGeom prst="roundRect">
            <a:avLst>
              <a:gd name="adj" fmla="val 3137"/>
            </a:avLst>
          </a:prstGeom>
          <a:solidFill>
            <a:srgbClr val="F4F7F5"/>
          </a:solidFill>
          <a:ln w="9525">
            <a:solidFill>
              <a:srgbClr val="C9D6CF"/>
            </a:solidFill>
            <a:prstDash val="solid"/>
          </a:ln>
        </p:spPr>
      </p:sp>
      <p:sp>
        <p:nvSpPr>
          <p:cNvPr id="23" name="Text 21"/>
          <p:cNvSpPr txBox="1"/>
          <p:nvPr/>
        </p:nvSpPr>
        <p:spPr>
          <a:xfrm>
            <a:off x="9189720" y="1527048"/>
            <a:ext cx="2331720" cy="292608"/>
          </a:xfrm>
          <a:prstGeom prst="rect">
            <a:avLst/>
          </a:prstGeom>
          <a:noFill/>
          <a:ln/>
        </p:spPr>
        <p:txBody>
          <a:bodyPr wrap="square" lIns="0" tIns="0" rIns="0" bIns="0" rtlCol="0" anchor="ctr"/>
          <a:lstStyle/>
          <a:p>
            <a:pPr indent="0" marL="0">
              <a:buNone/>
            </a:pPr>
            <a:r>
              <a:rPr lang="en-US" sz="1400" b="1" dirty="0">
                <a:solidFill>
                  <a:srgbClr val="1B3A2F"/>
                </a:solidFill>
                <a:latin typeface="Meiryo" pitchFamily="34" charset="0"/>
                <a:ea typeface="Meiryo" pitchFamily="34" charset="-122"/>
                <a:cs typeface="Meiryo" pitchFamily="34" charset="-120"/>
              </a:rPr>
              <a:t>4. 出力・記録</a:t>
            </a:r>
            <a:endParaRPr lang="en-US" sz="1400" dirty="0"/>
          </a:p>
        </p:txBody>
      </p:sp>
      <p:sp>
        <p:nvSpPr>
          <p:cNvPr id="24" name="Shape 22"/>
          <p:cNvSpPr/>
          <p:nvPr/>
        </p:nvSpPr>
        <p:spPr>
          <a:xfrm>
            <a:off x="9189720" y="1874520"/>
            <a:ext cx="1188720" cy="256032"/>
          </a:xfrm>
          <a:prstGeom prst="roundRect">
            <a:avLst>
              <a:gd name="adj" fmla="val 50000"/>
            </a:avLst>
          </a:prstGeom>
          <a:solidFill>
            <a:srgbClr val="1B3A2F"/>
          </a:solidFill>
          <a:ln w="12700">
            <a:solidFill>
              <a:srgbClr val="1B3A2F"/>
            </a:solidFill>
            <a:prstDash val="solid"/>
          </a:ln>
        </p:spPr>
      </p:sp>
      <p:sp>
        <p:nvSpPr>
          <p:cNvPr id="25" name="Text 23"/>
          <p:cNvSpPr txBox="1"/>
          <p:nvPr/>
        </p:nvSpPr>
        <p:spPr>
          <a:xfrm>
            <a:off x="9189720" y="1874520"/>
            <a:ext cx="11887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当行 AWS／社内</a:t>
            </a:r>
            <a:endParaRPr lang="en-US" sz="900" dirty="0"/>
          </a:p>
        </p:txBody>
      </p:sp>
      <p:sp>
        <p:nvSpPr>
          <p:cNvPr id="26" name="Text 24"/>
          <p:cNvSpPr txBox="1"/>
          <p:nvPr/>
        </p:nvSpPr>
        <p:spPr>
          <a:xfrm>
            <a:off x="9189720" y="2286000"/>
            <a:ext cx="2331720" cy="137160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grounding 検証・引用付与</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Human-in-the-loop 振分け</a:t>
            </a:r>
            <a:endParaRPr lang="en-US" sz="1000" dirty="0"/>
          </a:p>
          <a:p>
            <a:pPr marL="152400" indent="-152400">
              <a:lnSpc>
                <a:spcPct val="112000"/>
              </a:lnSpc>
              <a:spcAft>
                <a:spcPts val="500"/>
              </a:spcAft>
              <a:buSzPct val="100000"/>
              <a:buChar char="•"/>
            </a:pPr>
            <a:r>
              <a:rPr lang="en-US" sz="1000" dirty="0">
                <a:solidFill>
                  <a:srgbClr val="1F2A25"/>
                </a:solidFill>
                <a:latin typeface="Meiryo" pitchFamily="34" charset="0"/>
                <a:ea typeface="Meiryo" pitchFamily="34" charset="-122"/>
                <a:cs typeface="Meiryo" pitchFamily="34" charset="-120"/>
              </a:rPr>
              <a:t>ログは CMK 暗号化・自社保持</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2011680"/>
                <a:gridCol w="5486400"/>
                <a:gridCol w="3566160"/>
              </a:tblGrid>
              <a:tr h="50292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主体</a:t>
                      </a:r>
                      <a:endParaRPr lang="en-US" sz="10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責任範囲</a:t>
                      </a:r>
                      <a:endParaRPr lang="en-US" sz="10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当行が求める担保</a:t>
                      </a:r>
                      <a:endParaRPr lang="en-US" sz="10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50292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当行（銀行）</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情報分類、利用承認、アクセス制御、RAG データ、ログ保持・監視、出力の検証と業務判断、委託先管理</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社内規程・運用手順・監査</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AWS</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Bedrock 基盤の運用、Model Deployment Account の隔離、ZDR・非学習の履行、リージョン内処理、暗号化</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利用規約・Service Terms、SOC1/2/3・ISO27001/17/18・ISMAP、FISC 対応リファレンス</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F2A25"/>
                          </a:solidFill>
                          <a:latin typeface="Meiryo" pitchFamily="34" charset="0"/>
                          <a:ea typeface="Meiryo" pitchFamily="34" charset="-122"/>
                          <a:cs typeface="Meiryo" pitchFamily="34" charset="-120"/>
                        </a:rPr>
                        <a:t>Anthropic（モデル提供者）</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モデルの提供。入出力・ログにアクセスしない。学習に使わない</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A25"/>
                          </a:solidFill>
                          <a:latin typeface="Meiryo" pitchFamily="34" charset="0"/>
                          <a:ea typeface="Meiryo" pitchFamily="34" charset="-122"/>
                          <a:cs typeface="Meiryo" pitchFamily="34" charset="-120"/>
                        </a:rPr>
                        <a:t>Anthropic on Bedrock Commercial Terms、AWS の Model Deployment Account 設計</a:t>
                      </a:r>
                      <a:endParaRPr lang="en-US" sz="950" dirty="0">
                        <a:latin typeface="Meiryo" charset="0"/>
                        <a:ea typeface="Meiryo" charset="0"/>
                        <a:cs typeface="Meiryo" charset="0"/>
                      </a:endParaRPr>
                    </a:p>
                  </a:txBody>
                  <a:tcPr marL="54864" marR="54864" marT="54864" marB="54864"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28" name="Text 2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9" name="Text 2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【付録】データ取扱いに関する AWS ／ Anthropic の公式表明</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「保存しない・学習しない・提供者に渡さない」は営業説明ではなく公開ドキュメントの仕様</a:t>
            </a:r>
            <a:endParaRPr lang="en-US" sz="1200" dirty="0"/>
          </a:p>
        </p:txBody>
      </p:sp>
      <p:sp>
        <p:nvSpPr>
          <p:cNvPr id="4" name="Shape 2"/>
          <p:cNvSpPr/>
          <p:nvPr/>
        </p:nvSpPr>
        <p:spPr>
          <a:xfrm>
            <a:off x="548640" y="1417320"/>
            <a:ext cx="5394960" cy="1828800"/>
          </a:xfrm>
          <a:prstGeom prst="roundRect">
            <a:avLst>
              <a:gd name="adj" fmla="val 4000"/>
            </a:avLst>
          </a:prstGeom>
          <a:solidFill>
            <a:srgbClr val="F4F7F5"/>
          </a:solidFill>
          <a:ln w="9525">
            <a:solidFill>
              <a:srgbClr val="C9D6CF"/>
            </a:solidFill>
            <a:prstDash val="solid"/>
          </a:ln>
        </p:spPr>
      </p:sp>
      <p:sp>
        <p:nvSpPr>
          <p:cNvPr id="5" name="Text 3"/>
          <p:cNvSpPr txBox="1"/>
          <p:nvPr/>
        </p:nvSpPr>
        <p:spPr>
          <a:xfrm>
            <a:off x="731520" y="1527048"/>
            <a:ext cx="5029200"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AWS Knowledge Center</a:t>
            </a:r>
            <a:endParaRPr lang="en-US" sz="1150" dirty="0"/>
          </a:p>
        </p:txBody>
      </p:sp>
      <p:sp>
        <p:nvSpPr>
          <p:cNvPr id="6" name="Text 4"/>
          <p:cNvSpPr txBox="1"/>
          <p:nvPr/>
        </p:nvSpPr>
        <p:spPr>
          <a:xfrm>
            <a:off x="731520" y="1856232"/>
            <a:ext cx="5029200" cy="868680"/>
          </a:xfrm>
          <a:prstGeom prst="rect">
            <a:avLst/>
          </a:prstGeom>
          <a:noFill/>
          <a:ln/>
        </p:spPr>
        <p:txBody>
          <a:bodyPr wrap="square" lIns="0" tIns="0" rIns="0" bIns="0" rtlCol="0" anchor="ctr"/>
          <a:lstStyle/>
          <a:p>
            <a:pPr indent="0" marL="0">
              <a:lnSpc>
                <a:spcPct val="120000"/>
              </a:lnSpc>
              <a:buNone/>
            </a:pPr>
            <a:r>
              <a:rPr lang="en-US" sz="1000" i="1" dirty="0">
                <a:solidFill>
                  <a:srgbClr val="1F2A25"/>
                </a:solidFill>
                <a:latin typeface="Meiryo" pitchFamily="34" charset="0"/>
                <a:ea typeface="Meiryo" pitchFamily="34" charset="-122"/>
                <a:cs typeface="Meiryo" pitchFamily="34" charset="-120"/>
              </a:rPr>
              <a:t>“Amazon Bedrock doesn't store customer input data and model output data, share the data with third-party model providers, or use the data to train models.”</a:t>
            </a:r>
            <a:endParaRPr lang="en-US" sz="1000" dirty="0"/>
          </a:p>
        </p:txBody>
      </p:sp>
      <p:sp>
        <p:nvSpPr>
          <p:cNvPr id="7" name="Text 5"/>
          <p:cNvSpPr txBox="1"/>
          <p:nvPr/>
        </p:nvSpPr>
        <p:spPr>
          <a:xfrm>
            <a:off x="731520" y="2743200"/>
            <a:ext cx="5029200" cy="45720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自動の abuse detection は存在するが “there's no human access to input and output data”。</a:t>
            </a:r>
            <a:endParaRPr lang="en-US" sz="900" dirty="0"/>
          </a:p>
        </p:txBody>
      </p:sp>
      <p:sp>
        <p:nvSpPr>
          <p:cNvPr id="8" name="Shape 6"/>
          <p:cNvSpPr/>
          <p:nvPr/>
        </p:nvSpPr>
        <p:spPr>
          <a:xfrm>
            <a:off x="6217920" y="1417320"/>
            <a:ext cx="5394960" cy="1828800"/>
          </a:xfrm>
          <a:prstGeom prst="roundRect">
            <a:avLst>
              <a:gd name="adj" fmla="val 4000"/>
            </a:avLst>
          </a:prstGeom>
          <a:solidFill>
            <a:srgbClr val="F4F7F5"/>
          </a:solidFill>
          <a:ln w="9525">
            <a:solidFill>
              <a:srgbClr val="C9D6CF"/>
            </a:solidFill>
            <a:prstDash val="solid"/>
          </a:ln>
        </p:spPr>
      </p:sp>
      <p:sp>
        <p:nvSpPr>
          <p:cNvPr id="9" name="Text 7"/>
          <p:cNvSpPr txBox="1"/>
          <p:nvPr/>
        </p:nvSpPr>
        <p:spPr>
          <a:xfrm>
            <a:off x="6400800" y="1527048"/>
            <a:ext cx="5029200"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Data protection in Amazon Bedrock</a:t>
            </a:r>
            <a:endParaRPr lang="en-US" sz="1150" dirty="0"/>
          </a:p>
        </p:txBody>
      </p:sp>
      <p:sp>
        <p:nvSpPr>
          <p:cNvPr id="10" name="Text 8"/>
          <p:cNvSpPr txBox="1"/>
          <p:nvPr/>
        </p:nvSpPr>
        <p:spPr>
          <a:xfrm>
            <a:off x="6400800" y="1856232"/>
            <a:ext cx="5029200" cy="868680"/>
          </a:xfrm>
          <a:prstGeom prst="rect">
            <a:avLst/>
          </a:prstGeom>
          <a:noFill/>
          <a:ln/>
        </p:spPr>
        <p:txBody>
          <a:bodyPr wrap="square" lIns="0" tIns="0" rIns="0" bIns="0" rtlCol="0" anchor="ctr"/>
          <a:lstStyle/>
          <a:p>
            <a:pPr indent="0" marL="0">
              <a:lnSpc>
                <a:spcPct val="120000"/>
              </a:lnSpc>
              <a:buNone/>
            </a:pPr>
            <a:r>
              <a:rPr lang="en-US" sz="1000" i="1" dirty="0">
                <a:solidFill>
                  <a:srgbClr val="1F2A25"/>
                </a:solidFill>
                <a:latin typeface="Meiryo" pitchFamily="34" charset="0"/>
                <a:ea typeface="Meiryo" pitchFamily="34" charset="-122"/>
                <a:cs typeface="Meiryo" pitchFamily="34" charset="-120"/>
              </a:rPr>
              <a:t>“Model providers don't have any access to those accounts … they don't have access to Amazon Bedrock logs or to customer prompts and completions.”</a:t>
            </a:r>
            <a:endParaRPr lang="en-US" sz="1000" dirty="0"/>
          </a:p>
        </p:txBody>
      </p:sp>
      <p:sp>
        <p:nvSpPr>
          <p:cNvPr id="11" name="Text 9"/>
          <p:cNvSpPr txBox="1"/>
          <p:nvPr/>
        </p:nvSpPr>
        <p:spPr>
          <a:xfrm>
            <a:off x="6400800" y="2743200"/>
            <a:ext cx="5029200" cy="45720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モデル提供者の推論ソフトを AWS が Model Deployment Account に複製して運用する設計。</a:t>
            </a:r>
            <a:endParaRPr lang="en-US" sz="900" dirty="0"/>
          </a:p>
        </p:txBody>
      </p:sp>
      <p:sp>
        <p:nvSpPr>
          <p:cNvPr id="12" name="Shape 10"/>
          <p:cNvSpPr/>
          <p:nvPr/>
        </p:nvSpPr>
        <p:spPr>
          <a:xfrm>
            <a:off x="548640" y="3429000"/>
            <a:ext cx="5394960" cy="1828800"/>
          </a:xfrm>
          <a:prstGeom prst="roundRect">
            <a:avLst>
              <a:gd name="adj" fmla="val 4000"/>
            </a:avLst>
          </a:prstGeom>
          <a:solidFill>
            <a:srgbClr val="F4F7F5"/>
          </a:solidFill>
          <a:ln w="9525">
            <a:solidFill>
              <a:srgbClr val="C9D6CF"/>
            </a:solidFill>
            <a:prstDash val="solid"/>
          </a:ln>
        </p:spPr>
      </p:sp>
      <p:sp>
        <p:nvSpPr>
          <p:cNvPr id="13" name="Text 11"/>
          <p:cNvSpPr txBox="1"/>
          <p:nvPr/>
        </p:nvSpPr>
        <p:spPr>
          <a:xfrm>
            <a:off x="731520" y="3538728"/>
            <a:ext cx="5029200"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Bedrock Data retention（2026-06-09〜）</a:t>
            </a:r>
            <a:endParaRPr lang="en-US" sz="1150" dirty="0"/>
          </a:p>
        </p:txBody>
      </p:sp>
      <p:sp>
        <p:nvSpPr>
          <p:cNvPr id="14" name="Text 12"/>
          <p:cNvSpPr txBox="1"/>
          <p:nvPr/>
        </p:nvSpPr>
        <p:spPr>
          <a:xfrm>
            <a:off x="731520" y="3867912"/>
            <a:ext cx="5029200" cy="868680"/>
          </a:xfrm>
          <a:prstGeom prst="rect">
            <a:avLst/>
          </a:prstGeom>
          <a:noFill/>
          <a:ln/>
        </p:spPr>
        <p:txBody>
          <a:bodyPr wrap="square" lIns="0" tIns="0" rIns="0" bIns="0" rtlCol="0" anchor="ctr"/>
          <a:lstStyle/>
          <a:p>
            <a:pPr indent="0" marL="0">
              <a:lnSpc>
                <a:spcPct val="120000"/>
              </a:lnSpc>
              <a:buNone/>
            </a:pPr>
            <a:r>
              <a:rPr lang="en-US" sz="1000" i="1" dirty="0">
                <a:solidFill>
                  <a:srgbClr val="1F2A25"/>
                </a:solidFill>
                <a:latin typeface="Meiryo" pitchFamily="34" charset="0"/>
                <a:ea typeface="Meiryo" pitchFamily="34" charset="-122"/>
                <a:cs typeface="Meiryo" pitchFamily="34" charset="-120"/>
              </a:rPr>
              <a:t>“Zero data retention. No request or response data is written to durable storage by AWS or shared with the model provider.” （mode = none）</a:t>
            </a:r>
            <a:endParaRPr lang="en-US" sz="1000" dirty="0"/>
          </a:p>
        </p:txBody>
      </p:sp>
      <p:sp>
        <p:nvSpPr>
          <p:cNvPr id="15" name="Text 13"/>
          <p:cNvSpPr txBox="1"/>
          <p:nvPr/>
        </p:nvSpPr>
        <p:spPr>
          <a:xfrm>
            <a:off x="731520" y="4754880"/>
            <a:ext cx="5029200" cy="45720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“There is no data retention change to Claude models released before Claude Fable 5.”</a:t>
            </a:r>
            <a:endParaRPr lang="en-US" sz="900" dirty="0"/>
          </a:p>
        </p:txBody>
      </p:sp>
      <p:sp>
        <p:nvSpPr>
          <p:cNvPr id="16" name="Shape 14"/>
          <p:cNvSpPr/>
          <p:nvPr/>
        </p:nvSpPr>
        <p:spPr>
          <a:xfrm>
            <a:off x="6217920" y="3429000"/>
            <a:ext cx="5394960" cy="1828800"/>
          </a:xfrm>
          <a:prstGeom prst="roundRect">
            <a:avLst>
              <a:gd name="adj" fmla="val 4000"/>
            </a:avLst>
          </a:prstGeom>
          <a:solidFill>
            <a:srgbClr val="F4F7F5"/>
          </a:solidFill>
          <a:ln w="9525">
            <a:solidFill>
              <a:srgbClr val="C9D6CF"/>
            </a:solidFill>
            <a:prstDash val="solid"/>
          </a:ln>
        </p:spPr>
      </p:sp>
      <p:sp>
        <p:nvSpPr>
          <p:cNvPr id="17" name="Text 15"/>
          <p:cNvSpPr txBox="1"/>
          <p:nvPr/>
        </p:nvSpPr>
        <p:spPr>
          <a:xfrm>
            <a:off x="6400800" y="3538728"/>
            <a:ext cx="5029200" cy="274320"/>
          </a:xfrm>
          <a:prstGeom prst="rect">
            <a:avLst/>
          </a:prstGeom>
          <a:noFill/>
          <a:ln/>
        </p:spPr>
        <p:txBody>
          <a:bodyPr wrap="square" lIns="0" tIns="0" rIns="0" bIns="0" rtlCol="0" anchor="ctr"/>
          <a:lstStyle/>
          <a:p>
            <a:pPr indent="0" marL="0">
              <a:buNone/>
            </a:pPr>
            <a:r>
              <a:rPr lang="en-US" sz="1150" b="1" dirty="0">
                <a:solidFill>
                  <a:srgbClr val="1B3A2F"/>
                </a:solidFill>
                <a:latin typeface="Meiryo" pitchFamily="34" charset="0"/>
                <a:ea typeface="Meiryo" pitchFamily="34" charset="-122"/>
                <a:cs typeface="Meiryo" pitchFamily="34" charset="-120"/>
              </a:rPr>
              <a:t>Anthropic Commercial Terms</a:t>
            </a:r>
            <a:endParaRPr lang="en-US" sz="1150" dirty="0"/>
          </a:p>
        </p:txBody>
      </p:sp>
      <p:sp>
        <p:nvSpPr>
          <p:cNvPr id="18" name="Text 16"/>
          <p:cNvSpPr txBox="1"/>
          <p:nvPr/>
        </p:nvSpPr>
        <p:spPr>
          <a:xfrm>
            <a:off x="6400800" y="3867912"/>
            <a:ext cx="5029200" cy="868680"/>
          </a:xfrm>
          <a:prstGeom prst="rect">
            <a:avLst/>
          </a:prstGeom>
          <a:noFill/>
          <a:ln/>
        </p:spPr>
        <p:txBody>
          <a:bodyPr wrap="square" lIns="0" tIns="0" rIns="0" bIns="0" rtlCol="0" anchor="ctr"/>
          <a:lstStyle/>
          <a:p>
            <a:pPr indent="0" marL="0">
              <a:lnSpc>
                <a:spcPct val="120000"/>
              </a:lnSpc>
              <a:buNone/>
            </a:pPr>
            <a:r>
              <a:rPr lang="en-US" sz="1000" i="1" dirty="0">
                <a:solidFill>
                  <a:srgbClr val="1F2A25"/>
                </a:solidFill>
                <a:latin typeface="Meiryo" pitchFamily="34" charset="0"/>
                <a:ea typeface="Meiryo" pitchFamily="34" charset="-122"/>
                <a:cs typeface="Meiryo" pitchFamily="34" charset="-120"/>
              </a:rPr>
              <a:t>“Anthropic may not train models on Customer Content from Services.” 顧客は Input の権利を保持し Output を所有。</a:t>
            </a:r>
            <a:endParaRPr lang="en-US" sz="1000" dirty="0"/>
          </a:p>
        </p:txBody>
      </p:sp>
      <p:sp>
        <p:nvSpPr>
          <p:cNvPr id="19" name="Text 17"/>
          <p:cNvSpPr txBox="1"/>
          <p:nvPr/>
        </p:nvSpPr>
        <p:spPr>
          <a:xfrm>
            <a:off x="6400800" y="4754880"/>
            <a:ext cx="5029200" cy="457200"/>
          </a:xfrm>
          <a:prstGeom prst="rect">
            <a:avLst/>
          </a:prstGeom>
          <a:noFill/>
          <a:ln/>
        </p:spPr>
        <p:txBody>
          <a:bodyPr wrap="square" lIns="0" tIns="0" rIns="0" bIns="0" rtlCol="0" anchor="ctr"/>
          <a:lstStyle/>
          <a:p>
            <a:pPr indent="0" marL="0">
              <a:lnSpc>
                <a:spcPct val="115000"/>
              </a:lnSpc>
              <a:buNone/>
            </a:pPr>
            <a:r>
              <a:rPr lang="en-US" sz="900" dirty="0">
                <a:solidFill>
                  <a:srgbClr val="5B6B63"/>
                </a:solidFill>
                <a:latin typeface="Meiryo" pitchFamily="34" charset="0"/>
                <a:ea typeface="Meiryo" pitchFamily="34" charset="-122"/>
                <a:cs typeface="Meiryo" pitchFamily="34" charset="-120"/>
              </a:rPr>
              <a:t>Bedrock 上の取扱いは “governed by Amazon Bedrock”（Anthropic 公式ドキュメント）。</a:t>
            </a:r>
            <a:endParaRPr lang="en-US" sz="900" dirty="0"/>
          </a:p>
        </p:txBody>
      </p:sp>
      <p:sp>
        <p:nvSpPr>
          <p:cNvPr id="20" name="Shape 18"/>
          <p:cNvSpPr/>
          <p:nvPr/>
        </p:nvSpPr>
        <p:spPr>
          <a:xfrm>
            <a:off x="548640" y="5532120"/>
            <a:ext cx="11064240" cy="731520"/>
          </a:xfrm>
          <a:prstGeom prst="roundRect">
            <a:avLst>
              <a:gd name="adj" fmla="val 10000"/>
            </a:avLst>
          </a:prstGeom>
          <a:solidFill>
            <a:srgbClr val="F9E7E2"/>
          </a:solidFill>
          <a:ln w="9525">
            <a:solidFill>
              <a:srgbClr val="F9E7E2"/>
            </a:solidFill>
            <a:prstDash val="solid"/>
          </a:ln>
        </p:spPr>
      </p:sp>
      <p:sp>
        <p:nvSpPr>
          <p:cNvPr id="21" name="Text 19"/>
          <p:cNvSpPr txBox="1"/>
          <p:nvPr/>
        </p:nvSpPr>
        <p:spPr>
          <a:xfrm>
            <a:off x="731520" y="5596128"/>
            <a:ext cx="914400" cy="274320"/>
          </a:xfrm>
          <a:prstGeom prst="rect">
            <a:avLst/>
          </a:prstGeom>
          <a:noFill/>
          <a:ln/>
        </p:spPr>
        <p:txBody>
          <a:bodyPr wrap="square" lIns="0" tIns="0" rIns="0" bIns="0" rtlCol="0" anchor="ctr"/>
          <a:lstStyle/>
          <a:p>
            <a:pPr indent="0" marL="0">
              <a:buNone/>
            </a:pPr>
            <a:r>
              <a:rPr lang="en-US" sz="1100" b="1" dirty="0">
                <a:solidFill>
                  <a:srgbClr val="B5402A"/>
                </a:solidFill>
                <a:latin typeface="Meiryo" pitchFamily="34" charset="0"/>
                <a:ea typeface="Meiryo" pitchFamily="34" charset="-122"/>
                <a:cs typeface="Meiryo" pitchFamily="34" charset="-120"/>
              </a:rPr>
              <a:t>例外</a:t>
            </a:r>
            <a:endParaRPr lang="en-US" sz="1100" dirty="0"/>
          </a:p>
        </p:txBody>
      </p:sp>
      <p:sp>
        <p:nvSpPr>
          <p:cNvPr id="22" name="Text 20"/>
          <p:cNvSpPr txBox="1"/>
          <p:nvPr/>
        </p:nvSpPr>
        <p:spPr>
          <a:xfrm>
            <a:off x="1371600" y="5596128"/>
            <a:ext cx="10058400" cy="640080"/>
          </a:xfrm>
          <a:prstGeom prst="rect">
            <a:avLst/>
          </a:prstGeom>
          <a:noFill/>
          <a:ln/>
        </p:spPr>
        <p:txBody>
          <a:bodyPr wrap="square" lIns="0" tIns="0" rIns="0" bIns="0" rtlCol="0" anchor="t"/>
          <a:lstStyle/>
          <a:p>
            <a:pPr algn="l" indent="0" marL="0">
              <a:lnSpc>
                <a:spcPct val="115000"/>
              </a:lnSpc>
              <a:spcAft>
                <a:spcPts val="400"/>
              </a:spcAft>
              <a:buNone/>
            </a:pPr>
            <a:r>
              <a:rPr lang="en-US" sz="1000" dirty="0">
                <a:solidFill>
                  <a:srgbClr val="1F2A25"/>
                </a:solidFill>
                <a:latin typeface="Meiryo" pitchFamily="34" charset="0"/>
                <a:ea typeface="Meiryo" pitchFamily="34" charset="-122"/>
                <a:cs typeface="Meiryo" pitchFamily="34" charset="-120"/>
              </a:rPr>
              <a:t>Claude Fable 5 ／ Mythos 5 は利用条件として入出力の最大 30 日保持と Anthropic への共有（provider_data_share）が必須。機密分類では利用対象外とし、SCP で DataRetentionMode=none を強制することで誤使用を技術的に防ぐ。</a:t>
            </a:r>
            <a:endParaRPr lang="en-US" sz="1000" dirty="0"/>
          </a:p>
        </p:txBody>
      </p:sp>
      <p:sp>
        <p:nvSpPr>
          <p:cNvPr id="23" name="Text 2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4" name="Text 2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【付録】国内完結の技術的裏付けと、最新世代とのトレードオフ</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Claude は東京の in-region 提供がなく、すべて inference profile 経由。国内に閉じるのは jp. プロファイルのみ</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874520"/>
                <a:gridCol w="1463040"/>
                <a:gridCol w="914400"/>
                <a:gridCol w="914400"/>
                <a:gridCol w="1783080"/>
              </a:tblGrid>
              <a:tr h="384048">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モデル</a:t>
                      </a:r>
                      <a:endParaRPr lang="en-US" sz="10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Bedrock 提供日</a:t>
                      </a:r>
                      <a:endParaRPr lang="en-US" sz="10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jp.（東京⇄大阪）</a:t>
                      </a:r>
                      <a:endParaRPr lang="en-US" sz="10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global（国外処理）</a:t>
                      </a:r>
                      <a:endParaRPr lang="en-US" sz="10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機密用途の位置づけ</a:t>
                      </a:r>
                      <a:endParaRPr lang="en-US" sz="10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3A2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Sonnet 4.5 / Haiku 4.5</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2025-09 / 2025-10</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3A2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国内完結・主力候補（EOL は 2026-09/10 以降）</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Sonnet 4.6</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2026-02-17</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3A2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国内完結・主力候補</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Opus 4.7 / Opus 4.8</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2026-04 / 2026-05</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3A2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EF5F1"/>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国内完結・高精度用途</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Opus 4.5 / Opus 4.6</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2025-11 / 2026-02</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402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国外処理。機密では不使用</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Sonnet 5 / Opus 5</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2026-06 / 2026-07</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402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国外処理。機密以下の用途に限定</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F2A25"/>
                          </a:solidFill>
                          <a:latin typeface="Meiryo" pitchFamily="34" charset="0"/>
                          <a:ea typeface="Meiryo" pitchFamily="34" charset="-122"/>
                          <a:cs typeface="Meiryo" pitchFamily="34" charset="-120"/>
                        </a:rPr>
                        <a:t>Claude Fable 5</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algn="ctr" indent="0" marL="0">
                        <a:buNone/>
                      </a:pPr>
                      <a:r>
                        <a:rPr lang="en-US" sz="900" dirty="0">
                          <a:solidFill>
                            <a:srgbClr val="1F2A25"/>
                          </a:solidFill>
                          <a:latin typeface="Meiryo" pitchFamily="34" charset="0"/>
                          <a:ea typeface="Meiryo" pitchFamily="34" charset="-122"/>
                          <a:cs typeface="Meiryo" pitchFamily="34" charset="-120"/>
                        </a:rPr>
                        <a:t>2026-06-09</a:t>
                      </a:r>
                      <a:endParaRPr lang="en-US" sz="9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5402A"/>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A25"/>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A25"/>
                          </a:solidFill>
                          <a:latin typeface="Meiryo" pitchFamily="34" charset="0"/>
                          <a:ea typeface="Meiryo" pitchFamily="34" charset="-122"/>
                          <a:cs typeface="Meiryo" pitchFamily="34" charset="-120"/>
                        </a:rPr>
                        <a:t>30日保持＋提供者共有必須。対象外</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Shape 2"/>
          <p:cNvSpPr/>
          <p:nvPr/>
        </p:nvSpPr>
        <p:spPr>
          <a:xfrm>
            <a:off x="7772400" y="1417320"/>
            <a:ext cx="3840480" cy="2148840"/>
          </a:xfrm>
          <a:prstGeom prst="roundRect">
            <a:avLst>
              <a:gd name="adj" fmla="val 3404"/>
            </a:avLst>
          </a:prstGeom>
          <a:solidFill>
            <a:srgbClr val="F4F7F5"/>
          </a:solidFill>
          <a:ln w="9525">
            <a:solidFill>
              <a:srgbClr val="C9D6CF"/>
            </a:solidFill>
            <a:prstDash val="solid"/>
          </a:ln>
        </p:spPr>
      </p:sp>
      <p:sp>
        <p:nvSpPr>
          <p:cNvPr id="6" name="Text 3"/>
          <p:cNvSpPr txBox="1"/>
          <p:nvPr/>
        </p:nvSpPr>
        <p:spPr>
          <a:xfrm>
            <a:off x="7955280" y="1508760"/>
            <a:ext cx="3474720" cy="320040"/>
          </a:xfrm>
          <a:prstGeom prst="rect">
            <a:avLst/>
          </a:prstGeom>
          <a:noFill/>
          <a:ln/>
        </p:spPr>
        <p:txBody>
          <a:bodyPr wrap="square" lIns="0" tIns="0" rIns="0" bIns="0" rtlCol="0" anchor="t"/>
          <a:lstStyle/>
          <a:p>
            <a:pPr indent="0" marL="0">
              <a:buNone/>
            </a:pPr>
            <a:r>
              <a:rPr lang="en-US" sz="1300" b="1" dirty="0">
                <a:solidFill>
                  <a:srgbClr val="1B3A2F"/>
                </a:solidFill>
                <a:latin typeface="Meiryo" pitchFamily="34" charset="0"/>
                <a:ea typeface="Meiryo" pitchFamily="34" charset="-122"/>
                <a:cs typeface="Meiryo" pitchFamily="34" charset="-120"/>
              </a:rPr>
              <a:t>国内完結はどう担保されるか</a:t>
            </a:r>
            <a:endParaRPr lang="en-US" sz="1300" dirty="0"/>
          </a:p>
        </p:txBody>
      </p:sp>
      <p:sp>
        <p:nvSpPr>
          <p:cNvPr id="7" name="Text 4"/>
          <p:cNvSpPr txBox="1"/>
          <p:nvPr/>
        </p:nvSpPr>
        <p:spPr>
          <a:xfrm>
            <a:off x="7955280" y="1847088"/>
            <a:ext cx="3474720" cy="169164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AWS 公式：“inference processing stays within the geography boundaries”、経路は AWS 網内・暗号化</a:t>
            </a:r>
            <a:endParaRPr lang="en-US" sz="950" dirty="0"/>
          </a:p>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IAM/SCP：bedrock:InferenceProfileArn を jp.* に限定 → global 呼出しは技術的に不可</a:t>
            </a:r>
            <a:endParaRPr lang="en-US" sz="950" dirty="0"/>
          </a:p>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監査：CloudTrail の additionalEventData.inferenceRegion で処理リージョンを事後確認可</a:t>
            </a:r>
            <a:endParaRPr lang="en-US" sz="950" dirty="0"/>
          </a:p>
        </p:txBody>
      </p:sp>
      <p:sp>
        <p:nvSpPr>
          <p:cNvPr id="8" name="Shape 5"/>
          <p:cNvSpPr/>
          <p:nvPr/>
        </p:nvSpPr>
        <p:spPr>
          <a:xfrm>
            <a:off x="7772400" y="3703320"/>
            <a:ext cx="3840480" cy="2011680"/>
          </a:xfrm>
          <a:prstGeom prst="roundRect">
            <a:avLst>
              <a:gd name="adj" fmla="val 3636"/>
            </a:avLst>
          </a:prstGeom>
          <a:solidFill>
            <a:srgbClr val="FBF1DF"/>
          </a:solidFill>
          <a:ln w="9525">
            <a:solidFill>
              <a:srgbClr val="FBF1DF"/>
            </a:solidFill>
            <a:prstDash val="solid"/>
          </a:ln>
        </p:spPr>
      </p:sp>
      <p:sp>
        <p:nvSpPr>
          <p:cNvPr id="9" name="Text 6"/>
          <p:cNvSpPr txBox="1"/>
          <p:nvPr/>
        </p:nvSpPr>
        <p:spPr>
          <a:xfrm>
            <a:off x="7955280" y="3794760"/>
            <a:ext cx="3474720" cy="320040"/>
          </a:xfrm>
          <a:prstGeom prst="rect">
            <a:avLst/>
          </a:prstGeom>
          <a:noFill/>
          <a:ln/>
        </p:spPr>
        <p:txBody>
          <a:bodyPr wrap="square" lIns="0" tIns="0" rIns="0" bIns="0" rtlCol="0" anchor="t"/>
          <a:lstStyle/>
          <a:p>
            <a:pPr indent="0" marL="0">
              <a:buNone/>
            </a:pPr>
            <a:r>
              <a:rPr lang="en-US" sz="1300" b="1" dirty="0">
                <a:solidFill>
                  <a:srgbClr val="C8891A"/>
                </a:solidFill>
                <a:latin typeface="Meiryo" pitchFamily="34" charset="0"/>
                <a:ea typeface="Meiryo" pitchFamily="34" charset="-122"/>
                <a:cs typeface="Meiryo" pitchFamily="34" charset="-120"/>
              </a:rPr>
              <a:t>トレードオフ（AI導入組織で決める事項）</a:t>
            </a:r>
            <a:endParaRPr lang="en-US" sz="1300" dirty="0"/>
          </a:p>
        </p:txBody>
      </p:sp>
      <p:sp>
        <p:nvSpPr>
          <p:cNvPr id="10" name="Text 7"/>
          <p:cNvSpPr txBox="1"/>
          <p:nvPr/>
        </p:nvSpPr>
        <p:spPr>
          <a:xfrm>
            <a:off x="7955280" y="4133088"/>
            <a:ext cx="3474720" cy="1554480"/>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1F2A25"/>
                </a:solidFill>
                <a:latin typeface="Meiryo" pitchFamily="34" charset="0"/>
                <a:ea typeface="Meiryo" pitchFamily="34" charset="-122"/>
                <a:cs typeface="Meiryo" pitchFamily="34" charset="-120"/>
              </a:rPr>
              <a:t>最新世代（Sonnet 5 / Opus 5）は jp. 非対応。「国内完結」を機密の必須条件にすると、機密用途では約 1 世代前のモデルに固定される。分類階層ごとに「国内完結必須」か「AWS 網内＋非保存で可（国外処理容認）」かを決める必要がある。個情法上は国内サーバでも「外的環境の把握」が必要であり（p.20）、国外処理を容認しても法的整理は同じ枠組みで可能。</a:t>
            </a:r>
            <a:endParaRPr lang="en-US" sz="950" dirty="0"/>
          </a:p>
        </p:txBody>
      </p:sp>
      <p:sp>
        <p:nvSpPr>
          <p:cNvPr id="11" name="Text 8"/>
          <p:cNvSpPr txBox="1"/>
          <p:nvPr/>
        </p:nvSpPr>
        <p:spPr>
          <a:xfrm>
            <a:off x="548640" y="4526280"/>
            <a:ext cx="6949440" cy="1371600"/>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5B6B63"/>
                </a:solidFill>
                <a:latin typeface="Meiryo" pitchFamily="34" charset="0"/>
                <a:ea typeface="Meiryo" pitchFamily="34" charset="-122"/>
                <a:cs typeface="Meiryo" pitchFamily="34" charset="-120"/>
              </a:rPr>
              <a:t>補足：Fable 5 は us. と global. のみ（jp.／eu. なし）。Amazon Nova 2 Lite も jp. 対応。OpenAI GPT-5.x（Bedrock）は東京から global のみ。Provisioned Throughput は Claude 4.x 系に非対応で、Reserved tier は容量予約であって専有ではない。「当行専用のモデル」は Bedrock には存在せず、「重みは共有・入出力は非保存」が正確な説明。</a:t>
            </a:r>
            <a:endParaRPr lang="en-US" sz="950" dirty="0"/>
          </a:p>
        </p:txBody>
      </p:sp>
      <p:sp>
        <p:nvSpPr>
          <p:cNvPr id="12" name="Text 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13" name="Text 1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【付録】業界水準 ― 日銀調査と公開事例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「機密情報をクラウド LLM に入れる」は既に業界の過半数の実務</a:t>
            </a:r>
            <a:endParaRPr lang="en-US" sz="1200" dirty="0"/>
          </a:p>
        </p:txBody>
      </p:sp>
      <p:graphicFrame>
        <p:nvGraphicFramePr>
          <p:cNvPr id="4" name="Chart 0" descr=""/>
          <p:cNvGraphicFramePr/>
          <p:nvPr/>
        </p:nvGraphicFramePr>
        <p:xfrm>
          <a:off x="548640" y="1371600"/>
          <a:ext cx="274320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3383280" y="1371600"/>
          <a:ext cx="3017520" cy="23774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3794760"/>
            <a:ext cx="5852160" cy="548640"/>
          </a:xfrm>
          <a:prstGeom prst="rect">
            <a:avLst/>
          </a:prstGeom>
          <a:noFill/>
          <a:ln/>
        </p:spPr>
        <p:txBody>
          <a:bodyPr wrap="square" lIns="0" tIns="0" rIns="0" bIns="0" rtlCol="0" anchor="t"/>
          <a:lstStyle/>
          <a:p>
            <a:pPr algn="l" indent="0" marL="0">
              <a:lnSpc>
                <a:spcPct val="115000"/>
              </a:lnSpc>
              <a:spcAft>
                <a:spcPts val="400"/>
              </a:spcAft>
              <a:buNone/>
            </a:pPr>
            <a:r>
              <a:rPr lang="en-US" sz="850" dirty="0">
                <a:solidFill>
                  <a:srgbClr val="5B6B63"/>
                </a:solidFill>
                <a:latin typeface="Meiryo" pitchFamily="34" charset="0"/>
                <a:ea typeface="Meiryo" pitchFamily="34" charset="-122"/>
                <a:cs typeface="Meiryo" pitchFamily="34" charset="-120"/>
              </a:rPr>
              <a:t>日本銀行 金融システムレポート別冊「金融機関における生成 AI の利用状況とリスク管理」2026-08-06（大手行 10・地銀 61・第二地銀 34・信金 18・その他 27、回答率 100%）。利用中は 2 年で 31.0% → 79.3%、未利用は 41.9% → 9.3%。</a:t>
            </a:r>
            <a:endParaRPr lang="en-US" sz="850" dirty="0"/>
          </a:p>
        </p:txBody>
      </p:sp>
      <p:sp>
        <p:nvSpPr>
          <p:cNvPr id="7" name="Text 3"/>
          <p:cNvSpPr txBox="1"/>
          <p:nvPr/>
        </p:nvSpPr>
        <p:spPr>
          <a:xfrm>
            <a:off x="6675120" y="1371600"/>
            <a:ext cx="4937760" cy="320040"/>
          </a:xfrm>
          <a:prstGeom prst="rect">
            <a:avLst/>
          </a:prstGeom>
          <a:noFill/>
          <a:ln/>
        </p:spPr>
        <p:txBody>
          <a:bodyPr wrap="square" lIns="0" tIns="0" rIns="0" bIns="0" rtlCol="0" anchor="t"/>
          <a:lstStyle/>
          <a:p>
            <a:pPr indent="0" marL="0">
              <a:buNone/>
            </a:pPr>
            <a:r>
              <a:rPr lang="en-US" sz="1300" b="1" dirty="0">
                <a:solidFill>
                  <a:srgbClr val="1B3A2F"/>
                </a:solidFill>
                <a:latin typeface="Meiryo" pitchFamily="34" charset="0"/>
                <a:ea typeface="Meiryo" pitchFamily="34" charset="-122"/>
                <a:cs typeface="Meiryo" pitchFamily="34" charset="-120"/>
              </a:rPr>
              <a:t>公開事例（一次ソースで確認できたもの）</a:t>
            </a:r>
            <a:endParaRPr lang="en-US" sz="1300" dirty="0"/>
          </a:p>
        </p:txBody>
      </p:sp>
      <p:sp>
        <p:nvSpPr>
          <p:cNvPr id="8" name="Shape 4"/>
          <p:cNvSpPr/>
          <p:nvPr/>
        </p:nvSpPr>
        <p:spPr>
          <a:xfrm>
            <a:off x="6675120" y="1737360"/>
            <a:ext cx="4937760" cy="841248"/>
          </a:xfrm>
          <a:prstGeom prst="roundRect">
            <a:avLst>
              <a:gd name="adj" fmla="val 8696"/>
            </a:avLst>
          </a:prstGeom>
          <a:solidFill>
            <a:srgbClr val="F4F7F5"/>
          </a:solidFill>
          <a:ln w="9525">
            <a:solidFill>
              <a:srgbClr val="C9D6CF"/>
            </a:solidFill>
            <a:prstDash val="solid"/>
          </a:ln>
        </p:spPr>
      </p:sp>
      <p:sp>
        <p:nvSpPr>
          <p:cNvPr id="9" name="Text 5"/>
          <p:cNvSpPr txBox="1"/>
          <p:nvPr/>
        </p:nvSpPr>
        <p:spPr>
          <a:xfrm>
            <a:off x="6812280" y="1801368"/>
            <a:ext cx="466344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みずほ FG「Wiz Base」</a:t>
            </a:r>
            <a:endParaRPr lang="en-US" sz="1050" dirty="0"/>
          </a:p>
        </p:txBody>
      </p:sp>
      <p:sp>
        <p:nvSpPr>
          <p:cNvPr id="10" name="Text 6"/>
          <p:cNvSpPr txBox="1"/>
          <p:nvPr/>
        </p:nvSpPr>
        <p:spPr>
          <a:xfrm>
            <a:off x="6812280" y="2048256"/>
            <a:ext cx="4663440" cy="51206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AWS 上に構築、Bedrock 経由で Claude 等をマルチ LLM 利用。顧客との対話履歴・提案内容を解析して RM に提案を生成（2025-12-01 リリース）</a:t>
            </a:r>
            <a:endParaRPr lang="en-US" sz="850" dirty="0"/>
          </a:p>
        </p:txBody>
      </p:sp>
      <p:sp>
        <p:nvSpPr>
          <p:cNvPr id="11" name="Shape 7"/>
          <p:cNvSpPr/>
          <p:nvPr/>
        </p:nvSpPr>
        <p:spPr>
          <a:xfrm>
            <a:off x="6675120" y="2670048"/>
            <a:ext cx="4937760" cy="841248"/>
          </a:xfrm>
          <a:prstGeom prst="roundRect">
            <a:avLst>
              <a:gd name="adj" fmla="val 8696"/>
            </a:avLst>
          </a:prstGeom>
          <a:solidFill>
            <a:srgbClr val="F4F7F5"/>
          </a:solidFill>
          <a:ln w="9525">
            <a:solidFill>
              <a:srgbClr val="C9D6CF"/>
            </a:solidFill>
            <a:prstDash val="solid"/>
          </a:ln>
        </p:spPr>
      </p:sp>
      <p:sp>
        <p:nvSpPr>
          <p:cNvPr id="12" name="Text 8"/>
          <p:cNvSpPr txBox="1"/>
          <p:nvPr/>
        </p:nvSpPr>
        <p:spPr>
          <a:xfrm>
            <a:off x="6812280" y="2734056"/>
            <a:ext cx="466344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三菱 UFJ 銀行</a:t>
            </a:r>
            <a:endParaRPr lang="en-US" sz="1050" dirty="0"/>
          </a:p>
        </p:txBody>
      </p:sp>
      <p:sp>
        <p:nvSpPr>
          <p:cNvPr id="13" name="Text 9"/>
          <p:cNvSpPr txBox="1"/>
          <p:nvPr/>
        </p:nvSpPr>
        <p:spPr>
          <a:xfrm>
            <a:off x="6812280" y="2980944"/>
            <a:ext cx="4663440" cy="51206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Bedrock で法人営業支援（企業情報・取引履歴の分析、提案書作成）、数千名規模へ展開予定。別途 ChatGPT Enterprise を約 3.5 万人へ（2025-11）</a:t>
            </a:r>
            <a:endParaRPr lang="en-US" sz="850" dirty="0"/>
          </a:p>
        </p:txBody>
      </p:sp>
      <p:sp>
        <p:nvSpPr>
          <p:cNvPr id="14" name="Shape 10"/>
          <p:cNvSpPr/>
          <p:nvPr/>
        </p:nvSpPr>
        <p:spPr>
          <a:xfrm>
            <a:off x="6675120" y="3602736"/>
            <a:ext cx="4937760" cy="841248"/>
          </a:xfrm>
          <a:prstGeom prst="roundRect">
            <a:avLst>
              <a:gd name="adj" fmla="val 8696"/>
            </a:avLst>
          </a:prstGeom>
          <a:solidFill>
            <a:srgbClr val="F4F7F5"/>
          </a:solidFill>
          <a:ln w="9525">
            <a:solidFill>
              <a:srgbClr val="C9D6CF"/>
            </a:solidFill>
            <a:prstDash val="solid"/>
          </a:ln>
        </p:spPr>
      </p:sp>
      <p:sp>
        <p:nvSpPr>
          <p:cNvPr id="15" name="Text 11"/>
          <p:cNvSpPr txBox="1"/>
          <p:nvPr/>
        </p:nvSpPr>
        <p:spPr>
          <a:xfrm>
            <a:off x="6812280" y="3666744"/>
            <a:ext cx="466344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野村ホールディングス</a:t>
            </a:r>
            <a:endParaRPr lang="en-US" sz="1050" dirty="0"/>
          </a:p>
        </p:txBody>
      </p:sp>
      <p:sp>
        <p:nvSpPr>
          <p:cNvPr id="16" name="Text 12"/>
          <p:cNvSpPr txBox="1"/>
          <p:nvPr/>
        </p:nvSpPr>
        <p:spPr>
          <a:xfrm>
            <a:off x="6812280" y="3913632"/>
            <a:ext cx="4663440" cy="51206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Bedrock ＋ Claude で広告審査のコンプライアンスチェックを自動化（AWS 公式事例）</a:t>
            </a:r>
            <a:endParaRPr lang="en-US" sz="850" dirty="0"/>
          </a:p>
        </p:txBody>
      </p:sp>
      <p:sp>
        <p:nvSpPr>
          <p:cNvPr id="17" name="Shape 13"/>
          <p:cNvSpPr/>
          <p:nvPr/>
        </p:nvSpPr>
        <p:spPr>
          <a:xfrm>
            <a:off x="6675120" y="4535424"/>
            <a:ext cx="4937760" cy="841248"/>
          </a:xfrm>
          <a:prstGeom prst="roundRect">
            <a:avLst>
              <a:gd name="adj" fmla="val 8696"/>
            </a:avLst>
          </a:prstGeom>
          <a:solidFill>
            <a:srgbClr val="F4F7F5"/>
          </a:solidFill>
          <a:ln w="9525">
            <a:solidFill>
              <a:srgbClr val="C9D6CF"/>
            </a:solidFill>
            <a:prstDash val="solid"/>
          </a:ln>
        </p:spPr>
      </p:sp>
      <p:sp>
        <p:nvSpPr>
          <p:cNvPr id="18" name="Text 14"/>
          <p:cNvSpPr txBox="1"/>
          <p:nvPr/>
        </p:nvSpPr>
        <p:spPr>
          <a:xfrm>
            <a:off x="6812280" y="4599432"/>
            <a:ext cx="4663440" cy="237744"/>
          </a:xfrm>
          <a:prstGeom prst="rect">
            <a:avLst/>
          </a:prstGeom>
          <a:noFill/>
          <a:ln/>
        </p:spPr>
        <p:txBody>
          <a:bodyPr wrap="square" lIns="0" tIns="0" rIns="0" bIns="0" rtlCol="0" anchor="ctr"/>
          <a:lstStyle/>
          <a:p>
            <a:pPr indent="0" marL="0">
              <a:buNone/>
            </a:pPr>
            <a:r>
              <a:rPr lang="en-US" sz="1050" b="1" dirty="0">
                <a:solidFill>
                  <a:srgbClr val="1B3A2F"/>
                </a:solidFill>
                <a:latin typeface="Meiryo" pitchFamily="34" charset="0"/>
                <a:ea typeface="Meiryo" pitchFamily="34" charset="-122"/>
                <a:cs typeface="Meiryo" pitchFamily="34" charset="-120"/>
              </a:rPr>
              <a:t>SMBC</a:t>
            </a:r>
            <a:endParaRPr lang="en-US" sz="1050" dirty="0"/>
          </a:p>
        </p:txBody>
      </p:sp>
      <p:sp>
        <p:nvSpPr>
          <p:cNvPr id="19" name="Text 15"/>
          <p:cNvSpPr txBox="1"/>
          <p:nvPr/>
        </p:nvSpPr>
        <p:spPr>
          <a:xfrm>
            <a:off x="6812280" y="4846320"/>
            <a:ext cx="4663440" cy="512064"/>
          </a:xfrm>
          <a:prstGeom prst="rect">
            <a:avLst/>
          </a:prstGeom>
          <a:noFill/>
          <a:ln/>
        </p:spPr>
        <p:txBody>
          <a:bodyPr wrap="square" lIns="0" tIns="0" rIns="0" bIns="0" rtlCol="0" anchor="ctr"/>
          <a:lstStyle/>
          <a:p>
            <a:pPr indent="0" marL="0">
              <a:lnSpc>
                <a:spcPct val="112000"/>
              </a:lnSpc>
              <a:buNone/>
            </a:pPr>
            <a:r>
              <a:rPr lang="en-US" sz="850" dirty="0">
                <a:solidFill>
                  <a:srgbClr val="1F2A25"/>
                </a:solidFill>
                <a:latin typeface="Meiryo" pitchFamily="34" charset="0"/>
                <a:ea typeface="Meiryo" pitchFamily="34" charset="-122"/>
                <a:cs typeface="Meiryo" pitchFamily="34" charset="-120"/>
              </a:rPr>
              <a:t>AI オペレーター（2026-02）は本人確認不要の照会のみ。要本人確認は有人へ転送 ― 分類に応じた切り分けの実例</a:t>
            </a:r>
            <a:endParaRPr lang="en-US" sz="850" dirty="0"/>
          </a:p>
        </p:txBody>
      </p:sp>
      <p:sp>
        <p:nvSpPr>
          <p:cNvPr id="20" name="Shape 16"/>
          <p:cNvSpPr/>
          <p:nvPr/>
        </p:nvSpPr>
        <p:spPr>
          <a:xfrm>
            <a:off x="548640" y="4526280"/>
            <a:ext cx="5852160" cy="1737360"/>
          </a:xfrm>
          <a:prstGeom prst="roundRect">
            <a:avLst>
              <a:gd name="adj" fmla="val 4211"/>
            </a:avLst>
          </a:prstGeom>
          <a:solidFill>
            <a:srgbClr val="FBF1DF"/>
          </a:solidFill>
          <a:ln w="9525">
            <a:solidFill>
              <a:srgbClr val="FBF1DF"/>
            </a:solidFill>
            <a:prstDash val="solid"/>
          </a:ln>
        </p:spPr>
      </p:sp>
      <p:sp>
        <p:nvSpPr>
          <p:cNvPr id="21" name="Text 17"/>
          <p:cNvSpPr txBox="1"/>
          <p:nvPr/>
        </p:nvSpPr>
        <p:spPr>
          <a:xfrm>
            <a:off x="731520" y="4617720"/>
            <a:ext cx="5486400" cy="320040"/>
          </a:xfrm>
          <a:prstGeom prst="rect">
            <a:avLst/>
          </a:prstGeom>
          <a:noFill/>
          <a:ln/>
        </p:spPr>
        <p:txBody>
          <a:bodyPr wrap="square" lIns="0" tIns="0" rIns="0" bIns="0" rtlCol="0" anchor="t"/>
          <a:lstStyle/>
          <a:p>
            <a:pPr indent="0" marL="0">
              <a:buNone/>
            </a:pPr>
            <a:r>
              <a:rPr lang="en-US" sz="1300" b="1" dirty="0">
                <a:solidFill>
                  <a:srgbClr val="C8891A"/>
                </a:solidFill>
                <a:latin typeface="Meiryo" pitchFamily="34" charset="0"/>
                <a:ea typeface="Meiryo" pitchFamily="34" charset="-122"/>
                <a:cs typeface="Meiryo" pitchFamily="34" charset="-120"/>
              </a:rPr>
              <a:t>日銀調査が挙げる課題（当行の論点と一致）</a:t>
            </a:r>
            <a:endParaRPr lang="en-US" sz="1300" dirty="0"/>
          </a:p>
        </p:txBody>
      </p:sp>
      <p:sp>
        <p:nvSpPr>
          <p:cNvPr id="22" name="Text 18"/>
          <p:cNvSpPr txBox="1"/>
          <p:nvPr/>
        </p:nvSpPr>
        <p:spPr>
          <a:xfrm>
            <a:off x="731520" y="4956048"/>
            <a:ext cx="5486400" cy="1280160"/>
          </a:xfrm>
          <a:prstGeom prst="rect">
            <a:avLst/>
          </a:prstGeom>
          <a:noFill/>
          <a:ln/>
        </p:spPr>
        <p:txBody>
          <a:bodyPr wrap="square" lIns="0" tIns="0" rIns="0" bIns="0" rtlCol="0" anchor="t"/>
          <a:lstStyle/>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広範活用先 67 先（生成 AI を利用している先 136 先の約 5 割）のうち、出力検証 61、サードパーティリスク対策 49、ガバナンス態勢整備 42 ― 態勢整備が利用に追いついていない</a:t>
            </a:r>
            <a:endParaRPr lang="en-US" sz="950" dirty="0"/>
          </a:p>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「機密性が高い情報まで入力可」が過半でも、それは分類と統制を明文化した先の話。当行の論点（p.33）と同じ</a:t>
            </a:r>
            <a:endParaRPr lang="en-US" sz="950" dirty="0"/>
          </a:p>
          <a:p>
            <a:pPr marL="152400" indent="-152400">
              <a:lnSpc>
                <a:spcPct val="112000"/>
              </a:lnSpc>
              <a:spcAft>
                <a:spcPts val="500"/>
              </a:spcAft>
              <a:buSzPct val="100000"/>
              <a:buChar char="•"/>
            </a:pPr>
            <a:r>
              <a:rPr lang="en-US" sz="950" dirty="0">
                <a:solidFill>
                  <a:srgbClr val="1F2A25"/>
                </a:solidFill>
                <a:latin typeface="Meiryo" pitchFamily="34" charset="0"/>
                <a:ea typeface="Meiryo" pitchFamily="34" charset="-122"/>
                <a:cs typeface="Meiryo" pitchFamily="34" charset="-120"/>
              </a:rPr>
              <a:t>利用中 79.3% は「使うか」の議論が終わった水準。AI導入組織の論点は「どう統制して使うか」</a:t>
            </a:r>
            <a:endParaRPr lang="en-US" sz="950" dirty="0"/>
          </a:p>
        </p:txBody>
      </p:sp>
      <p:sp>
        <p:nvSpPr>
          <p:cNvPr id="23"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24" name="Text 20"/>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参考文献（1/5）：法令・監督当局・業界・先例</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2026-08-26 時点で確認。FISC 第14版の改訂内容は一次ソース本文未取得（会員限定）のため二次情報で補完</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金融庁 AIディスカッションペーパー 第1.1版（2026-03-03）</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https://www.fsa.go.jp/news/r7/sonota/20260303/aidp.html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金融庁・日本銀行 フロンティアAI 短期的対応 要請（2026-05-22）</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https://www.fsa.go.jp/news/r7/sonota/20260522-5/20260522.html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主要行等向け総合的な監督指針（2026-02-27 改正）</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https://www.fsa.go.jp/common/law/guide/city/index.html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銀行法施行規則 13条の6の8（日本法令外国語訳DB）</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https://www.japaneselawtranslation.go.jp/ja/laws/view/2691</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金融分野におけるサイバーセキュリティに関するガイドライン（2024-10）</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https://www.fsa.go.jp/common/law/cybersecurity_guideline.pdf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FISC 安全対策基準・解説書 第14版 公表告知</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https://www.fisc.or.jp/topics/007222.php</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FISC 金融機関によるAIの業務への利活用に関する考察（2024-09）</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https://www.fisc.or.jp/document/public/file/ai_opinion_20240924.pdf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個人情報保護委員会 Q&amp;A 7-53 / 12-3 / 10-25</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https://www.ppc.go.jp/all_faq_index/faq1-q7-53/</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令和8年 個人情報保護法改正（2026-07-17 公布）</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https://www.ppc.go.jp/news/press/2026/260717/</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金融分野における個人情報保護に関するガイドライン（2024-03）</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https://www.ppc.go.jp/files/pdf/240312_kinyubunya_GL.pdf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金融庁 経済安全保障推進法 基幹インフラ制度 解説（金融分野）</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https://www.fsa.go.jp/news/r5/economicsecurity/infra_kaisetsu_financesector.pdf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アクセスFSA 271号 政策解説（AIシステム開発と情報授受規制）</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https://www.fsa.go.jp/access/r7/271/271_04.pdf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日本銀行 FSR 別冊 生成AIの利用状況とリスク管理（2026-08-06）</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https://www.boj.or.jp/research/brp/fsr/fsrb260806.htm</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個人情報保護委員会 漏えい等の対応とお役立ち資料（速報・確報の期限）</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https://www.ppc.go.jp/personalinfo/legal/leakAction/</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PPC FAQ 3-8 委託先で漏えいが起きた場合の報告主体</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https://www.ppc.go.jp/all_faq_index/faq3-qb3-8/</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PPC 報道発表 NTTビジネスソリューションズ／ProCX（2024-01-24）</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https://www.ppc.go.jp/files/pdf/240124_houdou.pdf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PPC 報道発表 LINEヤフー（2024-03-28）／イセトー（2025-03-19）</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https://www.ppc.go.jp/files/pdf/240328_houdou.pdf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OCC: Capital One への 8,000 万ドル制裁金（2020-08-06）</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https://www.occ.gov/news-issuances/news-releases/2020/nr-occ-2020-101.html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OWASP Top 10 for LLM Applications 2025</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https://genai.owasp.org/llm-top-10/</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参考文献（2/5）：Bedrock のデータ取扱いと構成</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2026-08-26 時点で確認。FISC 第14版の改訂内容は一次ソース本文未取得（会員限定）のため二次情報で補完</a:t>
            </a:r>
            <a:endParaRPr lang="en-US" sz="1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Amazon Bedrock Data protection（Model Deployment Account）</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https://docs.aws.amazon.com/bedrock/latest/userguide/data-protection.html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KC: How Bedrock uses model input and output data</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https://repost.aws/knowledge-center/amazon-bedrock-model-data-use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Amazon Bedrock Data retention（modes, SCP）</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https://docs.aws.amazon.com/bedrock/latest/userguide/data-retention.html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Amazon Bedrock Abuse detection</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https://docs.aws.amazon.com/bedrock/latest/userguide/abuse-detection.html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Cross-region inference ／ Japan CRIS launch（2025-10-31）</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https://aws.amazon.com/blogs/machine-learning/introducing-amazon-bedrock-cross-region-inference-for-claude-sonnet-4-5-and-haiku-4-5-in-japan-and-australia</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Model cards（Regional availability / inference profile IDs）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https://docs.aws.amazon.com/bedrock/latest/userguide/model-cards.html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VPC interface endpoints for Bedrock</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https://docs.aws.amazon.com/bedrock/latest/userguide/vpc-interface-endpoints.html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Bedrock IAM actions / condition keys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https://docs.aws.amazon.com/service-authorization/latest/reference/list_amazonbedrock.html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Guardrails tiers ／ cross-region support</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https://docs.aws.amazon.com/bedrock/latest/userguide/guardrails-cross-region-support.html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Model invocation logging</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https://docs.aws.amazon.com/bedrock/latest/userguide/model-invocation-logging.html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ISMAP in-scope services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https://aws.amazon.com/compliance/services-in-scope/ISMAP/</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FISC 対応リファレンス 第13版対応（2025-11-27）</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https://aws.amazon.com/jp/blogs/news/fiscreference-and-lens-fisc13-update/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金融リファレンスアーキテクチャ日本版 2025 生成AI編</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https://aws.amazon.com/jp/blogs/news/fin-reference-arch-v1-6-genai/</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経済安全保障推進法 討議資料（2025-06）</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https://d1.awsstatic.com/whitepapers/ja_JP/Economic_Security_Act_Discussion_Paper.pdf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Anthropic Commercial Terms ／ Claude in Amazon Bedrock</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https://www.anthropic.com/legal/commercial-terms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Anthropic Data retention practices for Covered Models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https://privacy.claude.com/en/articles/15425996-data-retention-practices-for-covered-models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参考文献（3/5）：契約・可用性・セキュリティ運用</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2026-08-26 時点で確認。FISC 第14版の改訂内容は一次ソース本文未取得（会員限定）のため二次情報で補完</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Amazon Bedrock SLA（sole and exclusive remedy）</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https://aws.amazon.com/bedrock/sla/</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Service tiers（Standard / Priority / Flex / Reserved）</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https://docs.aws.amazon.com/bedrock/latest/userguide/service-tiers-inference.html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Quotas ／ token burndown</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https://docs.aws.amazon.com/bedrock/latest/userguide/quotas-token-burndown.html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Model lifecycle（Legacy / EOL）</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https://docs.aws.amazon.com/bedrock/latest/userguide/model-lifecycle.html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Throttling and service availability（CRIS は DR ではない）</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https://aws.amazon.com/blogs/machine-learning/optimize-your-applications-for-scale-and-reliability-on-amazon-bedrock/</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Customer Agreement（§9 責任制限、§5.3 解約時）</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https://aws.amazon.com/agreement/</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Data Processing Addendum（§9 Security Incident 通知）</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https://d1.awsstatic.com/legal/aws-dpa/aws-dpa.pdf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Sub-processors（Anthropic は不掲載）</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https://aws.amazon.com/compliance/sub-processors/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Bedrock Third-Party Models（Anthropic on Bedrock 条項）</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https://aws.amazon.com/legal/bedrock/third-party-models/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と CLOUD Act</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https://aws.amazon.com/compliance/cloud-act/</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責任共有モデル</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https://aws.amazon.com/compliance/shared-responsibility-model/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Nitro System — No AWS operator access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https://docs.aws.amazon.com/whitepapers/latest/security-design-of-aws-nitro-system/no-aws-operator-access.html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Mantle の zero operator access 設計</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https://aws.amazon.com/blogs/machine-learning/exploring-the-zero-operator-access-design-of-mantle/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NCC Group: AWS Nitro System API &amp; Security Claims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https://www.nccgroup.com/research/public-report-aws-nitro-system-api-security-claims/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Securing CRIS（global は aws:RequestedRegion = unspecified）</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https://aws.amazon.com/blogs/machine-learning/securing-amazon-bedrock-cross-region-inference-geographic-and-global/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CloudTrail（management event、本文は含まれない）</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https://docs.aws.amazon.com/bedrock/latest/userguide/logging-using-cloudtrail.html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GuardDuty AI Protection finding types</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https://docs.aws.amazon.com/guardduty/latest/ug/findings-ai-protection.html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Config managed rules（Bedrock 関連は AgentCore 中心）</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https://docs.aws.amazon.com/config/latest/developerguide/managed-rules-by-aws-config.html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Security Hub: AI Security Best Practices standard</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https://docs.aws.amazon.com/securityhub/latest/userguide/standards-ai-security.html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AgentCore の VPC 設定</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https://docs.aws.amazon.com/bedrock-agentcore/latest/devguide/agentcore-vpc.html</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Japan 請求書・消費税 FAQ（Anthropic 媒介者交付特例）</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https://aws.amazon.com/jp/local/invoice-faq</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AWS Support pricing</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https://aws.amazon.com/premiumsupport/pricing/</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参考文献（4/5）：Microsoft Foundry ／ Azure OpenAI</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2026-08-26 時点で確認。FISC 第14版の改訂内容は一次ソース本文未取得（会員限定）のため二次情報で補完</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Foundry Models データ取扱い（Models sold by Azure）</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https://learn.microsoft.com/en-us/azure/foundry/responsible-ai/openai/data-privacy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Abuse monitoring ／ Limited Access（modified abuse monitoring）</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https://learn.microsoft.com/en-us/azure/foundry/responsible-ai/openai/limited-access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Deployment types（Global / DataZone / Standard の処理境界）</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https://learn.microsoft.com/en-us/azure/foundry/foundry-models/concepts/deployment-types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リージョン別モデル可用性（Japan East）</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https://learn.microsoft.com/en-us/azure/foundry/foundry-models/concepts/models-sold-directly-by-azure-region-availability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Private Link の構成</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https://learn.microsoft.com/en-us/azure/ai-foundry/how-to/configure-private-link</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Customer-managed keys（Key Vault / Managed HSM）</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https://learn.microsoft.com/en-us/azure/foundry/concepts/customer-managed-keys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Azure Policy によるモデルデプロイ統制</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https://learn.microsoft.com/en-us/azure/foundry/how-to/model-deployment-policy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Azure AI services の組込み Policy 一覧</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https://learn.microsoft.com/en-us/azure/ai-services/policy-reference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ローカル認証の無効化（disableLocalAuth）</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https://learn.microsoft.com/en-us/azure/ai-services/disable-local-auth</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診断ログのリファレンス（本文は含まれない）</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https://learn.microsoft.com/en-us/azure/foundry-classic/openai/monitor-openai-reference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Foundry Observability の tracing（content recording）</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https://learn.microsoft.com/en-us/azure/foundry/observability/how-to/trace-agent-client-side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Stored completions（2026-10-15 廃止）</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https://learn.microsoft.com/en-us/azure/foundry-classic/openai/how-to/stored-completions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Content Safety のデータ取扱い（リージョン内完結）</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https://learn.microsoft.com/en-us/legal/cognitive-services/content-safety/data-privacy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Content Safety の言語対応（日本語は重点 8 言語）</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https://learn.microsoft.com/en-us/azure/ai-services/content-safety/language-support</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AI Language の PII エンティティ（日本固有 ID）</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https://learn.microsoft.com/en-us/azure/ai-services/language-service/personally-identifiable-information/concepts/entity-categories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Provisioned throughput（容量は保証されない）</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https://learn.microsoft.com/en-us/azure/ai-foundry/openai/concepts/provisioned-throughput</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モデルの廃止ポリシー</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https://learn.microsoft.com/en-us/azure/ai-foundry/openai/concepts/model-retirements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Microsoft Products and Services DPA</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https://www.microsoft.com/licensing/docs/view/Microsoft-Products-and-Services-Data-Protection-Addendum-DPA</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Microsoft Customer Agreement（日本版サンプル）</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https://www.microsoft.com/licensing/docs/view/Microsoft-Customer-Agreement---Samples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Financial Services Amendment（監査権・当局検査権）</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https://learn.microsoft.com/en-us/compliance/regulatory/offering-eba-eu</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Microsoft の FISC 対応（第 9 版改訂）</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https://learn.microsoft.com/en-us/compliance/regulatory/offering-fisc-japan</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Claude on Foundry（Anthropic は independent data processor）</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https://learn.microsoft.com/en-us/azure/foundry/responsible-ai/claude-models/data-privacy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indent="0" marL="0">
              <a:buNone/>
            </a:pPr>
            <a:r>
              <a:rPr lang="en-US" sz="2600" b="1" dirty="0">
                <a:solidFill>
                  <a:srgbClr val="1B3A2F"/>
                </a:solidFill>
                <a:latin typeface="Meiryo" pitchFamily="34" charset="0"/>
                <a:ea typeface="Meiryo" pitchFamily="34" charset="-122"/>
                <a:cs typeface="Meiryo" pitchFamily="34" charset="-120"/>
              </a:rPr>
              <a:t>参考文献（5/5）：Google Cloud Vertex AI ／ Gemini</a:t>
            </a:r>
            <a:endParaRPr lang="en-US" sz="2600" dirty="0"/>
          </a:p>
        </p:txBody>
      </p:sp>
      <p:sp>
        <p:nvSpPr>
          <p:cNvPr id="3" name="Text 1"/>
          <p:cNvSpPr txBox="1"/>
          <p:nvPr/>
        </p:nvSpPr>
        <p:spPr>
          <a:xfrm>
            <a:off x="548640" y="932688"/>
            <a:ext cx="11064240" cy="365760"/>
          </a:xfrm>
          <a:prstGeom prst="rect">
            <a:avLst/>
          </a:prstGeom>
          <a:noFill/>
          <a:ln/>
        </p:spPr>
        <p:txBody>
          <a:bodyPr wrap="square" lIns="0" tIns="0" rIns="0" bIns="0" rtlCol="0" anchor="ctr"/>
          <a:lstStyle/>
          <a:p>
            <a:pPr indent="0" marL="0">
              <a:buNone/>
            </a:pPr>
            <a:r>
              <a:rPr lang="en-US" sz="1200" dirty="0">
                <a:solidFill>
                  <a:srgbClr val="5B6B63"/>
                </a:solidFill>
                <a:latin typeface="Meiryo" pitchFamily="34" charset="0"/>
                <a:ea typeface="Meiryo" pitchFamily="34" charset="-122"/>
                <a:cs typeface="Meiryo" pitchFamily="34" charset="-120"/>
              </a:rPr>
              <a:t>2026-08-26 時点で確認。FISC 第14版の改訂内容は一次ソース本文未取得（会員限定）のため二次情報で補完</a:t>
            </a:r>
            <a:endParaRPr lang="en-US" sz="1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6492240"/>
              </a:tblGrid>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Vertex AI Gemini の abuse monitoring（最大 90 日保存・opt-out 申請）</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https://docs.cloud.google.com/vertex-ai/generative-ai/docs/learn/abuse-monitoring</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Service Specific Terms（Data Location）</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https://cloud.google.com/terms/service-terms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Data residency 対象サービスと除外</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https://cloud.google.com/terms/data-residency</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組織ポリシー restrictEndpointUsage（locational endpoint の強制）</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https://docs.cloud.google.com/docs/security/compliance/restrict-endpoint-usage</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resourceLocations の適用範囲（SDK／REST には効かない）</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https://docs.cloud.google.com/organization-policy/reference/restrict-locations-supported-services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VPC Service Controls 対応プロダクト</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https://docs.cloud.google.com/vpc-service-controls/docs/supported-products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Private Service Connect で GenAI API に到達する</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https://docs.cloud.google.com/vertex-ai/docs/general/vertex-psc-gen-ai</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Access Transparency 対応サービス（但し書きを含む）</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https://docs.cloud.google.com/assured-workloads/access-transparency/docs/supported-services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Access Approval 対応サービス（Online prediction を含む）</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https://docs.cloud.google.com/assured-workloads/access-approval/docs/supported-services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Key Access Justifications 対応サービス</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https://docs.cloud.google.com/assured-workloads/key-access-justifications/docs/supported-services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Assured Workloads の control package（Japan Data Boundary）</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https://docs.cloud.google.com/assured-workloads/docs/control-packages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request-response logging（BigQuery への本文記録）</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https://docs.cloud.google.com/vertex-ai/generative-ai/docs/multimodal/request-response-logging</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Cloud Data Processing Addendum（Data Incident・監査・削除）</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https://cloud.google.com/terms/data-processing-addendum</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Google Cloud Platform 利用規約（責任制限・準拠法 14.12）</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https://cloud.google.com/terms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Subprocessor 一覧</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https://cloud.google.com/terms/subprocessors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Gemini Online Inference on Vertex AI の SLA</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https://cloud.google.com/vertex-ai/generative-ai/sla</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Vertex AI Platform の SLA（生成 AI 推論は対象外）</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https://cloud.google.com/vertex-ai/sla</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Provisioned Throughput の概要</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https://docs.cloud.google.com/vertex-ai/generative-ai/docs/provisioned-throughput/overview</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Confidential Computing のプロダクト一覧</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https://cloud.google.com/security/products/confidential-computing</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政府データ要求に関する Google のホワイトペーパー</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https://services.google.com/fh/files/misc/google_cloud_governmentrequestsfor_cloud_customer_data_v2_1018.pdf</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Vertex AI の ISMAP 登録（2024-07-31）</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https://cloud.google.com/blog/ja/products/identity-security/completed-ismap-registration-for-vertex-ai/</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4F7F5"/>
                    </a:solidFill>
                  </a:tcPr>
                </a:tc>
              </a:tr>
              <a:tr h="196596">
                <a:tc>
                  <a:txBody>
                    <a:bodyPr/>
                    <a:lstStyle/>
                    <a:p>
                      <a:pPr indent="0" marL="0">
                        <a:buNone/>
                      </a:pPr>
                      <a:r>
                        <a:rPr lang="en-US" sz="850" dirty="0">
                          <a:solidFill>
                            <a:srgbClr val="1F2A25"/>
                          </a:solidFill>
                          <a:latin typeface="Meiryo" pitchFamily="34" charset="0"/>
                          <a:ea typeface="Meiryo" pitchFamily="34" charset="-122"/>
                          <a:cs typeface="Meiryo" pitchFamily="34" charset="-120"/>
                        </a:rPr>
                        <a:t>FISC セキュリティリファレンス（Jagu'e'r 作成・第 11 版）</a:t>
                      </a:r>
                      <a:endParaRPr lang="en-US" sz="8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750" u="sng" dirty="0">
                          <a:solidFill>
                            <a:srgbClr val="3B6E8F"/>
                          </a:solidFill>
                          <a:latin typeface="Meiryo" pitchFamily="34" charset="0"/>
                          <a:ea typeface="Meiryo" pitchFamily="34" charset="-122"/>
                          <a:cs typeface="Meiry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https://cloud.google.com/blog/ja/topics/financial-services/security-reference-for-google-cloud-and-google-workspace-for-financial-institutions/</a:t>
                      </a:r>
                      <a:endParaRPr lang="en-US" sz="750" dirty="0">
                        <a:latin typeface="Meiryo" charset="0"/>
                        <a:ea typeface="Meiryo" charset="0"/>
                        <a:cs typeface="Meiryo" charset="0"/>
                      </a:endParaRPr>
                    </a:p>
                  </a:txBody>
                  <a:tcPr marL="36576" marR="36576" marT="36576" marB="36576"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63"/>
                </a:solidFill>
                <a:latin typeface="Meiryo" pitchFamily="34" charset="0"/>
                <a:ea typeface="Meiryo" pitchFamily="34" charset="-122"/>
                <a:cs typeface="Meiryo" pitchFamily="34" charset="-120"/>
              </a:rPr>
              <a:t>AI導入検討資料 ｜ 2026-08-26 ｜ DRAFT ｜ © 2026 k-wada@Legacy Tools</a:t>
            </a:r>
            <a:endParaRPr lang="en-US" sz="9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5B6B63"/>
                </a:solidFill>
                <a:latin typeface="Meiryo" pitchFamily="34" charset="0"/>
                <a:ea typeface="Meiryo" pitchFamily="34" charset="-122"/>
                <a:cs typeface="Meiryo" pitchFamily="34" charset="-120"/>
              </a:rPr>
              <a:t>59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2026-08-27T22:22:16Z</dcterms:created>
  <dcterms:modified xsi:type="dcterms:W3CDTF">2026-08-27T22:22:16Z</dcterms:modified>
</cp:coreProperties>
</file>