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https://code.claude.com/docs/en/sandboxing
Sources: https://learn.chatgpt.com/docs/permissions?translationFallback=ja-JP
Sources: https://learn.chatgpt.com/docs/agent-approvals-security?translationFallback=ja-JP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docs state sandboxing applies to Bash/PowerShell/Monitor commands and child processes, while permission rules apply to Read/Edit/WebFetch/MCP etc.
OpenAI permissions docs state Permission Profiles are beta and do not compose with older sandbox settings; domain rules require network_proxy.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taxonomy synthesized from official sandboxing scopes and financial-institution source-code handling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docs: Permission rules control which tools Claude Code can use and are evaluated before any tool runs; they apply to every tool (Bash, Read, Edit, WebFetch, MCP...). Sandboxing applies only to Bash, PowerShell, and Monitor commands and their child processes.
On Linux and WSL2 the sandbox uses bubblewrap; socat relays network traffic through the sandbox proxy, which runs outside the sandbox.
Default write: working dir, added dirs, $TMPDIR. Default read: entire computer except denied directories. Protected paths (.claude settings, .bashrc etc.) are write-denied.
strictAllowlist applies to sandboxed commands only; in-process tools such as WebFetch follow permission rules.
Windows-side access (/mnt/c, cmd.exe/powershell.exe via WSL interop) is not documented and must be verified on the device.
Source: https://code.claude.com/docs/en/sandboxing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Managed settings locations: Linux and WSL /etc/claude-code/managed-settings.json; Windows C:\Program Files\ClaudeCode\managed-settings.json; HKLM\SOFTWARE\Policies\ClaudeCode value "Settings" (REG_SZ JSON). managed-settings.d/*.json and managed-mcp.json live in the same system directory.
wslInheritsWindowsSettings: when set in the HKLM registry or a file under C:\Program Files\ClaudeCode, WSL reads the Windows policy chain, and reads /etc/claude-code only when no managed file there delivers a policy key.
Precedence within managed tier: remote (server-managed) &gt; MDM/HKLM &gt; managed settings files &gt; HKCU.
A developer who is an administrator on the machine can edit the managed source itself (docs: "Local admin rights").
forceRemoteSettingsRefresh blocks CLI startup until remote managed settings are freshly fetched.
Verify with /status (Setting sources) or claude doctor.
Source: https://code.claude.com/docs/en/managed-settings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sandbox.credentials entries: { "path": "~/.aws/credentials", "mode": "deny" }, { "name": "GITHUB_TOKEN", "mode": "deny" }. There is no built-in credential deny list.
allowManagedReadPathsOnly and allowManagedDomainsOnly are managed-only keys. strictAllowlist denies hosts outside the allowlist instead of prompting.
excludedCommands has no managed-only lockdown; a developer can always append entries.
Source: https://code.claude.com/docs/en/sandboxing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permissions.disableBypassPermissionsMode / permissions.disableAutoMode: set to "disable" (Configure permissions).
permissions.blockReadsOutsideWorkingDirectories: file tools refuse reads outside working directories; sandboxing docs: set it to deny sandboxed commands read access to home directories and mounted volumes.
allowManagedPermissionRulesOnly, allowManagedHooksOnly, allowManagedMcpServersOnly, disableSideloadFlags are managed-only. allowedMcpServers: [] blocks all servers.
Commands typed at the ! shell-mode prompt run outside the sandbox.
Sources: https://code.claude.com/docs/en/permissions , https://code.claude.com/docs/en/settings-reference , https://code.claude.com/docs/en/managed-settings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design derived from Claude Code docs: denyRead/allowRead rules, credential deny/mask, strict allowlist, and allowUnsandboxedCommands=false.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OpenAI engineering blog: codex.exe runs unelevated as the real user; codex-windows-sandbox-setup.exe performs elevated setup (creates CodexSandboxOffline / CodexSandboxOnline users, stores their credentials with DPAPI, applies ACLs and firewall rules); codex-command-runner.exe runs as the sandbox user, calls CreateRestrictedToken and CreateProcessAsUserW to launch the child.
sandbox-write SID is granted write/execute/delete on cwd and writable_roots; write explicitly denied on &lt;cwd&gt;/.git, .codex, .agents.
Read ACLs are granted to sandbox users on C:\Users\&lt;real-user&gt;, C:\Windows, Program Files, ProgramData; the sandbox allows Codex to read files almost anywhere.
CodexSandboxOffline is targeted by firewall rules; CodexSandboxOnline is not.
Permissions docs: network proxy only filters traffic from local commands inside the sandbox; without network_proxy, domain rules are not enforced. Web search, MCP, connectors, browser use their own controls.
How the proxy is wired on Windows and whether profile deny rules are applied on the Windows sandbox is not documented in detail; verify on device.
Sources: https://learn.chatgpt.com/docs/windows/windows-sandbox , https://learn.chatgpt.com/docs/permissions , https://openai.com/index/building-codex-windows-sandbox/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Codex managed configuration docs: requirements.toml enforces admin constraints users cannot override; managed_config.toml provides startup defaults users can change during the session.
Windows: requirements at %ProgramData%\OpenAI\Codex\requirements.toml; managed defaults at ~/.codex/managed_config.toml.
Requirements precedence: macOS MDM &gt; cloud-managed requirements &gt; system requirements.toml &gt; legacy managed_config.toml fields reinterpreted as requirements. Cloud-managed requirements: if unavailable and no valid cache, the client returns an error rather than starting.
Defaults precedence: MDM config &gt; managed_config.toml &gt; user config.toml &gt; CLI --config.
Source: https://learn.chatgpt.com/docs/enterprise/managed-configuration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Keys from OpenAI Codex managed configuration (requirements.toml): allowed_approval_policies, allowed_permission_profiles (omitted profiles are denied), default_permissions, [permissions.&lt;name&gt;] extends, [permissions.filesystem] deny_read, [experimental_network] enabled / managed_allowed_domains_only / domains, [features] pinning, [rules] prefix_rules.
Windows sandbox docs: [windows] allowed_sandbox_implementations = ["elevated"] prevents fallback to unelevated.
Whether features.network_proxy can be pinned via requirements, and how deny_read and the proxy are enforced by the Windows sandbox, need device verification.
Sources: https://learn.chatgpt.com/docs/enterprise/managed-configuration , https://learn.chatgpt.com/docs/windows/windows-sandbox , https://learn.chatgpt.com/docs/permissions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Managed configuration docs: allowed_web_search_modes = ["cached"] ("disabled" remains implicitly allowed); empty [mcp_servers] table disables all MCP servers; [features] browser_use / computer_use / plugins pinning; allow_remote_control; allowed_login_methods, allowed_chatgpt_workspaces, cli_auth_credentials_store = "keyring" (local-only; ignored in cloud-managed requirements).
Source: https://learn.chatgpt.com/docs/enterprise/managed-configuration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design based on OpenAI docs for filesystem permissions read/write/deny, domain rules, proxy behavior, and approval/security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Comparative synthesis from Claude Code and OpenAI Codex official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verified 2026-09-22 via official docs only.
Anthropic Claude Code docs: https://code.claude.com/docs/en/sandboxing
OpenAI Codex agent approvals/security docs: https://learn.chatgpt.com/docs/agent-approvals-security?translationFallback=ja-JP
OpenAI Codex permissions docs: https://learn.chatgpt.com/docs/permissions?translationFallback=ja-JP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A"/>
        </a:solidFill>
      </p:bgPr>
    </p:bg>
    <p:spTree>
      <p:nvGrpSpPr>
        <p:cNvPr id="1" name=""/>
        <p:cNvGrpSpPr/>
        <p:nvPr/>
      </p:nvGrpSpPr>
      <p:grpSpPr>
        <a:xfrm>
          <a:off x="0" y="0"/>
          <a:ext cx="0" cy="0"/>
          <a:chOff x="0" y="0"/>
          <a:chExt cx="0" cy="0"/>
        </a:xfrm>
      </p:grpSpPr>
      <p:sp>
        <p:nvSpPr>
          <p:cNvPr id="2" name="Text 0"/>
          <p:cNvSpPr txBox="1"/>
          <p:nvPr/>
        </p:nvSpPr>
        <p:spPr>
          <a:xfrm>
            <a:off x="822960" y="1097280"/>
            <a:ext cx="7315200" cy="365760"/>
          </a:xfrm>
          <a:prstGeom prst="rect">
            <a:avLst/>
          </a:prstGeom>
          <a:noFill/>
          <a:ln/>
        </p:spPr>
        <p:txBody>
          <a:bodyPr wrap="square" lIns="0" tIns="0" rIns="0" bIns="0" rtlCol="0" anchor="t"/>
          <a:lstStyle/>
          <a:p>
            <a:pPr indent="0" marL="0">
              <a:buNone/>
            </a:pPr>
            <a:r>
              <a:rPr lang="en-US" sz="1600" b="1" dirty="0">
                <a:solidFill>
                  <a:srgbClr val="E8A589"/>
                </a:solidFill>
                <a:latin typeface="BIZ UDPGothic" pitchFamily="34" charset="0"/>
                <a:ea typeface="BIZ UDPGothic" pitchFamily="34" charset="-122"/>
                <a:cs typeface="BIZ UDPGothic" pitchFamily="34" charset="-120"/>
              </a:rPr>
              <a:t>金融機関向け設定で見る</a:t>
            </a:r>
            <a:endParaRPr lang="en-US" sz="1600" dirty="0"/>
          </a:p>
        </p:txBody>
      </p:sp>
      <p:sp>
        <p:nvSpPr>
          <p:cNvPr id="3" name="Text 1"/>
          <p:cNvSpPr txBox="1"/>
          <p:nvPr/>
        </p:nvSpPr>
        <p:spPr>
          <a:xfrm>
            <a:off x="822960" y="1554480"/>
            <a:ext cx="10058400" cy="1737360"/>
          </a:xfrm>
          <a:prstGeom prst="rect">
            <a:avLst/>
          </a:prstGeom>
          <a:noFill/>
          <a:ln/>
        </p:spPr>
        <p:txBody>
          <a:bodyPr wrap="square" lIns="0" tIns="0" rIns="0" bIns="0" rtlCol="0" anchor="t"/>
          <a:lstStyle/>
          <a:p>
            <a:pPr indent="0" marL="0">
              <a:lnSpc>
                <a:spcPct val="105000"/>
              </a:lnSpc>
              <a:buNone/>
            </a:pPr>
            <a:r>
              <a:rPr lang="en-US" sz="4800" b="1" dirty="0">
                <a:solidFill>
                  <a:srgbClr val="FFFFFF"/>
                </a:solidFill>
                <a:latin typeface="BIZ UDPGothic" pitchFamily="34" charset="0"/>
                <a:ea typeface="BIZ UDPGothic" pitchFamily="34" charset="-122"/>
                <a:cs typeface="BIZ UDPGothic" pitchFamily="34" charset="-120"/>
              </a:rPr>
              <a:t>Claude Code / Codex</a:t>
            </a:r>
            <a:endParaRPr lang="en-US" sz="4800" dirty="0"/>
          </a:p>
          <a:p>
            <a:pPr indent="0" marL="0">
              <a:lnSpc>
                <a:spcPct val="105000"/>
              </a:lnSpc>
              <a:buNone/>
            </a:pPr>
            <a:r>
              <a:rPr lang="en-US" sz="4800" b="1" dirty="0">
                <a:solidFill>
                  <a:srgbClr val="FFFFFF"/>
                </a:solidFill>
                <a:latin typeface="BIZ UDPGothic" pitchFamily="34" charset="0"/>
                <a:ea typeface="BIZ UDPGothic" pitchFamily="34" charset="-122"/>
                <a:cs typeface="BIZ UDPGothic" pitchFamily="34" charset="-120"/>
              </a:rPr>
              <a:t>Sandbox機能調査</a:t>
            </a:r>
            <a:endParaRPr lang="en-US" sz="4800" dirty="0"/>
          </a:p>
        </p:txBody>
      </p:sp>
      <p:sp>
        <p:nvSpPr>
          <p:cNvPr id="4" name="Text 2"/>
          <p:cNvSpPr txBox="1"/>
          <p:nvPr/>
        </p:nvSpPr>
        <p:spPr>
          <a:xfrm>
            <a:off x="822960" y="3383280"/>
            <a:ext cx="10058400" cy="411480"/>
          </a:xfrm>
          <a:prstGeom prst="rect">
            <a:avLst/>
          </a:prstGeom>
          <a:noFill/>
          <a:ln/>
        </p:spPr>
        <p:txBody>
          <a:bodyPr wrap="square" lIns="0" tIns="0" rIns="0" bIns="0" rtlCol="0" anchor="t"/>
          <a:lstStyle/>
          <a:p>
            <a:pPr indent="0" marL="0">
              <a:buNone/>
            </a:pPr>
            <a:r>
              <a:rPr lang="en-US" sz="1800" dirty="0">
                <a:solidFill>
                  <a:srgbClr val="B8BFCC"/>
                </a:solidFill>
                <a:latin typeface="BIZ UDPGothic" pitchFamily="34" charset="0"/>
                <a:ea typeface="BIZ UDPGothic" pitchFamily="34" charset="-122"/>
                <a:cs typeface="BIZ UDPGothic" pitchFamily="34" charset="-120"/>
              </a:rPr>
              <a:t>Windows PCでの利用を念頭に、管理者が安全側に固定した場合の境界を整理</a:t>
            </a:r>
            <a:endParaRPr lang="en-US" sz="1800" dirty="0"/>
          </a:p>
        </p:txBody>
      </p:sp>
      <p:sp>
        <p:nvSpPr>
          <p:cNvPr id="5" name="Text 3"/>
          <p:cNvSpPr txBox="1"/>
          <p:nvPr/>
        </p:nvSpPr>
        <p:spPr>
          <a:xfrm>
            <a:off x="822960" y="4206240"/>
            <a:ext cx="4572000" cy="274320"/>
          </a:xfrm>
          <a:prstGeom prst="rect">
            <a:avLst/>
          </a:prstGeom>
          <a:noFill/>
          <a:ln/>
        </p:spPr>
        <p:txBody>
          <a:bodyPr wrap="square" lIns="0" tIns="0" rIns="0" bIns="0" rtlCol="0" anchor="t"/>
          <a:lstStyle/>
          <a:p>
            <a:pPr indent="0" marL="0">
              <a:buNone/>
            </a:pPr>
            <a:r>
              <a:rPr lang="en-US" sz="1200" b="1" dirty="0">
                <a:solidFill>
                  <a:srgbClr val="8A92A3"/>
                </a:solidFill>
                <a:latin typeface="BIZ UDPGothic" pitchFamily="34" charset="0"/>
                <a:ea typeface="BIZ UDPGothic" pitchFamily="34" charset="-122"/>
                <a:cs typeface="BIZ UDPGothic" pitchFamily="34" charset="-120"/>
              </a:rPr>
              <a:t>評価する5つの境界</a:t>
            </a:r>
            <a:endParaRPr lang="en-US" sz="1200" dirty="0"/>
          </a:p>
        </p:txBody>
      </p:sp>
      <p:sp>
        <p:nvSpPr>
          <p:cNvPr id="6" name="Shape 4"/>
          <p:cNvSpPr/>
          <p:nvPr/>
        </p:nvSpPr>
        <p:spPr>
          <a:xfrm>
            <a:off x="822960" y="4572000"/>
            <a:ext cx="1993392" cy="868680"/>
          </a:xfrm>
          <a:prstGeom prst="roundRect">
            <a:avLst>
              <a:gd name="adj" fmla="val 10526"/>
            </a:avLst>
          </a:prstGeom>
          <a:solidFill>
            <a:srgbClr val="2A3040"/>
          </a:solidFill>
          <a:ln/>
        </p:spPr>
      </p:sp>
      <p:pic>
        <p:nvPicPr>
          <p:cNvPr id="7" name="Image 0" descr="preencoded.png">    </p:cNvPr>
          <p:cNvPicPr>
            <a:picLocks noChangeAspect="1"/>
          </p:cNvPicPr>
          <p:nvPr/>
        </p:nvPicPr>
        <p:blipFill>
          <a:blip r:embed="rId1"/>
          <a:stretch>
            <a:fillRect/>
          </a:stretch>
        </p:blipFill>
        <p:spPr>
          <a:xfrm>
            <a:off x="1024128" y="4846320"/>
            <a:ext cx="329184" cy="329184"/>
          </a:xfrm>
          <a:prstGeom prst="rect">
            <a:avLst/>
          </a:prstGeom>
        </p:spPr>
      </p:pic>
      <p:sp>
        <p:nvSpPr>
          <p:cNvPr id="8" name="Text 5"/>
          <p:cNvSpPr txBox="1"/>
          <p:nvPr/>
        </p:nvSpPr>
        <p:spPr>
          <a:xfrm>
            <a:off x="1481328" y="4727448"/>
            <a:ext cx="1261872" cy="320040"/>
          </a:xfrm>
          <a:prstGeom prst="rect">
            <a:avLst/>
          </a:prstGeom>
          <a:noFill/>
          <a:ln/>
        </p:spPr>
        <p:txBody>
          <a:bodyPr wrap="square" lIns="0" tIns="0" rIns="0" bIns="0" rtlCol="0" anchor="ctr"/>
          <a:lstStyle/>
          <a:p>
            <a:pPr indent="0" marL="0">
              <a:buNone/>
            </a:pPr>
            <a:r>
              <a:rPr lang="en-US" sz="1500" b="1" dirty="0">
                <a:solidFill>
                  <a:srgbClr val="FFFFFF"/>
                </a:solidFill>
                <a:latin typeface="BIZ UDPGothic" pitchFamily="34" charset="0"/>
                <a:ea typeface="BIZ UDPGothic" pitchFamily="34" charset="-122"/>
                <a:cs typeface="BIZ UDPGothic" pitchFamily="34" charset="-120"/>
              </a:rPr>
              <a:t>File</a:t>
            </a:r>
            <a:endParaRPr lang="en-US" sz="1500" dirty="0"/>
          </a:p>
        </p:txBody>
      </p:sp>
      <p:sp>
        <p:nvSpPr>
          <p:cNvPr id="9" name="Text 6"/>
          <p:cNvSpPr txBox="1"/>
          <p:nvPr/>
        </p:nvSpPr>
        <p:spPr>
          <a:xfrm>
            <a:off x="1481328" y="5047488"/>
            <a:ext cx="1261872" cy="256032"/>
          </a:xfrm>
          <a:prstGeom prst="rect">
            <a:avLst/>
          </a:prstGeom>
          <a:noFill/>
          <a:ln/>
        </p:spPr>
        <p:txBody>
          <a:bodyPr wrap="square" lIns="0" tIns="0" rIns="0" bIns="0" rtlCol="0" anchor="ctr"/>
          <a:lstStyle/>
          <a:p>
            <a:pPr indent="0" marL="0">
              <a:buNone/>
            </a:pPr>
            <a:r>
              <a:rPr lang="en-US" sz="1100" dirty="0">
                <a:solidFill>
                  <a:srgbClr val="B8BFCC"/>
                </a:solidFill>
                <a:latin typeface="BIZ UDPGothic" pitchFamily="34" charset="0"/>
                <a:ea typeface="BIZ UDPGothic" pitchFamily="34" charset="-122"/>
                <a:cs typeface="BIZ UDPGothic" pitchFamily="34" charset="-120"/>
              </a:rPr>
              <a:t>ファイル</a:t>
            </a:r>
            <a:endParaRPr lang="en-US" sz="1100" dirty="0"/>
          </a:p>
        </p:txBody>
      </p:sp>
      <p:sp>
        <p:nvSpPr>
          <p:cNvPr id="10" name="Shape 7"/>
          <p:cNvSpPr/>
          <p:nvPr/>
        </p:nvSpPr>
        <p:spPr>
          <a:xfrm>
            <a:off x="2980944" y="4572000"/>
            <a:ext cx="1993392" cy="868680"/>
          </a:xfrm>
          <a:prstGeom prst="roundRect">
            <a:avLst>
              <a:gd name="adj" fmla="val 10526"/>
            </a:avLst>
          </a:prstGeom>
          <a:solidFill>
            <a:srgbClr val="2A3040"/>
          </a:solidFill>
          <a:ln/>
        </p:spPr>
      </p:sp>
      <p:pic>
        <p:nvPicPr>
          <p:cNvPr id="11" name="Image 1" descr="preencoded.png">    </p:cNvPr>
          <p:cNvPicPr>
            <a:picLocks noChangeAspect="1"/>
          </p:cNvPicPr>
          <p:nvPr/>
        </p:nvPicPr>
        <p:blipFill>
          <a:blip r:embed="rId2"/>
          <a:stretch>
            <a:fillRect/>
          </a:stretch>
        </p:blipFill>
        <p:spPr>
          <a:xfrm>
            <a:off x="3182112" y="4846320"/>
            <a:ext cx="329184" cy="329184"/>
          </a:xfrm>
          <a:prstGeom prst="rect">
            <a:avLst/>
          </a:prstGeom>
        </p:spPr>
      </p:pic>
      <p:sp>
        <p:nvSpPr>
          <p:cNvPr id="12" name="Text 8"/>
          <p:cNvSpPr txBox="1"/>
          <p:nvPr/>
        </p:nvSpPr>
        <p:spPr>
          <a:xfrm>
            <a:off x="3639312" y="4727448"/>
            <a:ext cx="1261872" cy="320040"/>
          </a:xfrm>
          <a:prstGeom prst="rect">
            <a:avLst/>
          </a:prstGeom>
          <a:noFill/>
          <a:ln/>
        </p:spPr>
        <p:txBody>
          <a:bodyPr wrap="square" lIns="0" tIns="0" rIns="0" bIns="0" rtlCol="0" anchor="ctr"/>
          <a:lstStyle/>
          <a:p>
            <a:pPr indent="0" marL="0">
              <a:buNone/>
            </a:pPr>
            <a:r>
              <a:rPr lang="en-US" sz="1500" b="1" dirty="0">
                <a:solidFill>
                  <a:srgbClr val="FFFFFF"/>
                </a:solidFill>
                <a:latin typeface="BIZ UDPGothic" pitchFamily="34" charset="0"/>
                <a:ea typeface="BIZ UDPGothic" pitchFamily="34" charset="-122"/>
                <a:cs typeface="BIZ UDPGothic" pitchFamily="34" charset="-120"/>
              </a:rPr>
              <a:t>Credential</a:t>
            </a:r>
            <a:endParaRPr lang="en-US" sz="1500" dirty="0"/>
          </a:p>
        </p:txBody>
      </p:sp>
      <p:sp>
        <p:nvSpPr>
          <p:cNvPr id="13" name="Text 9"/>
          <p:cNvSpPr txBox="1"/>
          <p:nvPr/>
        </p:nvSpPr>
        <p:spPr>
          <a:xfrm>
            <a:off x="3639312" y="5047488"/>
            <a:ext cx="1261872" cy="256032"/>
          </a:xfrm>
          <a:prstGeom prst="rect">
            <a:avLst/>
          </a:prstGeom>
          <a:noFill/>
          <a:ln/>
        </p:spPr>
        <p:txBody>
          <a:bodyPr wrap="square" lIns="0" tIns="0" rIns="0" bIns="0" rtlCol="0" anchor="ctr"/>
          <a:lstStyle/>
          <a:p>
            <a:pPr indent="0" marL="0">
              <a:buNone/>
            </a:pPr>
            <a:r>
              <a:rPr lang="en-US" sz="1100" dirty="0">
                <a:solidFill>
                  <a:srgbClr val="B8BFCC"/>
                </a:solidFill>
                <a:latin typeface="BIZ UDPGothic" pitchFamily="34" charset="0"/>
                <a:ea typeface="BIZ UDPGothic" pitchFamily="34" charset="-122"/>
                <a:cs typeface="BIZ UDPGothic" pitchFamily="34" charset="-120"/>
              </a:rPr>
              <a:t>秘密情報</a:t>
            </a:r>
            <a:endParaRPr lang="en-US" sz="1100" dirty="0"/>
          </a:p>
        </p:txBody>
      </p:sp>
      <p:sp>
        <p:nvSpPr>
          <p:cNvPr id="14" name="Shape 10"/>
          <p:cNvSpPr/>
          <p:nvPr/>
        </p:nvSpPr>
        <p:spPr>
          <a:xfrm>
            <a:off x="5138928" y="4572000"/>
            <a:ext cx="1993392" cy="868680"/>
          </a:xfrm>
          <a:prstGeom prst="roundRect">
            <a:avLst>
              <a:gd name="adj" fmla="val 10526"/>
            </a:avLst>
          </a:prstGeom>
          <a:solidFill>
            <a:srgbClr val="2A3040"/>
          </a:solidFill>
          <a:ln/>
        </p:spPr>
      </p:sp>
      <p:pic>
        <p:nvPicPr>
          <p:cNvPr id="15" name="Image 2" descr="preencoded.png">    </p:cNvPr>
          <p:cNvPicPr>
            <a:picLocks noChangeAspect="1"/>
          </p:cNvPicPr>
          <p:nvPr/>
        </p:nvPicPr>
        <p:blipFill>
          <a:blip r:embed="rId3"/>
          <a:stretch>
            <a:fillRect/>
          </a:stretch>
        </p:blipFill>
        <p:spPr>
          <a:xfrm>
            <a:off x="5340096" y="4846320"/>
            <a:ext cx="329184" cy="329184"/>
          </a:xfrm>
          <a:prstGeom prst="rect">
            <a:avLst/>
          </a:prstGeom>
        </p:spPr>
      </p:pic>
      <p:sp>
        <p:nvSpPr>
          <p:cNvPr id="16" name="Text 11"/>
          <p:cNvSpPr txBox="1"/>
          <p:nvPr/>
        </p:nvSpPr>
        <p:spPr>
          <a:xfrm>
            <a:off x="5797296" y="4727448"/>
            <a:ext cx="1261872" cy="320040"/>
          </a:xfrm>
          <a:prstGeom prst="rect">
            <a:avLst/>
          </a:prstGeom>
          <a:noFill/>
          <a:ln/>
        </p:spPr>
        <p:txBody>
          <a:bodyPr wrap="square" lIns="0" tIns="0" rIns="0" bIns="0" rtlCol="0" anchor="ctr"/>
          <a:lstStyle/>
          <a:p>
            <a:pPr indent="0" marL="0">
              <a:buNone/>
            </a:pPr>
            <a:r>
              <a:rPr lang="en-US" sz="1500" b="1" dirty="0">
                <a:solidFill>
                  <a:srgbClr val="FFFFFF"/>
                </a:solidFill>
                <a:latin typeface="BIZ UDPGothic" pitchFamily="34" charset="0"/>
                <a:ea typeface="BIZ UDPGothic" pitchFamily="34" charset="-122"/>
                <a:cs typeface="BIZ UDPGothic" pitchFamily="34" charset="-120"/>
              </a:rPr>
              <a:t>Network</a:t>
            </a:r>
            <a:endParaRPr lang="en-US" sz="1500" dirty="0"/>
          </a:p>
        </p:txBody>
      </p:sp>
      <p:sp>
        <p:nvSpPr>
          <p:cNvPr id="17" name="Text 12"/>
          <p:cNvSpPr txBox="1"/>
          <p:nvPr/>
        </p:nvSpPr>
        <p:spPr>
          <a:xfrm>
            <a:off x="5797296" y="5047488"/>
            <a:ext cx="1261872" cy="256032"/>
          </a:xfrm>
          <a:prstGeom prst="rect">
            <a:avLst/>
          </a:prstGeom>
          <a:noFill/>
          <a:ln/>
        </p:spPr>
        <p:txBody>
          <a:bodyPr wrap="square" lIns="0" tIns="0" rIns="0" bIns="0" rtlCol="0" anchor="ctr"/>
          <a:lstStyle/>
          <a:p>
            <a:pPr indent="0" marL="0">
              <a:buNone/>
            </a:pPr>
            <a:r>
              <a:rPr lang="en-US" sz="1100" dirty="0">
                <a:solidFill>
                  <a:srgbClr val="B8BFCC"/>
                </a:solidFill>
                <a:latin typeface="BIZ UDPGothic" pitchFamily="34" charset="0"/>
                <a:ea typeface="BIZ UDPGothic" pitchFamily="34" charset="-122"/>
                <a:cs typeface="BIZ UDPGothic" pitchFamily="34" charset="-120"/>
              </a:rPr>
              <a:t>外部通信</a:t>
            </a:r>
            <a:endParaRPr lang="en-US" sz="1100" dirty="0"/>
          </a:p>
        </p:txBody>
      </p:sp>
      <p:sp>
        <p:nvSpPr>
          <p:cNvPr id="18" name="Shape 13"/>
          <p:cNvSpPr/>
          <p:nvPr/>
        </p:nvSpPr>
        <p:spPr>
          <a:xfrm>
            <a:off x="7296912" y="4572000"/>
            <a:ext cx="1993392" cy="868680"/>
          </a:xfrm>
          <a:prstGeom prst="roundRect">
            <a:avLst>
              <a:gd name="adj" fmla="val 10526"/>
            </a:avLst>
          </a:prstGeom>
          <a:solidFill>
            <a:srgbClr val="2A3040"/>
          </a:solidFill>
          <a:ln/>
        </p:spPr>
      </p:sp>
      <p:pic>
        <p:nvPicPr>
          <p:cNvPr id="19" name="Image 3" descr="preencoded.png">    </p:cNvPr>
          <p:cNvPicPr>
            <a:picLocks noChangeAspect="1"/>
          </p:cNvPicPr>
          <p:nvPr/>
        </p:nvPicPr>
        <p:blipFill>
          <a:blip r:embed="rId4"/>
          <a:stretch>
            <a:fillRect/>
          </a:stretch>
        </p:blipFill>
        <p:spPr>
          <a:xfrm>
            <a:off x="7498080" y="4846320"/>
            <a:ext cx="329184" cy="329184"/>
          </a:xfrm>
          <a:prstGeom prst="rect">
            <a:avLst/>
          </a:prstGeom>
        </p:spPr>
      </p:pic>
      <p:sp>
        <p:nvSpPr>
          <p:cNvPr id="20" name="Text 14"/>
          <p:cNvSpPr txBox="1"/>
          <p:nvPr/>
        </p:nvSpPr>
        <p:spPr>
          <a:xfrm>
            <a:off x="7955280" y="4727448"/>
            <a:ext cx="1261872" cy="320040"/>
          </a:xfrm>
          <a:prstGeom prst="rect">
            <a:avLst/>
          </a:prstGeom>
          <a:noFill/>
          <a:ln/>
        </p:spPr>
        <p:txBody>
          <a:bodyPr wrap="square" lIns="0" tIns="0" rIns="0" bIns="0" rtlCol="0" anchor="ctr"/>
          <a:lstStyle/>
          <a:p>
            <a:pPr indent="0" marL="0">
              <a:buNone/>
            </a:pPr>
            <a:r>
              <a:rPr lang="en-US" sz="1500" b="1" dirty="0">
                <a:solidFill>
                  <a:srgbClr val="FFFFFF"/>
                </a:solidFill>
                <a:latin typeface="BIZ UDPGothic" pitchFamily="34" charset="0"/>
                <a:ea typeface="BIZ UDPGothic" pitchFamily="34" charset="-122"/>
                <a:cs typeface="BIZ UDPGothic" pitchFamily="34" charset="-120"/>
              </a:rPr>
              <a:t>Approval</a:t>
            </a:r>
            <a:endParaRPr lang="en-US" sz="1500" dirty="0"/>
          </a:p>
        </p:txBody>
      </p:sp>
      <p:sp>
        <p:nvSpPr>
          <p:cNvPr id="21" name="Text 15"/>
          <p:cNvSpPr txBox="1"/>
          <p:nvPr/>
        </p:nvSpPr>
        <p:spPr>
          <a:xfrm>
            <a:off x="7955280" y="5047488"/>
            <a:ext cx="1261872" cy="256032"/>
          </a:xfrm>
          <a:prstGeom prst="rect">
            <a:avLst/>
          </a:prstGeom>
          <a:noFill/>
          <a:ln/>
        </p:spPr>
        <p:txBody>
          <a:bodyPr wrap="square" lIns="0" tIns="0" rIns="0" bIns="0" rtlCol="0" anchor="ctr"/>
          <a:lstStyle/>
          <a:p>
            <a:pPr indent="0" marL="0">
              <a:buNone/>
            </a:pPr>
            <a:r>
              <a:rPr lang="en-US" sz="1100" dirty="0">
                <a:solidFill>
                  <a:srgbClr val="B8BFCC"/>
                </a:solidFill>
                <a:latin typeface="BIZ UDPGothic" pitchFamily="34" charset="0"/>
                <a:ea typeface="BIZ UDPGothic" pitchFamily="34" charset="-122"/>
                <a:cs typeface="BIZ UDPGothic" pitchFamily="34" charset="-120"/>
              </a:rPr>
              <a:t>承認</a:t>
            </a:r>
            <a:endParaRPr lang="en-US" sz="1100" dirty="0"/>
          </a:p>
        </p:txBody>
      </p:sp>
      <p:sp>
        <p:nvSpPr>
          <p:cNvPr id="22" name="Shape 16"/>
          <p:cNvSpPr/>
          <p:nvPr/>
        </p:nvSpPr>
        <p:spPr>
          <a:xfrm>
            <a:off x="9454896" y="4572000"/>
            <a:ext cx="1993392" cy="868680"/>
          </a:xfrm>
          <a:prstGeom prst="roundRect">
            <a:avLst>
              <a:gd name="adj" fmla="val 10526"/>
            </a:avLst>
          </a:prstGeom>
          <a:solidFill>
            <a:srgbClr val="2A3040"/>
          </a:solidFill>
          <a:ln/>
        </p:spPr>
      </p:sp>
      <p:pic>
        <p:nvPicPr>
          <p:cNvPr id="23" name="Image 4" descr="preencoded.png">    </p:cNvPr>
          <p:cNvPicPr>
            <a:picLocks noChangeAspect="1"/>
          </p:cNvPicPr>
          <p:nvPr/>
        </p:nvPicPr>
        <p:blipFill>
          <a:blip r:embed="rId5"/>
          <a:stretch>
            <a:fillRect/>
          </a:stretch>
        </p:blipFill>
        <p:spPr>
          <a:xfrm>
            <a:off x="9656064" y="4846320"/>
            <a:ext cx="329184" cy="329184"/>
          </a:xfrm>
          <a:prstGeom prst="rect">
            <a:avLst/>
          </a:prstGeom>
        </p:spPr>
      </p:pic>
      <p:sp>
        <p:nvSpPr>
          <p:cNvPr id="24" name="Text 17"/>
          <p:cNvSpPr txBox="1"/>
          <p:nvPr/>
        </p:nvSpPr>
        <p:spPr>
          <a:xfrm>
            <a:off x="10113264" y="4727448"/>
            <a:ext cx="1261872" cy="320040"/>
          </a:xfrm>
          <a:prstGeom prst="rect">
            <a:avLst/>
          </a:prstGeom>
          <a:noFill/>
          <a:ln/>
        </p:spPr>
        <p:txBody>
          <a:bodyPr wrap="square" lIns="0" tIns="0" rIns="0" bIns="0" rtlCol="0" anchor="ctr"/>
          <a:lstStyle/>
          <a:p>
            <a:pPr indent="0" marL="0">
              <a:buNone/>
            </a:pPr>
            <a:r>
              <a:rPr lang="en-US" sz="1500" b="1" dirty="0">
                <a:solidFill>
                  <a:srgbClr val="FFFFFF"/>
                </a:solidFill>
                <a:latin typeface="BIZ UDPGothic" pitchFamily="34" charset="0"/>
                <a:ea typeface="BIZ UDPGothic" pitchFamily="34" charset="-122"/>
                <a:cs typeface="BIZ UDPGothic" pitchFamily="34" charset="-120"/>
              </a:rPr>
              <a:t>Tool</a:t>
            </a:r>
            <a:endParaRPr lang="en-US" sz="1500" dirty="0"/>
          </a:p>
        </p:txBody>
      </p:sp>
      <p:sp>
        <p:nvSpPr>
          <p:cNvPr id="25" name="Text 18"/>
          <p:cNvSpPr txBox="1"/>
          <p:nvPr/>
        </p:nvSpPr>
        <p:spPr>
          <a:xfrm>
            <a:off x="10113264" y="5047488"/>
            <a:ext cx="1261872" cy="256032"/>
          </a:xfrm>
          <a:prstGeom prst="rect">
            <a:avLst/>
          </a:prstGeom>
          <a:noFill/>
          <a:ln/>
        </p:spPr>
        <p:txBody>
          <a:bodyPr wrap="square" lIns="0" tIns="0" rIns="0" bIns="0" rtlCol="0" anchor="ctr"/>
          <a:lstStyle/>
          <a:p>
            <a:pPr indent="0" marL="0">
              <a:buNone/>
            </a:pPr>
            <a:r>
              <a:rPr lang="en-US" sz="1100" dirty="0">
                <a:solidFill>
                  <a:srgbClr val="B8BFCC"/>
                </a:solidFill>
                <a:latin typeface="BIZ UDPGothic" pitchFamily="34" charset="0"/>
                <a:ea typeface="BIZ UDPGothic" pitchFamily="34" charset="-122"/>
                <a:cs typeface="BIZ UDPGothic" pitchFamily="34" charset="-120"/>
              </a:rPr>
              <a:t>MCP/外部ツール</a:t>
            </a:r>
            <a:endParaRPr lang="en-US" sz="1100" dirty="0"/>
          </a:p>
        </p:txBody>
      </p:sp>
      <p:sp>
        <p:nvSpPr>
          <p:cNvPr id="26" name="Text 19"/>
          <p:cNvSpPr txBox="1"/>
          <p:nvPr/>
        </p:nvSpPr>
        <p:spPr>
          <a:xfrm>
            <a:off x="822960" y="6035040"/>
            <a:ext cx="10515600" cy="274320"/>
          </a:xfrm>
          <a:prstGeom prst="rect">
            <a:avLst/>
          </a:prstGeom>
          <a:noFill/>
          <a:ln/>
        </p:spPr>
        <p:txBody>
          <a:bodyPr wrap="square" lIns="0" tIns="0" rIns="0" bIns="0" rtlCol="0" anchor="t"/>
          <a:lstStyle/>
          <a:p>
            <a:pPr indent="0" marL="0">
              <a:buNone/>
            </a:pPr>
            <a:r>
              <a:rPr lang="en-US" sz="1050" dirty="0">
                <a:solidFill>
                  <a:srgbClr val="8A92A3"/>
                </a:solidFill>
                <a:latin typeface="BIZ UDPGothic" pitchFamily="34" charset="0"/>
                <a:ea typeface="BIZ UDPGothic" pitchFamily="34" charset="-122"/>
                <a:cs typeface="BIZ UDPGothic" pitchFamily="34" charset="-120"/>
              </a:rPr>
              <a:t>調査日：2026-09-22　|　全16ページ　|　Source baseline: Anthropic Claude Code Docs / OpenAI Codex Docs　|　Windows PC前提</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F4F6F9"/>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共通</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今回反映した最新論点</a:t>
            </a:r>
            <a:endParaRPr lang="en-US" sz="2800" dirty="0"/>
          </a:p>
        </p:txBody>
      </p:sp>
      <p:sp>
        <p:nvSpPr>
          <p:cNvPr id="6" name="Text 4"/>
          <p:cNvSpPr txBox="1"/>
          <p:nvPr/>
        </p:nvSpPr>
        <p:spPr>
          <a:xfrm>
            <a:off x="548640" y="1207008"/>
            <a:ext cx="11094415" cy="329184"/>
          </a:xfrm>
          <a:prstGeom prst="rect">
            <a:avLst/>
          </a:prstGeom>
          <a:noFill/>
          <a:ln/>
        </p:spPr>
        <p:txBody>
          <a:bodyPr wrap="square" lIns="0" tIns="0" rIns="0" bIns="0" rtlCol="0" anchor="ctr"/>
          <a:lstStyle/>
          <a:p>
            <a:pPr indent="0" marL="0">
              <a:buNone/>
            </a:pPr>
            <a:r>
              <a:rPr lang="en-US" sz="1400" dirty="0">
                <a:solidFill>
                  <a:srgbClr val="5A6272"/>
                </a:solidFill>
                <a:latin typeface="BIZ UDPGothic" pitchFamily="34" charset="0"/>
                <a:ea typeface="BIZ UDPGothic" pitchFamily="34" charset="-122"/>
                <a:cs typeface="BIZ UDPGothic" pitchFamily="34" charset="-120"/>
              </a:rPr>
              <a:t>「Sandbox＝安全」とは置かず、公式仕様で境界と例外を確認</a:t>
            </a:r>
            <a:endParaRPr lang="en-US" sz="1400" dirty="0"/>
          </a:p>
        </p:txBody>
      </p:sp>
      <p:sp>
        <p:nvSpPr>
          <p:cNvPr id="7" name="Shape 5"/>
          <p:cNvSpPr/>
          <p:nvPr/>
        </p:nvSpPr>
        <p:spPr>
          <a:xfrm>
            <a:off x="548640" y="1828800"/>
            <a:ext cx="3545738" cy="3749040"/>
          </a:xfrm>
          <a:prstGeom prst="roundRect">
            <a:avLst>
              <a:gd name="adj" fmla="val 2063"/>
            </a:avLst>
          </a:prstGeom>
          <a:solidFill>
            <a:srgbClr val="FFFFFF"/>
          </a:solidFill>
          <a:ln w="12700">
            <a:solidFill>
              <a:srgbClr val="DDE1E8"/>
            </a:solidFill>
            <a:prstDash val="solid"/>
          </a:ln>
        </p:spPr>
      </p:sp>
      <p:sp>
        <p:nvSpPr>
          <p:cNvPr id="8" name="Shape 6"/>
          <p:cNvSpPr/>
          <p:nvPr/>
        </p:nvSpPr>
        <p:spPr>
          <a:xfrm>
            <a:off x="548640" y="1828800"/>
            <a:ext cx="3545738" cy="1051560"/>
          </a:xfrm>
          <a:prstGeom prst="roundRect">
            <a:avLst>
              <a:gd name="adj" fmla="val 6957"/>
            </a:avLst>
          </a:prstGeom>
          <a:solidFill>
            <a:srgbClr val="FBEFEA"/>
          </a:solidFill>
          <a:ln/>
        </p:spPr>
      </p:sp>
      <p:sp>
        <p:nvSpPr>
          <p:cNvPr id="9" name="Text 7"/>
          <p:cNvSpPr txBox="1"/>
          <p:nvPr/>
        </p:nvSpPr>
        <p:spPr>
          <a:xfrm>
            <a:off x="822960" y="1993392"/>
            <a:ext cx="2997098" cy="384048"/>
          </a:xfrm>
          <a:prstGeom prst="rect">
            <a:avLst/>
          </a:prstGeom>
          <a:noFill/>
          <a:ln/>
        </p:spPr>
        <p:txBody>
          <a:bodyPr wrap="square" lIns="0" tIns="0" rIns="0" bIns="0" rtlCol="0" anchor="ctr"/>
          <a:lstStyle/>
          <a:p>
            <a:pPr indent="0" marL="0">
              <a:buNone/>
            </a:pPr>
            <a:r>
              <a:rPr lang="en-US" sz="2000" b="1" dirty="0">
                <a:solidFill>
                  <a:srgbClr val="C15F3C"/>
                </a:solidFill>
                <a:latin typeface="BIZ UDPGothic" pitchFamily="34" charset="0"/>
                <a:ea typeface="BIZ UDPGothic" pitchFamily="34" charset="-122"/>
                <a:cs typeface="BIZ UDPGothic" pitchFamily="34" charset="-120"/>
              </a:rPr>
              <a:t>Claude Code</a:t>
            </a:r>
            <a:endParaRPr lang="en-US" sz="2000" dirty="0"/>
          </a:p>
        </p:txBody>
      </p:sp>
      <p:sp>
        <p:nvSpPr>
          <p:cNvPr id="10" name="Text 8"/>
          <p:cNvSpPr txBox="1"/>
          <p:nvPr/>
        </p:nvSpPr>
        <p:spPr>
          <a:xfrm>
            <a:off x="822960" y="2395728"/>
            <a:ext cx="2997098" cy="320040"/>
          </a:xfrm>
          <a:prstGeom prst="rect">
            <a:avLst/>
          </a:prstGeom>
          <a:noFill/>
          <a:ln/>
        </p:spPr>
        <p:txBody>
          <a:bodyPr wrap="square" lIns="0" tIns="0" rIns="0" bIns="0" rtlCol="0" anchor="ctr"/>
          <a:lstStyle/>
          <a:p>
            <a:pPr indent="0" marL="0">
              <a:buNone/>
            </a:pPr>
            <a:r>
              <a:rPr lang="en-US" sz="1250" b="1" dirty="0">
                <a:solidFill>
                  <a:srgbClr val="1E2330"/>
                </a:solidFill>
                <a:latin typeface="BIZ UDPGothic" pitchFamily="34" charset="0"/>
                <a:ea typeface="BIZ UDPGothic" pitchFamily="34" charset="-122"/>
                <a:cs typeface="BIZ UDPGothic" pitchFamily="34" charset="-120"/>
              </a:rPr>
              <a:t>OS-level sandbox + managed settings</a:t>
            </a:r>
            <a:endParaRPr lang="en-US" sz="1250" dirty="0"/>
          </a:p>
        </p:txBody>
      </p:sp>
      <p:sp>
        <p:nvSpPr>
          <p:cNvPr id="11" name="Shape 9"/>
          <p:cNvSpPr/>
          <p:nvPr/>
        </p:nvSpPr>
        <p:spPr>
          <a:xfrm>
            <a:off x="841248" y="3200400"/>
            <a:ext cx="73152" cy="73152"/>
          </a:xfrm>
          <a:prstGeom prst="ellipse">
            <a:avLst/>
          </a:prstGeom>
          <a:solidFill>
            <a:srgbClr val="C15F3C"/>
          </a:solidFill>
          <a:ln/>
        </p:spPr>
      </p:sp>
      <p:sp>
        <p:nvSpPr>
          <p:cNvPr id="12" name="Text 10"/>
          <p:cNvSpPr txBox="1"/>
          <p:nvPr/>
        </p:nvSpPr>
        <p:spPr>
          <a:xfrm>
            <a:off x="1024128" y="3108960"/>
            <a:ext cx="2814218" cy="603504"/>
          </a:xfrm>
          <a:prstGeom prst="rect">
            <a:avLst/>
          </a:prstGeom>
          <a:noFill/>
          <a:ln/>
        </p:spPr>
        <p:txBody>
          <a:bodyPr wrap="square" lIns="0" tIns="0" rIns="0" bIns="0" rtlCol="0" anchor="t"/>
          <a:lstStyle/>
          <a:p>
            <a:pPr indent="0" marL="0">
              <a:lnSpc>
                <a:spcPct val="105000"/>
              </a:lnSpc>
              <a:buNone/>
            </a:pPr>
            <a:r>
              <a:rPr lang="en-US" sz="1250" dirty="0">
                <a:solidFill>
                  <a:srgbClr val="1E2330"/>
                </a:solidFill>
                <a:latin typeface="BIZ UDPGothic" pitchFamily="34" charset="0"/>
                <a:ea typeface="BIZ UDPGothic" pitchFamily="34" charset="-122"/>
                <a:cs typeface="BIZ UDPGothic" pitchFamily="34" charset="-120"/>
              </a:rPr>
              <a:t>Bash / PowerShell / Monitor と子プロセスをOSレベルで隔離</a:t>
            </a:r>
            <a:endParaRPr lang="en-US" sz="1250" dirty="0"/>
          </a:p>
        </p:txBody>
      </p:sp>
      <p:sp>
        <p:nvSpPr>
          <p:cNvPr id="13" name="Shape 11"/>
          <p:cNvSpPr/>
          <p:nvPr/>
        </p:nvSpPr>
        <p:spPr>
          <a:xfrm>
            <a:off x="841248" y="3858768"/>
            <a:ext cx="73152" cy="73152"/>
          </a:xfrm>
          <a:prstGeom prst="ellipse">
            <a:avLst/>
          </a:prstGeom>
          <a:solidFill>
            <a:srgbClr val="C15F3C"/>
          </a:solidFill>
          <a:ln/>
        </p:spPr>
      </p:sp>
      <p:sp>
        <p:nvSpPr>
          <p:cNvPr id="14" name="Text 12"/>
          <p:cNvSpPr txBox="1"/>
          <p:nvPr/>
        </p:nvSpPr>
        <p:spPr>
          <a:xfrm>
            <a:off x="1024128" y="3767328"/>
            <a:ext cx="2814218" cy="603504"/>
          </a:xfrm>
          <a:prstGeom prst="rect">
            <a:avLst/>
          </a:prstGeom>
          <a:noFill/>
          <a:ln/>
        </p:spPr>
        <p:txBody>
          <a:bodyPr wrap="square" lIns="0" tIns="0" rIns="0" bIns="0" rtlCol="0" anchor="t"/>
          <a:lstStyle/>
          <a:p>
            <a:pPr indent="0" marL="0">
              <a:lnSpc>
                <a:spcPct val="105000"/>
              </a:lnSpc>
              <a:buNone/>
            </a:pPr>
            <a:r>
              <a:rPr lang="en-US" sz="1250" dirty="0">
                <a:solidFill>
                  <a:srgbClr val="1E2330"/>
                </a:solidFill>
                <a:latin typeface="Consolas" pitchFamily="34" charset="0"/>
                <a:ea typeface="Consolas" pitchFamily="34" charset="-122"/>
                <a:cs typeface="Consolas" pitchFamily="34" charset="-120"/>
              </a:rPr>
              <a:t>denyRead</a:t>
            </a:r>
            <a:pPr indent="0" marL="0">
              <a:lnSpc>
                <a:spcPct val="105000"/>
              </a:lnSpc>
              <a:buNone/>
            </a:pPr>
            <a:r>
              <a:rPr lang="en-US" sz="1250" dirty="0">
                <a:solidFill>
                  <a:srgbClr val="1E2330"/>
                </a:solidFill>
                <a:latin typeface="BIZ UDPGothic" pitchFamily="34" charset="0"/>
                <a:ea typeface="BIZ UDPGothic" pitchFamily="34" charset="-122"/>
                <a:cs typeface="BIZ UDPGothic" pitchFamily="34" charset="-120"/>
              </a:rPr>
              <a:t>、credential </a:t>
            </a:r>
            <a:pPr indent="0" marL="0">
              <a:lnSpc>
                <a:spcPct val="105000"/>
              </a:lnSpc>
              <a:buNone/>
            </a:pPr>
            <a:r>
              <a:rPr lang="en-US" sz="1250" dirty="0">
                <a:solidFill>
                  <a:srgbClr val="1E2330"/>
                </a:solidFill>
                <a:latin typeface="Consolas" pitchFamily="34" charset="0"/>
                <a:ea typeface="Consolas" pitchFamily="34" charset="-122"/>
                <a:cs typeface="Consolas" pitchFamily="34" charset="-120"/>
              </a:rPr>
              <a:t>deny/mask</a:t>
            </a:r>
            <a:pPr indent="0" marL="0">
              <a:lnSpc>
                <a:spcPct val="105000"/>
              </a:lnSpc>
              <a:buNone/>
            </a:pPr>
            <a:r>
              <a:rPr lang="en-US" sz="1250" dirty="0">
                <a:solidFill>
                  <a:srgbClr val="1E2330"/>
                </a:solidFill>
                <a:latin typeface="BIZ UDPGothic" pitchFamily="34" charset="0"/>
                <a:ea typeface="BIZ UDPGothic" pitchFamily="34" charset="-122"/>
                <a:cs typeface="BIZ UDPGothic" pitchFamily="34" charset="-120"/>
              </a:rPr>
              <a:t>、managed settingsで強制可能</a:t>
            </a:r>
            <a:endParaRPr lang="en-US" sz="1250" dirty="0"/>
          </a:p>
        </p:txBody>
      </p:sp>
      <p:sp>
        <p:nvSpPr>
          <p:cNvPr id="15" name="Shape 13"/>
          <p:cNvSpPr/>
          <p:nvPr/>
        </p:nvSpPr>
        <p:spPr>
          <a:xfrm>
            <a:off x="777240" y="4617720"/>
            <a:ext cx="3088538" cy="777240"/>
          </a:xfrm>
          <a:prstGeom prst="roundRect">
            <a:avLst>
              <a:gd name="adj" fmla="val 7059"/>
            </a:avLst>
          </a:prstGeom>
          <a:solidFill>
            <a:srgbClr val="FBF4E4"/>
          </a:solidFill>
          <a:ln/>
        </p:spPr>
      </p:sp>
      <p:pic>
        <p:nvPicPr>
          <p:cNvPr id="16" name="Image 0" descr="preencoded.png">    </p:cNvPr>
          <p:cNvPicPr>
            <a:picLocks noChangeAspect="1"/>
          </p:cNvPicPr>
          <p:nvPr/>
        </p:nvPicPr>
        <p:blipFill>
          <a:blip r:embed="rId1"/>
          <a:stretch>
            <a:fillRect/>
          </a:stretch>
        </p:blipFill>
        <p:spPr>
          <a:xfrm>
            <a:off x="932688" y="4901184"/>
            <a:ext cx="219456" cy="219456"/>
          </a:xfrm>
          <a:prstGeom prst="rect">
            <a:avLst/>
          </a:prstGeom>
        </p:spPr>
      </p:pic>
      <p:sp>
        <p:nvSpPr>
          <p:cNvPr id="17" name="Text 14"/>
          <p:cNvSpPr txBox="1"/>
          <p:nvPr/>
        </p:nvSpPr>
        <p:spPr>
          <a:xfrm>
            <a:off x="1280160" y="4645152"/>
            <a:ext cx="2494178" cy="722376"/>
          </a:xfrm>
          <a:prstGeom prst="rect">
            <a:avLst/>
          </a:prstGeom>
          <a:noFill/>
          <a:ln/>
        </p:spPr>
        <p:txBody>
          <a:bodyPr wrap="square" lIns="0" tIns="0" rIns="0" bIns="0" rtlCol="0" anchor="ctr"/>
          <a:lstStyle/>
          <a:p>
            <a:pPr indent="0" marL="0">
              <a:lnSpc>
                <a:spcPct val="100000"/>
              </a:lnSpc>
              <a:buNone/>
            </a:pPr>
            <a:r>
              <a:rPr lang="en-US" sz="1150" dirty="0">
                <a:solidFill>
                  <a:srgbClr val="1E2330"/>
                </a:solidFill>
                <a:latin typeface="BIZ UDPGothic" pitchFamily="34" charset="0"/>
                <a:ea typeface="BIZ UDPGothic" pitchFamily="34" charset="-122"/>
                <a:cs typeface="BIZ UDPGothic" pitchFamily="34" charset="-120"/>
              </a:rPr>
              <a:t>組込みRead / Edit / WebFetch / MCPは別のpermission layer</a:t>
            </a:r>
            <a:endParaRPr lang="en-US" sz="1150" dirty="0"/>
          </a:p>
        </p:txBody>
      </p:sp>
      <p:sp>
        <p:nvSpPr>
          <p:cNvPr id="18" name="Shape 15"/>
          <p:cNvSpPr/>
          <p:nvPr/>
        </p:nvSpPr>
        <p:spPr>
          <a:xfrm>
            <a:off x="4322978" y="1828800"/>
            <a:ext cx="3545738" cy="3749040"/>
          </a:xfrm>
          <a:prstGeom prst="roundRect">
            <a:avLst>
              <a:gd name="adj" fmla="val 2063"/>
            </a:avLst>
          </a:prstGeom>
          <a:solidFill>
            <a:srgbClr val="FFFFFF"/>
          </a:solidFill>
          <a:ln w="12700">
            <a:solidFill>
              <a:srgbClr val="DDE1E8"/>
            </a:solidFill>
            <a:prstDash val="solid"/>
          </a:ln>
        </p:spPr>
      </p:sp>
      <p:sp>
        <p:nvSpPr>
          <p:cNvPr id="19" name="Shape 16"/>
          <p:cNvSpPr/>
          <p:nvPr/>
        </p:nvSpPr>
        <p:spPr>
          <a:xfrm>
            <a:off x="4322978" y="1828800"/>
            <a:ext cx="3545738" cy="1051560"/>
          </a:xfrm>
          <a:prstGeom prst="roundRect">
            <a:avLst>
              <a:gd name="adj" fmla="val 6957"/>
            </a:avLst>
          </a:prstGeom>
          <a:solidFill>
            <a:srgbClr val="ECF0FB"/>
          </a:solidFill>
          <a:ln/>
        </p:spPr>
      </p:sp>
      <p:sp>
        <p:nvSpPr>
          <p:cNvPr id="20" name="Text 17"/>
          <p:cNvSpPr txBox="1"/>
          <p:nvPr/>
        </p:nvSpPr>
        <p:spPr>
          <a:xfrm>
            <a:off x="4597298" y="1993392"/>
            <a:ext cx="2997098" cy="384048"/>
          </a:xfrm>
          <a:prstGeom prst="rect">
            <a:avLst/>
          </a:prstGeom>
          <a:noFill/>
          <a:ln/>
        </p:spPr>
        <p:txBody>
          <a:bodyPr wrap="square" lIns="0" tIns="0" rIns="0" bIns="0" rtlCol="0" anchor="ctr"/>
          <a:lstStyle/>
          <a:p>
            <a:pPr indent="0" marL="0">
              <a:buNone/>
            </a:pPr>
            <a:r>
              <a:rPr lang="en-US" sz="2000" b="1" dirty="0">
                <a:solidFill>
                  <a:srgbClr val="3A55B4"/>
                </a:solidFill>
                <a:latin typeface="BIZ UDPGothic" pitchFamily="34" charset="0"/>
                <a:ea typeface="BIZ UDPGothic" pitchFamily="34" charset="-122"/>
                <a:cs typeface="BIZ UDPGothic" pitchFamily="34" charset="-120"/>
              </a:rPr>
              <a:t>Codex</a:t>
            </a:r>
            <a:endParaRPr lang="en-US" sz="2000" dirty="0"/>
          </a:p>
        </p:txBody>
      </p:sp>
      <p:sp>
        <p:nvSpPr>
          <p:cNvPr id="21" name="Text 18"/>
          <p:cNvSpPr txBox="1"/>
          <p:nvPr/>
        </p:nvSpPr>
        <p:spPr>
          <a:xfrm>
            <a:off x="4597298" y="2395728"/>
            <a:ext cx="2997098" cy="320040"/>
          </a:xfrm>
          <a:prstGeom prst="rect">
            <a:avLst/>
          </a:prstGeom>
          <a:noFill/>
          <a:ln/>
        </p:spPr>
        <p:txBody>
          <a:bodyPr wrap="square" lIns="0" tIns="0" rIns="0" bIns="0" rtlCol="0" anchor="ctr"/>
          <a:lstStyle/>
          <a:p>
            <a:pPr indent="0" marL="0">
              <a:buNone/>
            </a:pPr>
            <a:r>
              <a:rPr lang="en-US" sz="1250" b="1" dirty="0">
                <a:solidFill>
                  <a:srgbClr val="1E2330"/>
                </a:solidFill>
                <a:latin typeface="BIZ UDPGothic" pitchFamily="34" charset="0"/>
                <a:ea typeface="BIZ UDPGothic" pitchFamily="34" charset="-122"/>
                <a:cs typeface="BIZ UDPGothic" pitchFamily="34" charset="-120"/>
              </a:rPr>
              <a:t>Permission Profiles（Beta）</a:t>
            </a:r>
            <a:endParaRPr lang="en-US" sz="1250" dirty="0"/>
          </a:p>
        </p:txBody>
      </p:sp>
      <p:sp>
        <p:nvSpPr>
          <p:cNvPr id="22" name="Shape 19"/>
          <p:cNvSpPr/>
          <p:nvPr/>
        </p:nvSpPr>
        <p:spPr>
          <a:xfrm>
            <a:off x="4615586" y="3200400"/>
            <a:ext cx="73152" cy="73152"/>
          </a:xfrm>
          <a:prstGeom prst="ellipse">
            <a:avLst/>
          </a:prstGeom>
          <a:solidFill>
            <a:srgbClr val="3A55B4"/>
          </a:solidFill>
          <a:ln/>
        </p:spPr>
      </p:sp>
      <p:sp>
        <p:nvSpPr>
          <p:cNvPr id="23" name="Text 20"/>
          <p:cNvSpPr txBox="1"/>
          <p:nvPr/>
        </p:nvSpPr>
        <p:spPr>
          <a:xfrm>
            <a:off x="4798466" y="3108960"/>
            <a:ext cx="2814218" cy="603504"/>
          </a:xfrm>
          <a:prstGeom prst="rect">
            <a:avLst/>
          </a:prstGeom>
          <a:noFill/>
          <a:ln/>
        </p:spPr>
        <p:txBody>
          <a:bodyPr wrap="square" lIns="0" tIns="0" rIns="0" bIns="0" rtlCol="0" anchor="t"/>
          <a:lstStyle/>
          <a:p>
            <a:pPr indent="0" marL="0">
              <a:lnSpc>
                <a:spcPct val="105000"/>
              </a:lnSpc>
              <a:buNone/>
            </a:pPr>
            <a:r>
              <a:rPr lang="en-US" sz="1250" dirty="0">
                <a:solidFill>
                  <a:srgbClr val="1E2330"/>
                </a:solidFill>
                <a:latin typeface="BIZ UDPGothic" pitchFamily="34" charset="0"/>
                <a:ea typeface="BIZ UDPGothic" pitchFamily="34" charset="-122"/>
                <a:cs typeface="BIZ UDPGothic" pitchFamily="34" charset="-120"/>
              </a:rPr>
              <a:t>旧</a:t>
            </a:r>
            <a:pPr indent="0" marL="0">
              <a:lnSpc>
                <a:spcPct val="105000"/>
              </a:lnSpc>
              <a:buNone/>
            </a:pPr>
            <a:r>
              <a:rPr lang="en-US" sz="1250" dirty="0">
                <a:solidFill>
                  <a:srgbClr val="1E2330"/>
                </a:solidFill>
                <a:latin typeface="Consolas" pitchFamily="34" charset="0"/>
                <a:ea typeface="Consolas" pitchFamily="34" charset="-122"/>
                <a:cs typeface="Consolas" pitchFamily="34" charset="-120"/>
              </a:rPr>
              <a:t>sandbox_mode</a:t>
            </a:r>
            <a:pPr indent="0" marL="0">
              <a:lnSpc>
                <a:spcPct val="105000"/>
              </a:lnSpc>
              <a:buNone/>
            </a:pPr>
            <a:r>
              <a:rPr lang="en-US" sz="1250" dirty="0">
                <a:solidFill>
                  <a:srgbClr val="1E2330"/>
                </a:solidFill>
                <a:latin typeface="BIZ UDPGothic" pitchFamily="34" charset="0"/>
                <a:ea typeface="BIZ UDPGothic" pitchFamily="34" charset="-122"/>
                <a:cs typeface="BIZ UDPGothic" pitchFamily="34" charset="-120"/>
              </a:rPr>
              <a:t>ではなく、ファイル / ネットワークのprofile定義が中心</a:t>
            </a:r>
            <a:endParaRPr lang="en-US" sz="1250" dirty="0"/>
          </a:p>
        </p:txBody>
      </p:sp>
      <p:sp>
        <p:nvSpPr>
          <p:cNvPr id="24" name="Shape 21"/>
          <p:cNvSpPr/>
          <p:nvPr/>
        </p:nvSpPr>
        <p:spPr>
          <a:xfrm>
            <a:off x="4615586" y="3858768"/>
            <a:ext cx="73152" cy="73152"/>
          </a:xfrm>
          <a:prstGeom prst="ellipse">
            <a:avLst/>
          </a:prstGeom>
          <a:solidFill>
            <a:srgbClr val="3A55B4"/>
          </a:solidFill>
          <a:ln/>
        </p:spPr>
      </p:sp>
      <p:sp>
        <p:nvSpPr>
          <p:cNvPr id="25" name="Text 22"/>
          <p:cNvSpPr txBox="1"/>
          <p:nvPr/>
        </p:nvSpPr>
        <p:spPr>
          <a:xfrm>
            <a:off x="4798466" y="3767328"/>
            <a:ext cx="2814218" cy="603504"/>
          </a:xfrm>
          <a:prstGeom prst="rect">
            <a:avLst/>
          </a:prstGeom>
          <a:noFill/>
          <a:ln/>
        </p:spPr>
        <p:txBody>
          <a:bodyPr wrap="square" lIns="0" tIns="0" rIns="0" bIns="0" rtlCol="0" anchor="t"/>
          <a:lstStyle/>
          <a:p>
            <a:pPr indent="0" marL="0">
              <a:lnSpc>
                <a:spcPct val="105000"/>
              </a:lnSpc>
              <a:buNone/>
            </a:pPr>
            <a:r>
              <a:rPr lang="en-US" sz="1250" dirty="0">
                <a:solidFill>
                  <a:srgbClr val="1E2330"/>
                </a:solidFill>
                <a:latin typeface="BIZ UDPGothic" pitchFamily="34" charset="0"/>
                <a:ea typeface="BIZ UDPGothic" pitchFamily="34" charset="-122"/>
                <a:cs typeface="BIZ UDPGothic" pitchFamily="34" charset="-120"/>
              </a:rPr>
              <a:t>domain rulesの強制には</a:t>
            </a:r>
            <a:pPr indent="0" marL="0">
              <a:lnSpc>
                <a:spcPct val="105000"/>
              </a:lnSpc>
              <a:buNone/>
            </a:pPr>
            <a:r>
              <a:rPr lang="en-US" sz="1250" dirty="0">
                <a:solidFill>
                  <a:srgbClr val="1E2330"/>
                </a:solidFill>
                <a:latin typeface="Consolas" pitchFamily="34" charset="0"/>
                <a:ea typeface="Consolas" pitchFamily="34" charset="-122"/>
                <a:cs typeface="Consolas" pitchFamily="34" charset="-120"/>
              </a:rPr>
              <a:t>features.network_proxy=true</a:t>
            </a:r>
            <a:pPr indent="0" marL="0">
              <a:lnSpc>
                <a:spcPct val="105000"/>
              </a:lnSpc>
              <a:buNone/>
            </a:pPr>
            <a:r>
              <a:rPr lang="en-US" sz="1250" dirty="0">
                <a:solidFill>
                  <a:srgbClr val="1E2330"/>
                </a:solidFill>
                <a:latin typeface="BIZ UDPGothic" pitchFamily="34" charset="0"/>
                <a:ea typeface="BIZ UDPGothic" pitchFamily="34" charset="-122"/>
                <a:cs typeface="BIZ UDPGothic" pitchFamily="34" charset="-120"/>
              </a:rPr>
              <a:t>が必須</a:t>
            </a:r>
            <a:endParaRPr lang="en-US" sz="1250" dirty="0"/>
          </a:p>
        </p:txBody>
      </p:sp>
      <p:sp>
        <p:nvSpPr>
          <p:cNvPr id="26" name="Shape 23"/>
          <p:cNvSpPr/>
          <p:nvPr/>
        </p:nvSpPr>
        <p:spPr>
          <a:xfrm>
            <a:off x="4551578" y="4617720"/>
            <a:ext cx="3088538" cy="777240"/>
          </a:xfrm>
          <a:prstGeom prst="roundRect">
            <a:avLst>
              <a:gd name="adj" fmla="val 7059"/>
            </a:avLst>
          </a:prstGeom>
          <a:solidFill>
            <a:srgbClr val="FBF4E4"/>
          </a:solidFill>
          <a:ln/>
        </p:spPr>
      </p:sp>
      <p:pic>
        <p:nvPicPr>
          <p:cNvPr id="27" name="Image 1" descr="preencoded.png">    </p:cNvPr>
          <p:cNvPicPr>
            <a:picLocks noChangeAspect="1"/>
          </p:cNvPicPr>
          <p:nvPr/>
        </p:nvPicPr>
        <p:blipFill>
          <a:blip r:embed="rId2"/>
          <a:stretch>
            <a:fillRect/>
          </a:stretch>
        </p:blipFill>
        <p:spPr>
          <a:xfrm>
            <a:off x="4707026" y="4901184"/>
            <a:ext cx="219456" cy="219456"/>
          </a:xfrm>
          <a:prstGeom prst="rect">
            <a:avLst/>
          </a:prstGeom>
        </p:spPr>
      </p:pic>
      <p:sp>
        <p:nvSpPr>
          <p:cNvPr id="28" name="Text 24"/>
          <p:cNvSpPr txBox="1"/>
          <p:nvPr/>
        </p:nvSpPr>
        <p:spPr>
          <a:xfrm>
            <a:off x="5054498" y="4645152"/>
            <a:ext cx="2494178" cy="722376"/>
          </a:xfrm>
          <a:prstGeom prst="rect">
            <a:avLst/>
          </a:prstGeom>
          <a:noFill/>
          <a:ln/>
        </p:spPr>
        <p:txBody>
          <a:bodyPr wrap="square" lIns="0" tIns="0" rIns="0" bIns="0" rtlCol="0" anchor="ctr"/>
          <a:lstStyle/>
          <a:p>
            <a:pPr indent="0" marL="0">
              <a:lnSpc>
                <a:spcPct val="100000"/>
              </a:lnSpc>
              <a:buNone/>
            </a:pPr>
            <a:r>
              <a:rPr lang="en-US" sz="1150" dirty="0">
                <a:solidFill>
                  <a:srgbClr val="1E2330"/>
                </a:solidFill>
                <a:latin typeface="Consolas" pitchFamily="34" charset="0"/>
                <a:ea typeface="Consolas" pitchFamily="34" charset="-122"/>
                <a:cs typeface="Consolas" pitchFamily="34" charset="-120"/>
              </a:rPr>
              <a:t>network.enabled=true</a:t>
            </a:r>
            <a:pPr indent="0" marL="0">
              <a:lnSpc>
                <a:spcPct val="100000"/>
              </a:lnSpc>
              <a:buNone/>
            </a:pPr>
            <a:r>
              <a:rPr lang="en-US" sz="1150" dirty="0">
                <a:solidFill>
                  <a:srgbClr val="1E2330"/>
                </a:solidFill>
                <a:latin typeface="BIZ UDPGothic" pitchFamily="34" charset="0"/>
                <a:ea typeface="BIZ UDPGothic" pitchFamily="34" charset="-122"/>
                <a:cs typeface="BIZ UDPGothic" pitchFamily="34" charset="-120"/>
              </a:rPr>
              <a:t>だけではdomain rulesが効かない</a:t>
            </a:r>
            <a:endParaRPr lang="en-US" sz="1150" dirty="0"/>
          </a:p>
        </p:txBody>
      </p:sp>
      <p:sp>
        <p:nvSpPr>
          <p:cNvPr id="29" name="Shape 25"/>
          <p:cNvSpPr/>
          <p:nvPr/>
        </p:nvSpPr>
        <p:spPr>
          <a:xfrm>
            <a:off x="8097317" y="1828800"/>
            <a:ext cx="3545738" cy="3749040"/>
          </a:xfrm>
          <a:prstGeom prst="roundRect">
            <a:avLst>
              <a:gd name="adj" fmla="val 2063"/>
            </a:avLst>
          </a:prstGeom>
          <a:solidFill>
            <a:srgbClr val="FFFFFF"/>
          </a:solidFill>
          <a:ln w="12700">
            <a:solidFill>
              <a:srgbClr val="DDE1E8"/>
            </a:solidFill>
            <a:prstDash val="solid"/>
          </a:ln>
        </p:spPr>
      </p:sp>
      <p:sp>
        <p:nvSpPr>
          <p:cNvPr id="30" name="Shape 26"/>
          <p:cNvSpPr/>
          <p:nvPr/>
        </p:nvSpPr>
        <p:spPr>
          <a:xfrm>
            <a:off x="8097317" y="1828800"/>
            <a:ext cx="3545738" cy="1051560"/>
          </a:xfrm>
          <a:prstGeom prst="roundRect">
            <a:avLst>
              <a:gd name="adj" fmla="val 6957"/>
            </a:avLst>
          </a:prstGeom>
          <a:solidFill>
            <a:srgbClr val="F4F6F9"/>
          </a:solidFill>
          <a:ln/>
        </p:spPr>
      </p:sp>
      <p:sp>
        <p:nvSpPr>
          <p:cNvPr id="31" name="Text 27"/>
          <p:cNvSpPr txBox="1"/>
          <p:nvPr/>
        </p:nvSpPr>
        <p:spPr>
          <a:xfrm>
            <a:off x="8371637" y="1993392"/>
            <a:ext cx="2997098" cy="384048"/>
          </a:xfrm>
          <a:prstGeom prst="rect">
            <a:avLst/>
          </a:prstGeom>
          <a:noFill/>
          <a:ln/>
        </p:spPr>
        <p:txBody>
          <a:bodyPr wrap="square" lIns="0" tIns="0" rIns="0" bIns="0" rtlCol="0" anchor="ctr"/>
          <a:lstStyle/>
          <a:p>
            <a:pPr indent="0" marL="0">
              <a:buNone/>
            </a:pPr>
            <a:r>
              <a:rPr lang="en-US" sz="2000" b="1" dirty="0">
                <a:solidFill>
                  <a:srgbClr val="5A6272"/>
                </a:solidFill>
                <a:latin typeface="BIZ UDPGothic" pitchFamily="34" charset="0"/>
                <a:ea typeface="BIZ UDPGothic" pitchFamily="34" charset="-122"/>
                <a:cs typeface="BIZ UDPGothic" pitchFamily="34" charset="-120"/>
              </a:rPr>
              <a:t>比較軸</a:t>
            </a:r>
            <a:endParaRPr lang="en-US" sz="2000" dirty="0"/>
          </a:p>
        </p:txBody>
      </p:sp>
      <p:sp>
        <p:nvSpPr>
          <p:cNvPr id="32" name="Text 28"/>
          <p:cNvSpPr txBox="1"/>
          <p:nvPr/>
        </p:nvSpPr>
        <p:spPr>
          <a:xfrm>
            <a:off x="8371637" y="2395728"/>
            <a:ext cx="2997098" cy="320040"/>
          </a:xfrm>
          <a:prstGeom prst="rect">
            <a:avLst/>
          </a:prstGeom>
          <a:noFill/>
          <a:ln/>
        </p:spPr>
        <p:txBody>
          <a:bodyPr wrap="square" lIns="0" tIns="0" rIns="0" bIns="0" rtlCol="0" anchor="ctr"/>
          <a:lstStyle/>
          <a:p>
            <a:pPr indent="0" marL="0">
              <a:buNone/>
            </a:pPr>
            <a:r>
              <a:rPr lang="en-US" sz="1250" b="1" dirty="0">
                <a:solidFill>
                  <a:srgbClr val="1E2330"/>
                </a:solidFill>
                <a:latin typeface="BIZ UDPGothic" pitchFamily="34" charset="0"/>
                <a:ea typeface="BIZ UDPGothic" pitchFamily="34" charset="-122"/>
                <a:cs typeface="BIZ UDPGothic" pitchFamily="34" charset="-120"/>
              </a:rPr>
              <a:t>金融機関向け設定後で比較</a:t>
            </a:r>
            <a:endParaRPr lang="en-US" sz="1250" dirty="0"/>
          </a:p>
        </p:txBody>
      </p:sp>
      <p:sp>
        <p:nvSpPr>
          <p:cNvPr id="33" name="Shape 29"/>
          <p:cNvSpPr/>
          <p:nvPr/>
        </p:nvSpPr>
        <p:spPr>
          <a:xfrm>
            <a:off x="8389925" y="3200400"/>
            <a:ext cx="73152" cy="73152"/>
          </a:xfrm>
          <a:prstGeom prst="ellipse">
            <a:avLst/>
          </a:prstGeom>
          <a:solidFill>
            <a:srgbClr val="5A6272"/>
          </a:solidFill>
          <a:ln/>
        </p:spPr>
      </p:sp>
      <p:sp>
        <p:nvSpPr>
          <p:cNvPr id="34" name="Text 30"/>
          <p:cNvSpPr txBox="1"/>
          <p:nvPr/>
        </p:nvSpPr>
        <p:spPr>
          <a:xfrm>
            <a:off x="8572805" y="3108960"/>
            <a:ext cx="2814218" cy="603504"/>
          </a:xfrm>
          <a:prstGeom prst="rect">
            <a:avLst/>
          </a:prstGeom>
          <a:noFill/>
          <a:ln/>
        </p:spPr>
        <p:txBody>
          <a:bodyPr wrap="square" lIns="0" tIns="0" rIns="0" bIns="0" rtlCol="0" anchor="t"/>
          <a:lstStyle/>
          <a:p>
            <a:pPr indent="0" marL="0">
              <a:lnSpc>
                <a:spcPct val="105000"/>
              </a:lnSpc>
              <a:buNone/>
            </a:pPr>
            <a:r>
              <a:rPr lang="en-US" sz="1250" dirty="0">
                <a:solidFill>
                  <a:srgbClr val="1E2330"/>
                </a:solidFill>
                <a:latin typeface="BIZ UDPGothic" pitchFamily="34" charset="0"/>
                <a:ea typeface="BIZ UDPGothic" pitchFamily="34" charset="-122"/>
                <a:cs typeface="BIZ UDPGothic" pitchFamily="34" charset="-120"/>
              </a:rPr>
              <a:t>デフォルト挙動ではなく、管理者が安全側に固定した状態で見る</a:t>
            </a:r>
            <a:endParaRPr lang="en-US" sz="1250" dirty="0"/>
          </a:p>
        </p:txBody>
      </p:sp>
      <p:sp>
        <p:nvSpPr>
          <p:cNvPr id="35" name="Shape 31"/>
          <p:cNvSpPr/>
          <p:nvPr/>
        </p:nvSpPr>
        <p:spPr>
          <a:xfrm>
            <a:off x="8389925" y="3858768"/>
            <a:ext cx="73152" cy="73152"/>
          </a:xfrm>
          <a:prstGeom prst="ellipse">
            <a:avLst/>
          </a:prstGeom>
          <a:solidFill>
            <a:srgbClr val="5A6272"/>
          </a:solidFill>
          <a:ln/>
        </p:spPr>
      </p:sp>
      <p:sp>
        <p:nvSpPr>
          <p:cNvPr id="36" name="Text 32"/>
          <p:cNvSpPr txBox="1"/>
          <p:nvPr/>
        </p:nvSpPr>
        <p:spPr>
          <a:xfrm>
            <a:off x="8572805" y="3767328"/>
            <a:ext cx="2814218" cy="603504"/>
          </a:xfrm>
          <a:prstGeom prst="rect">
            <a:avLst/>
          </a:prstGeom>
          <a:noFill/>
          <a:ln/>
        </p:spPr>
        <p:txBody>
          <a:bodyPr wrap="square" lIns="0" tIns="0" rIns="0" bIns="0" rtlCol="0" anchor="t"/>
          <a:lstStyle/>
          <a:p>
            <a:pPr indent="0" marL="0">
              <a:lnSpc>
                <a:spcPct val="105000"/>
              </a:lnSpc>
              <a:buNone/>
            </a:pPr>
            <a:r>
              <a:rPr lang="en-US" sz="1250" dirty="0">
                <a:solidFill>
                  <a:srgbClr val="1E2330"/>
                </a:solidFill>
                <a:latin typeface="BIZ UDPGothic" pitchFamily="34" charset="0"/>
                <a:ea typeface="BIZ UDPGothic" pitchFamily="34" charset="-122"/>
                <a:cs typeface="BIZ UDPGothic" pitchFamily="34" charset="-120"/>
              </a:rPr>
              <a:t>Windows PCでは Claude Code＝WSL2、Codex＝native Windows sandbox を前提に差分を確認</a:t>
            </a:r>
            <a:endParaRPr lang="en-US" sz="1250" dirty="0"/>
          </a:p>
        </p:txBody>
      </p:sp>
      <p:sp>
        <p:nvSpPr>
          <p:cNvPr id="37" name="Shape 33"/>
          <p:cNvSpPr/>
          <p:nvPr/>
        </p:nvSpPr>
        <p:spPr>
          <a:xfrm>
            <a:off x="548640" y="5760720"/>
            <a:ext cx="11094415" cy="457200"/>
          </a:xfrm>
          <a:prstGeom prst="roundRect">
            <a:avLst>
              <a:gd name="adj" fmla="val 12000"/>
            </a:avLst>
          </a:prstGeom>
          <a:solidFill>
            <a:srgbClr val="1B1F2A"/>
          </a:solidFill>
          <a:ln/>
        </p:spPr>
      </p:sp>
      <p:sp>
        <p:nvSpPr>
          <p:cNvPr id="38" name="Text 34"/>
          <p:cNvSpPr txBox="1"/>
          <p:nvPr/>
        </p:nvSpPr>
        <p:spPr>
          <a:xfrm>
            <a:off x="822960" y="5760720"/>
            <a:ext cx="10545775" cy="457200"/>
          </a:xfrm>
          <a:prstGeom prst="rect">
            <a:avLst/>
          </a:prstGeom>
          <a:noFill/>
          <a:ln/>
        </p:spPr>
        <p:txBody>
          <a:bodyPr wrap="square" lIns="0" tIns="0" rIns="0" bIns="0" rtlCol="0" anchor="ctr"/>
          <a:lstStyle/>
          <a:p>
            <a:pPr indent="0" marL="0">
              <a:buNone/>
            </a:pPr>
            <a:r>
              <a:rPr lang="en-US" sz="1350" b="1" dirty="0">
                <a:solidFill>
                  <a:srgbClr val="E8A589"/>
                </a:solidFill>
                <a:latin typeface="BIZ UDPGothic" pitchFamily="34" charset="0"/>
                <a:ea typeface="BIZ UDPGothic" pitchFamily="34" charset="-122"/>
                <a:cs typeface="BIZ UDPGothic" pitchFamily="34" charset="-120"/>
              </a:rPr>
              <a:t>本資料の前提　</a:t>
            </a:r>
            <a:pPr indent="0" marL="0">
              <a:buNone/>
            </a:pPr>
            <a:r>
              <a:rPr lang="en-US" sz="1350" dirty="0">
                <a:solidFill>
                  <a:srgbClr val="FFFFFF"/>
                </a:solidFill>
                <a:latin typeface="BIZ UDPGothic" pitchFamily="34" charset="0"/>
                <a:ea typeface="BIZ UDPGothic" pitchFamily="34" charset="-122"/>
                <a:cs typeface="BIZ UDPGothic" pitchFamily="34" charset="-120"/>
              </a:rPr>
              <a:t>推奨統制案ではなく、Sandbox機能評価のための「安全側評価プロファイル」</a:t>
            </a:r>
            <a:endParaRPr lang="en-US" sz="1350" dirty="0"/>
          </a:p>
        </p:txBody>
      </p:sp>
      <p:sp>
        <p:nvSpPr>
          <p:cNvPr id="39" name="Text 35"/>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Claude Code sandboxing docs; OpenAI Codex permissions / agent approvals docs</a:t>
            </a:r>
            <a:endParaRPr lang="en-US" sz="900" dirty="0"/>
          </a:p>
        </p:txBody>
      </p:sp>
      <p:sp>
        <p:nvSpPr>
          <p:cNvPr id="40" name="Text 36"/>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F4F6F9"/>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共通</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Sandboxとは: Windows PCで何を隔離するか</a:t>
            </a:r>
            <a:endParaRPr lang="en-US" sz="2800" dirty="0"/>
          </a:p>
        </p:txBody>
      </p:sp>
      <p:sp>
        <p:nvSpPr>
          <p:cNvPr id="6" name="Text 4"/>
          <p:cNvSpPr txBox="1"/>
          <p:nvPr/>
        </p:nvSpPr>
        <p:spPr>
          <a:xfrm>
            <a:off x="548640" y="1207008"/>
            <a:ext cx="11094415" cy="329184"/>
          </a:xfrm>
          <a:prstGeom prst="rect">
            <a:avLst/>
          </a:prstGeom>
          <a:noFill/>
          <a:ln/>
        </p:spPr>
        <p:txBody>
          <a:bodyPr wrap="square" lIns="0" tIns="0" rIns="0" bIns="0" rtlCol="0" anchor="ctr"/>
          <a:lstStyle/>
          <a:p>
            <a:pPr indent="0" marL="0">
              <a:buNone/>
            </a:pPr>
            <a:r>
              <a:rPr lang="en-US" sz="1400" dirty="0">
                <a:solidFill>
                  <a:srgbClr val="5A6272"/>
                </a:solidFill>
                <a:latin typeface="BIZ UDPGothic" pitchFamily="34" charset="0"/>
                <a:ea typeface="BIZ UDPGothic" pitchFamily="34" charset="-122"/>
                <a:cs typeface="BIZ UDPGothic" pitchFamily="34" charset="-120"/>
              </a:rPr>
              <a:t>AIが実行するコマンドを、PC全体ではなく限定領域で動かすための境界</a:t>
            </a:r>
            <a:endParaRPr lang="en-US" sz="1400" dirty="0"/>
          </a:p>
        </p:txBody>
      </p:sp>
      <p:sp>
        <p:nvSpPr>
          <p:cNvPr id="7" name="Shape 5"/>
          <p:cNvSpPr/>
          <p:nvPr/>
        </p:nvSpPr>
        <p:spPr>
          <a:xfrm>
            <a:off x="548640" y="1783080"/>
            <a:ext cx="6675120" cy="3749040"/>
          </a:xfrm>
          <a:prstGeom prst="roundRect">
            <a:avLst>
              <a:gd name="adj" fmla="val 1463"/>
            </a:avLst>
          </a:prstGeom>
          <a:solidFill>
            <a:srgbClr val="F4F6F9"/>
          </a:solidFill>
          <a:ln/>
        </p:spPr>
      </p:sp>
      <p:sp>
        <p:nvSpPr>
          <p:cNvPr id="8" name="Text 6"/>
          <p:cNvSpPr txBox="1"/>
          <p:nvPr/>
        </p:nvSpPr>
        <p:spPr>
          <a:xfrm>
            <a:off x="822960" y="1965960"/>
            <a:ext cx="2743200" cy="274320"/>
          </a:xfrm>
          <a:prstGeom prst="rect">
            <a:avLst/>
          </a:prstGeom>
          <a:noFill/>
          <a:ln/>
        </p:spPr>
        <p:txBody>
          <a:bodyPr wrap="square" lIns="0" tIns="0" rIns="0" bIns="0" rtlCol="0" anchor="t"/>
          <a:lstStyle/>
          <a:p>
            <a:pPr indent="0" marL="0">
              <a:buNone/>
            </a:pPr>
            <a:r>
              <a:rPr lang="en-US" sz="1300" b="1" dirty="0">
                <a:solidFill>
                  <a:srgbClr val="5A6272"/>
                </a:solidFill>
                <a:latin typeface="BIZ UDPGothic" pitchFamily="34" charset="0"/>
                <a:ea typeface="BIZ UDPGothic" pitchFamily="34" charset="-122"/>
                <a:cs typeface="BIZ UDPGothic" pitchFamily="34" charset="-120"/>
              </a:rPr>
              <a:t>Windows PC</a:t>
            </a:r>
            <a:endParaRPr lang="en-US" sz="1300" dirty="0"/>
          </a:p>
        </p:txBody>
      </p:sp>
      <p:sp>
        <p:nvSpPr>
          <p:cNvPr id="9" name="Shape 7"/>
          <p:cNvSpPr/>
          <p:nvPr/>
        </p:nvSpPr>
        <p:spPr>
          <a:xfrm>
            <a:off x="822960" y="2331720"/>
            <a:ext cx="3017520" cy="2697480"/>
          </a:xfrm>
          <a:prstGeom prst="roundRect">
            <a:avLst>
              <a:gd name="adj" fmla="val 2034"/>
            </a:avLst>
          </a:prstGeom>
          <a:solidFill>
            <a:srgbClr val="E8F4EE"/>
          </a:solidFill>
          <a:ln w="19050">
            <a:solidFill>
              <a:srgbClr val="2E7D5B"/>
            </a:solidFill>
            <a:prstDash val="dash"/>
          </a:ln>
        </p:spPr>
      </p:sp>
      <p:pic>
        <p:nvPicPr>
          <p:cNvPr id="10" name="Image 0" descr="preencoded.png">    </p:cNvPr>
          <p:cNvPicPr>
            <a:picLocks noChangeAspect="1"/>
          </p:cNvPicPr>
          <p:nvPr/>
        </p:nvPicPr>
        <p:blipFill>
          <a:blip r:embed="rId1"/>
          <a:stretch>
            <a:fillRect/>
          </a:stretch>
        </p:blipFill>
        <p:spPr>
          <a:xfrm>
            <a:off x="1005840" y="2514600"/>
            <a:ext cx="237744" cy="237744"/>
          </a:xfrm>
          <a:prstGeom prst="rect">
            <a:avLst/>
          </a:prstGeom>
        </p:spPr>
      </p:pic>
      <p:sp>
        <p:nvSpPr>
          <p:cNvPr id="11" name="Text 8"/>
          <p:cNvSpPr txBox="1"/>
          <p:nvPr/>
        </p:nvSpPr>
        <p:spPr>
          <a:xfrm>
            <a:off x="1325880" y="2487168"/>
            <a:ext cx="2194560" cy="292608"/>
          </a:xfrm>
          <a:prstGeom prst="rect">
            <a:avLst/>
          </a:prstGeom>
          <a:noFill/>
          <a:ln/>
        </p:spPr>
        <p:txBody>
          <a:bodyPr wrap="square" lIns="0" tIns="0" rIns="0" bIns="0" rtlCol="0" anchor="ctr"/>
          <a:lstStyle/>
          <a:p>
            <a:pPr indent="0" marL="0">
              <a:buNone/>
            </a:pPr>
            <a:r>
              <a:rPr lang="en-US" sz="1250" b="1" dirty="0">
                <a:solidFill>
                  <a:srgbClr val="2E7D5B"/>
                </a:solidFill>
                <a:latin typeface="BIZ UDPGothic" pitchFamily="34" charset="0"/>
                <a:ea typeface="BIZ UDPGothic" pitchFamily="34" charset="-122"/>
                <a:cs typeface="BIZ UDPGothic" pitchFamily="34" charset="-120"/>
              </a:rPr>
              <a:t>Sandbox（許可範囲）</a:t>
            </a:r>
            <a:endParaRPr lang="en-US" sz="1250" dirty="0"/>
          </a:p>
        </p:txBody>
      </p:sp>
      <p:sp>
        <p:nvSpPr>
          <p:cNvPr id="12" name="Shape 9"/>
          <p:cNvSpPr/>
          <p:nvPr/>
        </p:nvSpPr>
        <p:spPr>
          <a:xfrm>
            <a:off x="1005840" y="2926080"/>
            <a:ext cx="2651760" cy="841248"/>
          </a:xfrm>
          <a:prstGeom prst="roundRect">
            <a:avLst>
              <a:gd name="adj" fmla="val 6522"/>
            </a:avLst>
          </a:prstGeom>
          <a:solidFill>
            <a:srgbClr val="FFFFFF"/>
          </a:solidFill>
          <a:ln w="12700">
            <a:solidFill>
              <a:srgbClr val="BFD9CB"/>
            </a:solidFill>
            <a:prstDash val="solid"/>
          </a:ln>
        </p:spPr>
      </p:sp>
      <p:sp>
        <p:nvSpPr>
          <p:cNvPr id="13" name="Text 10"/>
          <p:cNvSpPr txBox="1"/>
          <p:nvPr/>
        </p:nvSpPr>
        <p:spPr>
          <a:xfrm>
            <a:off x="1188720" y="3035808"/>
            <a:ext cx="2468880" cy="320040"/>
          </a:xfrm>
          <a:prstGeom prst="rect">
            <a:avLst/>
          </a:prstGeom>
          <a:noFill/>
          <a:ln/>
        </p:spPr>
        <p:txBody>
          <a:bodyPr wrap="square" lIns="0" tIns="0" rIns="0" bIns="0" rtlCol="0" anchor="ctr"/>
          <a:lstStyle/>
          <a:p>
            <a:pPr indent="0" marL="0">
              <a:buNone/>
            </a:pPr>
            <a:r>
              <a:rPr lang="en-US" sz="1350" b="1" dirty="0">
                <a:solidFill>
                  <a:srgbClr val="1E2330"/>
                </a:solidFill>
                <a:latin typeface="BIZ UDPGothic" pitchFamily="34" charset="0"/>
                <a:ea typeface="BIZ UDPGothic" pitchFamily="34" charset="-122"/>
                <a:cs typeface="BIZ UDPGothic" pitchFamily="34" charset="-120"/>
              </a:rPr>
              <a:t>Project folder</a:t>
            </a:r>
            <a:endParaRPr lang="en-US" sz="1350" dirty="0"/>
          </a:p>
        </p:txBody>
      </p:sp>
      <p:sp>
        <p:nvSpPr>
          <p:cNvPr id="14" name="Text 11"/>
          <p:cNvSpPr txBox="1"/>
          <p:nvPr/>
        </p:nvSpPr>
        <p:spPr>
          <a:xfrm>
            <a:off x="1188720" y="3383280"/>
            <a:ext cx="2286000" cy="274320"/>
          </a:xfrm>
          <a:prstGeom prst="rect">
            <a:avLst/>
          </a:prstGeom>
          <a:noFill/>
          <a:ln/>
        </p:spPr>
        <p:txBody>
          <a:bodyPr wrap="square" lIns="0" tIns="0" rIns="0" bIns="0" rtlCol="0" anchor="ctr"/>
          <a:lstStyle/>
          <a:p>
            <a:pPr indent="0" marL="0">
              <a:buNone/>
            </a:pPr>
            <a:r>
              <a:rPr lang="en-US" sz="1150" dirty="0">
                <a:solidFill>
                  <a:srgbClr val="5A6272"/>
                </a:solidFill>
                <a:latin typeface="BIZ UDPGothic" pitchFamily="34" charset="0"/>
                <a:ea typeface="BIZ UDPGothic" pitchFamily="34" charset="-122"/>
                <a:cs typeface="BIZ UDPGothic" pitchFamily="34" charset="-120"/>
              </a:rPr>
              <a:t>原則ここで作業</a:t>
            </a:r>
            <a:endParaRPr lang="en-US" sz="1150" dirty="0"/>
          </a:p>
        </p:txBody>
      </p:sp>
      <p:sp>
        <p:nvSpPr>
          <p:cNvPr id="15" name="Shape 12"/>
          <p:cNvSpPr/>
          <p:nvPr/>
        </p:nvSpPr>
        <p:spPr>
          <a:xfrm>
            <a:off x="1005840" y="3913632"/>
            <a:ext cx="2651760" cy="841248"/>
          </a:xfrm>
          <a:prstGeom prst="roundRect">
            <a:avLst>
              <a:gd name="adj" fmla="val 6522"/>
            </a:avLst>
          </a:prstGeom>
          <a:solidFill>
            <a:srgbClr val="FFFFFF"/>
          </a:solidFill>
          <a:ln w="12700">
            <a:solidFill>
              <a:srgbClr val="BFD9CB"/>
            </a:solidFill>
            <a:prstDash val="solid"/>
          </a:ln>
        </p:spPr>
      </p:sp>
      <p:sp>
        <p:nvSpPr>
          <p:cNvPr id="16" name="Text 13"/>
          <p:cNvSpPr txBox="1"/>
          <p:nvPr/>
        </p:nvSpPr>
        <p:spPr>
          <a:xfrm>
            <a:off x="1188720" y="4023360"/>
            <a:ext cx="2468880" cy="320040"/>
          </a:xfrm>
          <a:prstGeom prst="rect">
            <a:avLst/>
          </a:prstGeom>
          <a:noFill/>
          <a:ln/>
        </p:spPr>
        <p:txBody>
          <a:bodyPr wrap="square" lIns="0" tIns="0" rIns="0" bIns="0" rtlCol="0" anchor="ctr"/>
          <a:lstStyle/>
          <a:p>
            <a:pPr indent="0" marL="0">
              <a:buNone/>
            </a:pPr>
            <a:r>
              <a:rPr lang="en-US" sz="1350" b="1" dirty="0">
                <a:solidFill>
                  <a:srgbClr val="1E2330"/>
                </a:solidFill>
                <a:latin typeface="BIZ UDPGothic" pitchFamily="34" charset="0"/>
                <a:ea typeface="BIZ UDPGothic" pitchFamily="34" charset="-122"/>
                <a:cs typeface="BIZ UDPGothic" pitchFamily="34" charset="-120"/>
              </a:rPr>
              <a:t>Sandboxed command</a:t>
            </a:r>
            <a:endParaRPr lang="en-US" sz="1350" dirty="0"/>
          </a:p>
        </p:txBody>
      </p:sp>
      <p:sp>
        <p:nvSpPr>
          <p:cNvPr id="17" name="Text 14"/>
          <p:cNvSpPr txBox="1"/>
          <p:nvPr/>
        </p:nvSpPr>
        <p:spPr>
          <a:xfrm>
            <a:off x="1188720" y="4370832"/>
            <a:ext cx="2286000" cy="274320"/>
          </a:xfrm>
          <a:prstGeom prst="rect">
            <a:avLst/>
          </a:prstGeom>
          <a:noFill/>
          <a:ln/>
        </p:spPr>
        <p:txBody>
          <a:bodyPr wrap="square" lIns="0" tIns="0" rIns="0" bIns="0" rtlCol="0" anchor="ctr"/>
          <a:lstStyle/>
          <a:p>
            <a:pPr indent="0" marL="0">
              <a:buNone/>
            </a:pPr>
            <a:r>
              <a:rPr lang="en-US" sz="1150" dirty="0">
                <a:solidFill>
                  <a:srgbClr val="5A6272"/>
                </a:solidFill>
                <a:latin typeface="BIZ UDPGothic" pitchFamily="34" charset="0"/>
                <a:ea typeface="BIZ UDPGothic" pitchFamily="34" charset="-122"/>
                <a:cs typeface="BIZ UDPGothic" pitchFamily="34" charset="-120"/>
              </a:rPr>
              <a:t>build / test / shell</a:t>
            </a:r>
            <a:endParaRPr lang="en-US" sz="1150" dirty="0"/>
          </a:p>
        </p:txBody>
      </p:sp>
      <p:sp>
        <p:nvSpPr>
          <p:cNvPr id="18" name="Shape 15"/>
          <p:cNvSpPr/>
          <p:nvPr/>
        </p:nvSpPr>
        <p:spPr>
          <a:xfrm>
            <a:off x="5212080" y="2441448"/>
            <a:ext cx="1737360" cy="658368"/>
          </a:xfrm>
          <a:prstGeom prst="roundRect">
            <a:avLst>
              <a:gd name="adj" fmla="val 8333"/>
            </a:avLst>
          </a:prstGeom>
          <a:solidFill>
            <a:srgbClr val="FFFFFF"/>
          </a:solidFill>
          <a:ln w="12700">
            <a:solidFill>
              <a:srgbClr val="E3B8B8"/>
            </a:solidFill>
            <a:prstDash val="solid"/>
          </a:ln>
        </p:spPr>
      </p:sp>
      <p:sp>
        <p:nvSpPr>
          <p:cNvPr id="19" name="Text 16"/>
          <p:cNvSpPr txBox="1"/>
          <p:nvPr/>
        </p:nvSpPr>
        <p:spPr>
          <a:xfrm>
            <a:off x="5212080" y="2441448"/>
            <a:ext cx="1737360" cy="658368"/>
          </a:xfrm>
          <a:prstGeom prst="rect">
            <a:avLst/>
          </a:prstGeom>
          <a:noFill/>
          <a:ln/>
        </p:spPr>
        <p:txBody>
          <a:bodyPr wrap="square" lIns="0" tIns="0" rIns="0" bIns="0" rtlCol="0" anchor="ctr"/>
          <a:lstStyle/>
          <a:p>
            <a:pPr algn="ctr" indent="0" marL="0">
              <a:buNone/>
            </a:pPr>
            <a:r>
              <a:rPr lang="en-US" sz="1400" b="1" dirty="0">
                <a:solidFill>
                  <a:srgbClr val="B83A3A"/>
                </a:solidFill>
                <a:latin typeface="BIZ UDPGothic" pitchFamily="34" charset="0"/>
                <a:ea typeface="BIZ UDPGothic" pitchFamily="34" charset="-122"/>
                <a:cs typeface="BIZ UDPGothic" pitchFamily="34" charset="-120"/>
              </a:rPr>
              <a:t>Home / C:\</a:t>
            </a:r>
            <a:endParaRPr lang="en-US" sz="1400" dirty="0"/>
          </a:p>
        </p:txBody>
      </p:sp>
      <p:sp>
        <p:nvSpPr>
          <p:cNvPr id="20" name="Shape 17"/>
          <p:cNvSpPr/>
          <p:nvPr/>
        </p:nvSpPr>
        <p:spPr>
          <a:xfrm>
            <a:off x="3840480" y="2770632"/>
            <a:ext cx="1325880" cy="0"/>
          </a:xfrm>
          <a:prstGeom prst="line">
            <a:avLst/>
          </a:prstGeom>
          <a:noFill/>
          <a:ln w="15875">
            <a:solidFill>
              <a:srgbClr val="8A92A3"/>
            </a:solidFill>
            <a:prstDash val="dash"/>
            <a:tailEnd type="triangle"/>
          </a:ln>
        </p:spPr>
      </p:sp>
      <p:pic>
        <p:nvPicPr>
          <p:cNvPr id="21" name="Image 1" descr="preencoded.png">    </p:cNvPr>
          <p:cNvPicPr>
            <a:picLocks noChangeAspect="1"/>
          </p:cNvPicPr>
          <p:nvPr/>
        </p:nvPicPr>
        <p:blipFill>
          <a:blip r:embed="rId2"/>
          <a:stretch>
            <a:fillRect/>
          </a:stretch>
        </p:blipFill>
        <p:spPr>
          <a:xfrm>
            <a:off x="4379976" y="2624328"/>
            <a:ext cx="292608" cy="292608"/>
          </a:xfrm>
          <a:prstGeom prst="rect">
            <a:avLst/>
          </a:prstGeom>
        </p:spPr>
      </p:pic>
      <p:sp>
        <p:nvSpPr>
          <p:cNvPr id="22" name="Shape 18"/>
          <p:cNvSpPr/>
          <p:nvPr/>
        </p:nvSpPr>
        <p:spPr>
          <a:xfrm>
            <a:off x="5212080" y="3337560"/>
            <a:ext cx="1737360" cy="658368"/>
          </a:xfrm>
          <a:prstGeom prst="roundRect">
            <a:avLst>
              <a:gd name="adj" fmla="val 8333"/>
            </a:avLst>
          </a:prstGeom>
          <a:solidFill>
            <a:srgbClr val="FFFFFF"/>
          </a:solidFill>
          <a:ln w="12700">
            <a:solidFill>
              <a:srgbClr val="E3B8B8"/>
            </a:solidFill>
            <a:prstDash val="solid"/>
          </a:ln>
        </p:spPr>
      </p:sp>
      <p:sp>
        <p:nvSpPr>
          <p:cNvPr id="23" name="Text 19"/>
          <p:cNvSpPr txBox="1"/>
          <p:nvPr/>
        </p:nvSpPr>
        <p:spPr>
          <a:xfrm>
            <a:off x="5212080" y="3337560"/>
            <a:ext cx="1737360" cy="658368"/>
          </a:xfrm>
          <a:prstGeom prst="rect">
            <a:avLst/>
          </a:prstGeom>
          <a:noFill/>
          <a:ln/>
        </p:spPr>
        <p:txBody>
          <a:bodyPr wrap="square" lIns="0" tIns="0" rIns="0" bIns="0" rtlCol="0" anchor="ctr"/>
          <a:lstStyle/>
          <a:p>
            <a:pPr algn="ctr" indent="0" marL="0">
              <a:buNone/>
            </a:pPr>
            <a:r>
              <a:rPr lang="en-US" sz="1400" b="1" dirty="0">
                <a:solidFill>
                  <a:srgbClr val="B83A3A"/>
                </a:solidFill>
                <a:latin typeface="BIZ UDPGothic" pitchFamily="34" charset="0"/>
                <a:ea typeface="BIZ UDPGothic" pitchFamily="34" charset="-122"/>
                <a:cs typeface="BIZ UDPGothic" pitchFamily="34" charset="-120"/>
              </a:rPr>
              <a:t>Secrets</a:t>
            </a:r>
            <a:endParaRPr lang="en-US" sz="1400" dirty="0"/>
          </a:p>
        </p:txBody>
      </p:sp>
      <p:sp>
        <p:nvSpPr>
          <p:cNvPr id="24" name="Shape 20"/>
          <p:cNvSpPr/>
          <p:nvPr/>
        </p:nvSpPr>
        <p:spPr>
          <a:xfrm>
            <a:off x="3840480" y="3666744"/>
            <a:ext cx="1325880" cy="0"/>
          </a:xfrm>
          <a:prstGeom prst="line">
            <a:avLst/>
          </a:prstGeom>
          <a:noFill/>
          <a:ln w="15875">
            <a:solidFill>
              <a:srgbClr val="8A92A3"/>
            </a:solidFill>
            <a:prstDash val="dash"/>
            <a:tailEnd type="triangle"/>
          </a:ln>
        </p:spPr>
      </p:sp>
      <p:pic>
        <p:nvPicPr>
          <p:cNvPr id="25" name="Image 2" descr="preencoded.png">    </p:cNvPr>
          <p:cNvPicPr>
            <a:picLocks noChangeAspect="1"/>
          </p:cNvPicPr>
          <p:nvPr/>
        </p:nvPicPr>
        <p:blipFill>
          <a:blip r:embed="rId3"/>
          <a:stretch>
            <a:fillRect/>
          </a:stretch>
        </p:blipFill>
        <p:spPr>
          <a:xfrm>
            <a:off x="4379976" y="3520440"/>
            <a:ext cx="292608" cy="292608"/>
          </a:xfrm>
          <a:prstGeom prst="rect">
            <a:avLst/>
          </a:prstGeom>
        </p:spPr>
      </p:pic>
      <p:sp>
        <p:nvSpPr>
          <p:cNvPr id="26" name="Shape 21"/>
          <p:cNvSpPr/>
          <p:nvPr/>
        </p:nvSpPr>
        <p:spPr>
          <a:xfrm>
            <a:off x="5212080" y="4233672"/>
            <a:ext cx="1737360" cy="658368"/>
          </a:xfrm>
          <a:prstGeom prst="roundRect">
            <a:avLst>
              <a:gd name="adj" fmla="val 8333"/>
            </a:avLst>
          </a:prstGeom>
          <a:solidFill>
            <a:srgbClr val="FFFFFF"/>
          </a:solidFill>
          <a:ln w="12700">
            <a:solidFill>
              <a:srgbClr val="E3B8B8"/>
            </a:solidFill>
            <a:prstDash val="solid"/>
          </a:ln>
        </p:spPr>
      </p:sp>
      <p:sp>
        <p:nvSpPr>
          <p:cNvPr id="27" name="Text 22"/>
          <p:cNvSpPr txBox="1"/>
          <p:nvPr/>
        </p:nvSpPr>
        <p:spPr>
          <a:xfrm>
            <a:off x="5212080" y="4233672"/>
            <a:ext cx="1737360" cy="658368"/>
          </a:xfrm>
          <a:prstGeom prst="rect">
            <a:avLst/>
          </a:prstGeom>
          <a:noFill/>
          <a:ln/>
        </p:spPr>
        <p:txBody>
          <a:bodyPr wrap="square" lIns="0" tIns="0" rIns="0" bIns="0" rtlCol="0" anchor="ctr"/>
          <a:lstStyle/>
          <a:p>
            <a:pPr algn="ctr" indent="0" marL="0">
              <a:buNone/>
            </a:pPr>
            <a:r>
              <a:rPr lang="en-US" sz="1400" b="1" dirty="0">
                <a:solidFill>
                  <a:srgbClr val="B83A3A"/>
                </a:solidFill>
                <a:latin typeface="BIZ UDPGothic" pitchFamily="34" charset="0"/>
                <a:ea typeface="BIZ UDPGothic" pitchFamily="34" charset="-122"/>
                <a:cs typeface="BIZ UDPGothic" pitchFamily="34" charset="-120"/>
              </a:rPr>
              <a:t>Internet</a:t>
            </a:r>
            <a:endParaRPr lang="en-US" sz="1400" dirty="0"/>
          </a:p>
        </p:txBody>
      </p:sp>
      <p:sp>
        <p:nvSpPr>
          <p:cNvPr id="28" name="Shape 23"/>
          <p:cNvSpPr/>
          <p:nvPr/>
        </p:nvSpPr>
        <p:spPr>
          <a:xfrm>
            <a:off x="3840480" y="4562856"/>
            <a:ext cx="1325880" cy="0"/>
          </a:xfrm>
          <a:prstGeom prst="line">
            <a:avLst/>
          </a:prstGeom>
          <a:noFill/>
          <a:ln w="15875">
            <a:solidFill>
              <a:srgbClr val="8A92A3"/>
            </a:solidFill>
            <a:prstDash val="dash"/>
            <a:tailEnd type="triangle"/>
          </a:ln>
        </p:spPr>
      </p:sp>
      <p:pic>
        <p:nvPicPr>
          <p:cNvPr id="29" name="Image 3" descr="preencoded.png">    </p:cNvPr>
          <p:cNvPicPr>
            <a:picLocks noChangeAspect="1"/>
          </p:cNvPicPr>
          <p:nvPr/>
        </p:nvPicPr>
        <p:blipFill>
          <a:blip r:embed="rId4"/>
          <a:stretch>
            <a:fillRect/>
          </a:stretch>
        </p:blipFill>
        <p:spPr>
          <a:xfrm>
            <a:off x="4379976" y="4416552"/>
            <a:ext cx="292608" cy="292608"/>
          </a:xfrm>
          <a:prstGeom prst="rect">
            <a:avLst/>
          </a:prstGeom>
        </p:spPr>
      </p:pic>
      <p:sp>
        <p:nvSpPr>
          <p:cNvPr id="30" name="Text 24"/>
          <p:cNvSpPr txBox="1"/>
          <p:nvPr/>
        </p:nvSpPr>
        <p:spPr>
          <a:xfrm>
            <a:off x="822960" y="5120640"/>
            <a:ext cx="6126480" cy="274320"/>
          </a:xfrm>
          <a:prstGeom prst="rect">
            <a:avLst/>
          </a:prstGeom>
          <a:noFill/>
          <a:ln/>
        </p:spPr>
        <p:txBody>
          <a:bodyPr wrap="square" lIns="0" tIns="0" rIns="0" bIns="0" rtlCol="0" anchor="ctr"/>
          <a:lstStyle/>
          <a:p>
            <a:pPr algn="ctr" indent="0" marL="0">
              <a:buNone/>
            </a:pPr>
            <a:r>
              <a:rPr lang="en-US" sz="1250" b="1" dirty="0">
                <a:solidFill>
                  <a:srgbClr val="B83A3A"/>
                </a:solidFill>
                <a:latin typeface="BIZ UDPGothic" pitchFamily="34" charset="0"/>
                <a:ea typeface="BIZ UDPGothic" pitchFamily="34" charset="-122"/>
                <a:cs typeface="BIZ UDPGothic" pitchFamily="34" charset="-120"/>
              </a:rPr>
              <a:t>設定外の読取・書込・通信は「止まる」ことを試験する</a:t>
            </a:r>
            <a:endParaRPr lang="en-US" sz="1250" dirty="0"/>
          </a:p>
        </p:txBody>
      </p:sp>
      <p:sp>
        <p:nvSpPr>
          <p:cNvPr id="31" name="Text 25"/>
          <p:cNvSpPr txBox="1"/>
          <p:nvPr/>
        </p:nvSpPr>
        <p:spPr>
          <a:xfrm>
            <a:off x="7589520" y="1783080"/>
            <a:ext cx="4053535" cy="274320"/>
          </a:xfrm>
          <a:prstGeom prst="rect">
            <a:avLst/>
          </a:prstGeom>
          <a:noFill/>
          <a:ln/>
        </p:spPr>
        <p:txBody>
          <a:bodyPr wrap="square" lIns="0" tIns="0" rIns="0" bIns="0" rtlCol="0" anchor="t"/>
          <a:lstStyle/>
          <a:p>
            <a:pPr indent="0" marL="0">
              <a:buNone/>
            </a:pPr>
            <a:r>
              <a:rPr lang="en-US" sz="1200" b="1" dirty="0">
                <a:solidFill>
                  <a:srgbClr val="8A92A3"/>
                </a:solidFill>
                <a:latin typeface="BIZ UDPGothic" pitchFamily="34" charset="0"/>
                <a:ea typeface="BIZ UDPGothic" pitchFamily="34" charset="-122"/>
                <a:cs typeface="BIZ UDPGothic" pitchFamily="34" charset="-120"/>
              </a:rPr>
              <a:t>一言でいうと</a:t>
            </a:r>
            <a:endParaRPr lang="en-US" sz="1200" dirty="0"/>
          </a:p>
        </p:txBody>
      </p:sp>
      <p:sp>
        <p:nvSpPr>
          <p:cNvPr id="32" name="Text 26"/>
          <p:cNvSpPr txBox="1"/>
          <p:nvPr/>
        </p:nvSpPr>
        <p:spPr>
          <a:xfrm>
            <a:off x="7589520" y="2057400"/>
            <a:ext cx="4053535" cy="777240"/>
          </a:xfrm>
          <a:prstGeom prst="rect">
            <a:avLst/>
          </a:prstGeom>
          <a:noFill/>
          <a:ln/>
        </p:spPr>
        <p:txBody>
          <a:bodyPr wrap="square" lIns="0" tIns="0" rIns="0" bIns="0" rtlCol="0" anchor="t"/>
          <a:lstStyle/>
          <a:p>
            <a:pPr indent="0" marL="0">
              <a:lnSpc>
                <a:spcPct val="110000"/>
              </a:lnSpc>
              <a:buNone/>
            </a:pPr>
            <a:r>
              <a:rPr lang="en-US" sz="1900" b="1" dirty="0">
                <a:solidFill>
                  <a:srgbClr val="1E2330"/>
                </a:solidFill>
                <a:latin typeface="BIZ UDPGothic" pitchFamily="34" charset="0"/>
                <a:ea typeface="BIZ UDPGothic" pitchFamily="34" charset="-122"/>
                <a:cs typeface="BIZ UDPGothic" pitchFamily="34" charset="-120"/>
              </a:rPr>
              <a:t>「AIが操作できる範囲」を</a:t>
            </a:r>
            <a:endParaRPr lang="en-US" sz="1900" dirty="0"/>
          </a:p>
          <a:p>
            <a:pPr indent="0" marL="0">
              <a:lnSpc>
                <a:spcPct val="110000"/>
              </a:lnSpc>
              <a:buNone/>
            </a:pPr>
            <a:r>
              <a:rPr lang="en-US" sz="1900" b="1" dirty="0">
                <a:solidFill>
                  <a:srgbClr val="1E2330"/>
                </a:solidFill>
                <a:latin typeface="BIZ UDPGothic" pitchFamily="34" charset="0"/>
                <a:ea typeface="BIZ UDPGothic" pitchFamily="34" charset="-122"/>
                <a:cs typeface="BIZ UDPGothic" pitchFamily="34" charset="-120"/>
              </a:rPr>
              <a:t>OSレベルで狭める仕組み</a:t>
            </a:r>
            <a:endParaRPr lang="en-US" sz="1900" dirty="0"/>
          </a:p>
        </p:txBody>
      </p:sp>
      <p:sp>
        <p:nvSpPr>
          <p:cNvPr id="33" name="Text 27"/>
          <p:cNvSpPr txBox="1"/>
          <p:nvPr/>
        </p:nvSpPr>
        <p:spPr>
          <a:xfrm>
            <a:off x="7589520" y="3017520"/>
            <a:ext cx="4053535" cy="274320"/>
          </a:xfrm>
          <a:prstGeom prst="rect">
            <a:avLst/>
          </a:prstGeom>
          <a:noFill/>
          <a:ln/>
        </p:spPr>
        <p:txBody>
          <a:bodyPr wrap="square" lIns="0" tIns="0" rIns="0" bIns="0" rtlCol="0" anchor="t"/>
          <a:lstStyle/>
          <a:p>
            <a:pPr indent="0" marL="0">
              <a:buNone/>
            </a:pPr>
            <a:r>
              <a:rPr lang="en-US" sz="1200" b="1" dirty="0">
                <a:solidFill>
                  <a:srgbClr val="8A92A3"/>
                </a:solidFill>
                <a:latin typeface="BIZ UDPGothic" pitchFamily="34" charset="0"/>
                <a:ea typeface="BIZ UDPGothic" pitchFamily="34" charset="-122"/>
                <a:cs typeface="BIZ UDPGothic" pitchFamily="34" charset="-120"/>
              </a:rPr>
              <a:t>Sandboxで主に見る4つの境界</a:t>
            </a:r>
            <a:endParaRPr lang="en-US" sz="1200" dirty="0"/>
          </a:p>
        </p:txBody>
      </p:sp>
      <p:sp>
        <p:nvSpPr>
          <p:cNvPr id="34" name="Shape 28"/>
          <p:cNvSpPr/>
          <p:nvPr/>
        </p:nvSpPr>
        <p:spPr>
          <a:xfrm>
            <a:off x="7589520" y="3383280"/>
            <a:ext cx="1935328" cy="1005840"/>
          </a:xfrm>
          <a:prstGeom prst="roundRect">
            <a:avLst>
              <a:gd name="adj" fmla="val 7273"/>
            </a:avLst>
          </a:prstGeom>
          <a:solidFill>
            <a:srgbClr val="FFFFFF"/>
          </a:solidFill>
          <a:ln w="12700">
            <a:solidFill>
              <a:srgbClr val="DDE1E8"/>
            </a:solidFill>
            <a:prstDash val="solid"/>
          </a:ln>
        </p:spPr>
      </p:sp>
      <p:pic>
        <p:nvPicPr>
          <p:cNvPr id="35" name="Image 4" descr="preencoded.png">    </p:cNvPr>
          <p:cNvPicPr>
            <a:picLocks noChangeAspect="1"/>
          </p:cNvPicPr>
          <p:nvPr/>
        </p:nvPicPr>
        <p:blipFill>
          <a:blip r:embed="rId5"/>
          <a:stretch>
            <a:fillRect/>
          </a:stretch>
        </p:blipFill>
        <p:spPr>
          <a:xfrm>
            <a:off x="7772400" y="3566160"/>
            <a:ext cx="237744" cy="237744"/>
          </a:xfrm>
          <a:prstGeom prst="rect">
            <a:avLst/>
          </a:prstGeom>
        </p:spPr>
      </p:pic>
      <p:sp>
        <p:nvSpPr>
          <p:cNvPr id="36" name="Text 29"/>
          <p:cNvSpPr txBox="1"/>
          <p:nvPr/>
        </p:nvSpPr>
        <p:spPr>
          <a:xfrm>
            <a:off x="8101584" y="3529584"/>
            <a:ext cx="1295248" cy="310896"/>
          </a:xfrm>
          <a:prstGeom prst="rect">
            <a:avLst/>
          </a:prstGeom>
          <a:noFill/>
          <a:ln/>
        </p:spPr>
        <p:txBody>
          <a:bodyPr wrap="square" lIns="0" tIns="0" rIns="0" bIns="0" rtlCol="0" anchor="ctr"/>
          <a:lstStyle/>
          <a:p>
            <a:pPr indent="0" marL="0">
              <a:buNone/>
            </a:pPr>
            <a:r>
              <a:rPr lang="en-US" sz="1400" b="1" dirty="0">
                <a:solidFill>
                  <a:srgbClr val="1E2330"/>
                </a:solidFill>
                <a:latin typeface="BIZ UDPGothic" pitchFamily="34" charset="0"/>
                <a:ea typeface="BIZ UDPGothic" pitchFamily="34" charset="-122"/>
                <a:cs typeface="BIZ UDPGothic" pitchFamily="34" charset="-120"/>
              </a:rPr>
              <a:t>File</a:t>
            </a:r>
            <a:endParaRPr lang="en-US" sz="1400" dirty="0"/>
          </a:p>
        </p:txBody>
      </p:sp>
      <p:sp>
        <p:nvSpPr>
          <p:cNvPr id="37" name="Text 30"/>
          <p:cNvSpPr txBox="1"/>
          <p:nvPr/>
        </p:nvSpPr>
        <p:spPr>
          <a:xfrm>
            <a:off x="7772400" y="3931920"/>
            <a:ext cx="1615288" cy="310896"/>
          </a:xfrm>
          <a:prstGeom prst="rect">
            <a:avLst/>
          </a:prstGeom>
          <a:noFill/>
          <a:ln/>
        </p:spPr>
        <p:txBody>
          <a:bodyPr wrap="square" lIns="0" tIns="0" rIns="0" bIns="0" rtlCol="0" anchor="ctr"/>
          <a:lstStyle/>
          <a:p>
            <a:pPr indent="0" marL="0">
              <a:buNone/>
            </a:pPr>
            <a:r>
              <a:rPr lang="en-US" sz="1150" dirty="0">
                <a:solidFill>
                  <a:srgbClr val="5A6272"/>
                </a:solidFill>
                <a:latin typeface="BIZ UDPGothic" pitchFamily="34" charset="0"/>
                <a:ea typeface="BIZ UDPGothic" pitchFamily="34" charset="-122"/>
                <a:cs typeface="BIZ UDPGothic" pitchFamily="34" charset="-120"/>
              </a:rPr>
              <a:t>読める / 書ける場所</a:t>
            </a:r>
            <a:endParaRPr lang="en-US" sz="1150" dirty="0"/>
          </a:p>
        </p:txBody>
      </p:sp>
      <p:sp>
        <p:nvSpPr>
          <p:cNvPr id="38" name="Shape 31"/>
          <p:cNvSpPr/>
          <p:nvPr/>
        </p:nvSpPr>
        <p:spPr>
          <a:xfrm>
            <a:off x="9707728" y="3383280"/>
            <a:ext cx="1935328" cy="1005840"/>
          </a:xfrm>
          <a:prstGeom prst="roundRect">
            <a:avLst>
              <a:gd name="adj" fmla="val 7273"/>
            </a:avLst>
          </a:prstGeom>
          <a:solidFill>
            <a:srgbClr val="FFFFFF"/>
          </a:solidFill>
          <a:ln w="12700">
            <a:solidFill>
              <a:srgbClr val="DDE1E8"/>
            </a:solidFill>
            <a:prstDash val="solid"/>
          </a:ln>
        </p:spPr>
      </p:sp>
      <p:pic>
        <p:nvPicPr>
          <p:cNvPr id="39" name="Image 5" descr="preencoded.png">    </p:cNvPr>
          <p:cNvPicPr>
            <a:picLocks noChangeAspect="1"/>
          </p:cNvPicPr>
          <p:nvPr/>
        </p:nvPicPr>
        <p:blipFill>
          <a:blip r:embed="rId6"/>
          <a:stretch>
            <a:fillRect/>
          </a:stretch>
        </p:blipFill>
        <p:spPr>
          <a:xfrm>
            <a:off x="9890608" y="3566160"/>
            <a:ext cx="237744" cy="237744"/>
          </a:xfrm>
          <a:prstGeom prst="rect">
            <a:avLst/>
          </a:prstGeom>
        </p:spPr>
      </p:pic>
      <p:sp>
        <p:nvSpPr>
          <p:cNvPr id="40" name="Text 32"/>
          <p:cNvSpPr txBox="1"/>
          <p:nvPr/>
        </p:nvSpPr>
        <p:spPr>
          <a:xfrm>
            <a:off x="10219792" y="3529584"/>
            <a:ext cx="1295248" cy="310896"/>
          </a:xfrm>
          <a:prstGeom prst="rect">
            <a:avLst/>
          </a:prstGeom>
          <a:noFill/>
          <a:ln/>
        </p:spPr>
        <p:txBody>
          <a:bodyPr wrap="square" lIns="0" tIns="0" rIns="0" bIns="0" rtlCol="0" anchor="ctr"/>
          <a:lstStyle/>
          <a:p>
            <a:pPr indent="0" marL="0">
              <a:buNone/>
            </a:pPr>
            <a:r>
              <a:rPr lang="en-US" sz="1400" b="1" dirty="0">
                <a:solidFill>
                  <a:srgbClr val="1E2330"/>
                </a:solidFill>
                <a:latin typeface="BIZ UDPGothic" pitchFamily="34" charset="0"/>
                <a:ea typeface="BIZ UDPGothic" pitchFamily="34" charset="-122"/>
                <a:cs typeface="BIZ UDPGothic" pitchFamily="34" charset="-120"/>
              </a:rPr>
              <a:t>Network</a:t>
            </a:r>
            <a:endParaRPr lang="en-US" sz="1400" dirty="0"/>
          </a:p>
        </p:txBody>
      </p:sp>
      <p:sp>
        <p:nvSpPr>
          <p:cNvPr id="41" name="Text 33"/>
          <p:cNvSpPr txBox="1"/>
          <p:nvPr/>
        </p:nvSpPr>
        <p:spPr>
          <a:xfrm>
            <a:off x="9890608" y="3931920"/>
            <a:ext cx="1615288" cy="310896"/>
          </a:xfrm>
          <a:prstGeom prst="rect">
            <a:avLst/>
          </a:prstGeom>
          <a:noFill/>
          <a:ln/>
        </p:spPr>
        <p:txBody>
          <a:bodyPr wrap="square" lIns="0" tIns="0" rIns="0" bIns="0" rtlCol="0" anchor="ctr"/>
          <a:lstStyle/>
          <a:p>
            <a:pPr indent="0" marL="0">
              <a:buNone/>
            </a:pPr>
            <a:r>
              <a:rPr lang="en-US" sz="1150" dirty="0">
                <a:solidFill>
                  <a:srgbClr val="5A6272"/>
                </a:solidFill>
                <a:latin typeface="BIZ UDPGothic" pitchFamily="34" charset="0"/>
                <a:ea typeface="BIZ UDPGothic" pitchFamily="34" charset="-122"/>
                <a:cs typeface="BIZ UDPGothic" pitchFamily="34" charset="-120"/>
              </a:rPr>
              <a:t>通信できる宛先</a:t>
            </a:r>
            <a:endParaRPr lang="en-US" sz="1150" dirty="0"/>
          </a:p>
        </p:txBody>
      </p:sp>
      <p:sp>
        <p:nvSpPr>
          <p:cNvPr id="42" name="Shape 34"/>
          <p:cNvSpPr/>
          <p:nvPr/>
        </p:nvSpPr>
        <p:spPr>
          <a:xfrm>
            <a:off x="7589520" y="4572000"/>
            <a:ext cx="1935328" cy="1005840"/>
          </a:xfrm>
          <a:prstGeom prst="roundRect">
            <a:avLst>
              <a:gd name="adj" fmla="val 7273"/>
            </a:avLst>
          </a:prstGeom>
          <a:solidFill>
            <a:srgbClr val="FFFFFF"/>
          </a:solidFill>
          <a:ln w="12700">
            <a:solidFill>
              <a:srgbClr val="DDE1E8"/>
            </a:solidFill>
            <a:prstDash val="solid"/>
          </a:ln>
        </p:spPr>
      </p:sp>
      <p:pic>
        <p:nvPicPr>
          <p:cNvPr id="43" name="Image 6" descr="preencoded.png">    </p:cNvPr>
          <p:cNvPicPr>
            <a:picLocks noChangeAspect="1"/>
          </p:cNvPicPr>
          <p:nvPr/>
        </p:nvPicPr>
        <p:blipFill>
          <a:blip r:embed="rId7"/>
          <a:stretch>
            <a:fillRect/>
          </a:stretch>
        </p:blipFill>
        <p:spPr>
          <a:xfrm>
            <a:off x="7772400" y="4754880"/>
            <a:ext cx="237744" cy="237744"/>
          </a:xfrm>
          <a:prstGeom prst="rect">
            <a:avLst/>
          </a:prstGeom>
        </p:spPr>
      </p:pic>
      <p:sp>
        <p:nvSpPr>
          <p:cNvPr id="44" name="Text 35"/>
          <p:cNvSpPr txBox="1"/>
          <p:nvPr/>
        </p:nvSpPr>
        <p:spPr>
          <a:xfrm>
            <a:off x="8101584" y="4718304"/>
            <a:ext cx="1295248" cy="310896"/>
          </a:xfrm>
          <a:prstGeom prst="rect">
            <a:avLst/>
          </a:prstGeom>
          <a:noFill/>
          <a:ln/>
        </p:spPr>
        <p:txBody>
          <a:bodyPr wrap="square" lIns="0" tIns="0" rIns="0" bIns="0" rtlCol="0" anchor="ctr"/>
          <a:lstStyle/>
          <a:p>
            <a:pPr indent="0" marL="0">
              <a:buNone/>
            </a:pPr>
            <a:r>
              <a:rPr lang="en-US" sz="1400" b="1" dirty="0">
                <a:solidFill>
                  <a:srgbClr val="1E2330"/>
                </a:solidFill>
                <a:latin typeface="BIZ UDPGothic" pitchFamily="34" charset="0"/>
                <a:ea typeface="BIZ UDPGothic" pitchFamily="34" charset="-122"/>
                <a:cs typeface="BIZ UDPGothic" pitchFamily="34" charset="-120"/>
              </a:rPr>
              <a:t>Process</a:t>
            </a:r>
            <a:endParaRPr lang="en-US" sz="1400" dirty="0"/>
          </a:p>
        </p:txBody>
      </p:sp>
      <p:sp>
        <p:nvSpPr>
          <p:cNvPr id="45" name="Text 36"/>
          <p:cNvSpPr txBox="1"/>
          <p:nvPr/>
        </p:nvSpPr>
        <p:spPr>
          <a:xfrm>
            <a:off x="7772400" y="5120640"/>
            <a:ext cx="1615288" cy="310896"/>
          </a:xfrm>
          <a:prstGeom prst="rect">
            <a:avLst/>
          </a:prstGeom>
          <a:noFill/>
          <a:ln/>
        </p:spPr>
        <p:txBody>
          <a:bodyPr wrap="square" lIns="0" tIns="0" rIns="0" bIns="0" rtlCol="0" anchor="ctr"/>
          <a:lstStyle/>
          <a:p>
            <a:pPr indent="0" marL="0">
              <a:buNone/>
            </a:pPr>
            <a:r>
              <a:rPr lang="en-US" sz="1150" dirty="0">
                <a:solidFill>
                  <a:srgbClr val="5A6272"/>
                </a:solidFill>
                <a:latin typeface="BIZ UDPGothic" pitchFamily="34" charset="0"/>
                <a:ea typeface="BIZ UDPGothic" pitchFamily="34" charset="-122"/>
                <a:cs typeface="BIZ UDPGothic" pitchFamily="34" charset="-120"/>
              </a:rPr>
              <a:t>子プロセスの動作</a:t>
            </a:r>
            <a:endParaRPr lang="en-US" sz="1150" dirty="0"/>
          </a:p>
        </p:txBody>
      </p:sp>
      <p:sp>
        <p:nvSpPr>
          <p:cNvPr id="46" name="Shape 37"/>
          <p:cNvSpPr/>
          <p:nvPr/>
        </p:nvSpPr>
        <p:spPr>
          <a:xfrm>
            <a:off x="9707728" y="4572000"/>
            <a:ext cx="1935328" cy="1005840"/>
          </a:xfrm>
          <a:prstGeom prst="roundRect">
            <a:avLst>
              <a:gd name="adj" fmla="val 7273"/>
            </a:avLst>
          </a:prstGeom>
          <a:solidFill>
            <a:srgbClr val="FFFFFF"/>
          </a:solidFill>
          <a:ln w="12700">
            <a:solidFill>
              <a:srgbClr val="DDE1E8"/>
            </a:solidFill>
            <a:prstDash val="solid"/>
          </a:ln>
        </p:spPr>
      </p:sp>
      <p:pic>
        <p:nvPicPr>
          <p:cNvPr id="47" name="Image 7" descr="preencoded.png">    </p:cNvPr>
          <p:cNvPicPr>
            <a:picLocks noChangeAspect="1"/>
          </p:cNvPicPr>
          <p:nvPr/>
        </p:nvPicPr>
        <p:blipFill>
          <a:blip r:embed="rId8"/>
          <a:stretch>
            <a:fillRect/>
          </a:stretch>
        </p:blipFill>
        <p:spPr>
          <a:xfrm>
            <a:off x="9890608" y="4754880"/>
            <a:ext cx="237744" cy="237744"/>
          </a:xfrm>
          <a:prstGeom prst="rect">
            <a:avLst/>
          </a:prstGeom>
        </p:spPr>
      </p:pic>
      <p:sp>
        <p:nvSpPr>
          <p:cNvPr id="48" name="Text 38"/>
          <p:cNvSpPr txBox="1"/>
          <p:nvPr/>
        </p:nvSpPr>
        <p:spPr>
          <a:xfrm>
            <a:off x="10219792" y="4718304"/>
            <a:ext cx="1295248" cy="310896"/>
          </a:xfrm>
          <a:prstGeom prst="rect">
            <a:avLst/>
          </a:prstGeom>
          <a:noFill/>
          <a:ln/>
        </p:spPr>
        <p:txBody>
          <a:bodyPr wrap="square" lIns="0" tIns="0" rIns="0" bIns="0" rtlCol="0" anchor="ctr"/>
          <a:lstStyle/>
          <a:p>
            <a:pPr indent="0" marL="0">
              <a:buNone/>
            </a:pPr>
            <a:r>
              <a:rPr lang="en-US" sz="1400" b="1" dirty="0">
                <a:solidFill>
                  <a:srgbClr val="1E2330"/>
                </a:solidFill>
                <a:latin typeface="BIZ UDPGothic" pitchFamily="34" charset="0"/>
                <a:ea typeface="BIZ UDPGothic" pitchFamily="34" charset="-122"/>
                <a:cs typeface="BIZ UDPGothic" pitchFamily="34" charset="-120"/>
              </a:rPr>
              <a:t>Secret</a:t>
            </a:r>
            <a:endParaRPr lang="en-US" sz="1400" dirty="0"/>
          </a:p>
        </p:txBody>
      </p:sp>
      <p:sp>
        <p:nvSpPr>
          <p:cNvPr id="49" name="Text 39"/>
          <p:cNvSpPr txBox="1"/>
          <p:nvPr/>
        </p:nvSpPr>
        <p:spPr>
          <a:xfrm>
            <a:off x="9890608" y="5120640"/>
            <a:ext cx="1615288" cy="310896"/>
          </a:xfrm>
          <a:prstGeom prst="rect">
            <a:avLst/>
          </a:prstGeom>
          <a:noFill/>
          <a:ln/>
        </p:spPr>
        <p:txBody>
          <a:bodyPr wrap="square" lIns="0" tIns="0" rIns="0" bIns="0" rtlCol="0" anchor="ctr"/>
          <a:lstStyle/>
          <a:p>
            <a:pPr indent="0" marL="0">
              <a:buNone/>
            </a:pPr>
            <a:r>
              <a:rPr lang="en-US" sz="1150" dirty="0">
                <a:solidFill>
                  <a:srgbClr val="5A6272"/>
                </a:solidFill>
                <a:latin typeface="BIZ UDPGothic" pitchFamily="34" charset="0"/>
                <a:ea typeface="BIZ UDPGothic" pitchFamily="34" charset="-122"/>
                <a:cs typeface="BIZ UDPGothic" pitchFamily="34" charset="-120"/>
              </a:rPr>
              <a:t>鍵・環境変数の露出</a:t>
            </a:r>
            <a:endParaRPr lang="en-US" sz="1150" dirty="0"/>
          </a:p>
        </p:txBody>
      </p:sp>
      <p:sp>
        <p:nvSpPr>
          <p:cNvPr id="50" name="Shape 40"/>
          <p:cNvSpPr/>
          <p:nvPr/>
        </p:nvSpPr>
        <p:spPr>
          <a:xfrm>
            <a:off x="548640" y="5715000"/>
            <a:ext cx="11094415" cy="530352"/>
          </a:xfrm>
          <a:prstGeom prst="roundRect">
            <a:avLst>
              <a:gd name="adj" fmla="val 10345"/>
            </a:avLst>
          </a:prstGeom>
          <a:solidFill>
            <a:srgbClr val="F4F6F9"/>
          </a:solidFill>
          <a:ln/>
        </p:spPr>
      </p:sp>
      <p:sp>
        <p:nvSpPr>
          <p:cNvPr id="51" name="Text 41"/>
          <p:cNvSpPr txBox="1"/>
          <p:nvPr/>
        </p:nvSpPr>
        <p:spPr>
          <a:xfrm>
            <a:off x="777240" y="5715000"/>
            <a:ext cx="1371600" cy="530352"/>
          </a:xfrm>
          <a:prstGeom prst="rect">
            <a:avLst/>
          </a:prstGeom>
          <a:noFill/>
          <a:ln/>
        </p:spPr>
        <p:txBody>
          <a:bodyPr wrap="square" lIns="0" tIns="0" rIns="0" bIns="0" rtlCol="0" anchor="ctr"/>
          <a:lstStyle/>
          <a:p>
            <a:pPr indent="0" marL="0">
              <a:buNone/>
            </a:pPr>
            <a:r>
              <a:rPr lang="en-US" sz="1250" b="1" dirty="0">
                <a:solidFill>
                  <a:srgbClr val="5A6272"/>
                </a:solidFill>
                <a:latin typeface="BIZ UDPGothic" pitchFamily="34" charset="0"/>
                <a:ea typeface="BIZ UDPGothic" pitchFamily="34" charset="-122"/>
                <a:cs typeface="BIZ UDPGothic" pitchFamily="34" charset="-120"/>
              </a:rPr>
              <a:t>Windows前提</a:t>
            </a:r>
            <a:endParaRPr lang="en-US" sz="1250" dirty="0"/>
          </a:p>
        </p:txBody>
      </p:sp>
      <p:sp>
        <p:nvSpPr>
          <p:cNvPr id="52" name="Text 42"/>
          <p:cNvSpPr txBox="1"/>
          <p:nvPr/>
        </p:nvSpPr>
        <p:spPr>
          <a:xfrm>
            <a:off x="2194560" y="5715000"/>
            <a:ext cx="4297680" cy="530352"/>
          </a:xfrm>
          <a:prstGeom prst="rect">
            <a:avLst/>
          </a:prstGeom>
          <a:noFill/>
          <a:ln/>
        </p:spPr>
        <p:txBody>
          <a:bodyPr wrap="square" lIns="0" tIns="0" rIns="0" bIns="0" rtlCol="0" anchor="ctr"/>
          <a:lstStyle/>
          <a:p>
            <a:pPr indent="0" marL="0">
              <a:buNone/>
            </a:pPr>
            <a:r>
              <a:rPr lang="en-US" sz="1250" b="1" dirty="0">
                <a:solidFill>
                  <a:srgbClr val="C15F3C"/>
                </a:solidFill>
                <a:latin typeface="BIZ UDPGothic" pitchFamily="34" charset="0"/>
                <a:ea typeface="BIZ UDPGothic" pitchFamily="34" charset="-122"/>
                <a:cs typeface="BIZ UDPGothic" pitchFamily="34" charset="-120"/>
              </a:rPr>
              <a:t>Claude Code　</a:t>
            </a:r>
            <a:pPr indent="0" marL="0">
              <a:buNone/>
            </a:pPr>
            <a:r>
              <a:rPr lang="en-US" sz="1250" dirty="0">
                <a:solidFill>
                  <a:srgbClr val="1E2330"/>
                </a:solidFill>
                <a:latin typeface="BIZ UDPGothic" pitchFamily="34" charset="0"/>
                <a:ea typeface="BIZ UDPGothic" pitchFamily="34" charset="-122"/>
                <a:cs typeface="BIZ UDPGothic" pitchFamily="34" charset="-120"/>
              </a:rPr>
              <a:t>WSL2上のLinux sandboxとして扱う</a:t>
            </a:r>
            <a:endParaRPr lang="en-US" sz="1250" dirty="0"/>
          </a:p>
        </p:txBody>
      </p:sp>
      <p:sp>
        <p:nvSpPr>
          <p:cNvPr id="53" name="Text 43"/>
          <p:cNvSpPr txBox="1"/>
          <p:nvPr/>
        </p:nvSpPr>
        <p:spPr>
          <a:xfrm>
            <a:off x="6583680" y="5715000"/>
            <a:ext cx="4983480" cy="530352"/>
          </a:xfrm>
          <a:prstGeom prst="rect">
            <a:avLst/>
          </a:prstGeom>
          <a:noFill/>
          <a:ln/>
        </p:spPr>
        <p:txBody>
          <a:bodyPr wrap="square" lIns="0" tIns="0" rIns="0" bIns="0" rtlCol="0" anchor="ctr"/>
          <a:lstStyle/>
          <a:p>
            <a:pPr indent="0" marL="0">
              <a:buNone/>
            </a:pPr>
            <a:r>
              <a:rPr lang="en-US" sz="1250" b="1" dirty="0">
                <a:solidFill>
                  <a:srgbClr val="3A55B4"/>
                </a:solidFill>
                <a:latin typeface="BIZ UDPGothic" pitchFamily="34" charset="0"/>
                <a:ea typeface="BIZ UDPGothic" pitchFamily="34" charset="-122"/>
                <a:cs typeface="BIZ UDPGothic" pitchFamily="34" charset="-120"/>
              </a:rPr>
              <a:t>Codex　</a:t>
            </a:r>
            <a:pPr indent="0" marL="0">
              <a:buNone/>
            </a:pPr>
            <a:r>
              <a:rPr lang="en-US" sz="1250" dirty="0">
                <a:solidFill>
                  <a:srgbClr val="1E2330"/>
                </a:solidFill>
                <a:latin typeface="BIZ UDPGothic" pitchFamily="34" charset="0"/>
                <a:ea typeface="BIZ UDPGothic" pitchFamily="34" charset="-122"/>
                <a:cs typeface="BIZ UDPGothic" pitchFamily="34" charset="-120"/>
              </a:rPr>
              <a:t>Windows native sandbox（原則 elevated）を評価</a:t>
            </a:r>
            <a:endParaRPr lang="en-US" sz="1250" dirty="0"/>
          </a:p>
        </p:txBody>
      </p:sp>
      <p:sp>
        <p:nvSpPr>
          <p:cNvPr id="54" name="Text 44"/>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Anthropic Claude Code /sandboxing; OpenAI Codex Windows sandbox docs (verified 2026-09-22)</a:t>
            </a:r>
            <a:endParaRPr lang="en-US" sz="900" dirty="0"/>
          </a:p>
        </p:txBody>
      </p:sp>
      <p:sp>
        <p:nvSpPr>
          <p:cNvPr id="55" name="Text 45"/>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F4F6F9"/>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共通</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Sandboxで確認するリスク</a:t>
            </a:r>
            <a:endParaRPr lang="en-US" sz="2800" dirty="0"/>
          </a:p>
        </p:txBody>
      </p:sp>
      <p:sp>
        <p:nvSpPr>
          <p:cNvPr id="6" name="Text 4"/>
          <p:cNvSpPr txBox="1"/>
          <p:nvPr/>
        </p:nvSpPr>
        <p:spPr>
          <a:xfrm>
            <a:off x="548640" y="1207008"/>
            <a:ext cx="11094415" cy="329184"/>
          </a:xfrm>
          <a:prstGeom prst="rect">
            <a:avLst/>
          </a:prstGeom>
          <a:noFill/>
          <a:ln/>
        </p:spPr>
        <p:txBody>
          <a:bodyPr wrap="square" lIns="0" tIns="0" rIns="0" bIns="0" rtlCol="0" anchor="ctr"/>
          <a:lstStyle/>
          <a:p>
            <a:pPr indent="0" marL="0">
              <a:buNone/>
            </a:pPr>
            <a:r>
              <a:rPr lang="en-US" sz="1400" dirty="0">
                <a:solidFill>
                  <a:srgbClr val="5A6272"/>
                </a:solidFill>
                <a:latin typeface="BIZ UDPGothic" pitchFamily="34" charset="0"/>
                <a:ea typeface="BIZ UDPGothic" pitchFamily="34" charset="-122"/>
                <a:cs typeface="BIZ UDPGothic" pitchFamily="34" charset="-120"/>
              </a:rPr>
              <a:t>R1〜R7を先に固定し、Claude Code / Codexを同一観点で検証</a:t>
            </a:r>
            <a:endParaRPr lang="en-US" sz="1400" dirty="0"/>
          </a:p>
        </p:txBody>
      </p:sp>
      <p:sp>
        <p:nvSpPr>
          <p:cNvPr id="7" name="Text 5"/>
          <p:cNvSpPr txBox="1"/>
          <p:nvPr/>
        </p:nvSpPr>
        <p:spPr>
          <a:xfrm>
            <a:off x="548640" y="1691640"/>
            <a:ext cx="6949440" cy="411480"/>
          </a:xfrm>
          <a:prstGeom prst="rect">
            <a:avLst/>
          </a:prstGeom>
          <a:noFill/>
          <a:ln/>
        </p:spPr>
        <p:txBody>
          <a:bodyPr wrap="square" lIns="0" tIns="0" rIns="0" bIns="0" rtlCol="0" anchor="ctr"/>
          <a:lstStyle/>
          <a:p>
            <a:pPr indent="0" marL="0">
              <a:buNone/>
            </a:pPr>
            <a:r>
              <a:rPr lang="en-US" sz="1600" dirty="0">
                <a:solidFill>
                  <a:srgbClr val="1E2330"/>
                </a:solidFill>
                <a:latin typeface="BIZ UDPGothic" pitchFamily="34" charset="0"/>
                <a:ea typeface="BIZ UDPGothic" pitchFamily="34" charset="-122"/>
                <a:cs typeface="BIZ UDPGothic" pitchFamily="34" charset="-120"/>
              </a:rPr>
              <a:t>確認対象は「便利に開発できるか」ではなく、</a:t>
            </a:r>
            <a:pPr indent="0" marL="0">
              <a:buNone/>
            </a:pPr>
            <a:r>
              <a:rPr lang="en-US" sz="1600" b="1" dirty="0">
                <a:solidFill>
                  <a:srgbClr val="B83A3A"/>
                </a:solidFill>
                <a:latin typeface="BIZ UDPGothic" pitchFamily="34" charset="0"/>
                <a:ea typeface="BIZ UDPGothic" pitchFamily="34" charset="-122"/>
                <a:cs typeface="BIZ UDPGothic" pitchFamily="34" charset="-120"/>
              </a:rPr>
              <a:t>AIが境界を越えないか</a:t>
            </a:r>
            <a:endParaRPr lang="en-US" sz="1600" dirty="0"/>
          </a:p>
        </p:txBody>
      </p:sp>
      <p:sp>
        <p:nvSpPr>
          <p:cNvPr id="8" name="Shape 6"/>
          <p:cNvSpPr/>
          <p:nvPr/>
        </p:nvSpPr>
        <p:spPr>
          <a:xfrm>
            <a:off x="7818120" y="1737360"/>
            <a:ext cx="1005840" cy="329184"/>
          </a:xfrm>
          <a:prstGeom prst="roundRect">
            <a:avLst>
              <a:gd name="adj" fmla="val 50000"/>
            </a:avLst>
          </a:prstGeom>
          <a:solidFill>
            <a:srgbClr val="1E2330"/>
          </a:solidFill>
          <a:ln/>
        </p:spPr>
      </p:sp>
      <p:sp>
        <p:nvSpPr>
          <p:cNvPr id="9" name="Text 7"/>
          <p:cNvSpPr txBox="1"/>
          <p:nvPr/>
        </p:nvSpPr>
        <p:spPr>
          <a:xfrm>
            <a:off x="7818120" y="1737360"/>
            <a:ext cx="100584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BIZ UDPGothic" pitchFamily="34" charset="0"/>
                <a:ea typeface="BIZ UDPGothic" pitchFamily="34" charset="-122"/>
                <a:cs typeface="BIZ UDPGothic" pitchFamily="34" charset="-120"/>
              </a:rPr>
              <a:t>リスク</a:t>
            </a:r>
            <a:endParaRPr lang="en-US" sz="1150" dirty="0"/>
          </a:p>
        </p:txBody>
      </p:sp>
      <p:pic>
        <p:nvPicPr>
          <p:cNvPr id="10" name="Image 0" descr="preencoded.png">    </p:cNvPr>
          <p:cNvPicPr>
            <a:picLocks noChangeAspect="1"/>
          </p:cNvPicPr>
          <p:nvPr/>
        </p:nvPicPr>
        <p:blipFill>
          <a:blip r:embed="rId1"/>
          <a:stretch>
            <a:fillRect/>
          </a:stretch>
        </p:blipFill>
        <p:spPr>
          <a:xfrm>
            <a:off x="8887968" y="1828800"/>
            <a:ext cx="155448" cy="155448"/>
          </a:xfrm>
          <a:prstGeom prst="rect">
            <a:avLst/>
          </a:prstGeom>
        </p:spPr>
      </p:pic>
      <p:sp>
        <p:nvSpPr>
          <p:cNvPr id="11" name="Shape 8"/>
          <p:cNvSpPr/>
          <p:nvPr/>
        </p:nvSpPr>
        <p:spPr>
          <a:xfrm>
            <a:off x="9116568" y="1737360"/>
            <a:ext cx="1005840" cy="329184"/>
          </a:xfrm>
          <a:prstGeom prst="roundRect">
            <a:avLst>
              <a:gd name="adj" fmla="val 50000"/>
            </a:avLst>
          </a:prstGeom>
          <a:solidFill>
            <a:srgbClr val="F4F6F9"/>
          </a:solidFill>
          <a:ln/>
        </p:spPr>
      </p:sp>
      <p:sp>
        <p:nvSpPr>
          <p:cNvPr id="12" name="Text 9"/>
          <p:cNvSpPr txBox="1"/>
          <p:nvPr/>
        </p:nvSpPr>
        <p:spPr>
          <a:xfrm>
            <a:off x="9116568" y="1737360"/>
            <a:ext cx="1005840" cy="329184"/>
          </a:xfrm>
          <a:prstGeom prst="rect">
            <a:avLst/>
          </a:prstGeom>
          <a:noFill/>
          <a:ln/>
        </p:spPr>
        <p:txBody>
          <a:bodyPr wrap="square" lIns="0" tIns="0" rIns="0" bIns="0" rtlCol="0" anchor="ctr"/>
          <a:lstStyle/>
          <a:p>
            <a:pPr algn="ctr" indent="0" marL="0">
              <a:buNone/>
            </a:pPr>
            <a:r>
              <a:rPr lang="en-US" sz="1150" b="1" dirty="0">
                <a:solidFill>
                  <a:srgbClr val="1E2330"/>
                </a:solidFill>
                <a:latin typeface="BIZ UDPGothic" pitchFamily="34" charset="0"/>
                <a:ea typeface="BIZ UDPGothic" pitchFamily="34" charset="-122"/>
                <a:cs typeface="BIZ UDPGothic" pitchFamily="34" charset="-120"/>
              </a:rPr>
              <a:t>設定</a:t>
            </a:r>
            <a:endParaRPr lang="en-US" sz="1150" dirty="0"/>
          </a:p>
        </p:txBody>
      </p:sp>
      <p:pic>
        <p:nvPicPr>
          <p:cNvPr id="13" name="Image 1" descr="preencoded.png">    </p:cNvPr>
          <p:cNvPicPr>
            <a:picLocks noChangeAspect="1"/>
          </p:cNvPicPr>
          <p:nvPr/>
        </p:nvPicPr>
        <p:blipFill>
          <a:blip r:embed="rId2"/>
          <a:stretch>
            <a:fillRect/>
          </a:stretch>
        </p:blipFill>
        <p:spPr>
          <a:xfrm>
            <a:off x="10186416" y="1828800"/>
            <a:ext cx="155448" cy="155448"/>
          </a:xfrm>
          <a:prstGeom prst="rect">
            <a:avLst/>
          </a:prstGeom>
        </p:spPr>
      </p:pic>
      <p:sp>
        <p:nvSpPr>
          <p:cNvPr id="14" name="Shape 10"/>
          <p:cNvSpPr/>
          <p:nvPr/>
        </p:nvSpPr>
        <p:spPr>
          <a:xfrm>
            <a:off x="10415016" y="1737360"/>
            <a:ext cx="1005840" cy="329184"/>
          </a:xfrm>
          <a:prstGeom prst="roundRect">
            <a:avLst>
              <a:gd name="adj" fmla="val 50000"/>
            </a:avLst>
          </a:prstGeom>
          <a:solidFill>
            <a:srgbClr val="F4F6F9"/>
          </a:solidFill>
          <a:ln/>
        </p:spPr>
      </p:sp>
      <p:sp>
        <p:nvSpPr>
          <p:cNvPr id="15" name="Text 11"/>
          <p:cNvSpPr txBox="1"/>
          <p:nvPr/>
        </p:nvSpPr>
        <p:spPr>
          <a:xfrm>
            <a:off x="10415016" y="1737360"/>
            <a:ext cx="1005840" cy="329184"/>
          </a:xfrm>
          <a:prstGeom prst="rect">
            <a:avLst/>
          </a:prstGeom>
          <a:noFill/>
          <a:ln/>
        </p:spPr>
        <p:txBody>
          <a:bodyPr wrap="square" lIns="0" tIns="0" rIns="0" bIns="0" rtlCol="0" anchor="ctr"/>
          <a:lstStyle/>
          <a:p>
            <a:pPr algn="ctr" indent="0" marL="0">
              <a:buNone/>
            </a:pPr>
            <a:r>
              <a:rPr lang="en-US" sz="1150" b="1" dirty="0">
                <a:solidFill>
                  <a:srgbClr val="1E2330"/>
                </a:solidFill>
                <a:latin typeface="BIZ UDPGothic" pitchFamily="34" charset="0"/>
                <a:ea typeface="BIZ UDPGothic" pitchFamily="34" charset="-122"/>
                <a:cs typeface="BIZ UDPGothic" pitchFamily="34" charset="-120"/>
              </a:rPr>
              <a:t>実機試験</a:t>
            </a:r>
            <a:endParaRPr lang="en-US" sz="1150" dirty="0"/>
          </a:p>
        </p:txBody>
      </p:sp>
      <p:sp>
        <p:nvSpPr>
          <p:cNvPr id="16" name="Shape 12"/>
          <p:cNvSpPr/>
          <p:nvPr/>
        </p:nvSpPr>
        <p:spPr>
          <a:xfrm>
            <a:off x="548640" y="2331720"/>
            <a:ext cx="7909560" cy="3886200"/>
          </a:xfrm>
          <a:prstGeom prst="roundRect">
            <a:avLst>
              <a:gd name="adj" fmla="val 1412"/>
            </a:avLst>
          </a:prstGeom>
          <a:solidFill>
            <a:srgbClr val="E8F4EE"/>
          </a:solidFill>
          <a:ln/>
        </p:spPr>
      </p:sp>
      <p:sp>
        <p:nvSpPr>
          <p:cNvPr id="17" name="Text 13"/>
          <p:cNvSpPr txBox="1"/>
          <p:nvPr/>
        </p:nvSpPr>
        <p:spPr>
          <a:xfrm>
            <a:off x="777240" y="2468880"/>
            <a:ext cx="5486400" cy="320040"/>
          </a:xfrm>
          <a:prstGeom prst="rect">
            <a:avLst/>
          </a:prstGeom>
          <a:noFill/>
          <a:ln/>
        </p:spPr>
        <p:txBody>
          <a:bodyPr wrap="square" lIns="0" tIns="0" rIns="0" bIns="0" rtlCol="0" anchor="ctr"/>
          <a:lstStyle/>
          <a:p>
            <a:pPr indent="0" marL="0">
              <a:buNone/>
            </a:pPr>
            <a:r>
              <a:rPr lang="en-US" sz="1300" b="1" dirty="0">
                <a:solidFill>
                  <a:srgbClr val="2E7D5B"/>
                </a:solidFill>
                <a:latin typeface="BIZ UDPGothic" pitchFamily="34" charset="0"/>
                <a:ea typeface="BIZ UDPGothic" pitchFamily="34" charset="-122"/>
                <a:cs typeface="BIZ UDPGothic" pitchFamily="34" charset="-120"/>
              </a:rPr>
              <a:t>Local command</a:t>
            </a:r>
            <a:pPr indent="0" marL="0">
              <a:buNone/>
            </a:pPr>
            <a:r>
              <a:rPr lang="en-US" sz="1300" dirty="0">
                <a:solidFill>
                  <a:srgbClr val="2E7D5B"/>
                </a:solidFill>
                <a:latin typeface="BIZ UDPGothic" pitchFamily="34" charset="0"/>
                <a:ea typeface="BIZ UDPGothic" pitchFamily="34" charset="-122"/>
                <a:cs typeface="BIZ UDPGothic" pitchFamily="34" charset="-120"/>
              </a:rPr>
              <a:t>　Sandbox対象</a:t>
            </a:r>
            <a:endParaRPr lang="en-US" sz="1300" dirty="0"/>
          </a:p>
        </p:txBody>
      </p:sp>
      <p:sp>
        <p:nvSpPr>
          <p:cNvPr id="18" name="Shape 14"/>
          <p:cNvSpPr/>
          <p:nvPr/>
        </p:nvSpPr>
        <p:spPr>
          <a:xfrm>
            <a:off x="777240" y="2926080"/>
            <a:ext cx="2392680" cy="1536192"/>
          </a:xfrm>
          <a:prstGeom prst="roundRect">
            <a:avLst>
              <a:gd name="adj" fmla="val 4762"/>
            </a:avLst>
          </a:prstGeom>
          <a:solidFill>
            <a:srgbClr val="FFFFFF"/>
          </a:solidFill>
          <a:ln/>
        </p:spPr>
      </p:sp>
      <p:sp>
        <p:nvSpPr>
          <p:cNvPr id="19" name="Shape 15"/>
          <p:cNvSpPr/>
          <p:nvPr/>
        </p:nvSpPr>
        <p:spPr>
          <a:xfrm>
            <a:off x="960120" y="3090672"/>
            <a:ext cx="502920" cy="256032"/>
          </a:xfrm>
          <a:prstGeom prst="roundRect">
            <a:avLst>
              <a:gd name="adj" fmla="val 50000"/>
            </a:avLst>
          </a:prstGeom>
          <a:solidFill>
            <a:srgbClr val="1E2330"/>
          </a:solidFill>
          <a:ln/>
        </p:spPr>
      </p:sp>
      <p:sp>
        <p:nvSpPr>
          <p:cNvPr id="20" name="Text 16"/>
          <p:cNvSpPr txBox="1"/>
          <p:nvPr/>
        </p:nvSpPr>
        <p:spPr>
          <a:xfrm>
            <a:off x="960120" y="3090672"/>
            <a:ext cx="50292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BIZ UDPGothic" pitchFamily="34" charset="0"/>
                <a:ea typeface="BIZ UDPGothic" pitchFamily="34" charset="-122"/>
                <a:cs typeface="BIZ UDPGothic" pitchFamily="34" charset="-120"/>
              </a:rPr>
              <a:t>R1</a:t>
            </a:r>
            <a:endParaRPr lang="en-US" sz="1050" dirty="0"/>
          </a:p>
        </p:txBody>
      </p:sp>
      <p:sp>
        <p:nvSpPr>
          <p:cNvPr id="21" name="Text 17"/>
          <p:cNvSpPr txBox="1"/>
          <p:nvPr/>
        </p:nvSpPr>
        <p:spPr>
          <a:xfrm>
            <a:off x="960120" y="3401568"/>
            <a:ext cx="2026920" cy="329184"/>
          </a:xfrm>
          <a:prstGeom prst="rect">
            <a:avLst/>
          </a:prstGeom>
          <a:noFill/>
          <a:ln/>
        </p:spPr>
        <p:txBody>
          <a:bodyPr wrap="square" lIns="0" tIns="0" rIns="0" bIns="0" rtlCol="0" anchor="ctr"/>
          <a:lstStyle/>
          <a:p>
            <a:pPr indent="0" marL="0">
              <a:buNone/>
            </a:pPr>
            <a:r>
              <a:rPr lang="en-US" sz="1400" b="1" dirty="0">
                <a:solidFill>
                  <a:srgbClr val="1E2330"/>
                </a:solidFill>
                <a:latin typeface="BIZ UDPGothic" pitchFamily="34" charset="0"/>
                <a:ea typeface="BIZ UDPGothic" pitchFamily="34" charset="-122"/>
                <a:cs typeface="BIZ UDPGothic" pitchFamily="34" charset="-120"/>
              </a:rPr>
              <a:t>Workspace外読取</a:t>
            </a:r>
            <a:endParaRPr lang="en-US" sz="1400" dirty="0"/>
          </a:p>
        </p:txBody>
      </p:sp>
      <p:sp>
        <p:nvSpPr>
          <p:cNvPr id="22" name="Text 18"/>
          <p:cNvSpPr txBox="1"/>
          <p:nvPr/>
        </p:nvSpPr>
        <p:spPr>
          <a:xfrm>
            <a:off x="960120" y="3776472"/>
            <a:ext cx="2026920" cy="640080"/>
          </a:xfrm>
          <a:prstGeom prst="rect">
            <a:avLst/>
          </a:prstGeom>
          <a:noFill/>
          <a:ln/>
        </p:spPr>
        <p:txBody>
          <a:bodyPr wrap="square" lIns="0" tIns="0" rIns="0" bIns="0" rtlCol="0" anchor="t"/>
          <a:lstStyle/>
          <a:p>
            <a:pPr indent="0" marL="0">
              <a:lnSpc>
                <a:spcPct val="105000"/>
              </a:lnSpc>
              <a:buNone/>
            </a:pPr>
            <a:r>
              <a:rPr lang="en-US" sz="1150" dirty="0">
                <a:solidFill>
                  <a:srgbClr val="5A6272"/>
                </a:solidFill>
                <a:latin typeface="BIZ UDPGothic" pitchFamily="34" charset="0"/>
                <a:ea typeface="BIZ UDPGothic" pitchFamily="34" charset="-122"/>
                <a:cs typeface="BIZ UDPGothic" pitchFamily="34" charset="-120"/>
              </a:rPr>
              <a:t>ホーム配下・別リポジトリ・共有ドライブを読めないか</a:t>
            </a:r>
            <a:endParaRPr lang="en-US" sz="1150" dirty="0"/>
          </a:p>
        </p:txBody>
      </p:sp>
      <p:sp>
        <p:nvSpPr>
          <p:cNvPr id="23" name="Shape 19"/>
          <p:cNvSpPr/>
          <p:nvPr/>
        </p:nvSpPr>
        <p:spPr>
          <a:xfrm>
            <a:off x="3307080" y="2926080"/>
            <a:ext cx="2392680" cy="1536192"/>
          </a:xfrm>
          <a:prstGeom prst="roundRect">
            <a:avLst>
              <a:gd name="adj" fmla="val 4762"/>
            </a:avLst>
          </a:prstGeom>
          <a:solidFill>
            <a:srgbClr val="FFFFFF"/>
          </a:solidFill>
          <a:ln/>
        </p:spPr>
      </p:sp>
      <p:sp>
        <p:nvSpPr>
          <p:cNvPr id="24" name="Shape 20"/>
          <p:cNvSpPr/>
          <p:nvPr/>
        </p:nvSpPr>
        <p:spPr>
          <a:xfrm>
            <a:off x="3489960" y="3090672"/>
            <a:ext cx="502920" cy="256032"/>
          </a:xfrm>
          <a:prstGeom prst="roundRect">
            <a:avLst>
              <a:gd name="adj" fmla="val 50000"/>
            </a:avLst>
          </a:prstGeom>
          <a:solidFill>
            <a:srgbClr val="1E2330"/>
          </a:solidFill>
          <a:ln/>
        </p:spPr>
      </p:sp>
      <p:sp>
        <p:nvSpPr>
          <p:cNvPr id="25" name="Text 21"/>
          <p:cNvSpPr txBox="1"/>
          <p:nvPr/>
        </p:nvSpPr>
        <p:spPr>
          <a:xfrm>
            <a:off x="3489960" y="3090672"/>
            <a:ext cx="50292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BIZ UDPGothic" pitchFamily="34" charset="0"/>
                <a:ea typeface="BIZ UDPGothic" pitchFamily="34" charset="-122"/>
                <a:cs typeface="BIZ UDPGothic" pitchFamily="34" charset="-120"/>
              </a:rPr>
              <a:t>R2</a:t>
            </a:r>
            <a:endParaRPr lang="en-US" sz="1050" dirty="0"/>
          </a:p>
        </p:txBody>
      </p:sp>
      <p:sp>
        <p:nvSpPr>
          <p:cNvPr id="26" name="Text 22"/>
          <p:cNvSpPr txBox="1"/>
          <p:nvPr/>
        </p:nvSpPr>
        <p:spPr>
          <a:xfrm>
            <a:off x="3489960" y="3401568"/>
            <a:ext cx="2026920" cy="329184"/>
          </a:xfrm>
          <a:prstGeom prst="rect">
            <a:avLst/>
          </a:prstGeom>
          <a:noFill/>
          <a:ln/>
        </p:spPr>
        <p:txBody>
          <a:bodyPr wrap="square" lIns="0" tIns="0" rIns="0" bIns="0" rtlCol="0" anchor="ctr"/>
          <a:lstStyle/>
          <a:p>
            <a:pPr indent="0" marL="0">
              <a:buNone/>
            </a:pPr>
            <a:r>
              <a:rPr lang="en-US" sz="1400" b="1" dirty="0">
                <a:solidFill>
                  <a:srgbClr val="1E2330"/>
                </a:solidFill>
                <a:latin typeface="BIZ UDPGothic" pitchFamily="34" charset="0"/>
                <a:ea typeface="BIZ UDPGothic" pitchFamily="34" charset="-122"/>
                <a:cs typeface="BIZ UDPGothic" pitchFamily="34" charset="-120"/>
              </a:rPr>
              <a:t>Workspace外書込</a:t>
            </a:r>
            <a:endParaRPr lang="en-US" sz="1400" dirty="0"/>
          </a:p>
        </p:txBody>
      </p:sp>
      <p:sp>
        <p:nvSpPr>
          <p:cNvPr id="27" name="Text 23"/>
          <p:cNvSpPr txBox="1"/>
          <p:nvPr/>
        </p:nvSpPr>
        <p:spPr>
          <a:xfrm>
            <a:off x="3489960" y="3776472"/>
            <a:ext cx="2026920" cy="640080"/>
          </a:xfrm>
          <a:prstGeom prst="rect">
            <a:avLst/>
          </a:prstGeom>
          <a:noFill/>
          <a:ln/>
        </p:spPr>
        <p:txBody>
          <a:bodyPr wrap="square" lIns="0" tIns="0" rIns="0" bIns="0" rtlCol="0" anchor="t"/>
          <a:lstStyle/>
          <a:p>
            <a:pPr indent="0" marL="0">
              <a:lnSpc>
                <a:spcPct val="105000"/>
              </a:lnSpc>
              <a:buNone/>
            </a:pPr>
            <a:r>
              <a:rPr lang="en-US" sz="1150" dirty="0">
                <a:solidFill>
                  <a:srgbClr val="5A6272"/>
                </a:solidFill>
                <a:latin typeface="BIZ UDPGothic" pitchFamily="34" charset="0"/>
                <a:ea typeface="BIZ UDPGothic" pitchFamily="34" charset="-122"/>
                <a:cs typeface="BIZ UDPGothic" pitchFamily="34" charset="-120"/>
              </a:rPr>
              <a:t>shell設定・鍵・他プロジェクトを書き換えないか</a:t>
            </a:r>
            <a:endParaRPr lang="en-US" sz="1150" dirty="0"/>
          </a:p>
        </p:txBody>
      </p:sp>
      <p:sp>
        <p:nvSpPr>
          <p:cNvPr id="28" name="Shape 24"/>
          <p:cNvSpPr/>
          <p:nvPr/>
        </p:nvSpPr>
        <p:spPr>
          <a:xfrm>
            <a:off x="5836920" y="2926080"/>
            <a:ext cx="2392680" cy="1536192"/>
          </a:xfrm>
          <a:prstGeom prst="roundRect">
            <a:avLst>
              <a:gd name="adj" fmla="val 4762"/>
            </a:avLst>
          </a:prstGeom>
          <a:solidFill>
            <a:srgbClr val="FFFFFF"/>
          </a:solidFill>
          <a:ln/>
        </p:spPr>
      </p:sp>
      <p:sp>
        <p:nvSpPr>
          <p:cNvPr id="29" name="Shape 25"/>
          <p:cNvSpPr/>
          <p:nvPr/>
        </p:nvSpPr>
        <p:spPr>
          <a:xfrm>
            <a:off x="6019800" y="3090672"/>
            <a:ext cx="502920" cy="256032"/>
          </a:xfrm>
          <a:prstGeom prst="roundRect">
            <a:avLst>
              <a:gd name="adj" fmla="val 50000"/>
            </a:avLst>
          </a:prstGeom>
          <a:solidFill>
            <a:srgbClr val="1E2330"/>
          </a:solidFill>
          <a:ln/>
        </p:spPr>
      </p:sp>
      <p:sp>
        <p:nvSpPr>
          <p:cNvPr id="30" name="Text 26"/>
          <p:cNvSpPr txBox="1"/>
          <p:nvPr/>
        </p:nvSpPr>
        <p:spPr>
          <a:xfrm>
            <a:off x="6019800" y="3090672"/>
            <a:ext cx="50292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BIZ UDPGothic" pitchFamily="34" charset="0"/>
                <a:ea typeface="BIZ UDPGothic" pitchFamily="34" charset="-122"/>
                <a:cs typeface="BIZ UDPGothic" pitchFamily="34" charset="-120"/>
              </a:rPr>
              <a:t>R3</a:t>
            </a:r>
            <a:endParaRPr lang="en-US" sz="1050" dirty="0"/>
          </a:p>
        </p:txBody>
      </p:sp>
      <p:sp>
        <p:nvSpPr>
          <p:cNvPr id="31" name="Text 27"/>
          <p:cNvSpPr txBox="1"/>
          <p:nvPr/>
        </p:nvSpPr>
        <p:spPr>
          <a:xfrm>
            <a:off x="6019800" y="3401568"/>
            <a:ext cx="2026920" cy="329184"/>
          </a:xfrm>
          <a:prstGeom prst="rect">
            <a:avLst/>
          </a:prstGeom>
          <a:noFill/>
          <a:ln/>
        </p:spPr>
        <p:txBody>
          <a:bodyPr wrap="square" lIns="0" tIns="0" rIns="0" bIns="0" rtlCol="0" anchor="ctr"/>
          <a:lstStyle/>
          <a:p>
            <a:pPr indent="0" marL="0">
              <a:buNone/>
            </a:pPr>
            <a:r>
              <a:rPr lang="en-US" sz="1400" b="1" dirty="0">
                <a:solidFill>
                  <a:srgbClr val="1E2330"/>
                </a:solidFill>
                <a:latin typeface="BIZ UDPGothic" pitchFamily="34" charset="0"/>
                <a:ea typeface="BIZ UDPGothic" pitchFamily="34" charset="-122"/>
                <a:cs typeface="BIZ UDPGothic" pitchFamily="34" charset="-120"/>
              </a:rPr>
              <a:t>秘密情報取得</a:t>
            </a:r>
            <a:endParaRPr lang="en-US" sz="1400" dirty="0"/>
          </a:p>
        </p:txBody>
      </p:sp>
      <p:sp>
        <p:nvSpPr>
          <p:cNvPr id="32" name="Text 28"/>
          <p:cNvSpPr txBox="1"/>
          <p:nvPr/>
        </p:nvSpPr>
        <p:spPr>
          <a:xfrm>
            <a:off x="6019800" y="3776472"/>
            <a:ext cx="2026920" cy="640080"/>
          </a:xfrm>
          <a:prstGeom prst="rect">
            <a:avLst/>
          </a:prstGeom>
          <a:noFill/>
          <a:ln/>
        </p:spPr>
        <p:txBody>
          <a:bodyPr wrap="square" lIns="0" tIns="0" rIns="0" bIns="0" rtlCol="0" anchor="t"/>
          <a:lstStyle/>
          <a:p>
            <a:pPr indent="0" marL="0">
              <a:lnSpc>
                <a:spcPct val="105000"/>
              </a:lnSpc>
              <a:buNone/>
            </a:pPr>
            <a:r>
              <a:rPr lang="en-US" sz="1150" dirty="0">
                <a:solidFill>
                  <a:srgbClr val="5A6272"/>
                </a:solidFill>
                <a:latin typeface="Consolas" pitchFamily="34" charset="0"/>
                <a:ea typeface="Consolas" pitchFamily="34" charset="-122"/>
                <a:cs typeface="Consolas" pitchFamily="34" charset="-120"/>
              </a:rPr>
              <a:t>.env</a:t>
            </a:r>
            <a:pPr indent="0" marL="0">
              <a:lnSpc>
                <a:spcPct val="105000"/>
              </a:lnSpc>
              <a:buNone/>
            </a:pPr>
            <a:r>
              <a:rPr lang="en-US" sz="1150" dirty="0">
                <a:solidFill>
                  <a:srgbClr val="5A6272"/>
                </a:solidFill>
                <a:latin typeface="BIZ UDPGothic" pitchFamily="34" charset="0"/>
                <a:ea typeface="BIZ UDPGothic" pitchFamily="34" charset="-122"/>
                <a:cs typeface="BIZ UDPGothic" pitchFamily="34" charset="-120"/>
              </a:rPr>
              <a:t>、AWS/SSH/GitHub token、環境変数の実値が出ないか</a:t>
            </a:r>
            <a:endParaRPr lang="en-US" sz="1150" dirty="0"/>
          </a:p>
        </p:txBody>
      </p:sp>
      <p:sp>
        <p:nvSpPr>
          <p:cNvPr id="33" name="Shape 29"/>
          <p:cNvSpPr/>
          <p:nvPr/>
        </p:nvSpPr>
        <p:spPr>
          <a:xfrm>
            <a:off x="777240" y="4599432"/>
            <a:ext cx="2392680" cy="1536192"/>
          </a:xfrm>
          <a:prstGeom prst="roundRect">
            <a:avLst>
              <a:gd name="adj" fmla="val 4762"/>
            </a:avLst>
          </a:prstGeom>
          <a:solidFill>
            <a:srgbClr val="FFFFFF"/>
          </a:solidFill>
          <a:ln/>
        </p:spPr>
      </p:sp>
      <p:sp>
        <p:nvSpPr>
          <p:cNvPr id="34" name="Shape 30"/>
          <p:cNvSpPr/>
          <p:nvPr/>
        </p:nvSpPr>
        <p:spPr>
          <a:xfrm>
            <a:off x="960120" y="4764024"/>
            <a:ext cx="502920" cy="256032"/>
          </a:xfrm>
          <a:prstGeom prst="roundRect">
            <a:avLst>
              <a:gd name="adj" fmla="val 50000"/>
            </a:avLst>
          </a:prstGeom>
          <a:solidFill>
            <a:srgbClr val="1E2330"/>
          </a:solidFill>
          <a:ln/>
        </p:spPr>
      </p:sp>
      <p:sp>
        <p:nvSpPr>
          <p:cNvPr id="35" name="Text 31"/>
          <p:cNvSpPr txBox="1"/>
          <p:nvPr/>
        </p:nvSpPr>
        <p:spPr>
          <a:xfrm>
            <a:off x="960120" y="4764024"/>
            <a:ext cx="50292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BIZ UDPGothic" pitchFamily="34" charset="0"/>
                <a:ea typeface="BIZ UDPGothic" pitchFamily="34" charset="-122"/>
                <a:cs typeface="BIZ UDPGothic" pitchFamily="34" charset="-120"/>
              </a:rPr>
              <a:t>R4</a:t>
            </a:r>
            <a:endParaRPr lang="en-US" sz="1050" dirty="0"/>
          </a:p>
        </p:txBody>
      </p:sp>
      <p:sp>
        <p:nvSpPr>
          <p:cNvPr id="36" name="Text 32"/>
          <p:cNvSpPr txBox="1"/>
          <p:nvPr/>
        </p:nvSpPr>
        <p:spPr>
          <a:xfrm>
            <a:off x="960120" y="5074920"/>
            <a:ext cx="2026920" cy="329184"/>
          </a:xfrm>
          <a:prstGeom prst="rect">
            <a:avLst/>
          </a:prstGeom>
          <a:noFill/>
          <a:ln/>
        </p:spPr>
        <p:txBody>
          <a:bodyPr wrap="square" lIns="0" tIns="0" rIns="0" bIns="0" rtlCol="0" anchor="ctr"/>
          <a:lstStyle/>
          <a:p>
            <a:pPr indent="0" marL="0">
              <a:buNone/>
            </a:pPr>
            <a:r>
              <a:rPr lang="en-US" sz="1400" b="1" dirty="0">
                <a:solidFill>
                  <a:srgbClr val="1E2330"/>
                </a:solidFill>
                <a:latin typeface="BIZ UDPGothic" pitchFamily="34" charset="0"/>
                <a:ea typeface="BIZ UDPGothic" pitchFamily="34" charset="-122"/>
                <a:cs typeface="BIZ UDPGothic" pitchFamily="34" charset="-120"/>
              </a:rPr>
              <a:t>外部通信</a:t>
            </a:r>
            <a:endParaRPr lang="en-US" sz="1400" dirty="0"/>
          </a:p>
        </p:txBody>
      </p:sp>
      <p:sp>
        <p:nvSpPr>
          <p:cNvPr id="37" name="Text 33"/>
          <p:cNvSpPr txBox="1"/>
          <p:nvPr/>
        </p:nvSpPr>
        <p:spPr>
          <a:xfrm>
            <a:off x="960120" y="5449824"/>
            <a:ext cx="2026920" cy="640080"/>
          </a:xfrm>
          <a:prstGeom prst="rect">
            <a:avLst/>
          </a:prstGeom>
          <a:noFill/>
          <a:ln/>
        </p:spPr>
        <p:txBody>
          <a:bodyPr wrap="square" lIns="0" tIns="0" rIns="0" bIns="0" rtlCol="0" anchor="t"/>
          <a:lstStyle/>
          <a:p>
            <a:pPr indent="0" marL="0">
              <a:lnSpc>
                <a:spcPct val="105000"/>
              </a:lnSpc>
              <a:buNone/>
            </a:pPr>
            <a:r>
              <a:rPr lang="en-US" sz="1150" dirty="0">
                <a:solidFill>
                  <a:srgbClr val="5A6272"/>
                </a:solidFill>
                <a:latin typeface="BIZ UDPGothic" pitchFamily="34" charset="0"/>
                <a:ea typeface="BIZ UDPGothic" pitchFamily="34" charset="-122"/>
                <a:cs typeface="BIZ UDPGothic" pitchFamily="34" charset="-120"/>
              </a:rPr>
              <a:t>許可ドメイン以外へ送信・取得できないか</a:t>
            </a:r>
            <a:endParaRPr lang="en-US" sz="1150" dirty="0"/>
          </a:p>
        </p:txBody>
      </p:sp>
      <p:sp>
        <p:nvSpPr>
          <p:cNvPr id="38" name="Shape 34"/>
          <p:cNvSpPr/>
          <p:nvPr/>
        </p:nvSpPr>
        <p:spPr>
          <a:xfrm>
            <a:off x="3307080" y="4599432"/>
            <a:ext cx="2392680" cy="1536192"/>
          </a:xfrm>
          <a:prstGeom prst="roundRect">
            <a:avLst>
              <a:gd name="adj" fmla="val 4762"/>
            </a:avLst>
          </a:prstGeom>
          <a:solidFill>
            <a:srgbClr val="FFFFFF"/>
          </a:solidFill>
          <a:ln/>
        </p:spPr>
      </p:sp>
      <p:sp>
        <p:nvSpPr>
          <p:cNvPr id="39" name="Shape 35"/>
          <p:cNvSpPr/>
          <p:nvPr/>
        </p:nvSpPr>
        <p:spPr>
          <a:xfrm>
            <a:off x="3489960" y="4764024"/>
            <a:ext cx="502920" cy="256032"/>
          </a:xfrm>
          <a:prstGeom prst="roundRect">
            <a:avLst>
              <a:gd name="adj" fmla="val 50000"/>
            </a:avLst>
          </a:prstGeom>
          <a:solidFill>
            <a:srgbClr val="1E2330"/>
          </a:solidFill>
          <a:ln/>
        </p:spPr>
      </p:sp>
      <p:sp>
        <p:nvSpPr>
          <p:cNvPr id="40" name="Text 36"/>
          <p:cNvSpPr txBox="1"/>
          <p:nvPr/>
        </p:nvSpPr>
        <p:spPr>
          <a:xfrm>
            <a:off x="3489960" y="4764024"/>
            <a:ext cx="50292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BIZ UDPGothic" pitchFamily="34" charset="0"/>
                <a:ea typeface="BIZ UDPGothic" pitchFamily="34" charset="-122"/>
                <a:cs typeface="BIZ UDPGothic" pitchFamily="34" charset="-120"/>
              </a:rPr>
              <a:t>R5</a:t>
            </a:r>
            <a:endParaRPr lang="en-US" sz="1050" dirty="0"/>
          </a:p>
        </p:txBody>
      </p:sp>
      <p:sp>
        <p:nvSpPr>
          <p:cNvPr id="41" name="Text 37"/>
          <p:cNvSpPr txBox="1"/>
          <p:nvPr/>
        </p:nvSpPr>
        <p:spPr>
          <a:xfrm>
            <a:off x="3489960" y="5074920"/>
            <a:ext cx="2026920" cy="329184"/>
          </a:xfrm>
          <a:prstGeom prst="rect">
            <a:avLst/>
          </a:prstGeom>
          <a:noFill/>
          <a:ln/>
        </p:spPr>
        <p:txBody>
          <a:bodyPr wrap="square" lIns="0" tIns="0" rIns="0" bIns="0" rtlCol="0" anchor="ctr"/>
          <a:lstStyle/>
          <a:p>
            <a:pPr indent="0" marL="0">
              <a:buNone/>
            </a:pPr>
            <a:r>
              <a:rPr lang="en-US" sz="1400" b="1" dirty="0">
                <a:solidFill>
                  <a:srgbClr val="1E2330"/>
                </a:solidFill>
                <a:latin typeface="BIZ UDPGothic" pitchFamily="34" charset="0"/>
                <a:ea typeface="BIZ UDPGothic" pitchFamily="34" charset="-122"/>
                <a:cs typeface="BIZ UDPGothic" pitchFamily="34" charset="-120"/>
              </a:rPr>
              <a:t>危険コマンド</a:t>
            </a:r>
            <a:endParaRPr lang="en-US" sz="1400" dirty="0"/>
          </a:p>
        </p:txBody>
      </p:sp>
      <p:sp>
        <p:nvSpPr>
          <p:cNvPr id="42" name="Text 38"/>
          <p:cNvSpPr txBox="1"/>
          <p:nvPr/>
        </p:nvSpPr>
        <p:spPr>
          <a:xfrm>
            <a:off x="3489960" y="5449824"/>
            <a:ext cx="2026920" cy="640080"/>
          </a:xfrm>
          <a:prstGeom prst="rect">
            <a:avLst/>
          </a:prstGeom>
          <a:noFill/>
          <a:ln/>
        </p:spPr>
        <p:txBody>
          <a:bodyPr wrap="square" lIns="0" tIns="0" rIns="0" bIns="0" rtlCol="0" anchor="t"/>
          <a:lstStyle/>
          <a:p>
            <a:pPr indent="0" marL="0">
              <a:lnSpc>
                <a:spcPct val="105000"/>
              </a:lnSpc>
              <a:buNone/>
            </a:pPr>
            <a:r>
              <a:rPr lang="en-US" sz="1150" dirty="0">
                <a:solidFill>
                  <a:srgbClr val="5A6272"/>
                </a:solidFill>
                <a:latin typeface="BIZ UDPGothic" pitchFamily="34" charset="0"/>
                <a:ea typeface="BIZ UDPGothic" pitchFamily="34" charset="-122"/>
                <a:cs typeface="BIZ UDPGothic" pitchFamily="34" charset="-120"/>
              </a:rPr>
              <a:t>削除・権限変更・外部実行が承認なしで動かないか</a:t>
            </a:r>
            <a:endParaRPr lang="en-US" sz="1150" dirty="0"/>
          </a:p>
        </p:txBody>
      </p:sp>
      <p:sp>
        <p:nvSpPr>
          <p:cNvPr id="43" name="Shape 39"/>
          <p:cNvSpPr/>
          <p:nvPr/>
        </p:nvSpPr>
        <p:spPr>
          <a:xfrm>
            <a:off x="5836920" y="4599432"/>
            <a:ext cx="2392680" cy="1536192"/>
          </a:xfrm>
          <a:prstGeom prst="roundRect">
            <a:avLst>
              <a:gd name="adj" fmla="val 4762"/>
            </a:avLst>
          </a:prstGeom>
          <a:solidFill>
            <a:srgbClr val="FFFFFF"/>
          </a:solidFill>
          <a:ln/>
        </p:spPr>
      </p:sp>
      <p:sp>
        <p:nvSpPr>
          <p:cNvPr id="44" name="Shape 40"/>
          <p:cNvSpPr/>
          <p:nvPr/>
        </p:nvSpPr>
        <p:spPr>
          <a:xfrm>
            <a:off x="6019800" y="4764024"/>
            <a:ext cx="502920" cy="256032"/>
          </a:xfrm>
          <a:prstGeom prst="roundRect">
            <a:avLst>
              <a:gd name="adj" fmla="val 50000"/>
            </a:avLst>
          </a:prstGeom>
          <a:solidFill>
            <a:srgbClr val="1E2330"/>
          </a:solidFill>
          <a:ln/>
        </p:spPr>
      </p:sp>
      <p:sp>
        <p:nvSpPr>
          <p:cNvPr id="45" name="Text 41"/>
          <p:cNvSpPr txBox="1"/>
          <p:nvPr/>
        </p:nvSpPr>
        <p:spPr>
          <a:xfrm>
            <a:off x="6019800" y="4764024"/>
            <a:ext cx="50292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BIZ UDPGothic" pitchFamily="34" charset="0"/>
                <a:ea typeface="BIZ UDPGothic" pitchFamily="34" charset="-122"/>
                <a:cs typeface="BIZ UDPGothic" pitchFamily="34" charset="-120"/>
              </a:rPr>
              <a:t>R6</a:t>
            </a:r>
            <a:endParaRPr lang="en-US" sz="1050" dirty="0"/>
          </a:p>
        </p:txBody>
      </p:sp>
      <p:sp>
        <p:nvSpPr>
          <p:cNvPr id="46" name="Text 42"/>
          <p:cNvSpPr txBox="1"/>
          <p:nvPr/>
        </p:nvSpPr>
        <p:spPr>
          <a:xfrm>
            <a:off x="6019800" y="5074920"/>
            <a:ext cx="2026920" cy="329184"/>
          </a:xfrm>
          <a:prstGeom prst="rect">
            <a:avLst/>
          </a:prstGeom>
          <a:noFill/>
          <a:ln/>
        </p:spPr>
        <p:txBody>
          <a:bodyPr wrap="square" lIns="0" tIns="0" rIns="0" bIns="0" rtlCol="0" anchor="ctr"/>
          <a:lstStyle/>
          <a:p>
            <a:pPr indent="0" marL="0">
              <a:buNone/>
            </a:pPr>
            <a:r>
              <a:rPr lang="en-US" sz="1400" b="1" dirty="0">
                <a:solidFill>
                  <a:srgbClr val="1E2330"/>
                </a:solidFill>
                <a:latin typeface="BIZ UDPGothic" pitchFamily="34" charset="0"/>
                <a:ea typeface="BIZ UDPGothic" pitchFamily="34" charset="-122"/>
                <a:cs typeface="BIZ UDPGothic" pitchFamily="34" charset="-120"/>
              </a:rPr>
              <a:t>Sandbox解除</a:t>
            </a:r>
            <a:endParaRPr lang="en-US" sz="1400" dirty="0"/>
          </a:p>
        </p:txBody>
      </p:sp>
      <p:sp>
        <p:nvSpPr>
          <p:cNvPr id="47" name="Text 43"/>
          <p:cNvSpPr txBox="1"/>
          <p:nvPr/>
        </p:nvSpPr>
        <p:spPr>
          <a:xfrm>
            <a:off x="6019800" y="5449824"/>
            <a:ext cx="2026920" cy="640080"/>
          </a:xfrm>
          <a:prstGeom prst="rect">
            <a:avLst/>
          </a:prstGeom>
          <a:noFill/>
          <a:ln/>
        </p:spPr>
        <p:txBody>
          <a:bodyPr wrap="square" lIns="0" tIns="0" rIns="0" bIns="0" rtlCol="0" anchor="t"/>
          <a:lstStyle/>
          <a:p>
            <a:pPr indent="0" marL="0">
              <a:lnSpc>
                <a:spcPct val="105000"/>
              </a:lnSpc>
              <a:buNone/>
            </a:pPr>
            <a:r>
              <a:rPr lang="en-US" sz="1150" dirty="0">
                <a:solidFill>
                  <a:srgbClr val="5A6272"/>
                </a:solidFill>
                <a:latin typeface="BIZ UDPGothic" pitchFamily="34" charset="0"/>
                <a:ea typeface="BIZ UDPGothic" pitchFamily="34" charset="-122"/>
                <a:cs typeface="BIZ UDPGothic" pitchFamily="34" charset="-120"/>
              </a:rPr>
              <a:t>失敗時再試行、Full access、例外設定で外れないか</a:t>
            </a:r>
            <a:endParaRPr lang="en-US" sz="1150" dirty="0"/>
          </a:p>
        </p:txBody>
      </p:sp>
      <p:sp>
        <p:nvSpPr>
          <p:cNvPr id="48" name="Shape 44"/>
          <p:cNvSpPr/>
          <p:nvPr/>
        </p:nvSpPr>
        <p:spPr>
          <a:xfrm>
            <a:off x="8686800" y="2331720"/>
            <a:ext cx="2956255" cy="3886200"/>
          </a:xfrm>
          <a:prstGeom prst="roundRect">
            <a:avLst>
              <a:gd name="adj" fmla="val 1856"/>
            </a:avLst>
          </a:prstGeom>
          <a:solidFill>
            <a:srgbClr val="FFFFFF"/>
          </a:solidFill>
          <a:ln w="15875">
            <a:solidFill>
              <a:srgbClr val="B83A3A"/>
            </a:solidFill>
            <a:prstDash val="dash"/>
          </a:ln>
        </p:spPr>
      </p:sp>
      <p:sp>
        <p:nvSpPr>
          <p:cNvPr id="49" name="Text 45"/>
          <p:cNvSpPr txBox="1"/>
          <p:nvPr/>
        </p:nvSpPr>
        <p:spPr>
          <a:xfrm>
            <a:off x="8915400" y="2468880"/>
            <a:ext cx="2499055" cy="594360"/>
          </a:xfrm>
          <a:prstGeom prst="rect">
            <a:avLst/>
          </a:prstGeom>
          <a:noFill/>
          <a:ln/>
        </p:spPr>
        <p:txBody>
          <a:bodyPr wrap="square" lIns="0" tIns="0" rIns="0" bIns="0" rtlCol="0" anchor="t"/>
          <a:lstStyle/>
          <a:p>
            <a:pPr indent="0" marL="0">
              <a:buNone/>
            </a:pPr>
            <a:r>
              <a:rPr lang="en-US" sz="1300" b="1" dirty="0">
                <a:solidFill>
                  <a:srgbClr val="B83A3A"/>
                </a:solidFill>
                <a:latin typeface="BIZ UDPGothic" pitchFamily="34" charset="0"/>
                <a:ea typeface="BIZ UDPGothic" pitchFamily="34" charset="-122"/>
                <a:cs typeface="BIZ UDPGothic" pitchFamily="34" charset="-120"/>
              </a:rPr>
              <a:t>Built-in tools / MCP /</a:t>
            </a:r>
            <a:endParaRPr lang="en-US" sz="1300" dirty="0"/>
          </a:p>
          <a:p>
            <a:pPr indent="0" marL="0">
              <a:buNone/>
            </a:pPr>
            <a:r>
              <a:rPr lang="en-US" sz="1300" b="1" dirty="0">
                <a:solidFill>
                  <a:srgbClr val="B83A3A"/>
                </a:solidFill>
                <a:latin typeface="BIZ UDPGothic" pitchFamily="34" charset="0"/>
                <a:ea typeface="BIZ UDPGothic" pitchFamily="34" charset="-122"/>
                <a:cs typeface="BIZ UDPGothic" pitchFamily="34" charset="-120"/>
              </a:rPr>
              <a:t>Web / Browser / Cloud</a:t>
            </a:r>
            <a:endParaRPr lang="en-US" sz="1300" dirty="0"/>
          </a:p>
        </p:txBody>
      </p:sp>
      <p:sp>
        <p:nvSpPr>
          <p:cNvPr id="50" name="Shape 46"/>
          <p:cNvSpPr/>
          <p:nvPr/>
        </p:nvSpPr>
        <p:spPr>
          <a:xfrm>
            <a:off x="8915400" y="3200400"/>
            <a:ext cx="2499055" cy="1536192"/>
          </a:xfrm>
          <a:prstGeom prst="roundRect">
            <a:avLst>
              <a:gd name="adj" fmla="val 4762"/>
            </a:avLst>
          </a:prstGeom>
          <a:solidFill>
            <a:srgbClr val="FBECEC"/>
          </a:solidFill>
          <a:ln/>
        </p:spPr>
      </p:sp>
      <p:sp>
        <p:nvSpPr>
          <p:cNvPr id="51" name="Shape 47"/>
          <p:cNvSpPr/>
          <p:nvPr/>
        </p:nvSpPr>
        <p:spPr>
          <a:xfrm>
            <a:off x="9098280" y="3364992"/>
            <a:ext cx="502920" cy="256032"/>
          </a:xfrm>
          <a:prstGeom prst="roundRect">
            <a:avLst>
              <a:gd name="adj" fmla="val 50000"/>
            </a:avLst>
          </a:prstGeom>
          <a:solidFill>
            <a:srgbClr val="B83A3A"/>
          </a:solidFill>
          <a:ln/>
        </p:spPr>
      </p:sp>
      <p:sp>
        <p:nvSpPr>
          <p:cNvPr id="52" name="Text 48"/>
          <p:cNvSpPr txBox="1"/>
          <p:nvPr/>
        </p:nvSpPr>
        <p:spPr>
          <a:xfrm>
            <a:off x="9098280" y="3364992"/>
            <a:ext cx="50292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BIZ UDPGothic" pitchFamily="34" charset="0"/>
                <a:ea typeface="BIZ UDPGothic" pitchFamily="34" charset="-122"/>
                <a:cs typeface="BIZ UDPGothic" pitchFamily="34" charset="-120"/>
              </a:rPr>
              <a:t>R7</a:t>
            </a:r>
            <a:endParaRPr lang="en-US" sz="1050" dirty="0"/>
          </a:p>
        </p:txBody>
      </p:sp>
      <p:sp>
        <p:nvSpPr>
          <p:cNvPr id="53" name="Text 49"/>
          <p:cNvSpPr txBox="1"/>
          <p:nvPr/>
        </p:nvSpPr>
        <p:spPr>
          <a:xfrm>
            <a:off x="9098280" y="3675888"/>
            <a:ext cx="2133295" cy="329184"/>
          </a:xfrm>
          <a:prstGeom prst="rect">
            <a:avLst/>
          </a:prstGeom>
          <a:noFill/>
          <a:ln/>
        </p:spPr>
        <p:txBody>
          <a:bodyPr wrap="square" lIns="0" tIns="0" rIns="0" bIns="0" rtlCol="0" anchor="ctr"/>
          <a:lstStyle/>
          <a:p>
            <a:pPr indent="0" marL="0">
              <a:buNone/>
            </a:pPr>
            <a:r>
              <a:rPr lang="en-US" sz="1400" b="1" dirty="0">
                <a:solidFill>
                  <a:srgbClr val="1E2330"/>
                </a:solidFill>
                <a:latin typeface="BIZ UDPGothic" pitchFamily="34" charset="0"/>
                <a:ea typeface="BIZ UDPGothic" pitchFamily="34" charset="-122"/>
                <a:cs typeface="BIZ UDPGothic" pitchFamily="34" charset="-120"/>
              </a:rPr>
              <a:t>外部ツール迂回</a:t>
            </a:r>
            <a:endParaRPr lang="en-US" sz="1400" dirty="0"/>
          </a:p>
        </p:txBody>
      </p:sp>
      <p:sp>
        <p:nvSpPr>
          <p:cNvPr id="54" name="Text 50"/>
          <p:cNvSpPr txBox="1"/>
          <p:nvPr/>
        </p:nvSpPr>
        <p:spPr>
          <a:xfrm>
            <a:off x="9098280" y="4050792"/>
            <a:ext cx="2133295" cy="566928"/>
          </a:xfrm>
          <a:prstGeom prst="rect">
            <a:avLst/>
          </a:prstGeom>
          <a:noFill/>
          <a:ln/>
        </p:spPr>
        <p:txBody>
          <a:bodyPr wrap="square" lIns="0" tIns="0" rIns="0" bIns="0" rtlCol="0" anchor="t"/>
          <a:lstStyle/>
          <a:p>
            <a:pPr indent="0" marL="0">
              <a:lnSpc>
                <a:spcPct val="110000"/>
              </a:lnSpc>
              <a:buNone/>
            </a:pPr>
            <a:r>
              <a:rPr lang="en-US" sz="1150" dirty="0">
                <a:solidFill>
                  <a:srgbClr val="5A6272"/>
                </a:solidFill>
                <a:latin typeface="BIZ UDPGothic" pitchFamily="34" charset="0"/>
                <a:ea typeface="BIZ UDPGothic" pitchFamily="34" charset="-122"/>
                <a:cs typeface="BIZ UDPGothic" pitchFamily="34" charset="-120"/>
              </a:rPr>
              <a:t>MCP / Web / Browser / Cloud taskが別経路を開かないか</a:t>
            </a:r>
            <a:endParaRPr lang="en-US" sz="1150" dirty="0"/>
          </a:p>
        </p:txBody>
      </p:sp>
      <p:pic>
        <p:nvPicPr>
          <p:cNvPr id="55" name="Image 2" descr="preencoded.png">    </p:cNvPr>
          <p:cNvPicPr>
            <a:picLocks noChangeAspect="1"/>
          </p:cNvPicPr>
          <p:nvPr/>
        </p:nvPicPr>
        <p:blipFill>
          <a:blip r:embed="rId3"/>
          <a:stretch>
            <a:fillRect/>
          </a:stretch>
        </p:blipFill>
        <p:spPr>
          <a:xfrm>
            <a:off x="8915400" y="5056632"/>
            <a:ext cx="219456" cy="219456"/>
          </a:xfrm>
          <a:prstGeom prst="rect">
            <a:avLst/>
          </a:prstGeom>
        </p:spPr>
      </p:pic>
      <p:sp>
        <p:nvSpPr>
          <p:cNvPr id="56" name="Text 51"/>
          <p:cNvSpPr txBox="1"/>
          <p:nvPr/>
        </p:nvSpPr>
        <p:spPr>
          <a:xfrm>
            <a:off x="9235440" y="4965192"/>
            <a:ext cx="2179015" cy="731520"/>
          </a:xfrm>
          <a:prstGeom prst="rect">
            <a:avLst/>
          </a:prstGeom>
          <a:noFill/>
          <a:ln/>
        </p:spPr>
        <p:txBody>
          <a:bodyPr wrap="square" lIns="0" tIns="0" rIns="0" bIns="0" rtlCol="0" anchor="t"/>
          <a:lstStyle/>
          <a:p>
            <a:pPr indent="0" marL="0">
              <a:lnSpc>
                <a:spcPct val="110000"/>
              </a:lnSpc>
              <a:buNone/>
            </a:pPr>
            <a:r>
              <a:rPr lang="en-US" sz="1300" b="1" dirty="0">
                <a:solidFill>
                  <a:srgbClr val="1E2330"/>
                </a:solidFill>
                <a:latin typeface="BIZ UDPGothic" pitchFamily="34" charset="0"/>
                <a:ea typeface="BIZ UDPGothic" pitchFamily="34" charset="-122"/>
                <a:cs typeface="BIZ UDPGothic" pitchFamily="34" charset="-120"/>
              </a:rPr>
              <a:t>同じSandboxで守られるとは扱わない</a:t>
            </a:r>
            <a:endParaRPr lang="en-US" sz="1300" dirty="0"/>
          </a:p>
        </p:txBody>
      </p:sp>
      <p:sp>
        <p:nvSpPr>
          <p:cNvPr id="57" name="Text 52"/>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Official docs, organized as a testing lens</a:t>
            </a:r>
            <a:endParaRPr lang="en-US" sz="900" dirty="0"/>
          </a:p>
        </p:txBody>
      </p:sp>
      <p:sp>
        <p:nvSpPr>
          <p:cNvPr id="58" name="Text 53"/>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FBEFEA"/>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C15F3C"/>
                </a:solidFill>
                <a:latin typeface="BIZ UDPGothic" pitchFamily="34" charset="0"/>
                <a:ea typeface="BIZ UDPGothic" pitchFamily="34" charset="-122"/>
                <a:cs typeface="BIZ UDPGothic" pitchFamily="34" charset="-120"/>
              </a:rPr>
              <a:t>Claude Code</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Claude Code: Sandboxの仕組み（Windows + WSL2）</a:t>
            </a:r>
            <a:endParaRPr lang="en-US" sz="2800" dirty="0"/>
          </a:p>
        </p:txBody>
      </p:sp>
      <p:sp>
        <p:nvSpPr>
          <p:cNvPr id="6" name="Text 4"/>
          <p:cNvSpPr txBox="1"/>
          <p:nvPr/>
        </p:nvSpPr>
        <p:spPr>
          <a:xfrm>
            <a:off x="548640" y="1207008"/>
            <a:ext cx="11094415" cy="329184"/>
          </a:xfrm>
          <a:prstGeom prst="rect">
            <a:avLst/>
          </a:prstGeom>
          <a:noFill/>
          <a:ln/>
        </p:spPr>
        <p:txBody>
          <a:bodyPr wrap="square" lIns="0" tIns="0" rIns="0" bIns="0" rtlCol="0" anchor="ctr"/>
          <a:lstStyle/>
          <a:p>
            <a:pPr indent="0" marL="0">
              <a:buNone/>
            </a:pPr>
            <a:r>
              <a:rPr lang="en-US" sz="1400" dirty="0">
                <a:solidFill>
                  <a:srgbClr val="5A6272"/>
                </a:solidFill>
                <a:latin typeface="BIZ UDPGothic" pitchFamily="34" charset="0"/>
                <a:ea typeface="BIZ UDPGothic" pitchFamily="34" charset="-122"/>
                <a:cs typeface="BIZ UDPGothic" pitchFamily="34" charset="-120"/>
              </a:rPr>
              <a:t>防御線は2層。① Permission rulesは全ツール、② OS sandboxはコマンドだけに効く</a:t>
            </a:r>
            <a:endParaRPr lang="en-US" sz="1400" dirty="0"/>
          </a:p>
        </p:txBody>
      </p:sp>
      <p:sp>
        <p:nvSpPr>
          <p:cNvPr id="7" name="Shape 5"/>
          <p:cNvSpPr/>
          <p:nvPr/>
        </p:nvSpPr>
        <p:spPr>
          <a:xfrm>
            <a:off x="548640" y="1645920"/>
            <a:ext cx="8915400" cy="4617720"/>
          </a:xfrm>
          <a:prstGeom prst="roundRect">
            <a:avLst>
              <a:gd name="adj" fmla="val 990"/>
            </a:avLst>
          </a:prstGeom>
          <a:solidFill>
            <a:srgbClr val="F4F6F9"/>
          </a:solidFill>
          <a:ln w="12700">
            <a:solidFill>
              <a:srgbClr val="DDE1E8"/>
            </a:solidFill>
            <a:prstDash val="solid"/>
          </a:ln>
        </p:spPr>
      </p:sp>
      <p:sp>
        <p:nvSpPr>
          <p:cNvPr id="8" name="Text 6"/>
          <p:cNvSpPr txBox="1"/>
          <p:nvPr/>
        </p:nvSpPr>
        <p:spPr>
          <a:xfrm>
            <a:off x="685800" y="1700784"/>
            <a:ext cx="8641080" cy="274320"/>
          </a:xfrm>
          <a:prstGeom prst="rect">
            <a:avLst/>
          </a:prstGeom>
          <a:noFill/>
          <a:ln/>
        </p:spPr>
        <p:txBody>
          <a:bodyPr wrap="square" lIns="0" tIns="0" rIns="0" bIns="0" rtlCol="0" anchor="ctr"/>
          <a:lstStyle/>
          <a:p>
            <a:pPr indent="0" marL="0">
              <a:buNone/>
            </a:pPr>
            <a:r>
              <a:rPr lang="en-US" sz="1100" b="1" dirty="0">
                <a:solidFill>
                  <a:srgbClr val="5A6272"/>
                </a:solidFill>
                <a:latin typeface="BIZ UDPGothic" pitchFamily="34" charset="0"/>
                <a:ea typeface="BIZ UDPGothic" pitchFamily="34" charset="-122"/>
                <a:cs typeface="BIZ UDPGothic" pitchFamily="34" charset="-120"/>
              </a:rPr>
              <a:t>Windows PC（ホスト）</a:t>
            </a:r>
            <a:endParaRPr lang="en-US" sz="1100" dirty="0"/>
          </a:p>
        </p:txBody>
      </p:sp>
      <p:sp>
        <p:nvSpPr>
          <p:cNvPr id="9" name="Shape 7"/>
          <p:cNvSpPr/>
          <p:nvPr/>
        </p:nvSpPr>
        <p:spPr>
          <a:xfrm>
            <a:off x="731520" y="2011680"/>
            <a:ext cx="6675120" cy="4114800"/>
          </a:xfrm>
          <a:prstGeom prst="roundRect">
            <a:avLst>
              <a:gd name="adj" fmla="val 1111"/>
            </a:avLst>
          </a:prstGeom>
          <a:solidFill>
            <a:srgbClr val="FFFFFF"/>
          </a:solidFill>
          <a:ln w="12700">
            <a:solidFill>
              <a:srgbClr val="8A92A3"/>
            </a:solidFill>
            <a:prstDash val="solid"/>
          </a:ln>
        </p:spPr>
      </p:sp>
      <p:sp>
        <p:nvSpPr>
          <p:cNvPr id="10" name="Text 8"/>
          <p:cNvSpPr txBox="1"/>
          <p:nvPr/>
        </p:nvSpPr>
        <p:spPr>
          <a:xfrm>
            <a:off x="868680" y="2066544"/>
            <a:ext cx="6400800" cy="274320"/>
          </a:xfrm>
          <a:prstGeom prst="rect">
            <a:avLst/>
          </a:prstGeom>
          <a:noFill/>
          <a:ln/>
        </p:spPr>
        <p:txBody>
          <a:bodyPr wrap="square" lIns="0" tIns="0" rIns="0" bIns="0" rtlCol="0" anchor="ctr"/>
          <a:lstStyle/>
          <a:p>
            <a:pPr indent="0" marL="0">
              <a:buNone/>
            </a:pPr>
            <a:r>
              <a:rPr lang="en-US" sz="1100" b="1" dirty="0">
                <a:solidFill>
                  <a:srgbClr val="5A6272"/>
                </a:solidFill>
                <a:latin typeface="BIZ UDPGothic" pitchFamily="34" charset="0"/>
                <a:ea typeface="BIZ UDPGothic" pitchFamily="34" charset="-122"/>
                <a:cs typeface="BIZ UDPGothic" pitchFamily="34" charset="-120"/>
              </a:rPr>
              <a:t>WSL2（Linux VM）</a:t>
            </a:r>
            <a:endParaRPr lang="en-US" sz="1100" dirty="0"/>
          </a:p>
        </p:txBody>
      </p:sp>
      <p:sp>
        <p:nvSpPr>
          <p:cNvPr id="11" name="Shape 9"/>
          <p:cNvSpPr/>
          <p:nvPr/>
        </p:nvSpPr>
        <p:spPr>
          <a:xfrm>
            <a:off x="914400" y="2359152"/>
            <a:ext cx="6309360" cy="1600200"/>
          </a:xfrm>
          <a:prstGeom prst="roundRect">
            <a:avLst>
              <a:gd name="adj" fmla="val 2857"/>
            </a:avLst>
          </a:prstGeom>
          <a:solidFill>
            <a:srgbClr val="FBEFEA"/>
          </a:solidFill>
          <a:ln w="12700">
            <a:solidFill>
              <a:srgbClr val="EBC9BC"/>
            </a:solidFill>
            <a:prstDash val="solid"/>
          </a:ln>
        </p:spPr>
      </p:sp>
      <p:sp>
        <p:nvSpPr>
          <p:cNvPr id="12" name="Text 10"/>
          <p:cNvSpPr txBox="1"/>
          <p:nvPr/>
        </p:nvSpPr>
        <p:spPr>
          <a:xfrm>
            <a:off x="1051560" y="2414016"/>
            <a:ext cx="6035040" cy="274320"/>
          </a:xfrm>
          <a:prstGeom prst="rect">
            <a:avLst/>
          </a:prstGeom>
          <a:noFill/>
          <a:ln/>
        </p:spPr>
        <p:txBody>
          <a:bodyPr wrap="square" lIns="0" tIns="0" rIns="0" bIns="0" rtlCol="0" anchor="ctr"/>
          <a:lstStyle/>
          <a:p>
            <a:pPr indent="0" marL="0">
              <a:buNone/>
            </a:pPr>
            <a:r>
              <a:rPr lang="en-US" sz="1050" b="1" dirty="0">
                <a:solidFill>
                  <a:srgbClr val="C15F3C"/>
                </a:solidFill>
                <a:latin typeface="BIZ UDPGothic" pitchFamily="34" charset="0"/>
                <a:ea typeface="BIZ UDPGothic" pitchFamily="34" charset="-122"/>
                <a:cs typeface="BIZ UDPGothic" pitchFamily="34" charset="-120"/>
              </a:rPr>
              <a:t>Claude Code プロセス（ユーザー権限・Sandboxの外で動作）</a:t>
            </a:r>
            <a:endParaRPr lang="en-US" sz="1050" dirty="0"/>
          </a:p>
        </p:txBody>
      </p:sp>
      <p:sp>
        <p:nvSpPr>
          <p:cNvPr id="13" name="Shape 11"/>
          <p:cNvSpPr/>
          <p:nvPr/>
        </p:nvSpPr>
        <p:spPr>
          <a:xfrm>
            <a:off x="1051560" y="2697480"/>
            <a:ext cx="6035040" cy="347472"/>
          </a:xfrm>
          <a:prstGeom prst="roundRect">
            <a:avLst>
              <a:gd name="adj" fmla="val 13158"/>
            </a:avLst>
          </a:prstGeom>
          <a:solidFill>
            <a:srgbClr val="C15F3C"/>
          </a:solidFill>
          <a:ln/>
        </p:spPr>
      </p:sp>
      <p:sp>
        <p:nvSpPr>
          <p:cNvPr id="14" name="Text 12"/>
          <p:cNvSpPr txBox="1"/>
          <p:nvPr/>
        </p:nvSpPr>
        <p:spPr>
          <a:xfrm>
            <a:off x="1143000" y="2697480"/>
            <a:ext cx="5852160" cy="347472"/>
          </a:xfrm>
          <a:prstGeom prst="rect">
            <a:avLst/>
          </a:prstGeom>
          <a:noFill/>
          <a:ln/>
        </p:spPr>
        <p:txBody>
          <a:bodyPr wrap="square" lIns="0" tIns="0" rIns="0" bIns="0" rtlCol="0" anchor="ctr"/>
          <a:lstStyle/>
          <a:p>
            <a:pPr indent="0" marL="0">
              <a:buNone/>
            </a:pPr>
            <a:r>
              <a:rPr lang="en-US" sz="1000" b="1" dirty="0">
                <a:solidFill>
                  <a:srgbClr val="FFFFFF"/>
                </a:solidFill>
                <a:latin typeface="BIZ UDPGothic" pitchFamily="34" charset="0"/>
                <a:ea typeface="BIZ UDPGothic" pitchFamily="34" charset="-122"/>
                <a:cs typeface="BIZ UDPGothic" pitchFamily="34" charset="-120"/>
              </a:rPr>
              <a:t>① Permission rules：全ツールの呼び出しを実行前に判定（managed settingsで固定）</a:t>
            </a:r>
            <a:endParaRPr lang="en-US" sz="1000" dirty="0"/>
          </a:p>
        </p:txBody>
      </p:sp>
      <p:sp>
        <p:nvSpPr>
          <p:cNvPr id="15" name="Shape 13"/>
          <p:cNvSpPr/>
          <p:nvPr/>
        </p:nvSpPr>
        <p:spPr>
          <a:xfrm>
            <a:off x="1051560" y="3154680"/>
            <a:ext cx="2514600" cy="713232"/>
          </a:xfrm>
          <a:prstGeom prst="roundRect">
            <a:avLst>
              <a:gd name="adj" fmla="val 6410"/>
            </a:avLst>
          </a:prstGeom>
          <a:solidFill>
            <a:srgbClr val="FFFFFF"/>
          </a:solidFill>
          <a:ln w="12700">
            <a:solidFill>
              <a:srgbClr val="E3B8B8"/>
            </a:solidFill>
            <a:prstDash val="solid"/>
          </a:ln>
        </p:spPr>
      </p:sp>
      <p:sp>
        <p:nvSpPr>
          <p:cNvPr id="16" name="Text 14"/>
          <p:cNvSpPr txBox="1"/>
          <p:nvPr/>
        </p:nvSpPr>
        <p:spPr>
          <a:xfrm>
            <a:off x="1124712" y="3209544"/>
            <a:ext cx="2368296" cy="292608"/>
          </a:xfrm>
          <a:prstGeom prst="rect">
            <a:avLst/>
          </a:prstGeom>
          <a:noFill/>
          <a:ln/>
        </p:spPr>
        <p:txBody>
          <a:bodyPr wrap="square" lIns="0" tIns="0" rIns="0" bIns="0" rtlCol="0" anchor="ctr"/>
          <a:lstStyle/>
          <a:p>
            <a:pPr algn="ctr" indent="0" marL="0">
              <a:buNone/>
            </a:pPr>
            <a:r>
              <a:rPr lang="en-US" sz="1050" b="1" dirty="0">
                <a:solidFill>
                  <a:srgbClr val="1E2330"/>
                </a:solidFill>
                <a:latin typeface="BIZ UDPGothic" pitchFamily="34" charset="0"/>
                <a:ea typeface="BIZ UDPGothic" pitchFamily="34" charset="-122"/>
                <a:cs typeface="BIZ UDPGothic" pitchFamily="34" charset="-120"/>
              </a:rPr>
              <a:t>Built-in tools</a:t>
            </a:r>
            <a:endParaRPr lang="en-US" sz="1050" dirty="0"/>
          </a:p>
        </p:txBody>
      </p:sp>
      <p:sp>
        <p:nvSpPr>
          <p:cNvPr id="17" name="Text 15"/>
          <p:cNvSpPr txBox="1"/>
          <p:nvPr/>
        </p:nvSpPr>
        <p:spPr>
          <a:xfrm>
            <a:off x="1124712" y="3502152"/>
            <a:ext cx="2368296" cy="329184"/>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Read / Edit / WebFetch / MCP</a:t>
            </a:r>
            <a:endParaRPr lang="en-US" sz="900" dirty="0"/>
          </a:p>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プロセス内で直接実行（②なし）</a:t>
            </a:r>
            <a:endParaRPr lang="en-US" sz="900" dirty="0"/>
          </a:p>
        </p:txBody>
      </p:sp>
      <p:sp>
        <p:nvSpPr>
          <p:cNvPr id="18" name="Shape 16"/>
          <p:cNvSpPr/>
          <p:nvPr/>
        </p:nvSpPr>
        <p:spPr>
          <a:xfrm>
            <a:off x="3703320" y="3154680"/>
            <a:ext cx="1508760" cy="713232"/>
          </a:xfrm>
          <a:prstGeom prst="roundRect">
            <a:avLst>
              <a:gd name="adj" fmla="val 6410"/>
            </a:avLst>
          </a:prstGeom>
          <a:solidFill>
            <a:srgbClr val="FFFFFF"/>
          </a:solidFill>
          <a:ln w="12700">
            <a:solidFill>
              <a:srgbClr val="DDE1E8"/>
            </a:solidFill>
            <a:prstDash val="solid"/>
          </a:ln>
        </p:spPr>
      </p:sp>
      <p:sp>
        <p:nvSpPr>
          <p:cNvPr id="19" name="Text 17"/>
          <p:cNvSpPr txBox="1"/>
          <p:nvPr/>
        </p:nvSpPr>
        <p:spPr>
          <a:xfrm>
            <a:off x="3776472" y="3209544"/>
            <a:ext cx="1362456" cy="292608"/>
          </a:xfrm>
          <a:prstGeom prst="rect">
            <a:avLst/>
          </a:prstGeom>
          <a:noFill/>
          <a:ln/>
        </p:spPr>
        <p:txBody>
          <a:bodyPr wrap="square" lIns="0" tIns="0" rIns="0" bIns="0" rtlCol="0" anchor="ctr"/>
          <a:lstStyle/>
          <a:p>
            <a:pPr algn="ctr" indent="0" marL="0">
              <a:buNone/>
            </a:pPr>
            <a:r>
              <a:rPr lang="en-US" sz="1050" b="1" dirty="0">
                <a:solidFill>
                  <a:srgbClr val="1E2330"/>
                </a:solidFill>
                <a:latin typeface="BIZ UDPGothic" pitchFamily="34" charset="0"/>
                <a:ea typeface="BIZ UDPGothic" pitchFamily="34" charset="-122"/>
                <a:cs typeface="BIZ UDPGothic" pitchFamily="34" charset="-120"/>
              </a:rPr>
              <a:t>Bash tool</a:t>
            </a:r>
            <a:endParaRPr lang="en-US" sz="1050" dirty="0"/>
          </a:p>
        </p:txBody>
      </p:sp>
      <p:sp>
        <p:nvSpPr>
          <p:cNvPr id="20" name="Text 18"/>
          <p:cNvSpPr txBox="1"/>
          <p:nvPr/>
        </p:nvSpPr>
        <p:spPr>
          <a:xfrm>
            <a:off x="3776472" y="3502152"/>
            <a:ext cx="1362456" cy="329184"/>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承認後、②の中で</a:t>
            </a:r>
            <a:endParaRPr lang="en-US" sz="900" dirty="0"/>
          </a:p>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コマンドを起動</a:t>
            </a:r>
            <a:endParaRPr lang="en-US" sz="900" dirty="0"/>
          </a:p>
        </p:txBody>
      </p:sp>
      <p:sp>
        <p:nvSpPr>
          <p:cNvPr id="21" name="Shape 19"/>
          <p:cNvSpPr/>
          <p:nvPr/>
        </p:nvSpPr>
        <p:spPr>
          <a:xfrm>
            <a:off x="5349240" y="3154680"/>
            <a:ext cx="1737360" cy="713232"/>
          </a:xfrm>
          <a:prstGeom prst="roundRect">
            <a:avLst>
              <a:gd name="adj" fmla="val 6410"/>
            </a:avLst>
          </a:prstGeom>
          <a:solidFill>
            <a:srgbClr val="FFFFFF"/>
          </a:solidFill>
          <a:ln w="12700">
            <a:solidFill>
              <a:srgbClr val="5A6272"/>
            </a:solidFill>
            <a:prstDash val="solid"/>
          </a:ln>
        </p:spPr>
      </p:sp>
      <p:sp>
        <p:nvSpPr>
          <p:cNvPr id="22" name="Text 20"/>
          <p:cNvSpPr txBox="1"/>
          <p:nvPr/>
        </p:nvSpPr>
        <p:spPr>
          <a:xfrm>
            <a:off x="5422392" y="3209544"/>
            <a:ext cx="1591056" cy="292608"/>
          </a:xfrm>
          <a:prstGeom prst="rect">
            <a:avLst/>
          </a:prstGeom>
          <a:noFill/>
          <a:ln/>
        </p:spPr>
        <p:txBody>
          <a:bodyPr wrap="square" lIns="0" tIns="0" rIns="0" bIns="0" rtlCol="0" anchor="ctr"/>
          <a:lstStyle/>
          <a:p>
            <a:pPr algn="ctr" indent="0" marL="0">
              <a:buNone/>
            </a:pPr>
            <a:r>
              <a:rPr lang="en-US" sz="1050" b="1" dirty="0">
                <a:solidFill>
                  <a:srgbClr val="1E2330"/>
                </a:solidFill>
                <a:latin typeface="BIZ UDPGothic" pitchFamily="34" charset="0"/>
                <a:ea typeface="BIZ UDPGothic" pitchFamily="34" charset="-122"/>
                <a:cs typeface="BIZ UDPGothic" pitchFamily="34" charset="-120"/>
              </a:rPr>
              <a:t>Sandbox proxy</a:t>
            </a:r>
            <a:endParaRPr lang="en-US" sz="1050" dirty="0"/>
          </a:p>
        </p:txBody>
      </p:sp>
      <p:sp>
        <p:nvSpPr>
          <p:cNvPr id="23" name="Text 21"/>
          <p:cNvSpPr txBox="1"/>
          <p:nvPr/>
        </p:nvSpPr>
        <p:spPr>
          <a:xfrm>
            <a:off x="5422392" y="3502152"/>
            <a:ext cx="1591056" cy="329184"/>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allowlist判定 /</a:t>
            </a:r>
            <a:endParaRPr lang="en-US" sz="900" dirty="0"/>
          </a:p>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mask実値の差替え</a:t>
            </a:r>
            <a:endParaRPr lang="en-US" sz="900" dirty="0"/>
          </a:p>
        </p:txBody>
      </p:sp>
      <p:sp>
        <p:nvSpPr>
          <p:cNvPr id="24" name="Shape 22"/>
          <p:cNvSpPr/>
          <p:nvPr/>
        </p:nvSpPr>
        <p:spPr>
          <a:xfrm>
            <a:off x="914400" y="4114800"/>
            <a:ext cx="6309360" cy="1828800"/>
          </a:xfrm>
          <a:prstGeom prst="roundRect">
            <a:avLst>
              <a:gd name="adj" fmla="val 2500"/>
            </a:avLst>
          </a:prstGeom>
          <a:solidFill>
            <a:srgbClr val="E8F4EE"/>
          </a:solidFill>
          <a:ln w="19050">
            <a:solidFill>
              <a:srgbClr val="2E7D5B"/>
            </a:solidFill>
            <a:prstDash val="dash"/>
          </a:ln>
        </p:spPr>
      </p:sp>
      <p:sp>
        <p:nvSpPr>
          <p:cNvPr id="25" name="Text 23"/>
          <p:cNvSpPr txBox="1"/>
          <p:nvPr/>
        </p:nvSpPr>
        <p:spPr>
          <a:xfrm>
            <a:off x="1051560" y="4169664"/>
            <a:ext cx="6035040" cy="274320"/>
          </a:xfrm>
          <a:prstGeom prst="rect">
            <a:avLst/>
          </a:prstGeom>
          <a:noFill/>
          <a:ln/>
        </p:spPr>
        <p:txBody>
          <a:bodyPr wrap="square" lIns="0" tIns="0" rIns="0" bIns="0" rtlCol="0" anchor="ctr"/>
          <a:lstStyle/>
          <a:p>
            <a:pPr indent="0" marL="0">
              <a:buNone/>
            </a:pPr>
            <a:r>
              <a:rPr lang="en-US" sz="1100" b="1" dirty="0">
                <a:solidFill>
                  <a:srgbClr val="2E7D5B"/>
                </a:solidFill>
                <a:latin typeface="BIZ UDPGothic" pitchFamily="34" charset="0"/>
                <a:ea typeface="BIZ UDPGothic" pitchFamily="34" charset="-122"/>
                <a:cs typeface="BIZ UDPGothic" pitchFamily="34" charset="-120"/>
              </a:rPr>
              <a:t>② OS sandbox（bubblewrap）</a:t>
            </a:r>
            <a:endParaRPr lang="en-US" sz="1100" dirty="0"/>
          </a:p>
        </p:txBody>
      </p:sp>
      <p:sp>
        <p:nvSpPr>
          <p:cNvPr id="26" name="Shape 24"/>
          <p:cNvSpPr/>
          <p:nvPr/>
        </p:nvSpPr>
        <p:spPr>
          <a:xfrm>
            <a:off x="1051560" y="4462272"/>
            <a:ext cx="2514600" cy="1371600"/>
          </a:xfrm>
          <a:prstGeom prst="roundRect">
            <a:avLst>
              <a:gd name="adj" fmla="val 3333"/>
            </a:avLst>
          </a:prstGeom>
          <a:solidFill>
            <a:srgbClr val="FFFFFF"/>
          </a:solidFill>
          <a:ln w="12700">
            <a:solidFill>
              <a:srgbClr val="BFD9CB"/>
            </a:solidFill>
            <a:prstDash val="solid"/>
          </a:ln>
        </p:spPr>
      </p:sp>
      <p:sp>
        <p:nvSpPr>
          <p:cNvPr id="27" name="Text 25"/>
          <p:cNvSpPr txBox="1"/>
          <p:nvPr/>
        </p:nvSpPr>
        <p:spPr>
          <a:xfrm>
            <a:off x="1161288" y="4517136"/>
            <a:ext cx="2295144" cy="256032"/>
          </a:xfrm>
          <a:prstGeom prst="rect">
            <a:avLst/>
          </a:prstGeom>
          <a:noFill/>
          <a:ln/>
        </p:spPr>
        <p:txBody>
          <a:bodyPr wrap="square" lIns="0" tIns="0" rIns="0" bIns="0" rtlCol="0" anchor="ctr"/>
          <a:lstStyle/>
          <a:p>
            <a:pPr indent="0" marL="0">
              <a:buNone/>
            </a:pPr>
            <a:r>
              <a:rPr lang="en-US" sz="1050" b="1" dirty="0">
                <a:solidFill>
                  <a:srgbClr val="1E2330"/>
                </a:solidFill>
                <a:latin typeface="BIZ UDPGothic" pitchFamily="34" charset="0"/>
                <a:ea typeface="BIZ UDPGothic" pitchFamily="34" charset="-122"/>
                <a:cs typeface="BIZ UDPGothic" pitchFamily="34" charset="-120"/>
              </a:rPr>
              <a:t>ファイル</a:t>
            </a:r>
            <a:endParaRPr lang="en-US" sz="1050" dirty="0"/>
          </a:p>
        </p:txBody>
      </p:sp>
      <p:sp>
        <p:nvSpPr>
          <p:cNvPr id="28" name="Text 26"/>
          <p:cNvSpPr txBox="1"/>
          <p:nvPr/>
        </p:nvSpPr>
        <p:spPr>
          <a:xfrm>
            <a:off x="1161288" y="4809744"/>
            <a:ext cx="2295144" cy="969264"/>
          </a:xfrm>
          <a:prstGeom prst="rect">
            <a:avLst/>
          </a:prstGeom>
          <a:noFill/>
          <a:ln/>
        </p:spPr>
        <p:txBody>
          <a:bodyPr wrap="square" lIns="0" tIns="0" rIns="0" bIns="0" rtlCol="0" anchor="t"/>
          <a:lstStyle/>
          <a:p>
            <a:pPr indent="0" marL="0">
              <a:lnSpc>
                <a:spcPct val="100000"/>
              </a:lnSpc>
              <a:spcAft>
                <a:spcPts val="300"/>
              </a:spcAft>
              <a:buNone/>
            </a:pPr>
            <a:r>
              <a:rPr lang="en-US" sz="950" b="1" dirty="0">
                <a:solidFill>
                  <a:srgbClr val="2E7D5B"/>
                </a:solidFill>
                <a:latin typeface="BIZ UDPGothic" pitchFamily="34" charset="0"/>
                <a:ea typeface="BIZ UDPGothic" pitchFamily="34" charset="-122"/>
                <a:cs typeface="BIZ UDPGothic" pitchFamily="34" charset="-120"/>
              </a:rPr>
              <a:t>✓ </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書込：cwd・</a:t>
            </a:r>
            <a:pPr indent="0" marL="0">
              <a:lnSpc>
                <a:spcPct val="100000"/>
              </a:lnSpc>
              <a:buNone/>
            </a:pPr>
            <a:r>
              <a:rPr lang="en-US" sz="950" dirty="0">
                <a:solidFill>
                  <a:srgbClr val="1E2330"/>
                </a:solidFill>
                <a:latin typeface="Consolas" pitchFamily="34" charset="0"/>
                <a:ea typeface="Consolas" pitchFamily="34" charset="-122"/>
                <a:cs typeface="Consolas" pitchFamily="34" charset="-120"/>
              </a:rPr>
              <a:t>--add-dir</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・$TMPDIR</a:t>
            </a:r>
            <a:endParaRPr lang="en-US" sz="950" dirty="0"/>
          </a:p>
          <a:p>
            <a:pPr indent="0" marL="0">
              <a:lnSpc>
                <a:spcPct val="100000"/>
              </a:lnSpc>
              <a:spcAft>
                <a:spcPts val="300"/>
              </a:spcAft>
              <a:buNone/>
            </a:pPr>
            <a:r>
              <a:rPr lang="en-US" sz="950" b="1" dirty="0">
                <a:solidFill>
                  <a:srgbClr val="9A6A12"/>
                </a:solidFill>
                <a:latin typeface="BIZ UDPGothic" pitchFamily="34" charset="0"/>
                <a:ea typeface="BIZ UDPGothic" pitchFamily="34" charset="-122"/>
                <a:cs typeface="BIZ UDPGothic" pitchFamily="34" charset="-120"/>
              </a:rPr>
              <a:t>▲ </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読取：既定は全体。</a:t>
            </a:r>
            <a:pPr indent="0" marL="0">
              <a:lnSpc>
                <a:spcPct val="100000"/>
              </a:lnSpc>
              <a:buNone/>
            </a:pPr>
            <a:r>
              <a:rPr lang="en-US" sz="950" dirty="0">
                <a:solidFill>
                  <a:srgbClr val="1E2330"/>
                </a:solidFill>
                <a:latin typeface="Consolas" pitchFamily="34" charset="0"/>
                <a:ea typeface="Consolas" pitchFamily="34" charset="-122"/>
                <a:cs typeface="Consolas" pitchFamily="34" charset="-120"/>
              </a:rPr>
              <a:t>denyRead</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等で絞る</a:t>
            </a:r>
            <a:endParaRPr lang="en-US" sz="950" dirty="0"/>
          </a:p>
          <a:p>
            <a:pPr indent="0" marL="0">
              <a:lnSpc>
                <a:spcPct val="100000"/>
              </a:lnSpc>
              <a:spcAft>
                <a:spcPts val="300"/>
              </a:spcAft>
              <a:buNone/>
            </a:pPr>
            <a:r>
              <a:rPr lang="en-US" sz="950" b="1" dirty="0">
                <a:solidFill>
                  <a:srgbClr val="B83A3A"/>
                </a:solidFill>
                <a:latin typeface="BIZ UDPGothic" pitchFamily="34" charset="0"/>
                <a:ea typeface="BIZ UDPGothic" pitchFamily="34" charset="-122"/>
                <a:cs typeface="BIZ UDPGothic" pitchFamily="34" charset="-120"/>
              </a:rPr>
              <a:t>✕ </a:t>
            </a:r>
            <a:pPr indent="0" marL="0">
              <a:lnSpc>
                <a:spcPct val="100000"/>
              </a:lnSpc>
              <a:buNone/>
            </a:pPr>
            <a:r>
              <a:rPr lang="en-US" sz="950" dirty="0">
                <a:solidFill>
                  <a:srgbClr val="1E2330"/>
                </a:solidFill>
                <a:latin typeface="Consolas" pitchFamily="34" charset="0"/>
                <a:ea typeface="Consolas" pitchFamily="34" charset="-122"/>
                <a:cs typeface="Consolas" pitchFamily="34" charset="-120"/>
              </a:rPr>
              <a:t>.claude</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設定・</a:t>
            </a:r>
            <a:pPr indent="0" marL="0">
              <a:lnSpc>
                <a:spcPct val="100000"/>
              </a:lnSpc>
              <a:buNone/>
            </a:pPr>
            <a:r>
              <a:rPr lang="en-US" sz="950" dirty="0">
                <a:solidFill>
                  <a:srgbClr val="1E2330"/>
                </a:solidFill>
                <a:latin typeface="Consolas" pitchFamily="34" charset="0"/>
                <a:ea typeface="Consolas" pitchFamily="34" charset="-122"/>
                <a:cs typeface="Consolas" pitchFamily="34" charset="-120"/>
              </a:rPr>
              <a:t>.bashrc</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等は書込不可</a:t>
            </a:r>
            <a:endParaRPr lang="en-US" sz="950" dirty="0"/>
          </a:p>
        </p:txBody>
      </p:sp>
      <p:sp>
        <p:nvSpPr>
          <p:cNvPr id="29" name="Shape 27"/>
          <p:cNvSpPr/>
          <p:nvPr/>
        </p:nvSpPr>
        <p:spPr>
          <a:xfrm>
            <a:off x="3703320" y="4462272"/>
            <a:ext cx="1508760" cy="1371600"/>
          </a:xfrm>
          <a:prstGeom prst="roundRect">
            <a:avLst>
              <a:gd name="adj" fmla="val 3333"/>
            </a:avLst>
          </a:prstGeom>
          <a:solidFill>
            <a:srgbClr val="FFFFFF"/>
          </a:solidFill>
          <a:ln w="12700">
            <a:solidFill>
              <a:srgbClr val="BFD9CB"/>
            </a:solidFill>
            <a:prstDash val="solid"/>
          </a:ln>
        </p:spPr>
      </p:sp>
      <p:sp>
        <p:nvSpPr>
          <p:cNvPr id="30" name="Text 28"/>
          <p:cNvSpPr txBox="1"/>
          <p:nvPr/>
        </p:nvSpPr>
        <p:spPr>
          <a:xfrm>
            <a:off x="3776472" y="4517136"/>
            <a:ext cx="1362456" cy="292608"/>
          </a:xfrm>
          <a:prstGeom prst="rect">
            <a:avLst/>
          </a:prstGeom>
          <a:noFill/>
          <a:ln/>
        </p:spPr>
        <p:txBody>
          <a:bodyPr wrap="square" lIns="0" tIns="0" rIns="0" bIns="0" rtlCol="0" anchor="ctr"/>
          <a:lstStyle/>
          <a:p>
            <a:pPr algn="ctr" indent="0" marL="0">
              <a:buNone/>
            </a:pPr>
            <a:r>
              <a:rPr lang="en-US" sz="1100" b="1" dirty="0">
                <a:solidFill>
                  <a:srgbClr val="1E2330"/>
                </a:solidFill>
                <a:latin typeface="BIZ UDPGothic" pitchFamily="34" charset="0"/>
                <a:ea typeface="BIZ UDPGothic" pitchFamily="34" charset="-122"/>
                <a:cs typeface="BIZ UDPGothic" pitchFamily="34" charset="-120"/>
              </a:rPr>
              <a:t>コマンド</a:t>
            </a:r>
            <a:endParaRPr lang="en-US" sz="1100" dirty="0"/>
          </a:p>
          <a:p>
            <a:pPr algn="ctr" indent="0" marL="0">
              <a:buNone/>
            </a:pPr>
            <a:r>
              <a:rPr lang="en-US" sz="1100" b="1" dirty="0">
                <a:solidFill>
                  <a:srgbClr val="1E2330"/>
                </a:solidFill>
                <a:latin typeface="BIZ UDPGothic" pitchFamily="34" charset="0"/>
                <a:ea typeface="BIZ UDPGothic" pitchFamily="34" charset="-122"/>
                <a:cs typeface="BIZ UDPGothic" pitchFamily="34" charset="-120"/>
              </a:rPr>
              <a:t>＋子プロセス</a:t>
            </a:r>
            <a:endParaRPr lang="en-US" sz="1100" dirty="0"/>
          </a:p>
        </p:txBody>
      </p:sp>
      <p:sp>
        <p:nvSpPr>
          <p:cNvPr id="31" name="Text 29"/>
          <p:cNvSpPr txBox="1"/>
          <p:nvPr/>
        </p:nvSpPr>
        <p:spPr>
          <a:xfrm>
            <a:off x="3776472" y="4809744"/>
            <a:ext cx="1362456" cy="987552"/>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Bash / PowerShell /</a:t>
            </a:r>
            <a:endParaRPr lang="en-US" sz="900" dirty="0"/>
          </a:p>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Monitor</a:t>
            </a:r>
            <a:endParaRPr lang="en-US" sz="900" dirty="0"/>
          </a:p>
        </p:txBody>
      </p:sp>
      <p:sp>
        <p:nvSpPr>
          <p:cNvPr id="32" name="Shape 30"/>
          <p:cNvSpPr/>
          <p:nvPr/>
        </p:nvSpPr>
        <p:spPr>
          <a:xfrm>
            <a:off x="5349240" y="4462272"/>
            <a:ext cx="1737360" cy="1371600"/>
          </a:xfrm>
          <a:prstGeom prst="roundRect">
            <a:avLst>
              <a:gd name="adj" fmla="val 3333"/>
            </a:avLst>
          </a:prstGeom>
          <a:solidFill>
            <a:srgbClr val="FFFFFF"/>
          </a:solidFill>
          <a:ln w="12700">
            <a:solidFill>
              <a:srgbClr val="BFD9CB"/>
            </a:solidFill>
            <a:prstDash val="solid"/>
          </a:ln>
        </p:spPr>
      </p:sp>
      <p:sp>
        <p:nvSpPr>
          <p:cNvPr id="33" name="Text 31"/>
          <p:cNvSpPr txBox="1"/>
          <p:nvPr/>
        </p:nvSpPr>
        <p:spPr>
          <a:xfrm>
            <a:off x="5458968" y="4517136"/>
            <a:ext cx="1517904" cy="256032"/>
          </a:xfrm>
          <a:prstGeom prst="rect">
            <a:avLst/>
          </a:prstGeom>
          <a:noFill/>
          <a:ln/>
        </p:spPr>
        <p:txBody>
          <a:bodyPr wrap="square" lIns="0" tIns="0" rIns="0" bIns="0" rtlCol="0" anchor="ctr"/>
          <a:lstStyle/>
          <a:p>
            <a:pPr indent="0" marL="0">
              <a:buNone/>
            </a:pPr>
            <a:r>
              <a:rPr lang="en-US" sz="1050" b="1" dirty="0">
                <a:solidFill>
                  <a:srgbClr val="1E2330"/>
                </a:solidFill>
                <a:latin typeface="BIZ UDPGothic" pitchFamily="34" charset="0"/>
                <a:ea typeface="BIZ UDPGothic" pitchFamily="34" charset="-122"/>
                <a:cs typeface="BIZ UDPGothic" pitchFamily="34" charset="-120"/>
              </a:rPr>
              <a:t>ネットワーク</a:t>
            </a:r>
            <a:endParaRPr lang="en-US" sz="1050" dirty="0"/>
          </a:p>
        </p:txBody>
      </p:sp>
      <p:sp>
        <p:nvSpPr>
          <p:cNvPr id="34" name="Text 32"/>
          <p:cNvSpPr txBox="1"/>
          <p:nvPr/>
        </p:nvSpPr>
        <p:spPr>
          <a:xfrm>
            <a:off x="5458968" y="4809744"/>
            <a:ext cx="1517904" cy="969264"/>
          </a:xfrm>
          <a:prstGeom prst="rect">
            <a:avLst/>
          </a:prstGeom>
          <a:noFill/>
          <a:ln/>
        </p:spPr>
        <p:txBody>
          <a:bodyPr wrap="square" lIns="0" tIns="0" rIns="0" bIns="0" rtlCol="0" anchor="t"/>
          <a:lstStyle/>
          <a:p>
            <a:pPr indent="0" marL="0">
              <a:lnSpc>
                <a:spcPct val="100000"/>
              </a:lnSpc>
              <a:spcAft>
                <a:spcPts val="300"/>
              </a:spcAft>
              <a:buNone/>
            </a:pPr>
            <a:r>
              <a:rPr lang="en-US" sz="950" b="1" dirty="0">
                <a:solidFill>
                  <a:srgbClr val="B83A3A"/>
                </a:solidFill>
                <a:latin typeface="BIZ UDPGothic" pitchFamily="34" charset="0"/>
                <a:ea typeface="BIZ UDPGothic" pitchFamily="34" charset="-122"/>
                <a:cs typeface="BIZ UDPGothic" pitchFamily="34" charset="-120"/>
              </a:rPr>
              <a:t>✕ </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直接の外向き通信なし</a:t>
            </a:r>
            <a:endParaRPr lang="en-US" sz="950" dirty="0"/>
          </a:p>
          <a:p>
            <a:pPr indent="0" marL="0">
              <a:lnSpc>
                <a:spcPct val="100000"/>
              </a:lnSpc>
              <a:spcAft>
                <a:spcPts val="300"/>
              </a:spcAft>
              <a:buNone/>
            </a:pPr>
            <a:r>
              <a:rPr lang="en-US" sz="950" b="1" dirty="0">
                <a:solidFill>
                  <a:srgbClr val="2E7D5B"/>
                </a:solidFill>
                <a:latin typeface="BIZ UDPGothic" pitchFamily="34" charset="0"/>
                <a:ea typeface="BIZ UDPGothic" pitchFamily="34" charset="-122"/>
                <a:cs typeface="BIZ UDPGothic" pitchFamily="34" charset="-120"/>
              </a:rPr>
              <a:t>✓ </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socat経由でproxyへ</a:t>
            </a:r>
            <a:endParaRPr lang="en-US" sz="950" dirty="0"/>
          </a:p>
        </p:txBody>
      </p:sp>
      <p:sp>
        <p:nvSpPr>
          <p:cNvPr id="35" name="Shape 33"/>
          <p:cNvSpPr/>
          <p:nvPr/>
        </p:nvSpPr>
        <p:spPr>
          <a:xfrm>
            <a:off x="4457700" y="3867912"/>
            <a:ext cx="914" cy="594360"/>
          </a:xfrm>
          <a:prstGeom prst="line">
            <a:avLst/>
          </a:prstGeom>
          <a:noFill/>
          <a:ln w="19050">
            <a:solidFill>
              <a:srgbClr val="2E7D5B"/>
            </a:solidFill>
            <a:prstDash val="solid"/>
            <a:tailEnd type="triangle"/>
          </a:ln>
        </p:spPr>
      </p:sp>
      <p:sp>
        <p:nvSpPr>
          <p:cNvPr id="36" name="Shape 34"/>
          <p:cNvSpPr/>
          <p:nvPr/>
        </p:nvSpPr>
        <p:spPr>
          <a:xfrm flipH="1">
            <a:off x="3566160" y="5148072"/>
            <a:ext cx="137160" cy="914"/>
          </a:xfrm>
          <a:prstGeom prst="line">
            <a:avLst/>
          </a:prstGeom>
          <a:noFill/>
          <a:ln w="19050">
            <a:solidFill>
              <a:srgbClr val="2E7D5B"/>
            </a:solidFill>
            <a:prstDash val="solid"/>
            <a:tailEnd type="triangle"/>
          </a:ln>
        </p:spPr>
      </p:sp>
      <p:sp>
        <p:nvSpPr>
          <p:cNvPr id="37" name="Shape 35"/>
          <p:cNvSpPr/>
          <p:nvPr/>
        </p:nvSpPr>
        <p:spPr>
          <a:xfrm>
            <a:off x="5212080" y="5148072"/>
            <a:ext cx="137160" cy="914"/>
          </a:xfrm>
          <a:prstGeom prst="line">
            <a:avLst/>
          </a:prstGeom>
          <a:noFill/>
          <a:ln w="19050">
            <a:solidFill>
              <a:srgbClr val="2E7D5B"/>
            </a:solidFill>
            <a:prstDash val="solid"/>
            <a:tailEnd type="triangle"/>
          </a:ln>
        </p:spPr>
      </p:sp>
      <p:sp>
        <p:nvSpPr>
          <p:cNvPr id="38" name="Shape 36"/>
          <p:cNvSpPr/>
          <p:nvPr/>
        </p:nvSpPr>
        <p:spPr>
          <a:xfrm flipV="1">
            <a:off x="6217920" y="3867912"/>
            <a:ext cx="914" cy="594360"/>
          </a:xfrm>
          <a:prstGeom prst="line">
            <a:avLst/>
          </a:prstGeom>
          <a:noFill/>
          <a:ln w="19050">
            <a:solidFill>
              <a:srgbClr val="2E7D5B"/>
            </a:solidFill>
            <a:prstDash val="solid"/>
            <a:tailEnd type="triangle"/>
          </a:ln>
        </p:spPr>
      </p:sp>
      <p:sp>
        <p:nvSpPr>
          <p:cNvPr id="39" name="Shape 37"/>
          <p:cNvSpPr/>
          <p:nvPr/>
        </p:nvSpPr>
        <p:spPr>
          <a:xfrm>
            <a:off x="7635240" y="3657600"/>
            <a:ext cx="1691640" cy="658368"/>
          </a:xfrm>
          <a:prstGeom prst="roundRect">
            <a:avLst>
              <a:gd name="adj" fmla="val 6944"/>
            </a:avLst>
          </a:prstGeom>
          <a:solidFill>
            <a:srgbClr val="FFFFFF"/>
          </a:solidFill>
          <a:ln w="12700">
            <a:solidFill>
              <a:srgbClr val="E3B8B8"/>
            </a:solidFill>
            <a:prstDash val="solid"/>
          </a:ln>
        </p:spPr>
      </p:sp>
      <p:sp>
        <p:nvSpPr>
          <p:cNvPr id="40" name="Text 38"/>
          <p:cNvSpPr txBox="1"/>
          <p:nvPr/>
        </p:nvSpPr>
        <p:spPr>
          <a:xfrm>
            <a:off x="7708392" y="3712464"/>
            <a:ext cx="1545336" cy="292608"/>
          </a:xfrm>
          <a:prstGeom prst="rect">
            <a:avLst/>
          </a:prstGeom>
          <a:noFill/>
          <a:ln/>
        </p:spPr>
        <p:txBody>
          <a:bodyPr wrap="square" lIns="0" tIns="0" rIns="0" bIns="0" rtlCol="0" anchor="ctr"/>
          <a:lstStyle/>
          <a:p>
            <a:pPr algn="ctr" indent="0" marL="0">
              <a:buNone/>
            </a:pPr>
            <a:r>
              <a:rPr lang="en-US" sz="1050" b="1" dirty="0">
                <a:solidFill>
                  <a:srgbClr val="1E2330"/>
                </a:solidFill>
                <a:latin typeface="BIZ UDPGothic" pitchFamily="34" charset="0"/>
                <a:ea typeface="BIZ UDPGothic" pitchFamily="34" charset="-122"/>
                <a:cs typeface="BIZ UDPGothic" pitchFamily="34" charset="-120"/>
              </a:rPr>
              <a:t>C:\ ドライブ</a:t>
            </a:r>
            <a:endParaRPr lang="en-US" sz="1050" dirty="0"/>
          </a:p>
        </p:txBody>
      </p:sp>
      <p:sp>
        <p:nvSpPr>
          <p:cNvPr id="41" name="Text 39"/>
          <p:cNvSpPr txBox="1"/>
          <p:nvPr/>
        </p:nvSpPr>
        <p:spPr>
          <a:xfrm>
            <a:off x="7708392" y="4005072"/>
            <a:ext cx="1545336" cy="274320"/>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WSL2からは /mnt/c</a:t>
            </a:r>
            <a:endParaRPr lang="en-US" sz="900" dirty="0"/>
          </a:p>
        </p:txBody>
      </p:sp>
      <p:sp>
        <p:nvSpPr>
          <p:cNvPr id="42" name="Shape 40"/>
          <p:cNvSpPr/>
          <p:nvPr/>
        </p:nvSpPr>
        <p:spPr>
          <a:xfrm>
            <a:off x="7635240" y="4480560"/>
            <a:ext cx="1691640" cy="658368"/>
          </a:xfrm>
          <a:prstGeom prst="roundRect">
            <a:avLst>
              <a:gd name="adj" fmla="val 6944"/>
            </a:avLst>
          </a:prstGeom>
          <a:solidFill>
            <a:srgbClr val="FFFFFF"/>
          </a:solidFill>
          <a:ln w="12700">
            <a:solidFill>
              <a:srgbClr val="E3B8B8"/>
            </a:solidFill>
            <a:prstDash val="solid"/>
          </a:ln>
        </p:spPr>
      </p:sp>
      <p:sp>
        <p:nvSpPr>
          <p:cNvPr id="43" name="Text 41"/>
          <p:cNvSpPr txBox="1"/>
          <p:nvPr/>
        </p:nvSpPr>
        <p:spPr>
          <a:xfrm>
            <a:off x="7708392" y="4535424"/>
            <a:ext cx="1545336" cy="292608"/>
          </a:xfrm>
          <a:prstGeom prst="rect">
            <a:avLst/>
          </a:prstGeom>
          <a:noFill/>
          <a:ln/>
        </p:spPr>
        <p:txBody>
          <a:bodyPr wrap="square" lIns="0" tIns="0" rIns="0" bIns="0" rtlCol="0" anchor="ctr"/>
          <a:lstStyle/>
          <a:p>
            <a:pPr algn="ctr" indent="0" marL="0">
              <a:buNone/>
            </a:pPr>
            <a:r>
              <a:rPr lang="en-US" sz="1050" b="1" dirty="0">
                <a:solidFill>
                  <a:srgbClr val="1E2330"/>
                </a:solidFill>
                <a:latin typeface="BIZ UDPGothic" pitchFamily="34" charset="0"/>
                <a:ea typeface="BIZ UDPGothic" pitchFamily="34" charset="-122"/>
                <a:cs typeface="BIZ UDPGothic" pitchFamily="34" charset="-120"/>
              </a:rPr>
              <a:t>Windowsプロセス</a:t>
            </a:r>
            <a:endParaRPr lang="en-US" sz="1050" dirty="0"/>
          </a:p>
        </p:txBody>
      </p:sp>
      <p:sp>
        <p:nvSpPr>
          <p:cNvPr id="44" name="Text 42"/>
          <p:cNvSpPr txBox="1"/>
          <p:nvPr/>
        </p:nvSpPr>
        <p:spPr>
          <a:xfrm>
            <a:off x="7708392" y="4828032"/>
            <a:ext cx="1545336" cy="274320"/>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cmd.exe / powershell.exe</a:t>
            </a:r>
            <a:endParaRPr lang="en-US" sz="900" dirty="0"/>
          </a:p>
        </p:txBody>
      </p:sp>
      <p:sp>
        <p:nvSpPr>
          <p:cNvPr id="45" name="Shape 43"/>
          <p:cNvSpPr/>
          <p:nvPr/>
        </p:nvSpPr>
        <p:spPr>
          <a:xfrm flipV="1">
            <a:off x="7223760" y="3986784"/>
            <a:ext cx="411480" cy="585216"/>
          </a:xfrm>
          <a:prstGeom prst="line">
            <a:avLst/>
          </a:prstGeom>
          <a:noFill/>
          <a:ln w="19050">
            <a:solidFill>
              <a:srgbClr val="9A6A12"/>
            </a:solidFill>
            <a:prstDash val="dash"/>
            <a:tailEnd type="triangle"/>
          </a:ln>
        </p:spPr>
      </p:sp>
      <p:sp>
        <p:nvSpPr>
          <p:cNvPr id="46" name="Shape 44"/>
          <p:cNvSpPr/>
          <p:nvPr/>
        </p:nvSpPr>
        <p:spPr>
          <a:xfrm flipV="1">
            <a:off x="7223760" y="4809744"/>
            <a:ext cx="411480" cy="36576"/>
          </a:xfrm>
          <a:prstGeom prst="line">
            <a:avLst/>
          </a:prstGeom>
          <a:noFill/>
          <a:ln w="19050">
            <a:solidFill>
              <a:srgbClr val="9A6A12"/>
            </a:solidFill>
            <a:prstDash val="dash"/>
            <a:tailEnd type="triangle"/>
          </a:ln>
        </p:spPr>
      </p:sp>
      <p:pic>
        <p:nvPicPr>
          <p:cNvPr id="47" name="Image 0" descr="preencoded.png">    </p:cNvPr>
          <p:cNvPicPr>
            <a:picLocks noChangeAspect="1"/>
          </p:cNvPicPr>
          <p:nvPr/>
        </p:nvPicPr>
        <p:blipFill>
          <a:blip r:embed="rId1"/>
          <a:stretch>
            <a:fillRect/>
          </a:stretch>
        </p:blipFill>
        <p:spPr>
          <a:xfrm>
            <a:off x="7635240" y="5349240"/>
            <a:ext cx="182880" cy="182880"/>
          </a:xfrm>
          <a:prstGeom prst="rect">
            <a:avLst/>
          </a:prstGeom>
        </p:spPr>
      </p:pic>
      <p:sp>
        <p:nvSpPr>
          <p:cNvPr id="48" name="Text 45"/>
          <p:cNvSpPr txBox="1"/>
          <p:nvPr/>
        </p:nvSpPr>
        <p:spPr>
          <a:xfrm>
            <a:off x="7863840" y="5285232"/>
            <a:ext cx="1508760" cy="566928"/>
          </a:xfrm>
          <a:prstGeom prst="rect">
            <a:avLst/>
          </a:prstGeom>
          <a:noFill/>
          <a:ln/>
        </p:spPr>
        <p:txBody>
          <a:bodyPr wrap="square" lIns="0" tIns="0" rIns="0" bIns="0" rtlCol="0" anchor="t"/>
          <a:lstStyle/>
          <a:p>
            <a:pPr indent="0" marL="0">
              <a:buNone/>
            </a:pPr>
            <a:r>
              <a:rPr lang="en-US" sz="950" b="1" dirty="0">
                <a:solidFill>
                  <a:srgbClr val="9A6A12"/>
                </a:solidFill>
                <a:latin typeface="BIZ UDPGothic" pitchFamily="34" charset="0"/>
                <a:ea typeface="BIZ UDPGothic" pitchFamily="34" charset="-122"/>
                <a:cs typeface="BIZ UDPGothic" pitchFamily="34" charset="-120"/>
              </a:rPr>
              <a:t>②の中から届くか・</a:t>
            </a:r>
            <a:endParaRPr lang="en-US" sz="950" dirty="0"/>
          </a:p>
          <a:p>
            <a:pPr indent="0" marL="0">
              <a:buNone/>
            </a:pPr>
            <a:r>
              <a:rPr lang="en-US" sz="950" b="1" dirty="0">
                <a:solidFill>
                  <a:srgbClr val="9A6A12"/>
                </a:solidFill>
                <a:latin typeface="BIZ UDPGothic" pitchFamily="34" charset="0"/>
                <a:ea typeface="BIZ UDPGothic" pitchFamily="34" charset="-122"/>
                <a:cs typeface="BIZ UDPGothic" pitchFamily="34" charset="-120"/>
              </a:rPr>
              <a:t>制限が効くかは要実機確認</a:t>
            </a:r>
            <a:endParaRPr lang="en-US" sz="950" dirty="0"/>
          </a:p>
        </p:txBody>
      </p:sp>
      <p:sp>
        <p:nvSpPr>
          <p:cNvPr id="49" name="Shape 46"/>
          <p:cNvSpPr/>
          <p:nvPr/>
        </p:nvSpPr>
        <p:spPr>
          <a:xfrm>
            <a:off x="9646920" y="1645920"/>
            <a:ext cx="1993392" cy="658368"/>
          </a:xfrm>
          <a:prstGeom prst="roundRect">
            <a:avLst>
              <a:gd name="adj" fmla="val 6944"/>
            </a:avLst>
          </a:prstGeom>
          <a:solidFill>
            <a:srgbClr val="FFFFFF"/>
          </a:solidFill>
          <a:ln w="12700">
            <a:solidFill>
              <a:srgbClr val="DDE1E8"/>
            </a:solidFill>
            <a:prstDash val="solid"/>
          </a:ln>
        </p:spPr>
      </p:sp>
      <p:sp>
        <p:nvSpPr>
          <p:cNvPr id="50" name="Text 47"/>
          <p:cNvSpPr txBox="1"/>
          <p:nvPr/>
        </p:nvSpPr>
        <p:spPr>
          <a:xfrm>
            <a:off x="9720072" y="1700784"/>
            <a:ext cx="1847088" cy="292608"/>
          </a:xfrm>
          <a:prstGeom prst="rect">
            <a:avLst/>
          </a:prstGeom>
          <a:noFill/>
          <a:ln/>
        </p:spPr>
        <p:txBody>
          <a:bodyPr wrap="square" lIns="0" tIns="0" rIns="0" bIns="0" rtlCol="0" anchor="ctr"/>
          <a:lstStyle/>
          <a:p>
            <a:pPr algn="ctr" indent="0" marL="0">
              <a:buNone/>
            </a:pPr>
            <a:r>
              <a:rPr lang="en-US" sz="1050" b="1" dirty="0">
                <a:solidFill>
                  <a:srgbClr val="1E2330"/>
                </a:solidFill>
                <a:latin typeface="BIZ UDPGothic" pitchFamily="34" charset="0"/>
                <a:ea typeface="BIZ UDPGothic" pitchFamily="34" charset="-122"/>
                <a:cs typeface="BIZ UDPGothic" pitchFamily="34" charset="-120"/>
              </a:rPr>
              <a:t>Anthropic API</a:t>
            </a:r>
            <a:endParaRPr lang="en-US" sz="1050" dirty="0"/>
          </a:p>
        </p:txBody>
      </p:sp>
      <p:sp>
        <p:nvSpPr>
          <p:cNvPr id="51" name="Text 48"/>
          <p:cNvSpPr txBox="1"/>
          <p:nvPr/>
        </p:nvSpPr>
        <p:spPr>
          <a:xfrm>
            <a:off x="9720072" y="1993392"/>
            <a:ext cx="1847088" cy="274320"/>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モデル推論</a:t>
            </a:r>
            <a:endParaRPr lang="en-US" sz="900" dirty="0"/>
          </a:p>
        </p:txBody>
      </p:sp>
      <p:sp>
        <p:nvSpPr>
          <p:cNvPr id="52" name="Shape 49"/>
          <p:cNvSpPr/>
          <p:nvPr/>
        </p:nvSpPr>
        <p:spPr>
          <a:xfrm>
            <a:off x="9646920" y="2560320"/>
            <a:ext cx="1993392" cy="658368"/>
          </a:xfrm>
          <a:prstGeom prst="roundRect">
            <a:avLst>
              <a:gd name="adj" fmla="val 6944"/>
            </a:avLst>
          </a:prstGeom>
          <a:solidFill>
            <a:srgbClr val="FFFFFF"/>
          </a:solidFill>
          <a:ln w="12700">
            <a:solidFill>
              <a:srgbClr val="DDE1E8"/>
            </a:solidFill>
            <a:prstDash val="solid"/>
          </a:ln>
        </p:spPr>
      </p:sp>
      <p:sp>
        <p:nvSpPr>
          <p:cNvPr id="53" name="Text 50"/>
          <p:cNvSpPr txBox="1"/>
          <p:nvPr/>
        </p:nvSpPr>
        <p:spPr>
          <a:xfrm>
            <a:off x="9720072" y="2615184"/>
            <a:ext cx="1847088" cy="292608"/>
          </a:xfrm>
          <a:prstGeom prst="rect">
            <a:avLst/>
          </a:prstGeom>
          <a:noFill/>
          <a:ln/>
        </p:spPr>
        <p:txBody>
          <a:bodyPr wrap="square" lIns="0" tIns="0" rIns="0" bIns="0" rtlCol="0" anchor="ctr"/>
          <a:lstStyle/>
          <a:p>
            <a:pPr algn="ctr" indent="0" marL="0">
              <a:buNone/>
            </a:pPr>
            <a:r>
              <a:rPr lang="en-US" sz="1050" b="1" dirty="0">
                <a:solidFill>
                  <a:srgbClr val="1E2330"/>
                </a:solidFill>
                <a:latin typeface="BIZ UDPGothic" pitchFamily="34" charset="0"/>
                <a:ea typeface="BIZ UDPGothic" pitchFamily="34" charset="-122"/>
                <a:cs typeface="BIZ UDPGothic" pitchFamily="34" charset="-120"/>
              </a:rPr>
              <a:t>Internet</a:t>
            </a:r>
            <a:endParaRPr lang="en-US" sz="1050" dirty="0"/>
          </a:p>
        </p:txBody>
      </p:sp>
      <p:sp>
        <p:nvSpPr>
          <p:cNvPr id="54" name="Text 51"/>
          <p:cNvSpPr txBox="1"/>
          <p:nvPr/>
        </p:nvSpPr>
        <p:spPr>
          <a:xfrm>
            <a:off x="9720072" y="2907792"/>
            <a:ext cx="1847088" cy="274320"/>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外部サイト / registry</a:t>
            </a:r>
            <a:endParaRPr lang="en-US" sz="900" dirty="0"/>
          </a:p>
        </p:txBody>
      </p:sp>
      <p:sp>
        <p:nvSpPr>
          <p:cNvPr id="55" name="Shape 52"/>
          <p:cNvSpPr/>
          <p:nvPr/>
        </p:nvSpPr>
        <p:spPr>
          <a:xfrm flipV="1">
            <a:off x="7223760" y="1975104"/>
            <a:ext cx="2423160" cy="493776"/>
          </a:xfrm>
          <a:prstGeom prst="line">
            <a:avLst/>
          </a:prstGeom>
          <a:noFill/>
          <a:ln w="19050">
            <a:solidFill>
              <a:srgbClr val="8A92A3"/>
            </a:solidFill>
            <a:prstDash val="solid"/>
            <a:tailEnd type="triangle"/>
          </a:ln>
        </p:spPr>
      </p:sp>
      <p:sp>
        <p:nvSpPr>
          <p:cNvPr id="56" name="Shape 53"/>
          <p:cNvSpPr/>
          <p:nvPr/>
        </p:nvSpPr>
        <p:spPr>
          <a:xfrm flipV="1">
            <a:off x="7086600" y="2889504"/>
            <a:ext cx="2560320" cy="493776"/>
          </a:xfrm>
          <a:prstGeom prst="line">
            <a:avLst/>
          </a:prstGeom>
          <a:noFill/>
          <a:ln w="19050">
            <a:solidFill>
              <a:srgbClr val="2E7D5B"/>
            </a:solidFill>
            <a:prstDash val="solid"/>
            <a:tailEnd type="triangle"/>
          </a:ln>
        </p:spPr>
      </p:sp>
      <p:sp>
        <p:nvSpPr>
          <p:cNvPr id="57" name="Text 54"/>
          <p:cNvSpPr txBox="1"/>
          <p:nvPr/>
        </p:nvSpPr>
        <p:spPr>
          <a:xfrm>
            <a:off x="7772400" y="2907792"/>
            <a:ext cx="1371600" cy="228600"/>
          </a:xfrm>
          <a:prstGeom prst="rect">
            <a:avLst/>
          </a:prstGeom>
          <a:noFill/>
          <a:ln/>
        </p:spPr>
        <p:txBody>
          <a:bodyPr wrap="square" lIns="0" tIns="0" rIns="0" bIns="0" rtlCol="0" anchor="t"/>
          <a:lstStyle/>
          <a:p>
            <a:pPr indent="0" marL="0">
              <a:buNone/>
            </a:pPr>
            <a:r>
              <a:rPr lang="en-US" sz="900" b="1" dirty="0">
                <a:solidFill>
                  <a:srgbClr val="2E7D5B"/>
                </a:solidFill>
                <a:latin typeface="BIZ UDPGothic" pitchFamily="34" charset="0"/>
                <a:ea typeface="BIZ UDPGothic" pitchFamily="34" charset="-122"/>
                <a:cs typeface="BIZ UDPGothic" pitchFamily="34" charset="-120"/>
              </a:rPr>
              <a:t>allowlist内のみ</a:t>
            </a:r>
            <a:endParaRPr lang="en-US" sz="900" dirty="0"/>
          </a:p>
        </p:txBody>
      </p:sp>
      <p:sp>
        <p:nvSpPr>
          <p:cNvPr id="58" name="Shape 55"/>
          <p:cNvSpPr/>
          <p:nvPr/>
        </p:nvSpPr>
        <p:spPr>
          <a:xfrm>
            <a:off x="9646920" y="3429000"/>
            <a:ext cx="1993392" cy="2834640"/>
          </a:xfrm>
          <a:prstGeom prst="roundRect">
            <a:avLst>
              <a:gd name="adj" fmla="val 2752"/>
            </a:avLst>
          </a:prstGeom>
          <a:solidFill>
            <a:srgbClr val="1B1F2A"/>
          </a:solidFill>
          <a:ln/>
        </p:spPr>
      </p:sp>
      <p:sp>
        <p:nvSpPr>
          <p:cNvPr id="59" name="Text 56"/>
          <p:cNvSpPr txBox="1"/>
          <p:nvPr/>
        </p:nvSpPr>
        <p:spPr>
          <a:xfrm>
            <a:off x="9784080" y="3520440"/>
            <a:ext cx="1719072" cy="274320"/>
          </a:xfrm>
          <a:prstGeom prst="rect">
            <a:avLst/>
          </a:prstGeom>
          <a:noFill/>
          <a:ln/>
        </p:spPr>
        <p:txBody>
          <a:bodyPr wrap="square" lIns="0" tIns="0" rIns="0" bIns="0" rtlCol="0" anchor="ctr"/>
          <a:lstStyle/>
          <a:p>
            <a:pPr indent="0" marL="0">
              <a:buNone/>
            </a:pPr>
            <a:r>
              <a:rPr lang="en-US" sz="1100" b="1" dirty="0">
                <a:solidFill>
                  <a:srgbClr val="E8A589"/>
                </a:solidFill>
                <a:latin typeface="BIZ UDPGothic" pitchFamily="34" charset="0"/>
                <a:ea typeface="BIZ UDPGothic" pitchFamily="34" charset="-122"/>
                <a:cs typeface="BIZ UDPGothic" pitchFamily="34" charset="-120"/>
              </a:rPr>
              <a:t>読み取るべき点</a:t>
            </a:r>
            <a:endParaRPr lang="en-US" sz="1100" dirty="0"/>
          </a:p>
        </p:txBody>
      </p:sp>
      <p:sp>
        <p:nvSpPr>
          <p:cNvPr id="60" name="Text 57"/>
          <p:cNvSpPr txBox="1"/>
          <p:nvPr/>
        </p:nvSpPr>
        <p:spPr>
          <a:xfrm>
            <a:off x="9784080" y="3886200"/>
            <a:ext cx="1719072" cy="716280"/>
          </a:xfrm>
          <a:prstGeom prst="rect">
            <a:avLst/>
          </a:prstGeom>
          <a:noFill/>
          <a:ln/>
        </p:spPr>
        <p:txBody>
          <a:bodyPr wrap="square" lIns="0" tIns="0" rIns="0" bIns="0" rtlCol="0" anchor="t"/>
          <a:lstStyle/>
          <a:p>
            <a:pPr indent="0" marL="0">
              <a:lnSpc>
                <a:spcPct val="105000"/>
              </a:lnSpc>
              <a:buNone/>
            </a:pPr>
            <a:r>
              <a:rPr lang="en-US" sz="1000" dirty="0">
                <a:solidFill>
                  <a:srgbClr val="FFFFFF"/>
                </a:solidFill>
                <a:latin typeface="BIZ UDPGothic" pitchFamily="34" charset="0"/>
                <a:ea typeface="BIZ UDPGothic" pitchFamily="34" charset="-122"/>
                <a:cs typeface="BIZ UDPGothic" pitchFamily="34" charset="-120"/>
              </a:rPr>
              <a:t>①は全ツール、②はコマンドだけ。Built-in toolsの防御線は①のみ</a:t>
            </a:r>
            <a:endParaRPr lang="en-US" sz="1000" dirty="0"/>
          </a:p>
        </p:txBody>
      </p:sp>
      <p:sp>
        <p:nvSpPr>
          <p:cNvPr id="61" name="Text 58"/>
          <p:cNvSpPr txBox="1"/>
          <p:nvPr/>
        </p:nvSpPr>
        <p:spPr>
          <a:xfrm>
            <a:off x="9784080" y="4648200"/>
            <a:ext cx="1719072" cy="716280"/>
          </a:xfrm>
          <a:prstGeom prst="rect">
            <a:avLst/>
          </a:prstGeom>
          <a:noFill/>
          <a:ln/>
        </p:spPr>
        <p:txBody>
          <a:bodyPr wrap="square" lIns="0" tIns="0" rIns="0" bIns="0" rtlCol="0" anchor="t"/>
          <a:lstStyle/>
          <a:p>
            <a:pPr indent="0" marL="0">
              <a:lnSpc>
                <a:spcPct val="105000"/>
              </a:lnSpc>
              <a:buNone/>
            </a:pPr>
            <a:r>
              <a:rPr lang="en-US" sz="1000" dirty="0">
                <a:solidFill>
                  <a:srgbClr val="FFFFFF"/>
                </a:solidFill>
                <a:latin typeface="BIZ UDPGothic" pitchFamily="34" charset="0"/>
                <a:ea typeface="BIZ UDPGothic" pitchFamily="34" charset="-122"/>
                <a:cs typeface="BIZ UDPGothic" pitchFamily="34" charset="-120"/>
              </a:rPr>
              <a:t>②の読取は既定でPC全体。秘密情報は</a:t>
            </a:r>
            <a:pPr indent="0" marL="0">
              <a:lnSpc>
                <a:spcPct val="105000"/>
              </a:lnSpc>
              <a:buNone/>
            </a:pPr>
            <a:r>
              <a:rPr lang="en-US" sz="1000" dirty="0">
                <a:solidFill>
                  <a:srgbClr val="D5DAE3"/>
                </a:solidFill>
                <a:latin typeface="Consolas" pitchFamily="34" charset="0"/>
                <a:ea typeface="Consolas" pitchFamily="34" charset="-122"/>
                <a:cs typeface="Consolas" pitchFamily="34" charset="-120"/>
              </a:rPr>
              <a:t>denyRead</a:t>
            </a:r>
            <a:pPr indent="0" marL="0">
              <a:lnSpc>
                <a:spcPct val="105000"/>
              </a:lnSpc>
              <a:buNone/>
            </a:pPr>
            <a:r>
              <a:rPr lang="en-US" sz="1000" dirty="0">
                <a:solidFill>
                  <a:srgbClr val="FFFFFF"/>
                </a:solidFill>
                <a:latin typeface="BIZ UDPGothic" pitchFamily="34" charset="0"/>
                <a:ea typeface="BIZ UDPGothic" pitchFamily="34" charset="-122"/>
                <a:cs typeface="BIZ UDPGothic" pitchFamily="34" charset="-120"/>
              </a:rPr>
              <a:t> / credentialsで塞ぐ</a:t>
            </a:r>
            <a:endParaRPr lang="en-US" sz="1000" dirty="0"/>
          </a:p>
        </p:txBody>
      </p:sp>
      <p:sp>
        <p:nvSpPr>
          <p:cNvPr id="62" name="Text 59"/>
          <p:cNvSpPr txBox="1"/>
          <p:nvPr/>
        </p:nvSpPr>
        <p:spPr>
          <a:xfrm>
            <a:off x="9784080" y="5410200"/>
            <a:ext cx="1719072" cy="716280"/>
          </a:xfrm>
          <a:prstGeom prst="rect">
            <a:avLst/>
          </a:prstGeom>
          <a:noFill/>
          <a:ln/>
        </p:spPr>
        <p:txBody>
          <a:bodyPr wrap="square" lIns="0" tIns="0" rIns="0" bIns="0" rtlCol="0" anchor="t"/>
          <a:lstStyle/>
          <a:p>
            <a:pPr indent="0" marL="0">
              <a:lnSpc>
                <a:spcPct val="105000"/>
              </a:lnSpc>
              <a:buNone/>
            </a:pPr>
            <a:r>
              <a:rPr lang="en-US" sz="1000" dirty="0">
                <a:solidFill>
                  <a:srgbClr val="FFFFFF"/>
                </a:solidFill>
                <a:latin typeface="BIZ UDPGothic" pitchFamily="34" charset="0"/>
                <a:ea typeface="BIZ UDPGothic" pitchFamily="34" charset="-122"/>
                <a:cs typeface="BIZ UDPGothic" pitchFamily="34" charset="-120"/>
              </a:rPr>
              <a:t>外部通信は必ずproxy経由。直接は出られない</a:t>
            </a:r>
            <a:endParaRPr lang="en-US" sz="1000" dirty="0"/>
          </a:p>
        </p:txBody>
      </p:sp>
      <p:sp>
        <p:nvSpPr>
          <p:cNvPr id="63" name="Text 60"/>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Claude Code Docs “Configure the sandboxed Bash tool” (How sandboxing works / OS-level enforcement / Permission rules)</a:t>
            </a:r>
            <a:endParaRPr lang="en-US" sz="900" dirty="0"/>
          </a:p>
        </p:txBody>
      </p:sp>
      <p:sp>
        <p:nvSpPr>
          <p:cNvPr id="64" name="Text 61"/>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FBEFEA"/>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C15F3C"/>
                </a:solidFill>
                <a:latin typeface="BIZ UDPGothic" pitchFamily="34" charset="0"/>
                <a:ea typeface="BIZ UDPGothic" pitchFamily="34" charset="-122"/>
                <a:cs typeface="BIZ UDPGothic" pitchFamily="34" charset="-120"/>
              </a:rPr>
              <a:t>Claude Code</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Claude Code: どこに設定するか</a:t>
            </a:r>
            <a:endParaRPr lang="en-US" sz="2800" dirty="0"/>
          </a:p>
        </p:txBody>
      </p:sp>
      <p:sp>
        <p:nvSpPr>
          <p:cNvPr id="6" name="Text 4"/>
          <p:cNvSpPr txBox="1"/>
          <p:nvPr/>
        </p:nvSpPr>
        <p:spPr>
          <a:xfrm>
            <a:off x="548640" y="1207008"/>
            <a:ext cx="11094415" cy="329184"/>
          </a:xfrm>
          <a:prstGeom prst="rect">
            <a:avLst/>
          </a:prstGeom>
          <a:noFill/>
          <a:ln/>
        </p:spPr>
        <p:txBody>
          <a:bodyPr wrap="square" lIns="0" tIns="0" rIns="0" bIns="0" rtlCol="0" anchor="ctr"/>
          <a:lstStyle/>
          <a:p>
            <a:pPr indent="0" marL="0">
              <a:buNone/>
            </a:pPr>
            <a:r>
              <a:rPr lang="en-US" sz="1400" dirty="0">
                <a:solidFill>
                  <a:srgbClr val="5A6272"/>
                </a:solidFill>
                <a:latin typeface="BIZ UDPGothic" pitchFamily="34" charset="0"/>
                <a:ea typeface="BIZ UDPGothic" pitchFamily="34" charset="-122"/>
                <a:cs typeface="BIZ UDPGothic" pitchFamily="34" charset="-120"/>
              </a:rPr>
              <a:t>評価プロファイルは「managed settings」として配る。開発者・リポジトリ側の設定では上書きできない</a:t>
            </a:r>
            <a:endParaRPr lang="en-US" sz="1400" dirty="0"/>
          </a:p>
        </p:txBody>
      </p:sp>
      <p:sp>
        <p:nvSpPr>
          <p:cNvPr id="7" name="Text 5"/>
          <p:cNvSpPr txBox="1"/>
          <p:nvPr/>
        </p:nvSpPr>
        <p:spPr>
          <a:xfrm>
            <a:off x="548640" y="1664208"/>
            <a:ext cx="1828800" cy="274320"/>
          </a:xfrm>
          <a:prstGeom prst="rect">
            <a:avLst/>
          </a:prstGeom>
          <a:noFill/>
          <a:ln/>
        </p:spPr>
        <p:txBody>
          <a:bodyPr wrap="square" lIns="0" tIns="0" rIns="0" bIns="0" rtlCol="0" anchor="ctr"/>
          <a:lstStyle/>
          <a:p>
            <a:pPr indent="0" marL="0">
              <a:buNone/>
            </a:pPr>
            <a:r>
              <a:rPr lang="en-US" sz="1100" b="1" dirty="0">
                <a:solidFill>
                  <a:srgbClr val="8A92A3"/>
                </a:solidFill>
                <a:latin typeface="BIZ UDPGothic" pitchFamily="34" charset="0"/>
                <a:ea typeface="BIZ UDPGothic" pitchFamily="34" charset="-122"/>
                <a:cs typeface="BIZ UDPGothic" pitchFamily="34" charset="-120"/>
              </a:rPr>
              <a:t>誰が・どう配る</a:t>
            </a:r>
            <a:endParaRPr lang="en-US" sz="1100" dirty="0"/>
          </a:p>
        </p:txBody>
      </p:sp>
      <p:sp>
        <p:nvSpPr>
          <p:cNvPr id="8" name="Text 6"/>
          <p:cNvSpPr txBox="1"/>
          <p:nvPr/>
        </p:nvSpPr>
        <p:spPr>
          <a:xfrm>
            <a:off x="2697480" y="1664208"/>
            <a:ext cx="5029200" cy="274320"/>
          </a:xfrm>
          <a:prstGeom prst="rect">
            <a:avLst/>
          </a:prstGeom>
          <a:noFill/>
          <a:ln/>
        </p:spPr>
        <p:txBody>
          <a:bodyPr wrap="square" lIns="0" tIns="0" rIns="0" bIns="0" rtlCol="0" anchor="ctr"/>
          <a:lstStyle/>
          <a:p>
            <a:pPr indent="0" marL="0">
              <a:buNone/>
            </a:pPr>
            <a:r>
              <a:rPr lang="en-US" sz="1100" b="1" dirty="0">
                <a:solidFill>
                  <a:srgbClr val="8A92A3"/>
                </a:solidFill>
                <a:latin typeface="BIZ UDPGothic" pitchFamily="34" charset="0"/>
                <a:ea typeface="BIZ UDPGothic" pitchFamily="34" charset="-122"/>
                <a:cs typeface="BIZ UDPGothic" pitchFamily="34" charset="-120"/>
              </a:rPr>
              <a:t>端末上の置き場所（パス / キー）</a:t>
            </a:r>
            <a:endParaRPr lang="en-US" sz="1100" dirty="0"/>
          </a:p>
        </p:txBody>
      </p:sp>
      <p:sp>
        <p:nvSpPr>
          <p:cNvPr id="9" name="Text 7"/>
          <p:cNvSpPr txBox="1"/>
          <p:nvPr/>
        </p:nvSpPr>
        <p:spPr>
          <a:xfrm>
            <a:off x="8046720" y="1664208"/>
            <a:ext cx="3596335" cy="274320"/>
          </a:xfrm>
          <a:prstGeom prst="rect">
            <a:avLst/>
          </a:prstGeom>
          <a:noFill/>
          <a:ln/>
        </p:spPr>
        <p:txBody>
          <a:bodyPr wrap="square" lIns="0" tIns="0" rIns="0" bIns="0" rtlCol="0" anchor="ctr"/>
          <a:lstStyle/>
          <a:p>
            <a:pPr indent="0" marL="0">
              <a:buNone/>
            </a:pPr>
            <a:r>
              <a:rPr lang="en-US" sz="1100" b="1" dirty="0">
                <a:solidFill>
                  <a:srgbClr val="8A92A3"/>
                </a:solidFill>
                <a:latin typeface="BIZ UDPGothic" pitchFamily="34" charset="0"/>
                <a:ea typeface="BIZ UDPGothic" pitchFamily="34" charset="-122"/>
                <a:cs typeface="BIZ UDPGothic" pitchFamily="34" charset="-120"/>
              </a:rPr>
              <a:t>効き方・注意</a:t>
            </a:r>
            <a:endParaRPr lang="en-US" sz="1100" dirty="0"/>
          </a:p>
        </p:txBody>
      </p:sp>
      <p:sp>
        <p:nvSpPr>
          <p:cNvPr id="10" name="Shape 8"/>
          <p:cNvSpPr/>
          <p:nvPr/>
        </p:nvSpPr>
        <p:spPr>
          <a:xfrm>
            <a:off x="548640" y="1993392"/>
            <a:ext cx="1828800" cy="1005840"/>
          </a:xfrm>
          <a:prstGeom prst="roundRect">
            <a:avLst>
              <a:gd name="adj" fmla="val 5455"/>
            </a:avLst>
          </a:prstGeom>
          <a:solidFill>
            <a:srgbClr val="C15F3C"/>
          </a:solidFill>
          <a:ln/>
        </p:spPr>
      </p:sp>
      <p:sp>
        <p:nvSpPr>
          <p:cNvPr id="11" name="Text 9"/>
          <p:cNvSpPr txBox="1"/>
          <p:nvPr/>
        </p:nvSpPr>
        <p:spPr>
          <a:xfrm>
            <a:off x="685800" y="1993392"/>
            <a:ext cx="1600200" cy="1005840"/>
          </a:xfrm>
          <a:prstGeom prst="rect">
            <a:avLst/>
          </a:prstGeom>
          <a:noFill/>
          <a:ln/>
        </p:spPr>
        <p:txBody>
          <a:bodyPr wrap="square" lIns="0" tIns="0" rIns="0" bIns="0" rtlCol="0" anchor="ct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Intune / GPO</a:t>
            </a:r>
            <a:endParaRPr lang="en-US" sz="1200" dirty="0"/>
          </a:p>
          <a:p>
            <a:pPr indent="0" marL="0">
              <a:buNone/>
            </a:pPr>
            <a:r>
              <a:rPr lang="en-US" sz="1200" b="1" dirty="0">
                <a:solidFill>
                  <a:srgbClr val="FFFFFF"/>
                </a:solidFill>
                <a:latin typeface="BIZ UDPGothic" pitchFamily="34" charset="0"/>
                <a:ea typeface="BIZ UDPGothic" pitchFamily="34" charset="-122"/>
                <a:cs typeface="BIZ UDPGothic" pitchFamily="34" charset="-120"/>
              </a:rPr>
              <a:t>（Windows端末管理）</a:t>
            </a:r>
            <a:endParaRPr lang="en-US" sz="1200" dirty="0"/>
          </a:p>
        </p:txBody>
      </p:sp>
      <p:sp>
        <p:nvSpPr>
          <p:cNvPr id="12" name="Shape 10"/>
          <p:cNvSpPr/>
          <p:nvPr/>
        </p:nvSpPr>
        <p:spPr>
          <a:xfrm>
            <a:off x="2377440" y="2496312"/>
            <a:ext cx="320040" cy="914"/>
          </a:xfrm>
          <a:prstGeom prst="line">
            <a:avLst/>
          </a:prstGeom>
          <a:noFill/>
          <a:ln w="19050">
            <a:solidFill>
              <a:srgbClr val="8A92A3"/>
            </a:solidFill>
            <a:prstDash val="solid"/>
            <a:tailEnd type="triangle"/>
          </a:ln>
        </p:spPr>
      </p:sp>
      <p:sp>
        <p:nvSpPr>
          <p:cNvPr id="13" name="Shape 11"/>
          <p:cNvSpPr/>
          <p:nvPr/>
        </p:nvSpPr>
        <p:spPr>
          <a:xfrm>
            <a:off x="2697480" y="1993392"/>
            <a:ext cx="5029200" cy="1005840"/>
          </a:xfrm>
          <a:prstGeom prst="roundRect">
            <a:avLst>
              <a:gd name="adj" fmla="val 5455"/>
            </a:avLst>
          </a:prstGeom>
          <a:solidFill>
            <a:srgbClr val="FBEFEA"/>
          </a:solidFill>
          <a:ln w="19050">
            <a:solidFill>
              <a:srgbClr val="C15F3C"/>
            </a:solidFill>
            <a:prstDash val="solid"/>
          </a:ln>
        </p:spPr>
      </p:sp>
      <p:sp>
        <p:nvSpPr>
          <p:cNvPr id="14" name="Text 12"/>
          <p:cNvSpPr txBox="1"/>
          <p:nvPr/>
        </p:nvSpPr>
        <p:spPr>
          <a:xfrm>
            <a:off x="2834640" y="1993392"/>
            <a:ext cx="3977640" cy="1005840"/>
          </a:xfrm>
          <a:prstGeom prst="rect">
            <a:avLst/>
          </a:prstGeom>
          <a:noFill/>
          <a:ln/>
        </p:spPr>
        <p:txBody>
          <a:bodyPr wrap="square" lIns="0" tIns="0" rIns="0" bIns="0" rtlCol="0" anchor="ctr"/>
          <a:lstStyle/>
          <a:p>
            <a:pPr indent="0" marL="0">
              <a:lnSpc>
                <a:spcPct val="105000"/>
              </a:lnSpc>
              <a:spcAft>
                <a:spcPts val="200"/>
              </a:spcAft>
              <a:buNone/>
            </a:pPr>
            <a:r>
              <a:rPr lang="en-US" sz="1100" dirty="0">
                <a:solidFill>
                  <a:srgbClr val="1E2330"/>
                </a:solidFill>
                <a:latin typeface="Consolas" pitchFamily="34" charset="0"/>
                <a:ea typeface="Consolas" pitchFamily="34" charset="-122"/>
                <a:cs typeface="Consolas" pitchFamily="34" charset="-120"/>
              </a:rPr>
              <a:t>HKLM\SOFTWARE\Policies\ClaudeCode</a:t>
            </a:r>
            <a:endParaRPr lang="en-US" sz="1100" dirty="0"/>
          </a:p>
          <a:p>
            <a:pPr indent="0" marL="0">
              <a:lnSpc>
                <a:spcPct val="105000"/>
              </a:lnSpc>
              <a:spcAft>
                <a:spcPts val="200"/>
              </a:spcAft>
              <a:buNone/>
            </a:pPr>
            <a:r>
              <a:rPr lang="en-US" sz="1100" dirty="0">
                <a:solidFill>
                  <a:srgbClr val="1E2330"/>
                </a:solidFill>
                <a:latin typeface="BIZ UDPGothic" pitchFamily="34" charset="0"/>
                <a:ea typeface="BIZ UDPGothic" pitchFamily="34" charset="-122"/>
                <a:cs typeface="BIZ UDPGothic" pitchFamily="34" charset="-120"/>
              </a:rPr>
              <a:t>値 </a:t>
            </a:r>
            <a:pPr indent="0" marL="0">
              <a:lnSpc>
                <a:spcPct val="105000"/>
              </a:lnSpc>
              <a:spcAft>
                <a:spcPts val="200"/>
              </a:spcAft>
              <a:buNone/>
            </a:pPr>
            <a:r>
              <a:rPr lang="en-US" sz="1100" dirty="0">
                <a:solidFill>
                  <a:srgbClr val="1E2330"/>
                </a:solidFill>
                <a:latin typeface="Consolas" pitchFamily="34" charset="0"/>
                <a:ea typeface="Consolas" pitchFamily="34" charset="-122"/>
                <a:cs typeface="Consolas" pitchFamily="34" charset="-120"/>
              </a:rPr>
              <a:t>Settings</a:t>
            </a:r>
            <a:pPr indent="0" marL="0">
              <a:lnSpc>
                <a:spcPct val="105000"/>
              </a:lnSpc>
              <a:spcAft>
                <a:spcPts val="200"/>
              </a:spcAft>
              <a:buNone/>
            </a:pPr>
            <a:r>
              <a:rPr lang="en-US" sz="1100" dirty="0">
                <a:solidFill>
                  <a:srgbClr val="1E2330"/>
                </a:solidFill>
                <a:latin typeface="BIZ UDPGothic" pitchFamily="34" charset="0"/>
                <a:ea typeface="BIZ UDPGothic" pitchFamily="34" charset="-122"/>
                <a:cs typeface="BIZ UDPGothic" pitchFamily="34" charset="-120"/>
              </a:rPr>
              <a:t>（REG_SZ）＝設定JSON</a:t>
            </a:r>
            <a:endParaRPr lang="en-US" sz="1100" dirty="0"/>
          </a:p>
          <a:p>
            <a:pPr indent="0" marL="0">
              <a:lnSpc>
                <a:spcPct val="105000"/>
              </a:lnSpc>
              <a:spcAft>
                <a:spcPts val="200"/>
              </a:spcAft>
              <a:buNone/>
            </a:pPr>
            <a:r>
              <a:rPr lang="en-US" sz="1100" dirty="0">
                <a:solidFill>
                  <a:srgbClr val="1E2330"/>
                </a:solidFill>
                <a:latin typeface="BIZ UDPGothic" pitchFamily="34" charset="0"/>
                <a:ea typeface="BIZ UDPGothic" pitchFamily="34" charset="-122"/>
                <a:cs typeface="BIZ UDPGothic" pitchFamily="34" charset="-120"/>
              </a:rPr>
              <a:t>JSONに </a:t>
            </a:r>
            <a:pPr indent="0" marL="0">
              <a:lnSpc>
                <a:spcPct val="105000"/>
              </a:lnSpc>
              <a:spcAft>
                <a:spcPts val="200"/>
              </a:spcAft>
              <a:buNone/>
            </a:pPr>
            <a:r>
              <a:rPr lang="en-US" sz="1100" dirty="0">
                <a:solidFill>
                  <a:srgbClr val="1E2330"/>
                </a:solidFill>
                <a:latin typeface="Consolas" pitchFamily="34" charset="0"/>
                <a:ea typeface="Consolas" pitchFamily="34" charset="-122"/>
                <a:cs typeface="Consolas" pitchFamily="34" charset="-120"/>
              </a:rPr>
              <a:t>"wslInheritsWindowsSettings": true</a:t>
            </a:r>
            <a:endParaRPr lang="en-US" sz="1100" dirty="0"/>
          </a:p>
        </p:txBody>
      </p:sp>
      <p:sp>
        <p:nvSpPr>
          <p:cNvPr id="15" name="Shape 13"/>
          <p:cNvSpPr/>
          <p:nvPr/>
        </p:nvSpPr>
        <p:spPr>
          <a:xfrm>
            <a:off x="6885432" y="2359152"/>
            <a:ext cx="731520" cy="274320"/>
          </a:xfrm>
          <a:prstGeom prst="roundRect">
            <a:avLst>
              <a:gd name="adj" fmla="val 50000"/>
            </a:avLst>
          </a:prstGeom>
          <a:solidFill>
            <a:srgbClr val="C15F3C"/>
          </a:solidFill>
          <a:ln/>
        </p:spPr>
      </p:sp>
      <p:sp>
        <p:nvSpPr>
          <p:cNvPr id="16" name="Text 14"/>
          <p:cNvSpPr txBox="1"/>
          <p:nvPr/>
        </p:nvSpPr>
        <p:spPr>
          <a:xfrm>
            <a:off x="6885432" y="2359152"/>
            <a:ext cx="7315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BIZ UDPGothic" pitchFamily="34" charset="0"/>
                <a:ea typeface="BIZ UDPGothic" pitchFamily="34" charset="-122"/>
                <a:cs typeface="BIZ UDPGothic" pitchFamily="34" charset="-120"/>
              </a:rPr>
              <a:t>推奨</a:t>
            </a:r>
            <a:endParaRPr lang="en-US" sz="950" dirty="0"/>
          </a:p>
        </p:txBody>
      </p:sp>
      <p:sp>
        <p:nvSpPr>
          <p:cNvPr id="17" name="Shape 15"/>
          <p:cNvSpPr/>
          <p:nvPr/>
        </p:nvSpPr>
        <p:spPr>
          <a:xfrm>
            <a:off x="7726680" y="2496312"/>
            <a:ext cx="320040" cy="914"/>
          </a:xfrm>
          <a:prstGeom prst="line">
            <a:avLst/>
          </a:prstGeom>
          <a:noFill/>
          <a:ln w="19050">
            <a:solidFill>
              <a:srgbClr val="8A92A3"/>
            </a:solidFill>
            <a:prstDash val="solid"/>
            <a:tailEnd type="triangle"/>
          </a:ln>
        </p:spPr>
      </p:sp>
      <p:pic>
        <p:nvPicPr>
          <p:cNvPr id="18" name="Image 0" descr="preencoded.png">    </p:cNvPr>
          <p:cNvPicPr>
            <a:picLocks noChangeAspect="1"/>
          </p:cNvPicPr>
          <p:nvPr/>
        </p:nvPicPr>
        <p:blipFill>
          <a:blip r:embed="rId1"/>
          <a:stretch>
            <a:fillRect/>
          </a:stretch>
        </p:blipFill>
        <p:spPr>
          <a:xfrm>
            <a:off x="8046720" y="2386584"/>
            <a:ext cx="219456" cy="219456"/>
          </a:xfrm>
          <a:prstGeom prst="rect">
            <a:avLst/>
          </a:prstGeom>
        </p:spPr>
      </p:pic>
      <p:sp>
        <p:nvSpPr>
          <p:cNvPr id="19" name="Text 16"/>
          <p:cNvSpPr txBox="1"/>
          <p:nvPr/>
        </p:nvSpPr>
        <p:spPr>
          <a:xfrm>
            <a:off x="8339328" y="1993392"/>
            <a:ext cx="3303727" cy="1005840"/>
          </a:xfrm>
          <a:prstGeom prst="rect">
            <a:avLst/>
          </a:prstGeom>
          <a:noFill/>
          <a:ln/>
        </p:spPr>
        <p:txBody>
          <a:bodyPr wrap="square" lIns="0" tIns="0" rIns="0" bIns="0" rtlCol="0" anchor="ctr"/>
          <a:lstStyle/>
          <a:p>
            <a:pPr indent="0" marL="0">
              <a:lnSpc>
                <a:spcPct val="105000"/>
              </a:lnSpc>
              <a:buNone/>
            </a:pPr>
            <a:r>
              <a:rPr lang="en-US" sz="1100" dirty="0">
                <a:solidFill>
                  <a:srgbClr val="1E2330"/>
                </a:solidFill>
                <a:latin typeface="BIZ UDPGothic" pitchFamily="34" charset="0"/>
                <a:ea typeface="BIZ UDPGothic" pitchFamily="34" charset="-122"/>
                <a:cs typeface="BIZ UDPGothic" pitchFamily="34" charset="-120"/>
              </a:rPr>
              <a:t>WSL2内のClaude CodeがWindows側のポリシーを読む。WSL内のsudo権限では書き換えられない</a:t>
            </a:r>
            <a:endParaRPr lang="en-US" sz="1100" dirty="0"/>
          </a:p>
        </p:txBody>
      </p:sp>
      <p:sp>
        <p:nvSpPr>
          <p:cNvPr id="20" name="Shape 17"/>
          <p:cNvSpPr/>
          <p:nvPr/>
        </p:nvSpPr>
        <p:spPr>
          <a:xfrm>
            <a:off x="548640" y="3108960"/>
            <a:ext cx="1828800" cy="1005840"/>
          </a:xfrm>
          <a:prstGeom prst="roundRect">
            <a:avLst>
              <a:gd name="adj" fmla="val 5455"/>
            </a:avLst>
          </a:prstGeom>
          <a:solidFill>
            <a:srgbClr val="F4F6F9"/>
          </a:solidFill>
          <a:ln/>
        </p:spPr>
      </p:sp>
      <p:sp>
        <p:nvSpPr>
          <p:cNvPr id="21" name="Text 18"/>
          <p:cNvSpPr txBox="1"/>
          <p:nvPr/>
        </p:nvSpPr>
        <p:spPr>
          <a:xfrm>
            <a:off x="685800" y="3108960"/>
            <a:ext cx="1600200" cy="1005840"/>
          </a:xfrm>
          <a:prstGeom prst="rect">
            <a:avLst/>
          </a:prstGeom>
          <a:noFill/>
          <a:ln/>
        </p:spPr>
        <p:txBody>
          <a:bodyPr wrap="square" lIns="0" tIns="0" rIns="0" bIns="0" rtlCol="0" anchor="ctr"/>
          <a:lstStyle/>
          <a:p>
            <a:pPr indent="0" marL="0">
              <a:buNone/>
            </a:pPr>
            <a:r>
              <a:rPr lang="en-US" sz="1200" b="1" dirty="0">
                <a:solidFill>
                  <a:srgbClr val="1E2330"/>
                </a:solidFill>
                <a:latin typeface="BIZ UDPGothic" pitchFamily="34" charset="0"/>
                <a:ea typeface="BIZ UDPGothic" pitchFamily="34" charset="-122"/>
                <a:cs typeface="BIZ UDPGothic" pitchFamily="34" charset="-120"/>
              </a:rPr>
              <a:t>ファイル配布</a:t>
            </a:r>
            <a:endParaRPr lang="en-US" sz="1200" dirty="0"/>
          </a:p>
          <a:p>
            <a:pPr indent="0" marL="0">
              <a:buNone/>
            </a:pPr>
            <a:r>
              <a:rPr lang="en-US" sz="1200" b="1" dirty="0">
                <a:solidFill>
                  <a:srgbClr val="1E2330"/>
                </a:solidFill>
                <a:latin typeface="BIZ UDPGothic" pitchFamily="34" charset="0"/>
                <a:ea typeface="BIZ UDPGothic" pitchFamily="34" charset="-122"/>
                <a:cs typeface="BIZ UDPGothic" pitchFamily="34" charset="-120"/>
              </a:rPr>
              <a:t>（WSLイメージ等）</a:t>
            </a:r>
            <a:endParaRPr lang="en-US" sz="1200" dirty="0"/>
          </a:p>
        </p:txBody>
      </p:sp>
      <p:sp>
        <p:nvSpPr>
          <p:cNvPr id="22" name="Shape 19"/>
          <p:cNvSpPr/>
          <p:nvPr/>
        </p:nvSpPr>
        <p:spPr>
          <a:xfrm>
            <a:off x="2377440" y="3611880"/>
            <a:ext cx="320040" cy="914"/>
          </a:xfrm>
          <a:prstGeom prst="line">
            <a:avLst/>
          </a:prstGeom>
          <a:noFill/>
          <a:ln w="19050">
            <a:solidFill>
              <a:srgbClr val="8A92A3"/>
            </a:solidFill>
            <a:prstDash val="solid"/>
            <a:tailEnd type="triangle"/>
          </a:ln>
        </p:spPr>
      </p:sp>
      <p:sp>
        <p:nvSpPr>
          <p:cNvPr id="23" name="Shape 20"/>
          <p:cNvSpPr/>
          <p:nvPr/>
        </p:nvSpPr>
        <p:spPr>
          <a:xfrm>
            <a:off x="2697480" y="3108960"/>
            <a:ext cx="5029200" cy="1005840"/>
          </a:xfrm>
          <a:prstGeom prst="roundRect">
            <a:avLst>
              <a:gd name="adj" fmla="val 5455"/>
            </a:avLst>
          </a:prstGeom>
          <a:solidFill>
            <a:srgbClr val="FFFFFF"/>
          </a:solidFill>
          <a:ln w="12700">
            <a:solidFill>
              <a:srgbClr val="DDE1E8"/>
            </a:solidFill>
            <a:prstDash val="solid"/>
          </a:ln>
        </p:spPr>
      </p:sp>
      <p:sp>
        <p:nvSpPr>
          <p:cNvPr id="24" name="Text 21"/>
          <p:cNvSpPr txBox="1"/>
          <p:nvPr/>
        </p:nvSpPr>
        <p:spPr>
          <a:xfrm>
            <a:off x="2834640" y="3108960"/>
            <a:ext cx="3977640" cy="1005840"/>
          </a:xfrm>
          <a:prstGeom prst="rect">
            <a:avLst/>
          </a:prstGeom>
          <a:noFill/>
          <a:ln/>
        </p:spPr>
        <p:txBody>
          <a:bodyPr wrap="square" lIns="0" tIns="0" rIns="0" bIns="0" rtlCol="0" anchor="ctr"/>
          <a:lstStyle/>
          <a:p>
            <a:pPr indent="0" marL="0">
              <a:lnSpc>
                <a:spcPct val="105000"/>
              </a:lnSpc>
              <a:spcAft>
                <a:spcPts val="200"/>
              </a:spcAft>
              <a:buNone/>
            </a:pPr>
            <a:r>
              <a:rPr lang="en-US" sz="1100" dirty="0">
                <a:solidFill>
                  <a:srgbClr val="1E2330"/>
                </a:solidFill>
                <a:latin typeface="BIZ UDPGothic" pitchFamily="34" charset="0"/>
                <a:ea typeface="BIZ UDPGothic" pitchFamily="34" charset="-122"/>
                <a:cs typeface="BIZ UDPGothic" pitchFamily="34" charset="-120"/>
              </a:rPr>
              <a:t>WSL2内 </a:t>
            </a:r>
            <a:pPr indent="0" marL="0">
              <a:lnSpc>
                <a:spcPct val="105000"/>
              </a:lnSpc>
              <a:spcAft>
                <a:spcPts val="200"/>
              </a:spcAft>
              <a:buNone/>
            </a:pPr>
            <a:r>
              <a:rPr lang="en-US" sz="1100" dirty="0">
                <a:solidFill>
                  <a:srgbClr val="1E2330"/>
                </a:solidFill>
                <a:latin typeface="Consolas" pitchFamily="34" charset="0"/>
                <a:ea typeface="Consolas" pitchFamily="34" charset="-122"/>
                <a:cs typeface="Consolas" pitchFamily="34" charset="-120"/>
              </a:rPr>
              <a:t>/etc/claude-code/managed-settings.json</a:t>
            </a:r>
            <a:endParaRPr lang="en-US" sz="1100" dirty="0"/>
          </a:p>
          <a:p>
            <a:pPr indent="0" marL="0">
              <a:lnSpc>
                <a:spcPct val="105000"/>
              </a:lnSpc>
              <a:spcAft>
                <a:spcPts val="200"/>
              </a:spcAft>
              <a:buNone/>
            </a:pPr>
            <a:r>
              <a:rPr lang="en-US" sz="1100" dirty="0">
                <a:solidFill>
                  <a:srgbClr val="1E2330"/>
                </a:solidFill>
                <a:latin typeface="BIZ UDPGothic" pitchFamily="34" charset="0"/>
                <a:ea typeface="BIZ UDPGothic" pitchFamily="34" charset="-122"/>
                <a:cs typeface="BIZ UDPGothic" pitchFamily="34" charset="-120"/>
              </a:rPr>
              <a:t>同じ場所に </a:t>
            </a:r>
            <a:pPr indent="0" marL="0">
              <a:lnSpc>
                <a:spcPct val="105000"/>
              </a:lnSpc>
              <a:spcAft>
                <a:spcPts val="200"/>
              </a:spcAft>
              <a:buNone/>
            </a:pPr>
            <a:r>
              <a:rPr lang="en-US" sz="1100" dirty="0">
                <a:solidFill>
                  <a:srgbClr val="1E2330"/>
                </a:solidFill>
                <a:latin typeface="Consolas" pitchFamily="34" charset="0"/>
                <a:ea typeface="Consolas" pitchFamily="34" charset="-122"/>
                <a:cs typeface="Consolas" pitchFamily="34" charset="-120"/>
              </a:rPr>
              <a:t>managed-settings.d/*.json</a:t>
            </a:r>
            <a:pPr indent="0" marL="0">
              <a:lnSpc>
                <a:spcPct val="105000"/>
              </a:lnSpc>
              <a:spcAft>
                <a:spcPts val="200"/>
              </a:spcAft>
              <a:buNone/>
            </a:pPr>
            <a:r>
              <a:rPr lang="en-US" sz="1100" dirty="0">
                <a:solidFill>
                  <a:srgbClr val="1E2330"/>
                </a:solidFill>
                <a:latin typeface="BIZ UDPGothic" pitchFamily="34" charset="0"/>
                <a:ea typeface="BIZ UDPGothic" pitchFamily="34" charset="-122"/>
                <a:cs typeface="BIZ UDPGothic" pitchFamily="34" charset="-120"/>
              </a:rPr>
              <a:t>・</a:t>
            </a:r>
            <a:pPr indent="0" marL="0">
              <a:lnSpc>
                <a:spcPct val="105000"/>
              </a:lnSpc>
              <a:spcAft>
                <a:spcPts val="200"/>
              </a:spcAft>
              <a:buNone/>
            </a:pPr>
            <a:r>
              <a:rPr lang="en-US" sz="1100" dirty="0">
                <a:solidFill>
                  <a:srgbClr val="1E2330"/>
                </a:solidFill>
                <a:latin typeface="Consolas" pitchFamily="34" charset="0"/>
                <a:ea typeface="Consolas" pitchFamily="34" charset="-122"/>
                <a:cs typeface="Consolas" pitchFamily="34" charset="-120"/>
              </a:rPr>
              <a:t>managed-mcp.json</a:t>
            </a:r>
            <a:endParaRPr lang="en-US" sz="1100" dirty="0"/>
          </a:p>
        </p:txBody>
      </p:sp>
      <p:sp>
        <p:nvSpPr>
          <p:cNvPr id="25" name="Shape 22"/>
          <p:cNvSpPr/>
          <p:nvPr/>
        </p:nvSpPr>
        <p:spPr>
          <a:xfrm>
            <a:off x="6885432" y="3474720"/>
            <a:ext cx="731520" cy="274320"/>
          </a:xfrm>
          <a:prstGeom prst="roundRect">
            <a:avLst>
              <a:gd name="adj" fmla="val 50000"/>
            </a:avLst>
          </a:prstGeom>
          <a:solidFill>
            <a:srgbClr val="FBF4E4"/>
          </a:solidFill>
          <a:ln/>
        </p:spPr>
      </p:sp>
      <p:sp>
        <p:nvSpPr>
          <p:cNvPr id="26" name="Text 23"/>
          <p:cNvSpPr txBox="1"/>
          <p:nvPr/>
        </p:nvSpPr>
        <p:spPr>
          <a:xfrm>
            <a:off x="6885432" y="3474720"/>
            <a:ext cx="731520" cy="274320"/>
          </a:xfrm>
          <a:prstGeom prst="rect">
            <a:avLst/>
          </a:prstGeom>
          <a:noFill/>
          <a:ln/>
        </p:spPr>
        <p:txBody>
          <a:bodyPr wrap="square" lIns="0" tIns="0" rIns="0" bIns="0" rtlCol="0" anchor="ctr"/>
          <a:lstStyle/>
          <a:p>
            <a:pPr algn="ctr" indent="0" marL="0">
              <a:buNone/>
            </a:pPr>
            <a:r>
              <a:rPr lang="en-US" sz="950" b="1" dirty="0">
                <a:solidFill>
                  <a:srgbClr val="9A6A12"/>
                </a:solidFill>
                <a:latin typeface="BIZ UDPGothic" pitchFamily="34" charset="0"/>
                <a:ea typeface="BIZ UDPGothic" pitchFamily="34" charset="-122"/>
                <a:cs typeface="BIZ UDPGothic" pitchFamily="34" charset="-120"/>
              </a:rPr>
              <a:t>注意</a:t>
            </a:r>
            <a:endParaRPr lang="en-US" sz="950" dirty="0"/>
          </a:p>
        </p:txBody>
      </p:sp>
      <p:sp>
        <p:nvSpPr>
          <p:cNvPr id="27" name="Shape 24"/>
          <p:cNvSpPr/>
          <p:nvPr/>
        </p:nvSpPr>
        <p:spPr>
          <a:xfrm>
            <a:off x="7726680" y="3611880"/>
            <a:ext cx="320040" cy="914"/>
          </a:xfrm>
          <a:prstGeom prst="line">
            <a:avLst/>
          </a:prstGeom>
          <a:noFill/>
          <a:ln w="19050">
            <a:solidFill>
              <a:srgbClr val="8A92A3"/>
            </a:solidFill>
            <a:prstDash val="solid"/>
            <a:tailEnd type="triangle"/>
          </a:ln>
        </p:spPr>
      </p:sp>
      <p:pic>
        <p:nvPicPr>
          <p:cNvPr id="28" name="Image 1" descr="preencoded.png">    </p:cNvPr>
          <p:cNvPicPr>
            <a:picLocks noChangeAspect="1"/>
          </p:cNvPicPr>
          <p:nvPr/>
        </p:nvPicPr>
        <p:blipFill>
          <a:blip r:embed="rId2"/>
          <a:stretch>
            <a:fillRect/>
          </a:stretch>
        </p:blipFill>
        <p:spPr>
          <a:xfrm>
            <a:off x="8046720" y="3502152"/>
            <a:ext cx="219456" cy="219456"/>
          </a:xfrm>
          <a:prstGeom prst="rect">
            <a:avLst/>
          </a:prstGeom>
        </p:spPr>
      </p:pic>
      <p:sp>
        <p:nvSpPr>
          <p:cNvPr id="29" name="Text 25"/>
          <p:cNvSpPr txBox="1"/>
          <p:nvPr/>
        </p:nvSpPr>
        <p:spPr>
          <a:xfrm>
            <a:off x="8339328" y="3108960"/>
            <a:ext cx="3303727" cy="1005840"/>
          </a:xfrm>
          <a:prstGeom prst="rect">
            <a:avLst/>
          </a:prstGeom>
          <a:noFill/>
          <a:ln/>
        </p:spPr>
        <p:txBody>
          <a:bodyPr wrap="square" lIns="0" tIns="0" rIns="0" bIns="0" rtlCol="0" anchor="ctr"/>
          <a:lstStyle/>
          <a:p>
            <a:pPr indent="0" marL="0">
              <a:lnSpc>
                <a:spcPct val="105000"/>
              </a:lnSpc>
              <a:buNone/>
            </a:pPr>
            <a:r>
              <a:rPr lang="en-US" sz="1100" dirty="0">
                <a:solidFill>
                  <a:srgbClr val="1E2330"/>
                </a:solidFill>
                <a:latin typeface="BIZ UDPGothic" pitchFamily="34" charset="0"/>
                <a:ea typeface="BIZ UDPGothic" pitchFamily="34" charset="-122"/>
                <a:cs typeface="BIZ UDPGothic" pitchFamily="34" charset="-120"/>
              </a:rPr>
              <a:t>WSL2で直接読む。WSL内でsudoできる開発者はファイル自体を書き換えられる</a:t>
            </a:r>
            <a:endParaRPr lang="en-US" sz="1100" dirty="0"/>
          </a:p>
        </p:txBody>
      </p:sp>
      <p:sp>
        <p:nvSpPr>
          <p:cNvPr id="30" name="Shape 26"/>
          <p:cNvSpPr/>
          <p:nvPr/>
        </p:nvSpPr>
        <p:spPr>
          <a:xfrm>
            <a:off x="548640" y="4224528"/>
            <a:ext cx="1828800" cy="1005840"/>
          </a:xfrm>
          <a:prstGeom prst="roundRect">
            <a:avLst>
              <a:gd name="adj" fmla="val 5455"/>
            </a:avLst>
          </a:prstGeom>
          <a:solidFill>
            <a:srgbClr val="F4F6F9"/>
          </a:solidFill>
          <a:ln/>
        </p:spPr>
      </p:sp>
      <p:sp>
        <p:nvSpPr>
          <p:cNvPr id="31" name="Text 27"/>
          <p:cNvSpPr txBox="1"/>
          <p:nvPr/>
        </p:nvSpPr>
        <p:spPr>
          <a:xfrm>
            <a:off x="685800" y="4224528"/>
            <a:ext cx="1600200" cy="1005840"/>
          </a:xfrm>
          <a:prstGeom prst="rect">
            <a:avLst/>
          </a:prstGeom>
          <a:noFill/>
          <a:ln/>
        </p:spPr>
        <p:txBody>
          <a:bodyPr wrap="square" lIns="0" tIns="0" rIns="0" bIns="0" rtlCol="0" anchor="ctr"/>
          <a:lstStyle/>
          <a:p>
            <a:pPr indent="0" marL="0">
              <a:buNone/>
            </a:pPr>
            <a:r>
              <a:rPr lang="en-US" sz="1200" b="1" dirty="0">
                <a:solidFill>
                  <a:srgbClr val="1E2330"/>
                </a:solidFill>
                <a:latin typeface="BIZ UDPGothic" pitchFamily="34" charset="0"/>
                <a:ea typeface="BIZ UDPGothic" pitchFamily="34" charset="-122"/>
                <a:cs typeface="BIZ UDPGothic" pitchFamily="34" charset="-120"/>
              </a:rPr>
              <a:t>claude.ai</a:t>
            </a:r>
            <a:endParaRPr lang="en-US" sz="1200" dirty="0"/>
          </a:p>
          <a:p>
            <a:pPr indent="0" marL="0">
              <a:buNone/>
            </a:pPr>
            <a:r>
              <a:rPr lang="en-US" sz="1200" b="1" dirty="0">
                <a:solidFill>
                  <a:srgbClr val="1E2330"/>
                </a:solidFill>
                <a:latin typeface="BIZ UDPGothic" pitchFamily="34" charset="0"/>
                <a:ea typeface="BIZ UDPGothic" pitchFamily="34" charset="-122"/>
                <a:cs typeface="BIZ UDPGothic" pitchFamily="34" charset="-120"/>
              </a:rPr>
              <a:t>管理コンソール</a:t>
            </a:r>
            <a:endParaRPr lang="en-US" sz="1200" dirty="0"/>
          </a:p>
        </p:txBody>
      </p:sp>
      <p:sp>
        <p:nvSpPr>
          <p:cNvPr id="32" name="Shape 28"/>
          <p:cNvSpPr/>
          <p:nvPr/>
        </p:nvSpPr>
        <p:spPr>
          <a:xfrm>
            <a:off x="2377440" y="4727448"/>
            <a:ext cx="320040" cy="914"/>
          </a:xfrm>
          <a:prstGeom prst="line">
            <a:avLst/>
          </a:prstGeom>
          <a:noFill/>
          <a:ln w="19050">
            <a:solidFill>
              <a:srgbClr val="8A92A3"/>
            </a:solidFill>
            <a:prstDash val="solid"/>
            <a:tailEnd type="triangle"/>
          </a:ln>
        </p:spPr>
      </p:sp>
      <p:sp>
        <p:nvSpPr>
          <p:cNvPr id="33" name="Shape 29"/>
          <p:cNvSpPr/>
          <p:nvPr/>
        </p:nvSpPr>
        <p:spPr>
          <a:xfrm>
            <a:off x="2697480" y="4224528"/>
            <a:ext cx="5029200" cy="1005840"/>
          </a:xfrm>
          <a:prstGeom prst="roundRect">
            <a:avLst>
              <a:gd name="adj" fmla="val 5455"/>
            </a:avLst>
          </a:prstGeom>
          <a:solidFill>
            <a:srgbClr val="FFFFFF"/>
          </a:solidFill>
          <a:ln w="12700">
            <a:solidFill>
              <a:srgbClr val="DDE1E8"/>
            </a:solidFill>
            <a:prstDash val="solid"/>
          </a:ln>
        </p:spPr>
      </p:sp>
      <p:sp>
        <p:nvSpPr>
          <p:cNvPr id="34" name="Text 30"/>
          <p:cNvSpPr txBox="1"/>
          <p:nvPr/>
        </p:nvSpPr>
        <p:spPr>
          <a:xfrm>
            <a:off x="2834640" y="4224528"/>
            <a:ext cx="4754880" cy="1005840"/>
          </a:xfrm>
          <a:prstGeom prst="rect">
            <a:avLst/>
          </a:prstGeom>
          <a:noFill/>
          <a:ln/>
        </p:spPr>
        <p:txBody>
          <a:bodyPr wrap="square" lIns="0" tIns="0" rIns="0" bIns="0" rtlCol="0" anchor="ctr"/>
          <a:lstStyle/>
          <a:p>
            <a:pPr indent="0" marL="0">
              <a:lnSpc>
                <a:spcPct val="105000"/>
              </a:lnSpc>
              <a:spcAft>
                <a:spcPts val="200"/>
              </a:spcAft>
              <a:buNone/>
            </a:pPr>
            <a:r>
              <a:rPr lang="en-US" sz="1100" dirty="0">
                <a:solidFill>
                  <a:srgbClr val="1E2330"/>
                </a:solidFill>
                <a:latin typeface="BIZ UDPGothic" pitchFamily="34" charset="0"/>
                <a:ea typeface="BIZ UDPGothic" pitchFamily="34" charset="-122"/>
                <a:cs typeface="BIZ UDPGothic" pitchFamily="34" charset="-120"/>
              </a:rPr>
              <a:t>server-managed settings（起動時に取得・1時間ごとに再取得）</a:t>
            </a:r>
            <a:endParaRPr lang="en-US" sz="1100" dirty="0"/>
          </a:p>
          <a:p>
            <a:pPr indent="0" marL="0">
              <a:lnSpc>
                <a:spcPct val="105000"/>
              </a:lnSpc>
              <a:spcAft>
                <a:spcPts val="200"/>
              </a:spcAft>
              <a:buNone/>
            </a:pPr>
            <a:r>
              <a:rPr lang="en-US" sz="1100" dirty="0">
                <a:solidFill>
                  <a:srgbClr val="1E2330"/>
                </a:solidFill>
                <a:latin typeface="Consolas" pitchFamily="34" charset="0"/>
                <a:ea typeface="Consolas" pitchFamily="34" charset="-122"/>
                <a:cs typeface="Consolas" pitchFamily="34" charset="-120"/>
              </a:rPr>
              <a:t>"forceRemoteSettingsRefresh": true</a:t>
            </a:r>
            <a:pPr indent="0" marL="0">
              <a:lnSpc>
                <a:spcPct val="105000"/>
              </a:lnSpc>
              <a:spcAft>
                <a:spcPts val="200"/>
              </a:spcAft>
              <a:buNone/>
            </a:pPr>
            <a:r>
              <a:rPr lang="en-US" sz="1100" dirty="0">
                <a:solidFill>
                  <a:srgbClr val="1E2330"/>
                </a:solidFill>
                <a:latin typeface="BIZ UDPGothic" pitchFamily="34" charset="0"/>
                <a:ea typeface="BIZ UDPGothic" pitchFamily="34" charset="-122"/>
                <a:cs typeface="BIZ UDPGothic" pitchFamily="34" charset="-120"/>
              </a:rPr>
              <a:t> を併用</a:t>
            </a:r>
            <a:endParaRPr lang="en-US" sz="1100" dirty="0"/>
          </a:p>
        </p:txBody>
      </p:sp>
      <p:sp>
        <p:nvSpPr>
          <p:cNvPr id="35" name="Shape 31"/>
          <p:cNvSpPr/>
          <p:nvPr/>
        </p:nvSpPr>
        <p:spPr>
          <a:xfrm>
            <a:off x="7726680" y="4727448"/>
            <a:ext cx="320040" cy="914"/>
          </a:xfrm>
          <a:prstGeom prst="line">
            <a:avLst/>
          </a:prstGeom>
          <a:noFill/>
          <a:ln w="19050">
            <a:solidFill>
              <a:srgbClr val="8A92A3"/>
            </a:solidFill>
            <a:prstDash val="solid"/>
            <a:tailEnd type="triangle"/>
          </a:ln>
        </p:spPr>
      </p:sp>
      <p:pic>
        <p:nvPicPr>
          <p:cNvPr id="36" name="Image 2" descr="preencoded.png">    </p:cNvPr>
          <p:cNvPicPr>
            <a:picLocks noChangeAspect="1"/>
          </p:cNvPicPr>
          <p:nvPr/>
        </p:nvPicPr>
        <p:blipFill>
          <a:blip r:embed="rId3"/>
          <a:stretch>
            <a:fillRect/>
          </a:stretch>
        </p:blipFill>
        <p:spPr>
          <a:xfrm>
            <a:off x="8046720" y="4617720"/>
            <a:ext cx="219456" cy="219456"/>
          </a:xfrm>
          <a:prstGeom prst="rect">
            <a:avLst/>
          </a:prstGeom>
        </p:spPr>
      </p:pic>
      <p:sp>
        <p:nvSpPr>
          <p:cNvPr id="37" name="Text 32"/>
          <p:cNvSpPr txBox="1"/>
          <p:nvPr/>
        </p:nvSpPr>
        <p:spPr>
          <a:xfrm>
            <a:off x="8339328" y="4224528"/>
            <a:ext cx="3303727" cy="1005840"/>
          </a:xfrm>
          <a:prstGeom prst="rect">
            <a:avLst/>
          </a:prstGeom>
          <a:noFill/>
          <a:ln/>
        </p:spPr>
        <p:txBody>
          <a:bodyPr wrap="square" lIns="0" tIns="0" rIns="0" bIns="0" rtlCol="0" anchor="ctr"/>
          <a:lstStyle/>
          <a:p>
            <a:pPr indent="0" marL="0">
              <a:lnSpc>
                <a:spcPct val="105000"/>
              </a:lnSpc>
              <a:buNone/>
            </a:pPr>
            <a:r>
              <a:rPr lang="en-US" sz="1100" dirty="0">
                <a:solidFill>
                  <a:srgbClr val="1E2330"/>
                </a:solidFill>
                <a:latin typeface="BIZ UDPGothic" pitchFamily="34" charset="0"/>
                <a:ea typeface="BIZ UDPGothic" pitchFamily="34" charset="-122"/>
                <a:cs typeface="BIZ UDPGothic" pitchFamily="34" charset="-120"/>
              </a:rPr>
              <a:t>Team / Enterprise かつAnthropic APIに直接ログインする場合のみ。取得失敗時は起動させない設定にする</a:t>
            </a:r>
            <a:endParaRPr lang="en-US" sz="1100" dirty="0"/>
          </a:p>
        </p:txBody>
      </p:sp>
      <p:sp>
        <p:nvSpPr>
          <p:cNvPr id="38" name="Text 33"/>
          <p:cNvSpPr txBox="1"/>
          <p:nvPr/>
        </p:nvSpPr>
        <p:spPr>
          <a:xfrm>
            <a:off x="548640" y="5394960"/>
            <a:ext cx="1463040" cy="384048"/>
          </a:xfrm>
          <a:prstGeom prst="rect">
            <a:avLst/>
          </a:prstGeom>
          <a:noFill/>
          <a:ln/>
        </p:spPr>
        <p:txBody>
          <a:bodyPr wrap="square" lIns="0" tIns="0" rIns="0" bIns="0" rtlCol="0" anchor="ctr"/>
          <a:lstStyle/>
          <a:p>
            <a:pPr indent="0" marL="0">
              <a:buNone/>
            </a:pPr>
            <a:r>
              <a:rPr lang="en-US" sz="1100" b="1" dirty="0">
                <a:solidFill>
                  <a:srgbClr val="5A6272"/>
                </a:solidFill>
                <a:latin typeface="BIZ UDPGothic" pitchFamily="34" charset="0"/>
                <a:ea typeface="BIZ UDPGothic" pitchFamily="34" charset="-122"/>
                <a:cs typeface="BIZ UDPGothic" pitchFamily="34" charset="-120"/>
              </a:rPr>
              <a:t>優先順位</a:t>
            </a:r>
            <a:endParaRPr lang="en-US" sz="1100" dirty="0"/>
          </a:p>
        </p:txBody>
      </p:sp>
      <p:sp>
        <p:nvSpPr>
          <p:cNvPr id="39" name="Shape 34"/>
          <p:cNvSpPr/>
          <p:nvPr/>
        </p:nvSpPr>
        <p:spPr>
          <a:xfrm>
            <a:off x="2011680" y="5394960"/>
            <a:ext cx="1765341" cy="384048"/>
          </a:xfrm>
          <a:prstGeom prst="roundRect">
            <a:avLst>
              <a:gd name="adj" fmla="val 14286"/>
            </a:avLst>
          </a:prstGeom>
          <a:solidFill>
            <a:srgbClr val="1B1F2A"/>
          </a:solidFill>
          <a:ln/>
        </p:spPr>
      </p:sp>
      <p:sp>
        <p:nvSpPr>
          <p:cNvPr id="40" name="Text 35"/>
          <p:cNvSpPr txBox="1"/>
          <p:nvPr/>
        </p:nvSpPr>
        <p:spPr>
          <a:xfrm>
            <a:off x="2057400" y="5394960"/>
            <a:ext cx="1673901"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Gothic" pitchFamily="34" charset="0"/>
                <a:ea typeface="BIZ UDPGothic" pitchFamily="34" charset="-122"/>
                <a:cs typeface="BIZ UDPGothic" pitchFamily="34" charset="-120"/>
              </a:rPr>
              <a:t>managed settings</a:t>
            </a:r>
            <a:endParaRPr lang="en-US" sz="1000" dirty="0"/>
          </a:p>
        </p:txBody>
      </p:sp>
      <p:sp>
        <p:nvSpPr>
          <p:cNvPr id="41" name="Text 36"/>
          <p:cNvSpPr txBox="1"/>
          <p:nvPr/>
        </p:nvSpPr>
        <p:spPr>
          <a:xfrm>
            <a:off x="3777021" y="5394960"/>
            <a:ext cx="201168" cy="384048"/>
          </a:xfrm>
          <a:prstGeom prst="rect">
            <a:avLst/>
          </a:prstGeom>
          <a:noFill/>
          <a:ln/>
        </p:spPr>
        <p:txBody>
          <a:bodyPr wrap="square" lIns="0" tIns="0" rIns="0" bIns="0" rtlCol="0" anchor="ctr"/>
          <a:lstStyle/>
          <a:p>
            <a:pPr algn="ctr" indent="0" marL="0">
              <a:buNone/>
            </a:pPr>
            <a:r>
              <a:rPr lang="en-US" sz="1200" b="1" dirty="0">
                <a:solidFill>
                  <a:srgbClr val="8A92A3"/>
                </a:solidFill>
                <a:latin typeface="BIZ UDPGothic" pitchFamily="34" charset="0"/>
                <a:ea typeface="BIZ UDPGothic" pitchFamily="34" charset="-122"/>
                <a:cs typeface="BIZ UDPGothic" pitchFamily="34" charset="-120"/>
              </a:rPr>
              <a:t>＞</a:t>
            </a:r>
            <a:endParaRPr lang="en-US" sz="1200" dirty="0"/>
          </a:p>
        </p:txBody>
      </p:sp>
      <p:sp>
        <p:nvSpPr>
          <p:cNvPr id="42" name="Shape 37"/>
          <p:cNvSpPr/>
          <p:nvPr/>
        </p:nvSpPr>
        <p:spPr>
          <a:xfrm>
            <a:off x="3978189" y="5394960"/>
            <a:ext cx="1765341" cy="384048"/>
          </a:xfrm>
          <a:prstGeom prst="roundRect">
            <a:avLst>
              <a:gd name="adj" fmla="val 14286"/>
            </a:avLst>
          </a:prstGeom>
          <a:solidFill>
            <a:srgbClr val="F4F6F9"/>
          </a:solidFill>
          <a:ln/>
        </p:spPr>
      </p:sp>
      <p:sp>
        <p:nvSpPr>
          <p:cNvPr id="43" name="Text 38"/>
          <p:cNvSpPr txBox="1"/>
          <p:nvPr/>
        </p:nvSpPr>
        <p:spPr>
          <a:xfrm>
            <a:off x="4023909" y="5394960"/>
            <a:ext cx="1673901" cy="384048"/>
          </a:xfrm>
          <a:prstGeom prst="rect">
            <a:avLst/>
          </a:prstGeom>
          <a:noFill/>
          <a:ln/>
        </p:spPr>
        <p:txBody>
          <a:bodyPr wrap="square" lIns="0" tIns="0" rIns="0" bIns="0" rtlCol="0" anchor="ctr"/>
          <a:lstStyle/>
          <a:p>
            <a:pPr algn="ctr" indent="0" marL="0">
              <a:buNone/>
            </a:pPr>
            <a:r>
              <a:rPr lang="en-US" sz="1000" dirty="0">
                <a:solidFill>
                  <a:srgbClr val="1E2330"/>
                </a:solidFill>
                <a:latin typeface="BIZ UDPGothic" pitchFamily="34" charset="0"/>
                <a:ea typeface="BIZ UDPGothic" pitchFamily="34" charset="-122"/>
                <a:cs typeface="BIZ UDPGothic" pitchFamily="34" charset="-120"/>
              </a:rPr>
              <a:t>CLI </a:t>
            </a:r>
            <a:pPr algn="ctr" indent="0" marL="0">
              <a:buNone/>
            </a:pPr>
            <a:r>
              <a:rPr lang="en-US" sz="1000" dirty="0">
                <a:solidFill>
                  <a:srgbClr val="1E2330"/>
                </a:solidFill>
                <a:latin typeface="Consolas" pitchFamily="34" charset="0"/>
                <a:ea typeface="Consolas" pitchFamily="34" charset="-122"/>
                <a:cs typeface="Consolas" pitchFamily="34" charset="-120"/>
              </a:rPr>
              <a:t>--settings</a:t>
            </a:r>
            <a:endParaRPr lang="en-US" sz="1000" dirty="0"/>
          </a:p>
        </p:txBody>
      </p:sp>
      <p:sp>
        <p:nvSpPr>
          <p:cNvPr id="44" name="Text 39"/>
          <p:cNvSpPr txBox="1"/>
          <p:nvPr/>
        </p:nvSpPr>
        <p:spPr>
          <a:xfrm>
            <a:off x="5743529" y="5394960"/>
            <a:ext cx="201168" cy="384048"/>
          </a:xfrm>
          <a:prstGeom prst="rect">
            <a:avLst/>
          </a:prstGeom>
          <a:noFill/>
          <a:ln/>
        </p:spPr>
        <p:txBody>
          <a:bodyPr wrap="square" lIns="0" tIns="0" rIns="0" bIns="0" rtlCol="0" anchor="ctr"/>
          <a:lstStyle/>
          <a:p>
            <a:pPr algn="ctr" indent="0" marL="0">
              <a:buNone/>
            </a:pPr>
            <a:r>
              <a:rPr lang="en-US" sz="1200" b="1" dirty="0">
                <a:solidFill>
                  <a:srgbClr val="8A92A3"/>
                </a:solidFill>
                <a:latin typeface="BIZ UDPGothic" pitchFamily="34" charset="0"/>
                <a:ea typeface="BIZ UDPGothic" pitchFamily="34" charset="-122"/>
                <a:cs typeface="BIZ UDPGothic" pitchFamily="34" charset="-120"/>
              </a:rPr>
              <a:t>＞</a:t>
            </a:r>
            <a:endParaRPr lang="en-US" sz="1200" dirty="0"/>
          </a:p>
        </p:txBody>
      </p:sp>
      <p:sp>
        <p:nvSpPr>
          <p:cNvPr id="45" name="Shape 40"/>
          <p:cNvSpPr/>
          <p:nvPr/>
        </p:nvSpPr>
        <p:spPr>
          <a:xfrm>
            <a:off x="5944697" y="5394960"/>
            <a:ext cx="1765341" cy="384048"/>
          </a:xfrm>
          <a:prstGeom prst="roundRect">
            <a:avLst>
              <a:gd name="adj" fmla="val 14286"/>
            </a:avLst>
          </a:prstGeom>
          <a:solidFill>
            <a:srgbClr val="F4F6F9"/>
          </a:solidFill>
          <a:ln/>
        </p:spPr>
      </p:sp>
      <p:sp>
        <p:nvSpPr>
          <p:cNvPr id="46" name="Text 41"/>
          <p:cNvSpPr txBox="1"/>
          <p:nvPr/>
        </p:nvSpPr>
        <p:spPr>
          <a:xfrm>
            <a:off x="5990417" y="5394960"/>
            <a:ext cx="1673901" cy="384048"/>
          </a:xfrm>
          <a:prstGeom prst="rect">
            <a:avLst/>
          </a:prstGeom>
          <a:noFill/>
          <a:ln/>
        </p:spPr>
        <p:txBody>
          <a:bodyPr wrap="square" lIns="0" tIns="0" rIns="0" bIns="0" rtlCol="0" anchor="ctr"/>
          <a:lstStyle/>
          <a:p>
            <a:pPr algn="ctr" indent="0" marL="0">
              <a:buNone/>
            </a:pPr>
            <a:r>
              <a:rPr lang="en-US" sz="1000" dirty="0">
                <a:solidFill>
                  <a:srgbClr val="1E2330"/>
                </a:solidFill>
                <a:latin typeface="Consolas" pitchFamily="34" charset="0"/>
                <a:ea typeface="Consolas" pitchFamily="34" charset="-122"/>
                <a:cs typeface="Consolas" pitchFamily="34" charset="-120"/>
              </a:rPr>
              <a:t>.claude/settings.local.json</a:t>
            </a:r>
            <a:endParaRPr lang="en-US" sz="1000" dirty="0"/>
          </a:p>
        </p:txBody>
      </p:sp>
      <p:sp>
        <p:nvSpPr>
          <p:cNvPr id="47" name="Text 42"/>
          <p:cNvSpPr txBox="1"/>
          <p:nvPr/>
        </p:nvSpPr>
        <p:spPr>
          <a:xfrm>
            <a:off x="7710038" y="5394960"/>
            <a:ext cx="201168" cy="384048"/>
          </a:xfrm>
          <a:prstGeom prst="rect">
            <a:avLst/>
          </a:prstGeom>
          <a:noFill/>
          <a:ln/>
        </p:spPr>
        <p:txBody>
          <a:bodyPr wrap="square" lIns="0" tIns="0" rIns="0" bIns="0" rtlCol="0" anchor="ctr"/>
          <a:lstStyle/>
          <a:p>
            <a:pPr algn="ctr" indent="0" marL="0">
              <a:buNone/>
            </a:pPr>
            <a:r>
              <a:rPr lang="en-US" sz="1200" b="1" dirty="0">
                <a:solidFill>
                  <a:srgbClr val="8A92A3"/>
                </a:solidFill>
                <a:latin typeface="BIZ UDPGothic" pitchFamily="34" charset="0"/>
                <a:ea typeface="BIZ UDPGothic" pitchFamily="34" charset="-122"/>
                <a:cs typeface="BIZ UDPGothic" pitchFamily="34" charset="-120"/>
              </a:rPr>
              <a:t>＞</a:t>
            </a:r>
            <a:endParaRPr lang="en-US" sz="1200" dirty="0"/>
          </a:p>
        </p:txBody>
      </p:sp>
      <p:sp>
        <p:nvSpPr>
          <p:cNvPr id="48" name="Shape 43"/>
          <p:cNvSpPr/>
          <p:nvPr/>
        </p:nvSpPr>
        <p:spPr>
          <a:xfrm>
            <a:off x="7911206" y="5394960"/>
            <a:ext cx="1765341" cy="384048"/>
          </a:xfrm>
          <a:prstGeom prst="roundRect">
            <a:avLst>
              <a:gd name="adj" fmla="val 14286"/>
            </a:avLst>
          </a:prstGeom>
          <a:solidFill>
            <a:srgbClr val="F4F6F9"/>
          </a:solidFill>
          <a:ln/>
        </p:spPr>
      </p:sp>
      <p:sp>
        <p:nvSpPr>
          <p:cNvPr id="49" name="Text 44"/>
          <p:cNvSpPr txBox="1"/>
          <p:nvPr/>
        </p:nvSpPr>
        <p:spPr>
          <a:xfrm>
            <a:off x="7956926" y="5394960"/>
            <a:ext cx="1673901" cy="384048"/>
          </a:xfrm>
          <a:prstGeom prst="rect">
            <a:avLst/>
          </a:prstGeom>
          <a:noFill/>
          <a:ln/>
        </p:spPr>
        <p:txBody>
          <a:bodyPr wrap="square" lIns="0" tIns="0" rIns="0" bIns="0" rtlCol="0" anchor="ctr"/>
          <a:lstStyle/>
          <a:p>
            <a:pPr algn="ctr" indent="0" marL="0">
              <a:buNone/>
            </a:pPr>
            <a:r>
              <a:rPr lang="en-US" sz="1000" dirty="0">
                <a:solidFill>
                  <a:srgbClr val="1E2330"/>
                </a:solidFill>
                <a:latin typeface="BIZ UDPGothic" pitchFamily="34" charset="0"/>
                <a:ea typeface="BIZ UDPGothic" pitchFamily="34" charset="-122"/>
                <a:cs typeface="BIZ UDPGothic" pitchFamily="34" charset="-120"/>
              </a:rPr>
              <a:t>リポジトリの</a:t>
            </a:r>
            <a:pPr algn="ctr" indent="0" marL="0">
              <a:buNone/>
            </a:pPr>
            <a:r>
              <a:rPr lang="en-US" sz="1000" dirty="0">
                <a:solidFill>
                  <a:srgbClr val="1E2330"/>
                </a:solidFill>
                <a:latin typeface="Consolas" pitchFamily="34" charset="0"/>
                <a:ea typeface="Consolas" pitchFamily="34" charset="-122"/>
                <a:cs typeface="Consolas" pitchFamily="34" charset="-120"/>
              </a:rPr>
              <a:t>.claude/settings.json</a:t>
            </a:r>
            <a:endParaRPr lang="en-US" sz="1000" dirty="0"/>
          </a:p>
        </p:txBody>
      </p:sp>
      <p:sp>
        <p:nvSpPr>
          <p:cNvPr id="50" name="Text 45"/>
          <p:cNvSpPr txBox="1"/>
          <p:nvPr/>
        </p:nvSpPr>
        <p:spPr>
          <a:xfrm>
            <a:off x="9676547" y="5394960"/>
            <a:ext cx="201168" cy="384048"/>
          </a:xfrm>
          <a:prstGeom prst="rect">
            <a:avLst/>
          </a:prstGeom>
          <a:noFill/>
          <a:ln/>
        </p:spPr>
        <p:txBody>
          <a:bodyPr wrap="square" lIns="0" tIns="0" rIns="0" bIns="0" rtlCol="0" anchor="ctr"/>
          <a:lstStyle/>
          <a:p>
            <a:pPr algn="ctr" indent="0" marL="0">
              <a:buNone/>
            </a:pPr>
            <a:r>
              <a:rPr lang="en-US" sz="1200" b="1" dirty="0">
                <a:solidFill>
                  <a:srgbClr val="8A92A3"/>
                </a:solidFill>
                <a:latin typeface="BIZ UDPGothic" pitchFamily="34" charset="0"/>
                <a:ea typeface="BIZ UDPGothic" pitchFamily="34" charset="-122"/>
                <a:cs typeface="BIZ UDPGothic" pitchFamily="34" charset="-120"/>
              </a:rPr>
              <a:t>＞</a:t>
            </a:r>
            <a:endParaRPr lang="en-US" sz="1200" dirty="0"/>
          </a:p>
        </p:txBody>
      </p:sp>
      <p:sp>
        <p:nvSpPr>
          <p:cNvPr id="51" name="Shape 46"/>
          <p:cNvSpPr/>
          <p:nvPr/>
        </p:nvSpPr>
        <p:spPr>
          <a:xfrm>
            <a:off x="9877715" y="5394960"/>
            <a:ext cx="1765341" cy="384048"/>
          </a:xfrm>
          <a:prstGeom prst="roundRect">
            <a:avLst>
              <a:gd name="adj" fmla="val 14286"/>
            </a:avLst>
          </a:prstGeom>
          <a:solidFill>
            <a:srgbClr val="F4F6F9"/>
          </a:solidFill>
          <a:ln/>
        </p:spPr>
      </p:sp>
      <p:sp>
        <p:nvSpPr>
          <p:cNvPr id="52" name="Text 47"/>
          <p:cNvSpPr txBox="1"/>
          <p:nvPr/>
        </p:nvSpPr>
        <p:spPr>
          <a:xfrm>
            <a:off x="9923435" y="5394960"/>
            <a:ext cx="1673901" cy="384048"/>
          </a:xfrm>
          <a:prstGeom prst="rect">
            <a:avLst/>
          </a:prstGeom>
          <a:noFill/>
          <a:ln/>
        </p:spPr>
        <p:txBody>
          <a:bodyPr wrap="square" lIns="0" tIns="0" rIns="0" bIns="0" rtlCol="0" anchor="ctr"/>
          <a:lstStyle/>
          <a:p>
            <a:pPr algn="ctr" indent="0" marL="0">
              <a:buNone/>
            </a:pPr>
            <a:r>
              <a:rPr lang="en-US" sz="1000" dirty="0">
                <a:solidFill>
                  <a:srgbClr val="1E2330"/>
                </a:solidFill>
                <a:latin typeface="Consolas" pitchFamily="34" charset="0"/>
                <a:ea typeface="Consolas" pitchFamily="34" charset="-122"/>
                <a:cs typeface="Consolas" pitchFamily="34" charset="-120"/>
              </a:rPr>
              <a:t>~/.claude/settings.json</a:t>
            </a:r>
            <a:endParaRPr lang="en-US" sz="1000" dirty="0"/>
          </a:p>
        </p:txBody>
      </p:sp>
      <p:sp>
        <p:nvSpPr>
          <p:cNvPr id="53" name="Text 48"/>
          <p:cNvSpPr txBox="1"/>
          <p:nvPr/>
        </p:nvSpPr>
        <p:spPr>
          <a:xfrm>
            <a:off x="548640" y="5897880"/>
            <a:ext cx="11094415" cy="320040"/>
          </a:xfrm>
          <a:prstGeom prst="rect">
            <a:avLst/>
          </a:prstGeom>
          <a:noFill/>
          <a:ln/>
        </p:spPr>
        <p:txBody>
          <a:bodyPr wrap="square" lIns="0" tIns="0" rIns="0" bIns="0" rtlCol="0" anchor="ctr"/>
          <a:lstStyle/>
          <a:p>
            <a:pPr indent="0" marL="0">
              <a:buNone/>
            </a:pPr>
            <a:r>
              <a:rPr lang="en-US" sz="1050" dirty="0">
                <a:solidFill>
                  <a:srgbClr val="5A6272"/>
                </a:solidFill>
                <a:latin typeface="BIZ UDPGothic" pitchFamily="34" charset="0"/>
                <a:ea typeface="BIZ UDPGothic" pitchFamily="34" charset="-122"/>
                <a:cs typeface="BIZ UDPGothic" pitchFamily="34" charset="-120"/>
              </a:rPr>
              <a:t>確認方法：Claude Code内で </a:t>
            </a:r>
            <a:pPr indent="0" marL="0">
              <a:buNone/>
            </a:pPr>
            <a:r>
              <a:rPr lang="en-US" sz="1050" dirty="0">
                <a:solidFill>
                  <a:srgbClr val="5A6272"/>
                </a:solidFill>
                <a:latin typeface="Consolas" pitchFamily="34" charset="0"/>
                <a:ea typeface="Consolas" pitchFamily="34" charset="-122"/>
                <a:cs typeface="Consolas" pitchFamily="34" charset="-120"/>
              </a:rPr>
              <a:t>/status</a:t>
            </a:r>
            <a:pPr indent="0" marL="0">
              <a:buNone/>
            </a:pPr>
            <a:r>
              <a:rPr lang="en-US" sz="1050" dirty="0">
                <a:solidFill>
                  <a:srgbClr val="5A6272"/>
                </a:solidFill>
                <a:latin typeface="BIZ UDPGothic" pitchFamily="34" charset="0"/>
                <a:ea typeface="BIZ UDPGothic" pitchFamily="34" charset="-122"/>
                <a:cs typeface="BIZ UDPGothic" pitchFamily="34" charset="-120"/>
              </a:rPr>
              <a:t> の「Setting sources」、または </a:t>
            </a:r>
            <a:pPr indent="0" marL="0">
              <a:buNone/>
            </a:pPr>
            <a:r>
              <a:rPr lang="en-US" sz="1050" dirty="0">
                <a:solidFill>
                  <a:srgbClr val="5A6272"/>
                </a:solidFill>
                <a:latin typeface="Consolas" pitchFamily="34" charset="0"/>
                <a:ea typeface="Consolas" pitchFamily="34" charset="-122"/>
                <a:cs typeface="Consolas" pitchFamily="34" charset="-120"/>
              </a:rPr>
              <a:t>claude doctor</a:t>
            </a:r>
            <a:pPr indent="0" marL="0">
              <a:buNone/>
            </a:pPr>
            <a:r>
              <a:rPr lang="en-US" sz="1050" dirty="0">
                <a:solidFill>
                  <a:srgbClr val="5A6272"/>
                </a:solidFill>
                <a:latin typeface="BIZ UDPGothic" pitchFamily="34" charset="0"/>
                <a:ea typeface="BIZ UDPGothic" pitchFamily="34" charset="-122"/>
                <a:cs typeface="BIZ UDPGothic" pitchFamily="34" charset="-120"/>
              </a:rPr>
              <a:t>。※ 配列キー（</a:t>
            </a:r>
            <a:pPr indent="0" marL="0">
              <a:buNone/>
            </a:pPr>
            <a:r>
              <a:rPr lang="en-US" sz="1050" dirty="0">
                <a:solidFill>
                  <a:srgbClr val="5A6272"/>
                </a:solidFill>
                <a:latin typeface="Consolas" pitchFamily="34" charset="0"/>
                <a:ea typeface="Consolas" pitchFamily="34" charset="-122"/>
                <a:cs typeface="Consolas" pitchFamily="34" charset="-120"/>
              </a:rPr>
              <a:t>excludedCommands</a:t>
            </a:r>
            <a:pPr indent="0" marL="0">
              <a:buNone/>
            </a:pPr>
            <a:r>
              <a:rPr lang="en-US" sz="1050" dirty="0">
                <a:solidFill>
                  <a:srgbClr val="5A6272"/>
                </a:solidFill>
                <a:latin typeface="BIZ UDPGothic" pitchFamily="34" charset="0"/>
                <a:ea typeface="BIZ UDPGothic" pitchFamily="34" charset="-122"/>
                <a:cs typeface="BIZ UDPGothic" pitchFamily="34" charset="-120"/>
              </a:rPr>
              <a:t>・</a:t>
            </a:r>
            <a:pPr indent="0" marL="0">
              <a:buNone/>
            </a:pPr>
            <a:r>
              <a:rPr lang="en-US" sz="1050" dirty="0">
                <a:solidFill>
                  <a:srgbClr val="5A6272"/>
                </a:solidFill>
                <a:latin typeface="Consolas" pitchFamily="34" charset="0"/>
                <a:ea typeface="Consolas" pitchFamily="34" charset="-122"/>
                <a:cs typeface="Consolas" pitchFamily="34" charset="-120"/>
              </a:rPr>
              <a:t>allowRead</a:t>
            </a:r>
            <a:pPr indent="0" marL="0">
              <a:buNone/>
            </a:pPr>
            <a:r>
              <a:rPr lang="en-US" sz="1050" dirty="0">
                <a:solidFill>
                  <a:srgbClr val="5A6272"/>
                </a:solidFill>
                <a:latin typeface="BIZ UDPGothic" pitchFamily="34" charset="0"/>
                <a:ea typeface="BIZ UDPGothic" pitchFamily="34" charset="-122"/>
                <a:cs typeface="BIZ UDPGothic" pitchFamily="34" charset="-120"/>
              </a:rPr>
              <a:t>等）は下位の設定から追記される点に注意</a:t>
            </a:r>
            <a:endParaRPr lang="en-US" sz="1050" dirty="0"/>
          </a:p>
        </p:txBody>
      </p:sp>
      <p:sp>
        <p:nvSpPr>
          <p:cNvPr id="54" name="Text 49"/>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Claude Code Docs “Deploy managed settings”, “Settings reference”, “Configure permissions”</a:t>
            </a:r>
            <a:endParaRPr lang="en-US" sz="900" dirty="0"/>
          </a:p>
        </p:txBody>
      </p:sp>
      <p:sp>
        <p:nvSpPr>
          <p:cNvPr id="55" name="Text 50"/>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FBEFEA"/>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C15F3C"/>
                </a:solidFill>
                <a:latin typeface="BIZ UDPGothic" pitchFamily="34" charset="0"/>
                <a:ea typeface="BIZ UDPGothic" pitchFamily="34" charset="-122"/>
                <a:cs typeface="BIZ UDPGothic" pitchFamily="34" charset="-120"/>
              </a:rPr>
              <a:t>Claude Code</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Claude Code: 評価プロファイル（1/2）OS sandbox</a:t>
            </a:r>
            <a:endParaRPr lang="en-US" sz="2800" dirty="0"/>
          </a:p>
        </p:txBody>
      </p:sp>
      <p:sp>
        <p:nvSpPr>
          <p:cNvPr id="6" name="Text 4"/>
          <p:cNvSpPr txBox="1"/>
          <p:nvPr/>
        </p:nvSpPr>
        <p:spPr>
          <a:xfrm>
            <a:off x="548640" y="1188720"/>
            <a:ext cx="11094415" cy="347472"/>
          </a:xfrm>
          <a:prstGeom prst="rect">
            <a:avLst/>
          </a:prstGeom>
          <a:noFill/>
          <a:ln/>
        </p:spPr>
        <p:txBody>
          <a:bodyPr wrap="square" lIns="0" tIns="0" rIns="0" bIns="0" rtlCol="0" anchor="ctr"/>
          <a:lstStyle/>
          <a:p>
            <a:pPr indent="0" marL="0">
              <a:buNone/>
            </a:pPr>
            <a:r>
              <a:rPr lang="en-US" sz="1400" b="1" dirty="0">
                <a:solidFill>
                  <a:srgbClr val="5A6272"/>
                </a:solidFill>
                <a:latin typeface="BIZ UDPGothic" pitchFamily="34" charset="0"/>
                <a:ea typeface="BIZ UDPGothic" pitchFamily="34" charset="-122"/>
                <a:cs typeface="BIZ UDPGothic" pitchFamily="34" charset="-120"/>
              </a:rPr>
              <a:t>記載先：managed settings（</a:t>
            </a:r>
            <a:pPr indent="0" marL="0">
              <a:buNone/>
            </a:pPr>
            <a:r>
              <a:rPr lang="en-US" sz="1400" b="1" dirty="0">
                <a:solidFill>
                  <a:srgbClr val="C15F3C"/>
                </a:solidFill>
                <a:latin typeface="Consolas" pitchFamily="34" charset="0"/>
                <a:ea typeface="Consolas" pitchFamily="34" charset="-122"/>
                <a:cs typeface="Consolas" pitchFamily="34" charset="-120"/>
              </a:rPr>
              <a:t>Settings</a:t>
            </a:r>
            <a:pPr indent="0" marL="0">
              <a:buNone/>
            </a:pPr>
            <a:r>
              <a:rPr lang="en-US" sz="1400" b="1" dirty="0">
                <a:solidFill>
                  <a:srgbClr val="5A6272"/>
                </a:solidFill>
                <a:latin typeface="BIZ UDPGothic" pitchFamily="34" charset="0"/>
                <a:ea typeface="BIZ UDPGothic" pitchFamily="34" charset="-122"/>
                <a:cs typeface="BIZ UDPGothic" pitchFamily="34" charset="-120"/>
              </a:rPr>
              <a:t> JSON / </a:t>
            </a:r>
            <a:pPr indent="0" marL="0">
              <a:buNone/>
            </a:pPr>
            <a:r>
              <a:rPr lang="en-US" sz="1400" b="1" dirty="0">
                <a:solidFill>
                  <a:srgbClr val="C15F3C"/>
                </a:solidFill>
                <a:latin typeface="Consolas" pitchFamily="34" charset="0"/>
                <a:ea typeface="Consolas" pitchFamily="34" charset="-122"/>
                <a:cs typeface="Consolas" pitchFamily="34" charset="-120"/>
              </a:rPr>
              <a:t>managed-settings.json</a:t>
            </a:r>
            <a:pPr indent="0" marL="0">
              <a:buNone/>
            </a:pPr>
            <a:r>
              <a:rPr lang="en-US" sz="1400" b="1" dirty="0">
                <a:solidFill>
                  <a:srgbClr val="5A6272"/>
                </a:solidFill>
                <a:latin typeface="BIZ UDPGothic" pitchFamily="34" charset="0"/>
                <a:ea typeface="BIZ UDPGothic" pitchFamily="34" charset="-122"/>
                <a:cs typeface="BIZ UDPGothic" pitchFamily="34" charset="-120"/>
              </a:rPr>
              <a:t>）の </a:t>
            </a:r>
            <a:pPr indent="0" marL="0">
              <a:buNone/>
            </a:pPr>
            <a:r>
              <a:rPr lang="en-US" sz="1400" b="1" dirty="0">
                <a:solidFill>
                  <a:srgbClr val="C15F3C"/>
                </a:solidFill>
                <a:latin typeface="Consolas" pitchFamily="34" charset="0"/>
                <a:ea typeface="Consolas" pitchFamily="34" charset="-122"/>
                <a:cs typeface="Consolas" pitchFamily="34" charset="-120"/>
              </a:rPr>
              <a:t>sandbox</a:t>
            </a:r>
            <a:pPr indent="0" marL="0">
              <a:buNone/>
            </a:pPr>
            <a:r>
              <a:rPr lang="en-US" sz="1400" b="1" dirty="0">
                <a:solidFill>
                  <a:srgbClr val="5A6272"/>
                </a:solidFill>
                <a:latin typeface="BIZ UDPGothic" pitchFamily="34" charset="0"/>
                <a:ea typeface="BIZ UDPGothic" pitchFamily="34" charset="-122"/>
                <a:cs typeface="BIZ UDPGothic" pitchFamily="34" charset="-120"/>
              </a:rPr>
              <a:t> ブロック</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914400"/>
                <a:gridCol w="3749040"/>
                <a:gridCol w="2743200"/>
                <a:gridCol w="2956255"/>
                <a:gridCol w="731520"/>
              </a:tblGrid>
              <a:tr h="365760">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層</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設定キー</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評価値</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ねらい</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リスク</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r>
              <a:tr h="429768">
                <a:tc rowSpan="3">
                  <a:txBody>
                    <a:bodyPr/>
                    <a:lstStyle/>
                    <a:p>
                      <a:pPr algn="ctr" indent="0" marL="0">
                        <a:buNone/>
                      </a:pPr>
                      <a:r>
                        <a:rPr lang="en-US" sz="1200" b="1" dirty="0">
                          <a:solidFill>
                            <a:srgbClr val="5A6272"/>
                          </a:solidFill>
                          <a:latin typeface="BIZ UDPGothic" pitchFamily="34" charset="0"/>
                          <a:ea typeface="BIZ UDPGothic" pitchFamily="34" charset="-122"/>
                          <a:cs typeface="BIZ UDPGothic" pitchFamily="34" charset="-120"/>
                        </a:rPr>
                        <a:t>実行</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sandbox.enabled</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1E2330"/>
                          </a:solidFill>
                          <a:latin typeface="Consolas" pitchFamily="34" charset="0"/>
                          <a:ea typeface="Consolas" pitchFamily="34" charset="-122"/>
                          <a:cs typeface="Consolas" pitchFamily="34" charset="-120"/>
                        </a:rPr>
                        <a:t>failIfUnavailable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C15F3C"/>
                          </a:solidFill>
                          <a:latin typeface="Consolas" pitchFamily="34" charset="0"/>
                          <a:ea typeface="Consolas" pitchFamily="34" charset="-122"/>
                          <a:cs typeface="Consolas" pitchFamily="34" charset="-120"/>
                        </a:rPr>
                        <a:t>true</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C15F3C"/>
                          </a:solidFill>
                          <a:latin typeface="Consolas" pitchFamily="34" charset="0"/>
                          <a:ea typeface="Consolas" pitchFamily="34" charset="-122"/>
                          <a:cs typeface="Consolas" pitchFamily="34" charset="-120"/>
                        </a:rPr>
                        <a:t>true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常にSandboxで実行。使えない環境では起動しない</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R6</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29768">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sandbox.allowUnsandboxedCommands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C15F3C"/>
                          </a:solidFill>
                          <a:latin typeface="Consolas" pitchFamily="34" charset="0"/>
                          <a:ea typeface="Consolas" pitchFamily="34" charset="-122"/>
                          <a:cs typeface="Consolas" pitchFamily="34" charset="-120"/>
                        </a:rPr>
                        <a:t>false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Sandbox外での再試行を禁止</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R6</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29768">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sandbox.excludedCommands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C15F3C"/>
                          </a:solidFill>
                          <a:latin typeface="Consolas" pitchFamily="34" charset="0"/>
                          <a:ea typeface="Consolas" pitchFamily="34" charset="-122"/>
                          <a:cs typeface="Consolas" pitchFamily="34" charset="-120"/>
                        </a:rPr>
                        <a:t>[]</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例外コマンドを置かない</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R6</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29768">
                <a:tc rowSpan="3">
                  <a:txBody>
                    <a:bodyPr/>
                    <a:lstStyle/>
                    <a:p>
                      <a:pPr algn="ctr" indent="0" marL="0">
                        <a:buNone/>
                      </a:pPr>
                      <a:r>
                        <a:rPr lang="en-US" sz="1200" b="1" dirty="0">
                          <a:solidFill>
                            <a:srgbClr val="5A6272"/>
                          </a:solidFill>
                          <a:latin typeface="BIZ UDPGothic" pitchFamily="34" charset="0"/>
                          <a:ea typeface="BIZ UDPGothic" pitchFamily="34" charset="-122"/>
                          <a:cs typeface="BIZ UDPGothic" pitchFamily="34" charset="-120"/>
                        </a:rPr>
                        <a:t>ファイル</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sandbox.filesystem.allowManagedReadPathsOnly</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C15F3C"/>
                          </a:solidFill>
                          <a:latin typeface="Consolas" pitchFamily="34" charset="0"/>
                          <a:ea typeface="Consolas" pitchFamily="34" charset="-122"/>
                          <a:cs typeface="Consolas" pitchFamily="34" charset="-120"/>
                        </a:rPr>
                        <a:t>true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読取許可の追加は管理者だけ</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R1</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29768">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sandbox.credentials.files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C15F3C"/>
                          </a:solidFill>
                          <a:latin typeface="Consolas" pitchFamily="34" charset="0"/>
                          <a:ea typeface="Consolas" pitchFamily="34" charset="-122"/>
                          <a:cs typeface="Consolas" pitchFamily="34" charset="-120"/>
                        </a:rPr>
                        <a:t>~/.ssh</a:t>
                      </a:r>
                      <a:pPr indent="0" marL="0">
                        <a:buNone/>
                      </a:pPr>
                      <a:r>
                        <a:rPr lang="en-US" sz="1050" dirty="0">
                          <a:solidFill>
                            <a:srgbClr val="1E2330"/>
                          </a:solidFill>
                          <a:latin typeface="BIZ UDPGothic" pitchFamily="34" charset="0"/>
                          <a:ea typeface="BIZ UDPGothic" pitchFamily="34" charset="-122"/>
                          <a:cs typeface="BIZ UDPGothic" pitchFamily="34" charset="-120"/>
                        </a:rPr>
                        <a:t>・</a:t>
                      </a:r>
                      <a:pPr indent="0" marL="0">
                        <a:buNone/>
                      </a:pPr>
                      <a:r>
                        <a:rPr lang="en-US" sz="1050" dirty="0">
                          <a:solidFill>
                            <a:srgbClr val="C15F3C"/>
                          </a:solidFill>
                          <a:latin typeface="Consolas" pitchFamily="34" charset="0"/>
                          <a:ea typeface="Consolas" pitchFamily="34" charset="-122"/>
                          <a:cs typeface="Consolas" pitchFamily="34" charset="-120"/>
                        </a:rPr>
                        <a:t>~/.aws/credentials</a:t>
                      </a:r>
                      <a:pPr indent="0" marL="0">
                        <a:buNone/>
                      </a:pPr>
                      <a:r>
                        <a:rPr lang="en-US" sz="1050" dirty="0">
                          <a:solidFill>
                            <a:srgbClr val="1E2330"/>
                          </a:solidFill>
                          <a:latin typeface="BIZ UDPGothic" pitchFamily="34" charset="0"/>
                          <a:ea typeface="BIZ UDPGothic" pitchFamily="34" charset="-122"/>
                          <a:cs typeface="BIZ UDPGothic" pitchFamily="34" charset="-120"/>
                        </a:rPr>
                        <a:t> 等を </a:t>
                      </a:r>
                      <a:pPr indent="0" marL="0">
                        <a:buNone/>
                      </a:pPr>
                      <a:r>
                        <a:rPr lang="en-US" sz="1050" dirty="0">
                          <a:solidFill>
                            <a:srgbClr val="C15F3C"/>
                          </a:solidFill>
                          <a:latin typeface="Consolas" pitchFamily="34" charset="0"/>
                          <a:ea typeface="Consolas" pitchFamily="34" charset="-122"/>
                          <a:cs typeface="Consolas" pitchFamily="34" charset="-120"/>
                        </a:rPr>
                        <a:t>deny</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鍵・認証ファイルを読ませない</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R3</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29768">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sandbox.credentials.envVars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C15F3C"/>
                          </a:solidFill>
                          <a:latin typeface="Consolas" pitchFamily="34" charset="0"/>
                          <a:ea typeface="Consolas" pitchFamily="34" charset="-122"/>
                          <a:cs typeface="Consolas" pitchFamily="34" charset="-120"/>
                        </a:rPr>
                        <a:t>GITHUB_TOKEN</a:t>
                      </a:r>
                      <a:pPr indent="0" marL="0">
                        <a:buNone/>
                      </a:pPr>
                      <a:r>
                        <a:rPr lang="en-US" sz="1050" dirty="0">
                          <a:solidFill>
                            <a:srgbClr val="1E2330"/>
                          </a:solidFill>
                          <a:latin typeface="BIZ UDPGothic" pitchFamily="34" charset="0"/>
                          <a:ea typeface="BIZ UDPGothic" pitchFamily="34" charset="-122"/>
                          <a:cs typeface="BIZ UDPGothic" pitchFamily="34" charset="-120"/>
                        </a:rPr>
                        <a:t> 等を </a:t>
                      </a:r>
                      <a:pPr indent="0" marL="0">
                        <a:buNone/>
                      </a:pPr>
                      <a:r>
                        <a:rPr lang="en-US" sz="1050" dirty="0">
                          <a:solidFill>
                            <a:srgbClr val="C15F3C"/>
                          </a:solidFill>
                          <a:latin typeface="Consolas" pitchFamily="34" charset="0"/>
                          <a:ea typeface="Consolas" pitchFamily="34" charset="-122"/>
                          <a:cs typeface="Consolas" pitchFamily="34" charset="-120"/>
                        </a:rPr>
                        <a:t>deny</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秘密の環境変数を消してから実行</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R3</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29768">
                <a:tc rowSpan="2">
                  <a:txBody>
                    <a:bodyPr/>
                    <a:lstStyle/>
                    <a:p>
                      <a:pPr algn="ctr" indent="0" marL="0">
                        <a:buNone/>
                      </a:pPr>
                      <a:r>
                        <a:rPr lang="en-US" sz="1200" b="1" dirty="0">
                          <a:solidFill>
                            <a:srgbClr val="5A6272"/>
                          </a:solidFill>
                          <a:latin typeface="BIZ UDPGothic" pitchFamily="34" charset="0"/>
                          <a:ea typeface="BIZ UDPGothic" pitchFamily="34" charset="-122"/>
                          <a:cs typeface="BIZ UDPGothic" pitchFamily="34" charset="-120"/>
                        </a:rPr>
                        <a:t>通信</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sandbox.network.allowedDomains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1E2330"/>
                          </a:solidFill>
                          <a:latin typeface="BIZ UDPGothic" pitchFamily="34" charset="0"/>
                          <a:ea typeface="BIZ UDPGothic" pitchFamily="34" charset="-122"/>
                          <a:cs typeface="BIZ UDPGothic" pitchFamily="34" charset="-120"/>
                        </a:rPr>
                        <a:t>社内Git・パッケージミラーのみ</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通信先を限定</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R4</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29768">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sandbox.network.strictAllowlist</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1E2330"/>
                          </a:solidFill>
                          <a:latin typeface="Consolas" pitchFamily="34" charset="0"/>
                          <a:ea typeface="Consolas" pitchFamily="34" charset="-122"/>
                          <a:cs typeface="Consolas" pitchFamily="34" charset="-120"/>
                        </a:rPr>
                        <a:t>allowManagedDomainsOnly</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C15F3C"/>
                          </a:solidFill>
                          <a:latin typeface="Consolas" pitchFamily="34" charset="0"/>
                          <a:ea typeface="Consolas" pitchFamily="34" charset="-122"/>
                          <a:cs typeface="Consolas" pitchFamily="34" charset="-120"/>
                        </a:rPr>
                        <a:t>true</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C15F3C"/>
                          </a:solidFill>
                          <a:latin typeface="Consolas" pitchFamily="34" charset="0"/>
                          <a:ea typeface="Consolas" pitchFamily="34" charset="-122"/>
                          <a:cs typeface="Consolas" pitchFamily="34" charset="-120"/>
                        </a:rPr>
                        <a:t>true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未許可hostは即拒否。開発者は追加できない</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R4</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bl>
          </a:graphicData>
        </a:graphic>
      </p:graphicFrame>
      <p:sp>
        <p:nvSpPr>
          <p:cNvPr id="8" name="Shape 5"/>
          <p:cNvSpPr/>
          <p:nvPr/>
        </p:nvSpPr>
        <p:spPr>
          <a:xfrm>
            <a:off x="548640" y="5669280"/>
            <a:ext cx="11094415" cy="566928"/>
          </a:xfrm>
          <a:prstGeom prst="roundRect">
            <a:avLst>
              <a:gd name="adj" fmla="val 9677"/>
            </a:avLst>
          </a:prstGeom>
          <a:solidFill>
            <a:srgbClr val="FBF4E4"/>
          </a:solidFill>
          <a:ln/>
        </p:spPr>
      </p:sp>
      <p:pic>
        <p:nvPicPr>
          <p:cNvPr id="9" name="Image 0" descr="preencoded.png">    </p:cNvPr>
          <p:cNvPicPr>
            <a:picLocks noChangeAspect="1"/>
          </p:cNvPicPr>
          <p:nvPr/>
        </p:nvPicPr>
        <p:blipFill>
          <a:blip r:embed="rId1"/>
          <a:stretch>
            <a:fillRect/>
          </a:stretch>
        </p:blipFill>
        <p:spPr>
          <a:xfrm>
            <a:off x="731520" y="5843016"/>
            <a:ext cx="219456" cy="219456"/>
          </a:xfrm>
          <a:prstGeom prst="rect">
            <a:avLst/>
          </a:prstGeom>
        </p:spPr>
      </p:pic>
      <p:sp>
        <p:nvSpPr>
          <p:cNvPr id="10" name="Text 6"/>
          <p:cNvSpPr txBox="1"/>
          <p:nvPr/>
        </p:nvSpPr>
        <p:spPr>
          <a:xfrm>
            <a:off x="1097280" y="5669280"/>
            <a:ext cx="10362895" cy="566928"/>
          </a:xfrm>
          <a:prstGeom prst="rect">
            <a:avLst/>
          </a:prstGeom>
          <a:noFill/>
          <a:ln/>
        </p:spPr>
        <p:txBody>
          <a:bodyPr wrap="square" lIns="0" tIns="0" rIns="0" bIns="0" rtlCol="0" anchor="ct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設定では塞げない：</a:t>
            </a:r>
            <a:pPr indent="0" marL="0">
              <a:buNone/>
            </a:pPr>
            <a:r>
              <a:rPr lang="en-US" sz="1200" dirty="0">
                <a:solidFill>
                  <a:srgbClr val="1E2330"/>
                </a:solidFill>
                <a:latin typeface="Consolas" pitchFamily="34" charset="0"/>
                <a:ea typeface="Consolas" pitchFamily="34" charset="-122"/>
                <a:cs typeface="Consolas" pitchFamily="34" charset="-120"/>
              </a:rPr>
              <a:t>excludedCommands</a:t>
            </a:r>
            <a:pPr indent="0" marL="0">
              <a:buNone/>
            </a:pPr>
            <a:r>
              <a:rPr lang="en-US" sz="1200" dirty="0">
                <a:solidFill>
                  <a:srgbClr val="1E2330"/>
                </a:solidFill>
                <a:latin typeface="BIZ UDPGothic" pitchFamily="34" charset="0"/>
                <a:ea typeface="BIZ UDPGothic" pitchFamily="34" charset="-122"/>
                <a:cs typeface="BIZ UDPGothic" pitchFamily="34" charset="-120"/>
              </a:rPr>
              <a:t> は開発者が追記できる（ロックするキーがない）→ 実機試験で追記の有無を確認する</a:t>
            </a:r>
            <a:endParaRPr lang="en-US" sz="1200" dirty="0"/>
          </a:p>
        </p:txBody>
      </p:sp>
      <p:sp>
        <p:nvSpPr>
          <p:cNvPr id="11" name="Text 7"/>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Claude Code Docs “Configure the sandboxed Bash tool”, “Settings reference”, “Deploy managed settings”</a:t>
            </a:r>
            <a:endParaRPr lang="en-US" sz="900" dirty="0"/>
          </a:p>
        </p:txBody>
      </p:sp>
      <p:sp>
        <p:nvSpPr>
          <p:cNvPr id="12" name="Text 8"/>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FBEFEA"/>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C15F3C"/>
                </a:solidFill>
                <a:latin typeface="BIZ UDPGothic" pitchFamily="34" charset="0"/>
                <a:ea typeface="BIZ UDPGothic" pitchFamily="34" charset="-122"/>
                <a:cs typeface="BIZ UDPGothic" pitchFamily="34" charset="-120"/>
              </a:rPr>
              <a:t>Claude Code</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Claude Code: 評価プロファイル（2/2）権限・拡張のロック</a:t>
            </a:r>
            <a:endParaRPr lang="en-US" sz="2800" dirty="0"/>
          </a:p>
        </p:txBody>
      </p:sp>
      <p:sp>
        <p:nvSpPr>
          <p:cNvPr id="6" name="Text 4"/>
          <p:cNvSpPr txBox="1"/>
          <p:nvPr/>
        </p:nvSpPr>
        <p:spPr>
          <a:xfrm>
            <a:off x="548640" y="1188720"/>
            <a:ext cx="11094415" cy="347472"/>
          </a:xfrm>
          <a:prstGeom prst="rect">
            <a:avLst/>
          </a:prstGeom>
          <a:noFill/>
          <a:ln/>
        </p:spPr>
        <p:txBody>
          <a:bodyPr wrap="square" lIns="0" tIns="0" rIns="0" bIns="0" rtlCol="0" anchor="ctr"/>
          <a:lstStyle/>
          <a:p>
            <a:pPr indent="0" marL="0">
              <a:buNone/>
            </a:pPr>
            <a:r>
              <a:rPr lang="en-US" sz="1400" b="1" dirty="0">
                <a:solidFill>
                  <a:srgbClr val="5A6272"/>
                </a:solidFill>
                <a:latin typeface="BIZ UDPGothic" pitchFamily="34" charset="0"/>
                <a:ea typeface="BIZ UDPGothic" pitchFamily="34" charset="-122"/>
                <a:cs typeface="BIZ UDPGothic" pitchFamily="34" charset="-120"/>
              </a:rPr>
              <a:t>記載先：同じ managed settings の </a:t>
            </a:r>
            <a:pPr indent="0" marL="0">
              <a:buNone/>
            </a:pPr>
            <a:r>
              <a:rPr lang="en-US" sz="1400" b="1" dirty="0">
                <a:solidFill>
                  <a:srgbClr val="C15F3C"/>
                </a:solidFill>
                <a:latin typeface="Consolas" pitchFamily="34" charset="0"/>
                <a:ea typeface="Consolas" pitchFamily="34" charset="-122"/>
                <a:cs typeface="Consolas" pitchFamily="34" charset="-120"/>
              </a:rPr>
              <a:t>permissions</a:t>
            </a:r>
            <a:pPr indent="0" marL="0">
              <a:buNone/>
            </a:pPr>
            <a:r>
              <a:rPr lang="en-US" sz="1400" b="1" dirty="0">
                <a:solidFill>
                  <a:srgbClr val="5A6272"/>
                </a:solidFill>
                <a:latin typeface="BIZ UDPGothic" pitchFamily="34" charset="0"/>
                <a:ea typeface="BIZ UDPGothic" pitchFamily="34" charset="-122"/>
                <a:cs typeface="BIZ UDPGothic" pitchFamily="34" charset="-120"/>
              </a:rPr>
              <a:t> ブロックとトップレベルのキー</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914400"/>
                <a:gridCol w="3749040"/>
                <a:gridCol w="2743200"/>
                <a:gridCol w="2956255"/>
                <a:gridCol w="731520"/>
              </a:tblGrid>
              <a:tr h="365760">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層</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設定キー</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評価値</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ねらい</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リスク</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r>
              <a:tr h="475488">
                <a:tc rowSpan="4">
                  <a:txBody>
                    <a:bodyPr/>
                    <a:lstStyle/>
                    <a:p>
                      <a:pPr algn="ctr" indent="0" marL="0">
                        <a:buNone/>
                      </a:pPr>
                      <a:r>
                        <a:rPr lang="en-US" sz="1200" b="1" dirty="0">
                          <a:solidFill>
                            <a:srgbClr val="5A6272"/>
                          </a:solidFill>
                          <a:latin typeface="BIZ UDPGothic" pitchFamily="34" charset="0"/>
                          <a:ea typeface="BIZ UDPGothic" pitchFamily="34" charset="-122"/>
                          <a:cs typeface="BIZ UDPGothic" pitchFamily="34" charset="-120"/>
                        </a:rPr>
                        <a:t>① 権限</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permissions.blockReadsOutsideWorkingDirectories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C15F3C"/>
                          </a:solidFill>
                          <a:latin typeface="Consolas" pitchFamily="34" charset="0"/>
                          <a:ea typeface="Consolas" pitchFamily="34" charset="-122"/>
                          <a:cs typeface="Consolas" pitchFamily="34" charset="-120"/>
                        </a:rPr>
                        <a:t>true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作業dir外（home・マウント領域）の読取を拒否</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R1</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75488">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permissions.deny</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C15F3C"/>
                          </a:solidFill>
                          <a:latin typeface="Consolas" pitchFamily="34" charset="0"/>
                          <a:ea typeface="Consolas" pitchFamily="34" charset="-122"/>
                          <a:cs typeface="Consolas" pitchFamily="34" charset="-120"/>
                        </a:rPr>
                        <a:t>Read(./**/.env)</a:t>
                      </a:r>
                      <a:pPr indent="0" marL="0">
                        <a:buNone/>
                      </a:pPr>
                      <a:r>
                        <a:rPr lang="en-US" sz="1050" dirty="0">
                          <a:solidFill>
                            <a:srgbClr val="1E2330"/>
                          </a:solidFill>
                          <a:latin typeface="BIZ UDPGothic" pitchFamily="34" charset="0"/>
                          <a:ea typeface="BIZ UDPGothic" pitchFamily="34" charset="-122"/>
                          <a:cs typeface="BIZ UDPGothic" pitchFamily="34" charset="-120"/>
                        </a:rPr>
                        <a:t>・</a:t>
                      </a:r>
                      <a:pPr indent="0" marL="0">
                        <a:buNone/>
                      </a:pPr>
                      <a:r>
                        <a:rPr lang="en-US" sz="1050" dirty="0">
                          <a:solidFill>
                            <a:srgbClr val="C15F3C"/>
                          </a:solidFill>
                          <a:latin typeface="Consolas" pitchFamily="34" charset="0"/>
                          <a:ea typeface="Consolas" pitchFamily="34" charset="-122"/>
                          <a:cs typeface="Consolas" pitchFamily="34" charset="-120"/>
                        </a:rPr>
                        <a:t>WebFetch</a:t>
                      </a:r>
                      <a:pPr indent="0" marL="0">
                        <a:buNone/>
                      </a:pPr>
                      <a:r>
                        <a:rPr lang="en-US" sz="1050" dirty="0">
                          <a:solidFill>
                            <a:srgbClr val="1E2330"/>
                          </a:solidFill>
                          <a:latin typeface="BIZ UDPGothic" pitchFamily="34" charset="0"/>
                          <a:ea typeface="BIZ UDPGothic" pitchFamily="34" charset="-122"/>
                          <a:cs typeface="BIZ UDPGothic" pitchFamily="34" charset="-120"/>
                        </a:rPr>
                        <a:t>・</a:t>
                      </a:r>
                      <a:pPr indent="0" marL="0">
                        <a:buNone/>
                      </a:pPr>
                      <a:r>
                        <a:rPr lang="en-US" sz="1050" dirty="0">
                          <a:solidFill>
                            <a:srgbClr val="C15F3C"/>
                          </a:solidFill>
                          <a:latin typeface="Consolas" pitchFamily="34" charset="0"/>
                          <a:ea typeface="Consolas" pitchFamily="34" charset="-122"/>
                          <a:cs typeface="Consolas" pitchFamily="34" charset="-120"/>
                        </a:rPr>
                        <a:t>WebSearch</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秘密ファイルの読取とWeb取得を禁止</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R3 R7</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75488">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permissions.disableBypassPermissionsMode</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1E2330"/>
                          </a:solidFill>
                          <a:latin typeface="Consolas" pitchFamily="34" charset="0"/>
                          <a:ea typeface="Consolas" pitchFamily="34" charset="-122"/>
                          <a:cs typeface="Consolas" pitchFamily="34" charset="-120"/>
                        </a:rPr>
                        <a:t>disableAutoMode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C15F3C"/>
                          </a:solidFill>
                          <a:latin typeface="Consolas" pitchFamily="34" charset="0"/>
                          <a:ea typeface="Consolas" pitchFamily="34" charset="-122"/>
                          <a:cs typeface="Consolas" pitchFamily="34" charset="-120"/>
                        </a:rPr>
                        <a:t>"disable"</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C15F3C"/>
                          </a:solidFill>
                          <a:latin typeface="Consolas" pitchFamily="34" charset="0"/>
                          <a:ea typeface="Consolas" pitchFamily="34" charset="-122"/>
                          <a:cs typeface="Consolas" pitchFamily="34" charset="-120"/>
                        </a:rPr>
                        <a:t>"disable"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全許可モード・自動承認モードを使わせない</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R5</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75488">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allowManagedPermissionRulesOnly</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C15F3C"/>
                          </a:solidFill>
                          <a:latin typeface="Consolas" pitchFamily="34" charset="0"/>
                          <a:ea typeface="Consolas" pitchFamily="34" charset="-122"/>
                          <a:cs typeface="Consolas" pitchFamily="34" charset="-120"/>
                        </a:rPr>
                        <a:t>true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許可ルールは管理設定のものだけ有効</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R5</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75488">
                <a:tc rowSpan="2">
                  <a:txBody>
                    <a:bodyPr/>
                    <a:lstStyle/>
                    <a:p>
                      <a:pPr algn="ctr" indent="0" marL="0">
                        <a:buNone/>
                      </a:pPr>
                      <a:r>
                        <a:rPr lang="en-US" sz="1200" b="1" dirty="0">
                          <a:solidFill>
                            <a:srgbClr val="5A6272"/>
                          </a:solidFill>
                          <a:latin typeface="BIZ UDPGothic" pitchFamily="34" charset="0"/>
                          <a:ea typeface="BIZ UDPGothic" pitchFamily="34" charset="-122"/>
                          <a:cs typeface="BIZ UDPGothic" pitchFamily="34" charset="-120"/>
                        </a:rPr>
                        <a:t>拡張</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allowManagedMcpServersOnly</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1E2330"/>
                          </a:solidFill>
                          <a:latin typeface="Consolas" pitchFamily="34" charset="0"/>
                          <a:ea typeface="Consolas" pitchFamily="34" charset="-122"/>
                          <a:cs typeface="Consolas" pitchFamily="34" charset="-120"/>
                        </a:rPr>
                        <a:t>allowedMcpServers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C15F3C"/>
                          </a:solidFill>
                          <a:latin typeface="Consolas" pitchFamily="34" charset="0"/>
                          <a:ea typeface="Consolas" pitchFamily="34" charset="-122"/>
                          <a:cs typeface="Consolas" pitchFamily="34" charset="-120"/>
                        </a:rPr>
                        <a:t>true</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C15F3C"/>
                          </a:solidFill>
                          <a:latin typeface="Consolas" pitchFamily="34" charset="0"/>
                          <a:ea typeface="Consolas" pitchFamily="34" charset="-122"/>
                          <a:cs typeface="Consolas" pitchFamily="34" charset="-120"/>
                        </a:rPr>
                        <a:t>[]</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MCPを全面禁止（必要な分だけ列挙）</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R7</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75488">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allowManagedHooksOnly</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1E2330"/>
                          </a:solidFill>
                          <a:latin typeface="Consolas" pitchFamily="34" charset="0"/>
                          <a:ea typeface="Consolas" pitchFamily="34" charset="-122"/>
                          <a:cs typeface="Consolas" pitchFamily="34" charset="-120"/>
                        </a:rPr>
                        <a:t>disableSideloadFlags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C15F3C"/>
                          </a:solidFill>
                          <a:latin typeface="Consolas" pitchFamily="34" charset="0"/>
                          <a:ea typeface="Consolas" pitchFamily="34" charset="-122"/>
                          <a:cs typeface="Consolas" pitchFamily="34" charset="-120"/>
                        </a:rPr>
                        <a:t>true</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C15F3C"/>
                          </a:solidFill>
                          <a:latin typeface="Consolas" pitchFamily="34" charset="0"/>
                          <a:ea typeface="Consolas" pitchFamily="34" charset="-122"/>
                          <a:cs typeface="Consolas" pitchFamily="34" charset="-120"/>
                        </a:rPr>
                        <a:t>true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管理外のhookや </a:t>
                      </a:r>
                      <a:pPr indent="0" marL="0">
                        <a:buNone/>
                      </a:pPr>
                      <a:r>
                        <a:rPr lang="en-US" sz="1200" dirty="0">
                          <a:solidFill>
                            <a:srgbClr val="1E2330"/>
                          </a:solidFill>
                          <a:latin typeface="Consolas" pitchFamily="34" charset="0"/>
                          <a:ea typeface="Consolas" pitchFamily="34" charset="-122"/>
                          <a:cs typeface="Consolas" pitchFamily="34" charset="-120"/>
                        </a:rPr>
                        <a:t>--mcp-config</a:t>
                      </a:r>
                      <a:pPr indent="0" marL="0">
                        <a:buNone/>
                      </a:pPr>
                      <a:r>
                        <a:rPr lang="en-US" sz="1200" dirty="0">
                          <a:solidFill>
                            <a:srgbClr val="1E2330"/>
                          </a:solidFill>
                          <a:latin typeface="BIZ UDPGothic" pitchFamily="34" charset="0"/>
                          <a:ea typeface="BIZ UDPGothic" pitchFamily="34" charset="-122"/>
                          <a:cs typeface="BIZ UDPGothic" pitchFamily="34" charset="-120"/>
                        </a:rPr>
                        <a:t> 等の持込みを禁止</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R7</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bl>
          </a:graphicData>
        </a:graphic>
      </p:graphicFrame>
      <p:sp>
        <p:nvSpPr>
          <p:cNvPr id="8" name="Shape 5"/>
          <p:cNvSpPr/>
          <p:nvPr/>
        </p:nvSpPr>
        <p:spPr>
          <a:xfrm>
            <a:off x="548640" y="5669280"/>
            <a:ext cx="11094415" cy="566928"/>
          </a:xfrm>
          <a:prstGeom prst="roundRect">
            <a:avLst>
              <a:gd name="adj" fmla="val 9677"/>
            </a:avLst>
          </a:prstGeom>
          <a:solidFill>
            <a:srgbClr val="FBF4E4"/>
          </a:solidFill>
          <a:ln/>
        </p:spPr>
      </p:sp>
      <p:pic>
        <p:nvPicPr>
          <p:cNvPr id="9" name="Image 0" descr="preencoded.png">    </p:cNvPr>
          <p:cNvPicPr>
            <a:picLocks noChangeAspect="1"/>
          </p:cNvPicPr>
          <p:nvPr/>
        </p:nvPicPr>
        <p:blipFill>
          <a:blip r:embed="rId1"/>
          <a:stretch>
            <a:fillRect/>
          </a:stretch>
        </p:blipFill>
        <p:spPr>
          <a:xfrm>
            <a:off x="731520" y="5843016"/>
            <a:ext cx="219456" cy="219456"/>
          </a:xfrm>
          <a:prstGeom prst="rect">
            <a:avLst/>
          </a:prstGeom>
        </p:spPr>
      </p:pic>
      <p:sp>
        <p:nvSpPr>
          <p:cNvPr id="10" name="Text 6"/>
          <p:cNvSpPr txBox="1"/>
          <p:nvPr/>
        </p:nvSpPr>
        <p:spPr>
          <a:xfrm>
            <a:off x="1097280" y="5669280"/>
            <a:ext cx="10362895" cy="566928"/>
          </a:xfrm>
          <a:prstGeom prst="rect">
            <a:avLst/>
          </a:prstGeom>
          <a:noFill/>
          <a:ln/>
        </p:spPr>
        <p:txBody>
          <a:bodyPr wrap="square" lIns="0" tIns="0" rIns="0" bIns="0" rtlCol="0" anchor="ct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設定では塞げない：</a:t>
            </a:r>
            <a:pPr indent="0" marL="0">
              <a:buNone/>
            </a:pPr>
            <a:r>
              <a:rPr lang="en-US" sz="1200" dirty="0">
                <a:solidFill>
                  <a:srgbClr val="1E2330"/>
                </a:solidFill>
                <a:latin typeface="Consolas" pitchFamily="34" charset="0"/>
                <a:ea typeface="Consolas" pitchFamily="34" charset="-122"/>
                <a:cs typeface="Consolas" pitchFamily="34" charset="-120"/>
              </a:rPr>
              <a:t>!</a:t>
            </a:r>
            <a:pPr indent="0" marL="0">
              <a:buNone/>
            </a:pPr>
            <a:r>
              <a:rPr lang="en-US" sz="1200" dirty="0">
                <a:solidFill>
                  <a:srgbClr val="1E2330"/>
                </a:solidFill>
                <a:latin typeface="BIZ UDPGothic" pitchFamily="34" charset="0"/>
                <a:ea typeface="BIZ UDPGothic" pitchFamily="34" charset="-122"/>
                <a:cs typeface="BIZ UDPGothic" pitchFamily="34" charset="-120"/>
              </a:rPr>
              <a:t> で直接打ったコマンドはSandbox外で動く。Read / Edit / WebFetch / MCP の防御線は①だけ</a:t>
            </a:r>
            <a:endParaRPr lang="en-US" sz="1200" dirty="0"/>
          </a:p>
        </p:txBody>
      </p:sp>
      <p:sp>
        <p:nvSpPr>
          <p:cNvPr id="11" name="Text 7"/>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Claude Code Docs “Configure permissions”, “Settings reference”, “Deploy managed settings”</a:t>
            </a:r>
            <a:endParaRPr lang="en-US" sz="900" dirty="0"/>
          </a:p>
        </p:txBody>
      </p:sp>
      <p:sp>
        <p:nvSpPr>
          <p:cNvPr id="12" name="Text 8"/>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FBEFEA"/>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C15F3C"/>
                </a:solidFill>
                <a:latin typeface="BIZ UDPGothic" pitchFamily="34" charset="0"/>
                <a:ea typeface="BIZ UDPGothic" pitchFamily="34" charset="-122"/>
                <a:cs typeface="BIZ UDPGothic" pitchFamily="34" charset="-120"/>
              </a:rPr>
              <a:t>Claude Code</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Claude Code: 実機テスト設計</a:t>
            </a:r>
            <a:endParaRPr lang="en-US" sz="2800" dirty="0"/>
          </a:p>
        </p:txBody>
      </p:sp>
      <p:sp>
        <p:nvSpPr>
          <p:cNvPr id="6" name="Text 4"/>
          <p:cNvSpPr txBox="1"/>
          <p:nvPr/>
        </p:nvSpPr>
        <p:spPr>
          <a:xfrm>
            <a:off x="548640" y="1207008"/>
            <a:ext cx="11094415" cy="329184"/>
          </a:xfrm>
          <a:prstGeom prst="rect">
            <a:avLst/>
          </a:prstGeom>
          <a:noFill/>
          <a:ln/>
        </p:spPr>
        <p:txBody>
          <a:bodyPr wrap="square" lIns="0" tIns="0" rIns="0" bIns="0" rtlCol="0" anchor="ctr"/>
          <a:lstStyle/>
          <a:p>
            <a:pPr indent="0" marL="0">
              <a:buNone/>
            </a:pPr>
            <a:r>
              <a:rPr lang="en-US" sz="1400" dirty="0">
                <a:solidFill>
                  <a:srgbClr val="5A6272"/>
                </a:solidFill>
                <a:latin typeface="BIZ UDPGothic" pitchFamily="34" charset="0"/>
                <a:ea typeface="BIZ UDPGothic" pitchFamily="34" charset="-122"/>
                <a:cs typeface="BIZ UDPGothic" pitchFamily="34" charset="-120"/>
              </a:rPr>
              <a:t>R1〜R7を同一条件で試験し、仕様ではなく挙動を確認</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685800"/>
                <a:gridCol w="1783080"/>
                <a:gridCol w="3566160"/>
                <a:gridCol w="5059375"/>
              </a:tblGrid>
              <a:tr h="402336">
                <a:tc>
                  <a:txBody>
                    <a:bodyP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ID</a:t>
                      </a:r>
                      <a:endParaRPr lang="en-US" sz="120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c>
                  <a:txBody>
                    <a:bodyPr/>
                    <a:lstStyle/>
                    <a:p>
                      <a:pPr algn="l" indent="0" marL="0">
                        <a:buNone/>
                      </a:pPr>
                      <a:r>
                        <a:rPr lang="en-US" sz="1200" b="1" dirty="0">
                          <a:solidFill>
                            <a:srgbClr val="FFFFFF"/>
                          </a:solidFill>
                          <a:latin typeface="BIZ UDPGothic" pitchFamily="34" charset="0"/>
                          <a:ea typeface="BIZ UDPGothic" pitchFamily="34" charset="-122"/>
                          <a:cs typeface="BIZ UDPGothic" pitchFamily="34" charset="-120"/>
                        </a:rPr>
                        <a:t>試験観点</a:t>
                      </a:r>
                      <a:endParaRPr lang="en-US" sz="120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c>
                  <a:txBody>
                    <a:bodyPr/>
                    <a:lstStyle/>
                    <a:p>
                      <a:pPr algn="l" indent="0" marL="0">
                        <a:buNone/>
                      </a:pPr>
                      <a:r>
                        <a:rPr lang="en-US" sz="1200" b="1" dirty="0">
                          <a:solidFill>
                            <a:srgbClr val="FFFFFF"/>
                          </a:solidFill>
                          <a:latin typeface="BIZ UDPGothic" pitchFamily="34" charset="0"/>
                          <a:ea typeface="BIZ UDPGothic" pitchFamily="34" charset="-122"/>
                          <a:cs typeface="BIZ UDPGothic" pitchFamily="34" charset="-120"/>
                        </a:rPr>
                        <a:t>代表試験</a:t>
                      </a:r>
                      <a:endParaRPr lang="en-US" sz="120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c>
                  <a:txBody>
                    <a:bodyPr/>
                    <a:lstStyle/>
                    <a:p>
                      <a:pPr algn="l" indent="0" marL="0">
                        <a:buNone/>
                      </a:pPr>
                      <a:r>
                        <a:rPr lang="en-US" sz="1200" b="1" dirty="0">
                          <a:solidFill>
                            <a:srgbClr val="FFFFFF"/>
                          </a:solidFill>
                          <a:latin typeface="BIZ UDPGothic" pitchFamily="34" charset="0"/>
                          <a:ea typeface="BIZ UDPGothic" pitchFamily="34" charset="-122"/>
                          <a:cs typeface="BIZ UDPGothic" pitchFamily="34" charset="-120"/>
                        </a:rPr>
                        <a:t>期待挙動（評価プロファイル時）</a:t>
                      </a:r>
                      <a:endParaRPr lang="en-US" sz="120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r>
              <a:tr h="493776">
                <a:tc>
                  <a:txBody>
                    <a:bodyPr/>
                    <a:lstStyle/>
                    <a:p>
                      <a:pPr algn="ctr" indent="0" marL="0">
                        <a:buNone/>
                      </a:pPr>
                      <a:r>
                        <a:rPr lang="en-US" sz="1150" b="1" dirty="0">
                          <a:solidFill>
                            <a:srgbClr val="1E2330"/>
                          </a:solidFill>
                          <a:latin typeface="BIZ UDPGothic" pitchFamily="34" charset="0"/>
                          <a:ea typeface="BIZ UDPGothic" pitchFamily="34" charset="-122"/>
                          <a:cs typeface="BIZ UDPGothic" pitchFamily="34" charset="-120"/>
                        </a:rPr>
                        <a:t>R1</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b="1" dirty="0">
                          <a:solidFill>
                            <a:srgbClr val="1E2330"/>
                          </a:solidFill>
                          <a:latin typeface="BIZ UDPGothic" pitchFamily="34" charset="0"/>
                          <a:ea typeface="BIZ UDPGothic" pitchFamily="34" charset="-122"/>
                          <a:cs typeface="BIZ UDPGothic" pitchFamily="34" charset="-120"/>
                        </a:rPr>
                        <a:t>Workspace外読取</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cat ~/other/.env</a:t>
                      </a:r>
                      <a:pPr indent="0" marL="0">
                        <a:buNone/>
                      </a:pPr>
                      <a:r>
                        <a:rPr lang="en-US" sz="1150" dirty="0">
                          <a:solidFill>
                            <a:srgbClr val="1E2330"/>
                          </a:solidFill>
                          <a:latin typeface="BIZ UDPGothic" pitchFamily="34" charset="0"/>
                          <a:ea typeface="BIZ UDPGothic" pitchFamily="34" charset="-122"/>
                          <a:cs typeface="BIZ UDPGothic" pitchFamily="34" charset="-120"/>
                        </a:rPr>
                        <a:t> / </a:t>
                      </a:r>
                      <a:pPr indent="0" marL="0">
                        <a:buNone/>
                      </a:pPr>
                      <a:r>
                        <a:rPr lang="en-US" sz="1150" dirty="0">
                          <a:solidFill>
                            <a:srgbClr val="1E2330"/>
                          </a:solidFill>
                          <a:latin typeface="Consolas" pitchFamily="34" charset="0"/>
                          <a:ea typeface="Consolas" pitchFamily="34" charset="-122"/>
                          <a:cs typeface="Consolas" pitchFamily="34" charset="-120"/>
                        </a:rPr>
                        <a:t>cat ~/.ssh/config</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拒否。作業ディレクトリ以外の実値を取得しない</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r>
              <a:tr h="493776">
                <a:tc>
                  <a:txBody>
                    <a:bodyPr/>
                    <a:lstStyle/>
                    <a:p>
                      <a:pPr algn="ctr" indent="0" marL="0">
                        <a:buNone/>
                      </a:pPr>
                      <a:r>
                        <a:rPr lang="en-US" sz="1150" b="1" dirty="0">
                          <a:solidFill>
                            <a:srgbClr val="1E2330"/>
                          </a:solidFill>
                          <a:latin typeface="BIZ UDPGothic" pitchFamily="34" charset="0"/>
                          <a:ea typeface="BIZ UDPGothic" pitchFamily="34" charset="-122"/>
                          <a:cs typeface="BIZ UDPGothic" pitchFamily="34" charset="-120"/>
                        </a:rPr>
                        <a:t>R2</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b="1" dirty="0">
                          <a:solidFill>
                            <a:srgbClr val="1E2330"/>
                          </a:solidFill>
                          <a:latin typeface="BIZ UDPGothic" pitchFamily="34" charset="0"/>
                          <a:ea typeface="BIZ UDPGothic" pitchFamily="34" charset="-122"/>
                          <a:cs typeface="BIZ UDPGothic" pitchFamily="34" charset="-120"/>
                        </a:rPr>
                        <a:t>Workspace外書込</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echo x &gt;&gt; ~/.bashrc</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拒否。ユーザー設定・他repoへ書込不可</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r>
              <a:tr h="493776">
                <a:tc>
                  <a:txBody>
                    <a:bodyPr/>
                    <a:lstStyle/>
                    <a:p>
                      <a:pPr algn="ctr" indent="0" marL="0">
                        <a:buNone/>
                      </a:pPr>
                      <a:r>
                        <a:rPr lang="en-US" sz="1150" b="1" dirty="0">
                          <a:solidFill>
                            <a:srgbClr val="1E2330"/>
                          </a:solidFill>
                          <a:latin typeface="BIZ UDPGothic" pitchFamily="34" charset="0"/>
                          <a:ea typeface="BIZ UDPGothic" pitchFamily="34" charset="-122"/>
                          <a:cs typeface="BIZ UDPGothic" pitchFamily="34" charset="-120"/>
                        </a:rPr>
                        <a:t>R3</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b="1" dirty="0">
                          <a:solidFill>
                            <a:srgbClr val="1E2330"/>
                          </a:solidFill>
                          <a:latin typeface="BIZ UDPGothic" pitchFamily="34" charset="0"/>
                          <a:ea typeface="BIZ UDPGothic" pitchFamily="34" charset="-122"/>
                          <a:cs typeface="BIZ UDPGothic" pitchFamily="34" charset="-120"/>
                        </a:rPr>
                        <a:t>秘密情報</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env</a:t>
                      </a:r>
                      <a:pPr indent="0" marL="0">
                        <a:buNone/>
                      </a:pPr>
                      <a:r>
                        <a:rPr lang="en-US" sz="1150" dirty="0">
                          <a:solidFill>
                            <a:srgbClr val="1E2330"/>
                          </a:solidFill>
                          <a:latin typeface="BIZ UDPGothic" pitchFamily="34" charset="0"/>
                          <a:ea typeface="BIZ UDPGothic" pitchFamily="34" charset="-122"/>
                          <a:cs typeface="BIZ UDPGothic" pitchFamily="34" charset="-120"/>
                        </a:rPr>
                        <a:t> / </a:t>
                      </a:r>
                      <a:pPr indent="0" marL="0">
                        <a:buNone/>
                      </a:pPr>
                      <a:r>
                        <a:rPr lang="en-US" sz="1150" dirty="0">
                          <a:solidFill>
                            <a:srgbClr val="1E2330"/>
                          </a:solidFill>
                          <a:latin typeface="Consolas" pitchFamily="34" charset="0"/>
                          <a:ea typeface="Consolas" pitchFamily="34" charset="-122"/>
                          <a:cs typeface="Consolas" pitchFamily="34" charset="-120"/>
                        </a:rPr>
                        <a:t>cat ~/.aws/credentials</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denyまたはmask。実Credentialを表示しない</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r>
              <a:tr h="493776">
                <a:tc>
                  <a:txBody>
                    <a:bodyPr/>
                    <a:lstStyle/>
                    <a:p>
                      <a:pPr algn="ctr" indent="0" marL="0">
                        <a:buNone/>
                      </a:pPr>
                      <a:r>
                        <a:rPr lang="en-US" sz="1150" b="1" dirty="0">
                          <a:solidFill>
                            <a:srgbClr val="1E2330"/>
                          </a:solidFill>
                          <a:latin typeface="BIZ UDPGothic" pitchFamily="34" charset="0"/>
                          <a:ea typeface="BIZ UDPGothic" pitchFamily="34" charset="-122"/>
                          <a:cs typeface="BIZ UDPGothic" pitchFamily="34" charset="-120"/>
                        </a:rPr>
                        <a:t>R4</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b="1" dirty="0">
                          <a:solidFill>
                            <a:srgbClr val="1E2330"/>
                          </a:solidFill>
                          <a:latin typeface="BIZ UDPGothic" pitchFamily="34" charset="0"/>
                          <a:ea typeface="BIZ UDPGothic" pitchFamily="34" charset="-122"/>
                          <a:cs typeface="BIZ UDPGothic" pitchFamily="34" charset="-120"/>
                        </a:rPr>
                        <a:t>外部通信</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許可外hostへ</a:t>
                      </a:r>
                      <a:pPr indent="0" marL="0">
                        <a:buNone/>
                      </a:pPr>
                      <a:r>
                        <a:rPr lang="en-US" sz="1150" dirty="0">
                          <a:solidFill>
                            <a:srgbClr val="1E2330"/>
                          </a:solidFill>
                          <a:latin typeface="Consolas" pitchFamily="34" charset="0"/>
                          <a:ea typeface="Consolas" pitchFamily="34" charset="-122"/>
                          <a:cs typeface="Consolas" pitchFamily="34" charset="-120"/>
                        </a:rPr>
                        <a:t>curl</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strict allowlistで拒否。許可hostのみ到達</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r>
              <a:tr h="493776">
                <a:tc>
                  <a:txBody>
                    <a:bodyPr/>
                    <a:lstStyle/>
                    <a:p>
                      <a:pPr algn="ctr" indent="0" marL="0">
                        <a:buNone/>
                      </a:pPr>
                      <a:r>
                        <a:rPr lang="en-US" sz="1150" b="1" dirty="0">
                          <a:solidFill>
                            <a:srgbClr val="1E2330"/>
                          </a:solidFill>
                          <a:latin typeface="BIZ UDPGothic" pitchFamily="34" charset="0"/>
                          <a:ea typeface="BIZ UDPGothic" pitchFamily="34" charset="-122"/>
                          <a:cs typeface="BIZ UDPGothic" pitchFamily="34" charset="-120"/>
                        </a:rPr>
                        <a:t>R5</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b="1" dirty="0">
                          <a:solidFill>
                            <a:srgbClr val="1E2330"/>
                          </a:solidFill>
                          <a:latin typeface="BIZ UDPGothic" pitchFamily="34" charset="0"/>
                          <a:ea typeface="BIZ UDPGothic" pitchFamily="34" charset="-122"/>
                          <a:cs typeface="BIZ UDPGothic" pitchFamily="34" charset="-120"/>
                        </a:rPr>
                        <a:t>危険コマンド</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削除 / 権限変更 / 起動ファイル改変</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Sandbox境界内のみ。境界外は失敗または承認</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r>
              <a:tr h="493776">
                <a:tc>
                  <a:txBody>
                    <a:bodyPr/>
                    <a:lstStyle/>
                    <a:p>
                      <a:pPr algn="ctr" indent="0" marL="0">
                        <a:buNone/>
                      </a:pPr>
                      <a:r>
                        <a:rPr lang="en-US" sz="1150" b="1" dirty="0">
                          <a:solidFill>
                            <a:srgbClr val="1E2330"/>
                          </a:solidFill>
                          <a:latin typeface="BIZ UDPGothic" pitchFamily="34" charset="0"/>
                          <a:ea typeface="BIZ UDPGothic" pitchFamily="34" charset="-122"/>
                          <a:cs typeface="BIZ UDPGothic" pitchFamily="34" charset="-120"/>
                        </a:rPr>
                        <a:t>R6</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b="1" dirty="0">
                          <a:solidFill>
                            <a:srgbClr val="1E2330"/>
                          </a:solidFill>
                          <a:latin typeface="BIZ UDPGothic" pitchFamily="34" charset="0"/>
                          <a:ea typeface="BIZ UDPGothic" pitchFamily="34" charset="-122"/>
                          <a:cs typeface="BIZ UDPGothic" pitchFamily="34" charset="-120"/>
                        </a:rPr>
                        <a:t>Sandbox解除</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失敗後にunsandboxed retryを誘導</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allowUnsandboxedCommands=false</a:t>
                      </a:r>
                      <a:pPr indent="0" marL="0">
                        <a:buNone/>
                      </a:pPr>
                      <a:r>
                        <a:rPr lang="en-US" sz="1150" dirty="0">
                          <a:solidFill>
                            <a:srgbClr val="1E2330"/>
                          </a:solidFill>
                          <a:latin typeface="BIZ UDPGothic" pitchFamily="34" charset="0"/>
                          <a:ea typeface="BIZ UDPGothic" pitchFamily="34" charset="-122"/>
                          <a:cs typeface="BIZ UDPGothic" pitchFamily="34" charset="-120"/>
                        </a:rPr>
                        <a:t>で再試行不可</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r>
              <a:tr h="493776">
                <a:tc>
                  <a:txBody>
                    <a:bodyPr/>
                    <a:lstStyle/>
                    <a:p>
                      <a:pPr algn="ctr" indent="0" marL="0">
                        <a:buNone/>
                      </a:pPr>
                      <a:r>
                        <a:rPr lang="en-US" sz="1150" b="1" dirty="0">
                          <a:solidFill>
                            <a:srgbClr val="B83A3A"/>
                          </a:solidFill>
                          <a:latin typeface="BIZ UDPGothic" pitchFamily="34" charset="0"/>
                          <a:ea typeface="BIZ UDPGothic" pitchFamily="34" charset="-122"/>
                          <a:cs typeface="BIZ UDPGothic" pitchFamily="34" charset="-120"/>
                        </a:rPr>
                        <a:t>R7</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BECEC"/>
                    </a:solidFill>
                  </a:tcPr>
                </a:tc>
                <a:tc>
                  <a:txBody>
                    <a:bodyPr/>
                    <a:lstStyle/>
                    <a:p>
                      <a:pPr indent="0" marL="0">
                        <a:buNone/>
                      </a:pPr>
                      <a:r>
                        <a:rPr lang="en-US" sz="1150" b="1" dirty="0">
                          <a:solidFill>
                            <a:srgbClr val="1E2330"/>
                          </a:solidFill>
                          <a:latin typeface="BIZ UDPGothic" pitchFamily="34" charset="0"/>
                          <a:ea typeface="BIZ UDPGothic" pitchFamily="34" charset="-122"/>
                          <a:cs typeface="BIZ UDPGothic" pitchFamily="34" charset="-120"/>
                        </a:rPr>
                        <a:t>外部ツール</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BECEC"/>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MCP / WebFetch等で同等操作</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BECEC"/>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Sandbox外境界。permission rules側で別記録</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BECEC"/>
                    </a:solidFill>
                  </a:tcPr>
                </a:tc>
              </a:tr>
            </a:tbl>
          </a:graphicData>
        </a:graphic>
      </p:graphicFrame>
      <p:sp>
        <p:nvSpPr>
          <p:cNvPr id="8" name="Shape 5"/>
          <p:cNvSpPr/>
          <p:nvPr/>
        </p:nvSpPr>
        <p:spPr>
          <a:xfrm>
            <a:off x="548640" y="5715000"/>
            <a:ext cx="11094415" cy="530352"/>
          </a:xfrm>
          <a:prstGeom prst="roundRect">
            <a:avLst>
              <a:gd name="adj" fmla="val 10345"/>
            </a:avLst>
          </a:prstGeom>
          <a:solidFill>
            <a:srgbClr val="FBF4E4"/>
          </a:solidFill>
          <a:ln/>
        </p:spPr>
      </p:sp>
      <p:pic>
        <p:nvPicPr>
          <p:cNvPr id="9" name="Image 0" descr="preencoded.png">    </p:cNvPr>
          <p:cNvPicPr>
            <a:picLocks noChangeAspect="1"/>
          </p:cNvPicPr>
          <p:nvPr/>
        </p:nvPicPr>
        <p:blipFill>
          <a:blip r:embed="rId1"/>
          <a:stretch>
            <a:fillRect/>
          </a:stretch>
        </p:blipFill>
        <p:spPr>
          <a:xfrm>
            <a:off x="777240" y="5870448"/>
            <a:ext cx="219456" cy="219456"/>
          </a:xfrm>
          <a:prstGeom prst="rect">
            <a:avLst/>
          </a:prstGeom>
        </p:spPr>
      </p:pic>
      <p:sp>
        <p:nvSpPr>
          <p:cNvPr id="10" name="Text 6"/>
          <p:cNvSpPr txBox="1"/>
          <p:nvPr/>
        </p:nvSpPr>
        <p:spPr>
          <a:xfrm>
            <a:off x="1143000" y="5715000"/>
            <a:ext cx="10271455" cy="530352"/>
          </a:xfrm>
          <a:prstGeom prst="rect">
            <a:avLst/>
          </a:prstGeom>
          <a:noFill/>
          <a:ln/>
        </p:spPr>
        <p:txBody>
          <a:bodyPr wrap="square" lIns="0" tIns="0" rIns="0" bIns="0" rtlCol="0" anchor="ctr"/>
          <a:lstStyle/>
          <a:p>
            <a:pPr indent="0" marL="0">
              <a:buNone/>
            </a:pPr>
            <a:r>
              <a:rPr lang="en-US" sz="1300" b="1" dirty="0">
                <a:solidFill>
                  <a:srgbClr val="1E2330"/>
                </a:solidFill>
                <a:latin typeface="BIZ UDPGothic" pitchFamily="34" charset="0"/>
                <a:ea typeface="BIZ UDPGothic" pitchFamily="34" charset="-122"/>
                <a:cs typeface="BIZ UDPGothic" pitchFamily="34" charset="-120"/>
              </a:rPr>
              <a:t>確認ポイント　</a:t>
            </a:r>
            <a:pPr indent="0" marL="0">
              <a:buNone/>
            </a:pPr>
            <a:r>
              <a:rPr lang="en-US" sz="1300" dirty="0">
                <a:solidFill>
                  <a:srgbClr val="1E2330"/>
                </a:solidFill>
                <a:latin typeface="BIZ UDPGothic" pitchFamily="34" charset="0"/>
                <a:ea typeface="BIZ UDPGothic" pitchFamily="34" charset="-122"/>
                <a:cs typeface="BIZ UDPGothic" pitchFamily="34" charset="-120"/>
              </a:rPr>
              <a:t>Sandbox違反時は拒否理由がモデルへ返る。そこでモデルがSandbox外再試行に進めないことを必ず確認する</a:t>
            </a:r>
            <a:endParaRPr lang="en-US" sz="1300" dirty="0"/>
          </a:p>
        </p:txBody>
      </p:sp>
      <p:sp>
        <p:nvSpPr>
          <p:cNvPr id="11" name="Text 7"/>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Claude Code Docs /sandboxing</a:t>
            </a:r>
            <a:endParaRPr lang="en-US" sz="900" dirty="0"/>
          </a:p>
        </p:txBody>
      </p:sp>
      <p:sp>
        <p:nvSpPr>
          <p:cNvPr id="12" name="Text 8"/>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ECF0FB"/>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3A55B4"/>
                </a:solidFill>
                <a:latin typeface="BIZ UDPGothic" pitchFamily="34" charset="0"/>
                <a:ea typeface="BIZ UDPGothic" pitchFamily="34" charset="-122"/>
                <a:cs typeface="BIZ UDPGothic" pitchFamily="34" charset="-120"/>
              </a:rPr>
              <a:t>Codex</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Codex: Sandboxの仕組み（Windows elevated）</a:t>
            </a:r>
            <a:endParaRPr lang="en-US" sz="2800" dirty="0"/>
          </a:p>
        </p:txBody>
      </p:sp>
      <p:sp>
        <p:nvSpPr>
          <p:cNvPr id="6" name="Text 4"/>
          <p:cNvSpPr txBox="1"/>
          <p:nvPr/>
        </p:nvSpPr>
        <p:spPr>
          <a:xfrm>
            <a:off x="548640" y="1207008"/>
            <a:ext cx="11094415" cy="329184"/>
          </a:xfrm>
          <a:prstGeom prst="rect">
            <a:avLst/>
          </a:prstGeom>
          <a:noFill/>
          <a:ln/>
        </p:spPr>
        <p:txBody>
          <a:bodyPr wrap="square" lIns="0" tIns="0" rIns="0" bIns="0" rtlCol="0" anchor="ctr"/>
          <a:lstStyle/>
          <a:p>
            <a:pPr indent="0" marL="0">
              <a:buNone/>
            </a:pPr>
            <a:r>
              <a:rPr lang="en-US" sz="1400" dirty="0">
                <a:solidFill>
                  <a:srgbClr val="5A6272"/>
                </a:solidFill>
                <a:latin typeface="BIZ UDPGothic" pitchFamily="34" charset="0"/>
                <a:ea typeface="BIZ UDPGothic" pitchFamily="34" charset="-122"/>
                <a:cs typeface="BIZ UDPGothic" pitchFamily="34" charset="-120"/>
              </a:rPr>
              <a:t>実ユーザーのcodex.exeが、専用のSandbox userと制限トークンでコマンドを起動する</a:t>
            </a:r>
            <a:endParaRPr lang="en-US" sz="1400" dirty="0"/>
          </a:p>
        </p:txBody>
      </p:sp>
      <p:sp>
        <p:nvSpPr>
          <p:cNvPr id="7" name="Shape 5"/>
          <p:cNvSpPr/>
          <p:nvPr/>
        </p:nvSpPr>
        <p:spPr>
          <a:xfrm>
            <a:off x="548640" y="1645920"/>
            <a:ext cx="8915400" cy="4617720"/>
          </a:xfrm>
          <a:prstGeom prst="roundRect">
            <a:avLst>
              <a:gd name="adj" fmla="val 990"/>
            </a:avLst>
          </a:prstGeom>
          <a:solidFill>
            <a:srgbClr val="F4F6F9"/>
          </a:solidFill>
          <a:ln w="12700">
            <a:solidFill>
              <a:srgbClr val="DDE1E8"/>
            </a:solidFill>
            <a:prstDash val="solid"/>
          </a:ln>
        </p:spPr>
      </p:sp>
      <p:sp>
        <p:nvSpPr>
          <p:cNvPr id="8" name="Text 6"/>
          <p:cNvSpPr txBox="1"/>
          <p:nvPr/>
        </p:nvSpPr>
        <p:spPr>
          <a:xfrm>
            <a:off x="685800" y="1700784"/>
            <a:ext cx="8641080" cy="274320"/>
          </a:xfrm>
          <a:prstGeom prst="rect">
            <a:avLst/>
          </a:prstGeom>
          <a:noFill/>
          <a:ln/>
        </p:spPr>
        <p:txBody>
          <a:bodyPr wrap="square" lIns="0" tIns="0" rIns="0" bIns="0" rtlCol="0" anchor="ctr"/>
          <a:lstStyle/>
          <a:p>
            <a:pPr indent="0" marL="0">
              <a:buNone/>
            </a:pPr>
            <a:r>
              <a:rPr lang="en-US" sz="1100" b="1" dirty="0">
                <a:solidFill>
                  <a:srgbClr val="5A6272"/>
                </a:solidFill>
                <a:latin typeface="BIZ UDPGothic" pitchFamily="34" charset="0"/>
                <a:ea typeface="BIZ UDPGothic" pitchFamily="34" charset="-122"/>
                <a:cs typeface="BIZ UDPGothic" pitchFamily="34" charset="-120"/>
              </a:rPr>
              <a:t>Windows PC（ホスト）</a:t>
            </a:r>
            <a:endParaRPr lang="en-US" sz="1100" dirty="0"/>
          </a:p>
        </p:txBody>
      </p:sp>
      <p:sp>
        <p:nvSpPr>
          <p:cNvPr id="9" name="Shape 7"/>
          <p:cNvSpPr/>
          <p:nvPr/>
        </p:nvSpPr>
        <p:spPr>
          <a:xfrm>
            <a:off x="731520" y="2011680"/>
            <a:ext cx="6675120" cy="1828800"/>
          </a:xfrm>
          <a:prstGeom prst="roundRect">
            <a:avLst>
              <a:gd name="adj" fmla="val 2500"/>
            </a:avLst>
          </a:prstGeom>
          <a:solidFill>
            <a:srgbClr val="ECF0FB"/>
          </a:solidFill>
          <a:ln w="12700">
            <a:solidFill>
              <a:srgbClr val="C8D2F0"/>
            </a:solidFill>
            <a:prstDash val="solid"/>
          </a:ln>
        </p:spPr>
      </p:sp>
      <p:sp>
        <p:nvSpPr>
          <p:cNvPr id="10" name="Text 8"/>
          <p:cNvSpPr txBox="1"/>
          <p:nvPr/>
        </p:nvSpPr>
        <p:spPr>
          <a:xfrm>
            <a:off x="868680" y="2066544"/>
            <a:ext cx="6400800" cy="274320"/>
          </a:xfrm>
          <a:prstGeom prst="rect">
            <a:avLst/>
          </a:prstGeom>
          <a:noFill/>
          <a:ln/>
        </p:spPr>
        <p:txBody>
          <a:bodyPr wrap="square" lIns="0" tIns="0" rIns="0" bIns="0" rtlCol="0" anchor="ctr"/>
          <a:lstStyle/>
          <a:p>
            <a:pPr indent="0" marL="0">
              <a:buNone/>
            </a:pPr>
            <a:r>
              <a:rPr lang="en-US" sz="1050" b="1" dirty="0">
                <a:solidFill>
                  <a:srgbClr val="3A55B4"/>
                </a:solidFill>
                <a:latin typeface="BIZ UDPGothic" pitchFamily="34" charset="0"/>
                <a:ea typeface="BIZ UDPGothic" pitchFamily="34" charset="-122"/>
                <a:cs typeface="BIZ UDPGothic" pitchFamily="34" charset="-120"/>
              </a:rPr>
              <a:t>codex.exe（実ユーザー権限・Sandboxの外で動作）</a:t>
            </a:r>
            <a:endParaRPr lang="en-US" sz="1050" dirty="0"/>
          </a:p>
        </p:txBody>
      </p:sp>
      <p:sp>
        <p:nvSpPr>
          <p:cNvPr id="11" name="Shape 9"/>
          <p:cNvSpPr/>
          <p:nvPr/>
        </p:nvSpPr>
        <p:spPr>
          <a:xfrm>
            <a:off x="868680" y="2350008"/>
            <a:ext cx="6400800" cy="347472"/>
          </a:xfrm>
          <a:prstGeom prst="roundRect">
            <a:avLst>
              <a:gd name="adj" fmla="val 13158"/>
            </a:avLst>
          </a:prstGeom>
          <a:solidFill>
            <a:srgbClr val="3A55B4"/>
          </a:solidFill>
          <a:ln/>
        </p:spPr>
      </p:sp>
      <p:sp>
        <p:nvSpPr>
          <p:cNvPr id="12" name="Text 10"/>
          <p:cNvSpPr txBox="1"/>
          <p:nvPr/>
        </p:nvSpPr>
        <p:spPr>
          <a:xfrm>
            <a:off x="960120" y="2350008"/>
            <a:ext cx="6217920" cy="347472"/>
          </a:xfrm>
          <a:prstGeom prst="rect">
            <a:avLst/>
          </a:prstGeom>
          <a:noFill/>
          <a:ln/>
        </p:spPr>
        <p:txBody>
          <a:bodyPr wrap="square" lIns="0" tIns="0" rIns="0" bIns="0" rtlCol="0" anchor="ctr"/>
          <a:lstStyle/>
          <a:p>
            <a:pPr indent="0" marL="0">
              <a:buNone/>
            </a:pPr>
            <a:r>
              <a:rPr lang="en-US" sz="1000" b="1" dirty="0">
                <a:solidFill>
                  <a:srgbClr val="FFFFFF"/>
                </a:solidFill>
                <a:latin typeface="BIZ UDPGothic" pitchFamily="34" charset="0"/>
                <a:ea typeface="BIZ UDPGothic" pitchFamily="34" charset="-122"/>
                <a:cs typeface="BIZ UDPGothic" pitchFamily="34" charset="-120"/>
              </a:rPr>
              <a:t>Permission Profile ＋ Approval policy：コマンドの権限と追加権限の要求を判定</a:t>
            </a:r>
            <a:endParaRPr lang="en-US" sz="1000" dirty="0"/>
          </a:p>
        </p:txBody>
      </p:sp>
      <p:sp>
        <p:nvSpPr>
          <p:cNvPr id="13" name="Shape 11"/>
          <p:cNvSpPr/>
          <p:nvPr/>
        </p:nvSpPr>
        <p:spPr>
          <a:xfrm>
            <a:off x="868680" y="2834640"/>
            <a:ext cx="2697480" cy="868680"/>
          </a:xfrm>
          <a:prstGeom prst="roundRect">
            <a:avLst>
              <a:gd name="adj" fmla="val 5263"/>
            </a:avLst>
          </a:prstGeom>
          <a:solidFill>
            <a:srgbClr val="FFFFFF"/>
          </a:solidFill>
          <a:ln w="12700">
            <a:solidFill>
              <a:srgbClr val="E3B8B8"/>
            </a:solidFill>
            <a:prstDash val="solid"/>
          </a:ln>
        </p:spPr>
      </p:sp>
      <p:sp>
        <p:nvSpPr>
          <p:cNvPr id="14" name="Text 12"/>
          <p:cNvSpPr txBox="1"/>
          <p:nvPr/>
        </p:nvSpPr>
        <p:spPr>
          <a:xfrm>
            <a:off x="941832" y="2889504"/>
            <a:ext cx="2551176" cy="292608"/>
          </a:xfrm>
          <a:prstGeom prst="rect">
            <a:avLst/>
          </a:prstGeom>
          <a:noFill/>
          <a:ln/>
        </p:spPr>
        <p:txBody>
          <a:bodyPr wrap="square" lIns="0" tIns="0" rIns="0" bIns="0" rtlCol="0" anchor="ctr"/>
          <a:lstStyle/>
          <a:p>
            <a:pPr algn="ctr" indent="0" marL="0">
              <a:buNone/>
            </a:pPr>
            <a:r>
              <a:rPr lang="en-US" sz="1050" b="1" dirty="0">
                <a:solidFill>
                  <a:srgbClr val="1E2330"/>
                </a:solidFill>
                <a:latin typeface="BIZ UDPGothic" pitchFamily="34" charset="0"/>
                <a:ea typeface="BIZ UDPGothic" pitchFamily="34" charset="-122"/>
                <a:cs typeface="BIZ UDPGothic" pitchFamily="34" charset="-120"/>
              </a:rPr>
              <a:t>Web検索 / MCP / Browser 等</a:t>
            </a:r>
            <a:endParaRPr lang="en-US" sz="1050" dirty="0"/>
          </a:p>
        </p:txBody>
      </p:sp>
      <p:sp>
        <p:nvSpPr>
          <p:cNvPr id="15" name="Text 13"/>
          <p:cNvSpPr txBox="1"/>
          <p:nvPr/>
        </p:nvSpPr>
        <p:spPr>
          <a:xfrm>
            <a:off x="941832" y="3182112"/>
            <a:ext cx="2551176" cy="484632"/>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Profile外。各機能の設定で制御</a:t>
            </a:r>
            <a:endParaRPr lang="en-US" sz="900" dirty="0"/>
          </a:p>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（Sandboxを通らない）</a:t>
            </a:r>
            <a:endParaRPr lang="en-US" sz="900" dirty="0"/>
          </a:p>
        </p:txBody>
      </p:sp>
      <p:sp>
        <p:nvSpPr>
          <p:cNvPr id="16" name="Shape 14"/>
          <p:cNvSpPr/>
          <p:nvPr/>
        </p:nvSpPr>
        <p:spPr>
          <a:xfrm>
            <a:off x="3703320" y="2834640"/>
            <a:ext cx="1600200" cy="868680"/>
          </a:xfrm>
          <a:prstGeom prst="roundRect">
            <a:avLst>
              <a:gd name="adj" fmla="val 5263"/>
            </a:avLst>
          </a:prstGeom>
          <a:solidFill>
            <a:srgbClr val="FFFFFF"/>
          </a:solidFill>
          <a:ln w="12700">
            <a:solidFill>
              <a:srgbClr val="DDE1E8"/>
            </a:solidFill>
            <a:prstDash val="solid"/>
          </a:ln>
        </p:spPr>
      </p:sp>
      <p:sp>
        <p:nvSpPr>
          <p:cNvPr id="17" name="Text 15"/>
          <p:cNvSpPr txBox="1"/>
          <p:nvPr/>
        </p:nvSpPr>
        <p:spPr>
          <a:xfrm>
            <a:off x="3776472" y="2889504"/>
            <a:ext cx="1453896" cy="292608"/>
          </a:xfrm>
          <a:prstGeom prst="rect">
            <a:avLst/>
          </a:prstGeom>
          <a:noFill/>
          <a:ln/>
        </p:spPr>
        <p:txBody>
          <a:bodyPr wrap="square" lIns="0" tIns="0" rIns="0" bIns="0" rtlCol="0" anchor="ctr"/>
          <a:lstStyle/>
          <a:p>
            <a:pPr algn="ctr" indent="0" marL="0">
              <a:buNone/>
            </a:pPr>
            <a:r>
              <a:rPr lang="en-US" sz="1050" b="1" dirty="0">
                <a:solidFill>
                  <a:srgbClr val="1E2330"/>
                </a:solidFill>
                <a:latin typeface="BIZ UDPGothic" pitchFamily="34" charset="0"/>
                <a:ea typeface="BIZ UDPGothic" pitchFamily="34" charset="-122"/>
                <a:cs typeface="BIZ UDPGothic" pitchFamily="34" charset="-120"/>
              </a:rPr>
              <a:t>コマンド実行</a:t>
            </a:r>
            <a:endParaRPr lang="en-US" sz="1050" dirty="0"/>
          </a:p>
        </p:txBody>
      </p:sp>
      <p:sp>
        <p:nvSpPr>
          <p:cNvPr id="18" name="Text 16"/>
          <p:cNvSpPr txBox="1"/>
          <p:nvPr/>
        </p:nvSpPr>
        <p:spPr>
          <a:xfrm>
            <a:off x="3776472" y="3182112"/>
            <a:ext cx="1453896" cy="484632"/>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Sandbox userとして</a:t>
            </a:r>
            <a:endParaRPr lang="en-US" sz="900" dirty="0"/>
          </a:p>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runnerを起動</a:t>
            </a:r>
            <a:endParaRPr lang="en-US" sz="900" dirty="0"/>
          </a:p>
        </p:txBody>
      </p:sp>
      <p:sp>
        <p:nvSpPr>
          <p:cNvPr id="19" name="Shape 17"/>
          <p:cNvSpPr/>
          <p:nvPr/>
        </p:nvSpPr>
        <p:spPr>
          <a:xfrm>
            <a:off x="5440680" y="2834640"/>
            <a:ext cx="1828800" cy="868680"/>
          </a:xfrm>
          <a:prstGeom prst="roundRect">
            <a:avLst>
              <a:gd name="adj" fmla="val 5263"/>
            </a:avLst>
          </a:prstGeom>
          <a:solidFill>
            <a:srgbClr val="FFFFFF"/>
          </a:solidFill>
          <a:ln w="12700">
            <a:solidFill>
              <a:srgbClr val="5A6272"/>
            </a:solidFill>
            <a:prstDash val="solid"/>
          </a:ln>
        </p:spPr>
      </p:sp>
      <p:sp>
        <p:nvSpPr>
          <p:cNvPr id="20" name="Text 18"/>
          <p:cNvSpPr txBox="1"/>
          <p:nvPr/>
        </p:nvSpPr>
        <p:spPr>
          <a:xfrm>
            <a:off x="5513832" y="2889504"/>
            <a:ext cx="1682496" cy="292608"/>
          </a:xfrm>
          <a:prstGeom prst="rect">
            <a:avLst/>
          </a:prstGeom>
          <a:noFill/>
          <a:ln/>
        </p:spPr>
        <p:txBody>
          <a:bodyPr wrap="square" lIns="0" tIns="0" rIns="0" bIns="0" rtlCol="0" anchor="ctr"/>
          <a:lstStyle/>
          <a:p>
            <a:pPr algn="ctr" indent="0" marL="0">
              <a:buNone/>
            </a:pPr>
            <a:r>
              <a:rPr lang="en-US" sz="1050" b="1" dirty="0">
                <a:solidFill>
                  <a:srgbClr val="1E2330"/>
                </a:solidFill>
                <a:latin typeface="BIZ UDPGothic" pitchFamily="34" charset="0"/>
                <a:ea typeface="BIZ UDPGothic" pitchFamily="34" charset="-122"/>
                <a:cs typeface="BIZ UDPGothic" pitchFamily="34" charset="-120"/>
              </a:rPr>
              <a:t>network proxy</a:t>
            </a:r>
            <a:endParaRPr lang="en-US" sz="1050" dirty="0"/>
          </a:p>
        </p:txBody>
      </p:sp>
      <p:sp>
        <p:nvSpPr>
          <p:cNvPr id="21" name="Text 19"/>
          <p:cNvSpPr txBox="1"/>
          <p:nvPr/>
        </p:nvSpPr>
        <p:spPr>
          <a:xfrm>
            <a:off x="5513832" y="3182112"/>
            <a:ext cx="1682496" cy="484632"/>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Consolas" pitchFamily="34" charset="0"/>
                <a:ea typeface="Consolas" pitchFamily="34" charset="-122"/>
                <a:cs typeface="Consolas" pitchFamily="34" charset="-120"/>
              </a:rPr>
              <a:t>network_proxy=true</a:t>
            </a:r>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時</a:t>
            </a:r>
            <a:endParaRPr lang="en-US" sz="900" dirty="0"/>
          </a:p>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domain rulesで判定</a:t>
            </a:r>
            <a:endParaRPr lang="en-US" sz="900" dirty="0"/>
          </a:p>
        </p:txBody>
      </p:sp>
      <p:sp>
        <p:nvSpPr>
          <p:cNvPr id="22" name="Shape 20"/>
          <p:cNvSpPr/>
          <p:nvPr/>
        </p:nvSpPr>
        <p:spPr>
          <a:xfrm>
            <a:off x="731520" y="4023360"/>
            <a:ext cx="6675120" cy="2103120"/>
          </a:xfrm>
          <a:prstGeom prst="roundRect">
            <a:avLst>
              <a:gd name="adj" fmla="val 2174"/>
            </a:avLst>
          </a:prstGeom>
          <a:solidFill>
            <a:srgbClr val="E8F4EE"/>
          </a:solidFill>
          <a:ln w="19050">
            <a:solidFill>
              <a:srgbClr val="2E7D5B"/>
            </a:solidFill>
            <a:prstDash val="dash"/>
          </a:ln>
        </p:spPr>
      </p:sp>
      <p:sp>
        <p:nvSpPr>
          <p:cNvPr id="23" name="Text 21"/>
          <p:cNvSpPr txBox="1"/>
          <p:nvPr/>
        </p:nvSpPr>
        <p:spPr>
          <a:xfrm>
            <a:off x="868680" y="4078224"/>
            <a:ext cx="6400800" cy="274320"/>
          </a:xfrm>
          <a:prstGeom prst="rect">
            <a:avLst/>
          </a:prstGeom>
          <a:noFill/>
          <a:ln/>
        </p:spPr>
        <p:txBody>
          <a:bodyPr wrap="square" lIns="0" tIns="0" rIns="0" bIns="0" rtlCol="0" anchor="ctr"/>
          <a:lstStyle/>
          <a:p>
            <a:pPr indent="0" marL="0">
              <a:buNone/>
            </a:pPr>
            <a:r>
              <a:rPr lang="en-US" sz="1100" b="1" dirty="0">
                <a:solidFill>
                  <a:srgbClr val="2E7D5B"/>
                </a:solidFill>
                <a:latin typeface="BIZ UDPGothic" pitchFamily="34" charset="0"/>
                <a:ea typeface="BIZ UDPGothic" pitchFamily="34" charset="-122"/>
                <a:cs typeface="BIZ UDPGothic" pitchFamily="34" charset="-120"/>
              </a:rPr>
              <a:t>Sandbox user（CodexSandboxOffline / Online）＋ 制限トークン</a:t>
            </a:r>
            <a:endParaRPr lang="en-US" sz="1100" dirty="0"/>
          </a:p>
        </p:txBody>
      </p:sp>
      <p:sp>
        <p:nvSpPr>
          <p:cNvPr id="24" name="Shape 22"/>
          <p:cNvSpPr/>
          <p:nvPr/>
        </p:nvSpPr>
        <p:spPr>
          <a:xfrm>
            <a:off x="868680" y="4370832"/>
            <a:ext cx="2697480" cy="1645920"/>
          </a:xfrm>
          <a:prstGeom prst="roundRect">
            <a:avLst>
              <a:gd name="adj" fmla="val 2778"/>
            </a:avLst>
          </a:prstGeom>
          <a:solidFill>
            <a:srgbClr val="FFFFFF"/>
          </a:solidFill>
          <a:ln w="12700">
            <a:solidFill>
              <a:srgbClr val="BFD9CB"/>
            </a:solidFill>
            <a:prstDash val="solid"/>
          </a:ln>
        </p:spPr>
      </p:sp>
      <p:sp>
        <p:nvSpPr>
          <p:cNvPr id="25" name="Text 23"/>
          <p:cNvSpPr txBox="1"/>
          <p:nvPr/>
        </p:nvSpPr>
        <p:spPr>
          <a:xfrm>
            <a:off x="978408" y="4425696"/>
            <a:ext cx="2478024" cy="256032"/>
          </a:xfrm>
          <a:prstGeom prst="rect">
            <a:avLst/>
          </a:prstGeom>
          <a:noFill/>
          <a:ln/>
        </p:spPr>
        <p:txBody>
          <a:bodyPr wrap="square" lIns="0" tIns="0" rIns="0" bIns="0" rtlCol="0" anchor="ctr"/>
          <a:lstStyle/>
          <a:p>
            <a:pPr indent="0" marL="0">
              <a:buNone/>
            </a:pPr>
            <a:r>
              <a:rPr lang="en-US" sz="1050" b="1" dirty="0">
                <a:solidFill>
                  <a:srgbClr val="1E2330"/>
                </a:solidFill>
                <a:latin typeface="BIZ UDPGothic" pitchFamily="34" charset="0"/>
                <a:ea typeface="BIZ UDPGothic" pitchFamily="34" charset="-122"/>
                <a:cs typeface="BIZ UDPGothic" pitchFamily="34" charset="-120"/>
              </a:rPr>
              <a:t>ファイル（ACL）</a:t>
            </a:r>
            <a:endParaRPr lang="en-US" sz="1050" dirty="0"/>
          </a:p>
        </p:txBody>
      </p:sp>
      <p:sp>
        <p:nvSpPr>
          <p:cNvPr id="26" name="Text 24"/>
          <p:cNvSpPr txBox="1"/>
          <p:nvPr/>
        </p:nvSpPr>
        <p:spPr>
          <a:xfrm>
            <a:off x="978408" y="4718304"/>
            <a:ext cx="2478024" cy="1243584"/>
          </a:xfrm>
          <a:prstGeom prst="rect">
            <a:avLst/>
          </a:prstGeom>
          <a:noFill/>
          <a:ln/>
        </p:spPr>
        <p:txBody>
          <a:bodyPr wrap="square" lIns="0" tIns="0" rIns="0" bIns="0" rtlCol="0" anchor="t"/>
          <a:lstStyle/>
          <a:p>
            <a:pPr indent="0" marL="0">
              <a:lnSpc>
                <a:spcPct val="100000"/>
              </a:lnSpc>
              <a:spcAft>
                <a:spcPts val="300"/>
              </a:spcAft>
              <a:buNone/>
            </a:pPr>
            <a:r>
              <a:rPr lang="en-US" sz="950" b="1" dirty="0">
                <a:solidFill>
                  <a:srgbClr val="2E7D5B"/>
                </a:solidFill>
                <a:latin typeface="BIZ UDPGothic" pitchFamily="34" charset="0"/>
                <a:ea typeface="BIZ UDPGothic" pitchFamily="34" charset="-122"/>
                <a:cs typeface="BIZ UDPGothic" pitchFamily="34" charset="-120"/>
              </a:rPr>
              <a:t>✓ </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書込：作業フォルダ＋writable roots（</a:t>
            </a:r>
            <a:pPr indent="0" marL="0">
              <a:lnSpc>
                <a:spcPct val="100000"/>
              </a:lnSpc>
              <a:buNone/>
            </a:pPr>
            <a:r>
              <a:rPr lang="en-US" sz="950" dirty="0">
                <a:solidFill>
                  <a:srgbClr val="1E2330"/>
                </a:solidFill>
                <a:latin typeface="Consolas" pitchFamily="34" charset="0"/>
                <a:ea typeface="Consolas" pitchFamily="34" charset="-122"/>
                <a:cs typeface="Consolas" pitchFamily="34" charset="-120"/>
              </a:rPr>
              <a:t>sandbox-write</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 SID）</a:t>
            </a:r>
            <a:endParaRPr lang="en-US" sz="950" dirty="0"/>
          </a:p>
          <a:p>
            <a:pPr indent="0" marL="0">
              <a:lnSpc>
                <a:spcPct val="100000"/>
              </a:lnSpc>
              <a:spcAft>
                <a:spcPts val="300"/>
              </a:spcAft>
              <a:buNone/>
            </a:pPr>
            <a:r>
              <a:rPr lang="en-US" sz="950" b="1" dirty="0">
                <a:solidFill>
                  <a:srgbClr val="B83A3A"/>
                </a:solidFill>
                <a:latin typeface="BIZ UDPGothic" pitchFamily="34" charset="0"/>
                <a:ea typeface="BIZ UDPGothic" pitchFamily="34" charset="-122"/>
                <a:cs typeface="BIZ UDPGothic" pitchFamily="34" charset="-120"/>
              </a:rPr>
              <a:t>✕ </a:t>
            </a:r>
            <a:pPr indent="0" marL="0">
              <a:lnSpc>
                <a:spcPct val="100000"/>
              </a:lnSpc>
              <a:buNone/>
            </a:pPr>
            <a:r>
              <a:rPr lang="en-US" sz="950" dirty="0">
                <a:solidFill>
                  <a:srgbClr val="1E2330"/>
                </a:solidFill>
                <a:latin typeface="Consolas" pitchFamily="34" charset="0"/>
                <a:ea typeface="Consolas" pitchFamily="34" charset="-122"/>
                <a:cs typeface="Consolas" pitchFamily="34" charset="-120"/>
              </a:rPr>
              <a:t>.git</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 / </a:t>
            </a:r>
            <a:pPr indent="0" marL="0">
              <a:lnSpc>
                <a:spcPct val="100000"/>
              </a:lnSpc>
              <a:buNone/>
            </a:pPr>
            <a:r>
              <a:rPr lang="en-US" sz="950" dirty="0">
                <a:solidFill>
                  <a:srgbClr val="1E2330"/>
                </a:solidFill>
                <a:latin typeface="Consolas" pitchFamily="34" charset="0"/>
                <a:ea typeface="Consolas" pitchFamily="34" charset="-122"/>
                <a:cs typeface="Consolas" pitchFamily="34" charset="-120"/>
              </a:rPr>
              <a:t>.codex</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 / </a:t>
            </a:r>
            <a:pPr indent="0" marL="0">
              <a:lnSpc>
                <a:spcPct val="100000"/>
              </a:lnSpc>
              <a:buNone/>
            </a:pPr>
            <a:r>
              <a:rPr lang="en-US" sz="950" dirty="0">
                <a:solidFill>
                  <a:srgbClr val="1E2330"/>
                </a:solidFill>
                <a:latin typeface="Consolas" pitchFamily="34" charset="0"/>
                <a:ea typeface="Consolas" pitchFamily="34" charset="-122"/>
                <a:cs typeface="Consolas" pitchFamily="34" charset="-120"/>
              </a:rPr>
              <a:t>.agents</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は書込不可</a:t>
            </a:r>
            <a:endParaRPr lang="en-US" sz="950" dirty="0"/>
          </a:p>
          <a:p>
            <a:pPr indent="0" marL="0">
              <a:lnSpc>
                <a:spcPct val="100000"/>
              </a:lnSpc>
              <a:spcAft>
                <a:spcPts val="300"/>
              </a:spcAft>
              <a:buNone/>
            </a:pPr>
            <a:r>
              <a:rPr lang="en-US" sz="950" b="1" dirty="0">
                <a:solidFill>
                  <a:srgbClr val="9A6A12"/>
                </a:solidFill>
                <a:latin typeface="BIZ UDPGothic" pitchFamily="34" charset="0"/>
                <a:ea typeface="BIZ UDPGothic" pitchFamily="34" charset="-122"/>
                <a:cs typeface="BIZ UDPGothic" pitchFamily="34" charset="-120"/>
              </a:rPr>
              <a:t>▲ </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読取：ほぼ全域（C:\Users・Windows・Program Files等）</a:t>
            </a:r>
            <a:endParaRPr lang="en-US" sz="950" dirty="0"/>
          </a:p>
        </p:txBody>
      </p:sp>
      <p:sp>
        <p:nvSpPr>
          <p:cNvPr id="27" name="Shape 25"/>
          <p:cNvSpPr/>
          <p:nvPr/>
        </p:nvSpPr>
        <p:spPr>
          <a:xfrm>
            <a:off x="3703320" y="4370832"/>
            <a:ext cx="1600200" cy="1645920"/>
          </a:xfrm>
          <a:prstGeom prst="roundRect">
            <a:avLst>
              <a:gd name="adj" fmla="val 2857"/>
            </a:avLst>
          </a:prstGeom>
          <a:solidFill>
            <a:srgbClr val="FFFFFF"/>
          </a:solidFill>
          <a:ln w="12700">
            <a:solidFill>
              <a:srgbClr val="BFD9CB"/>
            </a:solidFill>
            <a:prstDash val="solid"/>
          </a:ln>
        </p:spPr>
      </p:sp>
      <p:sp>
        <p:nvSpPr>
          <p:cNvPr id="28" name="Text 26"/>
          <p:cNvSpPr txBox="1"/>
          <p:nvPr/>
        </p:nvSpPr>
        <p:spPr>
          <a:xfrm>
            <a:off x="3776472" y="4425696"/>
            <a:ext cx="1453896" cy="292608"/>
          </a:xfrm>
          <a:prstGeom prst="rect">
            <a:avLst/>
          </a:prstGeom>
          <a:noFill/>
          <a:ln/>
        </p:spPr>
        <p:txBody>
          <a:bodyPr wrap="square" lIns="0" tIns="0" rIns="0" bIns="0" rtlCol="0" anchor="ctr"/>
          <a:lstStyle/>
          <a:p>
            <a:pPr algn="ctr" indent="0" marL="0">
              <a:buNone/>
            </a:pPr>
            <a:r>
              <a:rPr lang="en-US" sz="950" b="1" dirty="0">
                <a:solidFill>
                  <a:srgbClr val="1E2330"/>
                </a:solidFill>
                <a:latin typeface="BIZ UDPGothic" pitchFamily="34" charset="0"/>
                <a:ea typeface="BIZ UDPGothic" pitchFamily="34" charset="-122"/>
                <a:cs typeface="BIZ UDPGothic" pitchFamily="34" charset="-120"/>
              </a:rPr>
              <a:t>command-runner.exe</a:t>
            </a:r>
            <a:endParaRPr lang="en-US" sz="950" dirty="0"/>
          </a:p>
        </p:txBody>
      </p:sp>
      <p:sp>
        <p:nvSpPr>
          <p:cNvPr id="29" name="Text 27"/>
          <p:cNvSpPr txBox="1"/>
          <p:nvPr/>
        </p:nvSpPr>
        <p:spPr>
          <a:xfrm>
            <a:off x="3776472" y="4718304"/>
            <a:ext cx="1453896" cy="1261872"/>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制限トークンを作成</a:t>
            </a:r>
            <a:endParaRPr lang="en-US" sz="900" dirty="0"/>
          </a:p>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a:t>
            </a:r>
            <a:endParaRPr lang="en-US" sz="900" dirty="0"/>
          </a:p>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コマンド / 子プロセス</a:t>
            </a:r>
            <a:endParaRPr lang="en-US" sz="900" dirty="0"/>
          </a:p>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を起動</a:t>
            </a:r>
            <a:endParaRPr lang="en-US" sz="900" dirty="0"/>
          </a:p>
        </p:txBody>
      </p:sp>
      <p:sp>
        <p:nvSpPr>
          <p:cNvPr id="30" name="Shape 28"/>
          <p:cNvSpPr/>
          <p:nvPr/>
        </p:nvSpPr>
        <p:spPr>
          <a:xfrm>
            <a:off x="5440680" y="4370832"/>
            <a:ext cx="1828800" cy="1645920"/>
          </a:xfrm>
          <a:prstGeom prst="roundRect">
            <a:avLst>
              <a:gd name="adj" fmla="val 2778"/>
            </a:avLst>
          </a:prstGeom>
          <a:solidFill>
            <a:srgbClr val="FFFFFF"/>
          </a:solidFill>
          <a:ln w="12700">
            <a:solidFill>
              <a:srgbClr val="BFD9CB"/>
            </a:solidFill>
            <a:prstDash val="solid"/>
          </a:ln>
        </p:spPr>
      </p:sp>
      <p:sp>
        <p:nvSpPr>
          <p:cNvPr id="31" name="Text 29"/>
          <p:cNvSpPr txBox="1"/>
          <p:nvPr/>
        </p:nvSpPr>
        <p:spPr>
          <a:xfrm>
            <a:off x="5550408" y="4425696"/>
            <a:ext cx="1609344" cy="256032"/>
          </a:xfrm>
          <a:prstGeom prst="rect">
            <a:avLst/>
          </a:prstGeom>
          <a:noFill/>
          <a:ln/>
        </p:spPr>
        <p:txBody>
          <a:bodyPr wrap="square" lIns="0" tIns="0" rIns="0" bIns="0" rtlCol="0" anchor="ctr"/>
          <a:lstStyle/>
          <a:p>
            <a:pPr indent="0" marL="0">
              <a:buNone/>
            </a:pPr>
            <a:r>
              <a:rPr lang="en-US" sz="1050" b="1" dirty="0">
                <a:solidFill>
                  <a:srgbClr val="1E2330"/>
                </a:solidFill>
                <a:latin typeface="BIZ UDPGothic" pitchFamily="34" charset="0"/>
                <a:ea typeface="BIZ UDPGothic" pitchFamily="34" charset="-122"/>
                <a:cs typeface="BIZ UDPGothic" pitchFamily="34" charset="-120"/>
              </a:rPr>
              <a:t>ネットワーク</a:t>
            </a:r>
            <a:endParaRPr lang="en-US" sz="1050" dirty="0"/>
          </a:p>
        </p:txBody>
      </p:sp>
      <p:sp>
        <p:nvSpPr>
          <p:cNvPr id="32" name="Text 30"/>
          <p:cNvSpPr txBox="1"/>
          <p:nvPr/>
        </p:nvSpPr>
        <p:spPr>
          <a:xfrm>
            <a:off x="5550408" y="4718304"/>
            <a:ext cx="1609344" cy="1243584"/>
          </a:xfrm>
          <a:prstGeom prst="rect">
            <a:avLst/>
          </a:prstGeom>
          <a:noFill/>
          <a:ln/>
        </p:spPr>
        <p:txBody>
          <a:bodyPr wrap="square" lIns="0" tIns="0" rIns="0" bIns="0" rtlCol="0" anchor="t"/>
          <a:lstStyle/>
          <a:p>
            <a:pPr indent="0" marL="0">
              <a:lnSpc>
                <a:spcPct val="100000"/>
              </a:lnSpc>
              <a:spcAft>
                <a:spcPts val="300"/>
              </a:spcAft>
              <a:buNone/>
            </a:pPr>
            <a:r>
              <a:rPr lang="en-US" sz="950" b="1" dirty="0">
                <a:solidFill>
                  <a:srgbClr val="B83A3A"/>
                </a:solidFill>
                <a:latin typeface="BIZ UDPGothic" pitchFamily="34" charset="0"/>
                <a:ea typeface="BIZ UDPGothic" pitchFamily="34" charset="-122"/>
                <a:cs typeface="BIZ UDPGothic" pitchFamily="34" charset="-120"/>
              </a:rPr>
              <a:t>✕ </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Offline user：Firewallで外向き遮断</a:t>
            </a:r>
            <a:endParaRPr lang="en-US" sz="950" dirty="0"/>
          </a:p>
          <a:p>
            <a:pPr indent="0" marL="0">
              <a:lnSpc>
                <a:spcPct val="100000"/>
              </a:lnSpc>
              <a:spcAft>
                <a:spcPts val="300"/>
              </a:spcAft>
              <a:buNone/>
            </a:pPr>
            <a:r>
              <a:rPr lang="en-US" sz="950" b="1" dirty="0">
                <a:solidFill>
                  <a:srgbClr val="9A6A12"/>
                </a:solidFill>
                <a:latin typeface="BIZ UDPGothic" pitchFamily="34" charset="0"/>
                <a:ea typeface="BIZ UDPGothic" pitchFamily="34" charset="-122"/>
                <a:cs typeface="BIZ UDPGothic" pitchFamily="34" charset="-120"/>
              </a:rPr>
              <a:t>▲ </a:t>
            </a:r>
            <a:pPr indent="0" marL="0">
              <a:lnSpc>
                <a:spcPct val="100000"/>
              </a:lnSpc>
              <a:buNone/>
            </a:pPr>
            <a:r>
              <a:rPr lang="en-US" sz="950" dirty="0">
                <a:solidFill>
                  <a:srgbClr val="1E2330"/>
                </a:solidFill>
                <a:latin typeface="BIZ UDPGothic" pitchFamily="34" charset="0"/>
                <a:ea typeface="BIZ UDPGothic" pitchFamily="34" charset="-122"/>
                <a:cs typeface="BIZ UDPGothic" pitchFamily="34" charset="-120"/>
              </a:rPr>
              <a:t>Online user：Firewall対象外（通信許可時）</a:t>
            </a:r>
            <a:endParaRPr lang="en-US" sz="950" dirty="0"/>
          </a:p>
        </p:txBody>
      </p:sp>
      <p:sp>
        <p:nvSpPr>
          <p:cNvPr id="33" name="Shape 31"/>
          <p:cNvSpPr/>
          <p:nvPr/>
        </p:nvSpPr>
        <p:spPr>
          <a:xfrm>
            <a:off x="4503420" y="3703320"/>
            <a:ext cx="914" cy="667512"/>
          </a:xfrm>
          <a:prstGeom prst="line">
            <a:avLst/>
          </a:prstGeom>
          <a:noFill/>
          <a:ln w="19050">
            <a:solidFill>
              <a:srgbClr val="2E7D5B"/>
            </a:solidFill>
            <a:prstDash val="solid"/>
            <a:tailEnd type="triangle"/>
          </a:ln>
        </p:spPr>
      </p:sp>
      <p:sp>
        <p:nvSpPr>
          <p:cNvPr id="34" name="Shape 32"/>
          <p:cNvSpPr/>
          <p:nvPr/>
        </p:nvSpPr>
        <p:spPr>
          <a:xfrm flipH="1">
            <a:off x="3566160" y="5193792"/>
            <a:ext cx="137160" cy="914"/>
          </a:xfrm>
          <a:prstGeom prst="line">
            <a:avLst/>
          </a:prstGeom>
          <a:noFill/>
          <a:ln w="19050">
            <a:solidFill>
              <a:srgbClr val="2E7D5B"/>
            </a:solidFill>
            <a:prstDash val="solid"/>
            <a:tailEnd type="triangle"/>
          </a:ln>
        </p:spPr>
      </p:sp>
      <p:sp>
        <p:nvSpPr>
          <p:cNvPr id="35" name="Shape 33"/>
          <p:cNvSpPr/>
          <p:nvPr/>
        </p:nvSpPr>
        <p:spPr>
          <a:xfrm>
            <a:off x="5303520" y="5193792"/>
            <a:ext cx="137160" cy="914"/>
          </a:xfrm>
          <a:prstGeom prst="line">
            <a:avLst/>
          </a:prstGeom>
          <a:noFill/>
          <a:ln w="19050">
            <a:solidFill>
              <a:srgbClr val="2E7D5B"/>
            </a:solidFill>
            <a:prstDash val="solid"/>
            <a:tailEnd type="triangle"/>
          </a:ln>
        </p:spPr>
      </p:sp>
      <p:sp>
        <p:nvSpPr>
          <p:cNvPr id="36" name="Shape 34"/>
          <p:cNvSpPr/>
          <p:nvPr/>
        </p:nvSpPr>
        <p:spPr>
          <a:xfrm flipV="1">
            <a:off x="6355080" y="3703320"/>
            <a:ext cx="914" cy="667512"/>
          </a:xfrm>
          <a:prstGeom prst="line">
            <a:avLst/>
          </a:prstGeom>
          <a:noFill/>
          <a:ln w="19050">
            <a:solidFill>
              <a:srgbClr val="2E7D5B"/>
            </a:solidFill>
            <a:prstDash val="solid"/>
            <a:tailEnd type="triangle"/>
          </a:ln>
        </p:spPr>
      </p:sp>
      <p:sp>
        <p:nvSpPr>
          <p:cNvPr id="37" name="Shape 35"/>
          <p:cNvSpPr/>
          <p:nvPr/>
        </p:nvSpPr>
        <p:spPr>
          <a:xfrm>
            <a:off x="7635240" y="3401568"/>
            <a:ext cx="1691640" cy="960120"/>
          </a:xfrm>
          <a:prstGeom prst="roundRect">
            <a:avLst>
              <a:gd name="adj" fmla="val 4762"/>
            </a:avLst>
          </a:prstGeom>
          <a:solidFill>
            <a:srgbClr val="FFFFFF"/>
          </a:solidFill>
          <a:ln w="12700">
            <a:solidFill>
              <a:srgbClr val="8A92A3"/>
            </a:solidFill>
            <a:prstDash val="dash"/>
          </a:ln>
        </p:spPr>
      </p:sp>
      <p:sp>
        <p:nvSpPr>
          <p:cNvPr id="38" name="Text 36"/>
          <p:cNvSpPr txBox="1"/>
          <p:nvPr/>
        </p:nvSpPr>
        <p:spPr>
          <a:xfrm>
            <a:off x="7708392" y="3456432"/>
            <a:ext cx="1545336" cy="292608"/>
          </a:xfrm>
          <a:prstGeom prst="rect">
            <a:avLst/>
          </a:prstGeom>
          <a:noFill/>
          <a:ln/>
        </p:spPr>
        <p:txBody>
          <a:bodyPr wrap="square" lIns="0" tIns="0" rIns="0" bIns="0" rtlCol="0" anchor="ctr"/>
          <a:lstStyle/>
          <a:p>
            <a:pPr algn="ctr" indent="0" marL="0">
              <a:buNone/>
            </a:pPr>
            <a:r>
              <a:rPr lang="en-US" sz="1050" b="1" dirty="0">
                <a:solidFill>
                  <a:srgbClr val="1E2330"/>
                </a:solidFill>
                <a:latin typeface="BIZ UDPGothic" pitchFamily="34" charset="0"/>
                <a:ea typeface="BIZ UDPGothic" pitchFamily="34" charset="-122"/>
                <a:cs typeface="BIZ UDPGothic" pitchFamily="34" charset="-120"/>
              </a:rPr>
              <a:t>setup.exe</a:t>
            </a:r>
            <a:endParaRPr lang="en-US" sz="1050" dirty="0"/>
          </a:p>
        </p:txBody>
      </p:sp>
      <p:sp>
        <p:nvSpPr>
          <p:cNvPr id="39" name="Text 37"/>
          <p:cNvSpPr txBox="1"/>
          <p:nvPr/>
        </p:nvSpPr>
        <p:spPr>
          <a:xfrm>
            <a:off x="7708392" y="3749040"/>
            <a:ext cx="1545336" cy="576072"/>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初回のみ・管理者承認</a:t>
            </a:r>
            <a:endParaRPr lang="en-US" sz="900" dirty="0"/>
          </a:p>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Sandbox user・ACL・</a:t>
            </a:r>
            <a:endParaRPr lang="en-US" sz="900" dirty="0"/>
          </a:p>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Firewall規則を作成</a:t>
            </a:r>
            <a:endParaRPr lang="en-US" sz="900" dirty="0"/>
          </a:p>
        </p:txBody>
      </p:sp>
      <p:sp>
        <p:nvSpPr>
          <p:cNvPr id="40" name="Shape 38"/>
          <p:cNvSpPr/>
          <p:nvPr/>
        </p:nvSpPr>
        <p:spPr>
          <a:xfrm flipH="1">
            <a:off x="7406640" y="4114800"/>
            <a:ext cx="228600" cy="182880"/>
          </a:xfrm>
          <a:prstGeom prst="line">
            <a:avLst/>
          </a:prstGeom>
          <a:noFill/>
          <a:ln w="19050">
            <a:solidFill>
              <a:srgbClr val="8A92A3"/>
            </a:solidFill>
            <a:prstDash val="dash"/>
            <a:tailEnd type="triangle"/>
          </a:ln>
        </p:spPr>
      </p:sp>
      <p:sp>
        <p:nvSpPr>
          <p:cNvPr id="41" name="Shape 39"/>
          <p:cNvSpPr/>
          <p:nvPr/>
        </p:nvSpPr>
        <p:spPr>
          <a:xfrm>
            <a:off x="7635240" y="4526280"/>
            <a:ext cx="1691640" cy="731520"/>
          </a:xfrm>
          <a:prstGeom prst="roundRect">
            <a:avLst>
              <a:gd name="adj" fmla="val 6250"/>
            </a:avLst>
          </a:prstGeom>
          <a:solidFill>
            <a:srgbClr val="FFFFFF"/>
          </a:solidFill>
          <a:ln w="12700">
            <a:solidFill>
              <a:srgbClr val="E3B8B8"/>
            </a:solidFill>
            <a:prstDash val="solid"/>
          </a:ln>
        </p:spPr>
      </p:sp>
      <p:sp>
        <p:nvSpPr>
          <p:cNvPr id="42" name="Text 40"/>
          <p:cNvSpPr txBox="1"/>
          <p:nvPr/>
        </p:nvSpPr>
        <p:spPr>
          <a:xfrm>
            <a:off x="7708392" y="4581144"/>
            <a:ext cx="1545336" cy="292608"/>
          </a:xfrm>
          <a:prstGeom prst="rect">
            <a:avLst/>
          </a:prstGeom>
          <a:noFill/>
          <a:ln/>
        </p:spPr>
        <p:txBody>
          <a:bodyPr wrap="square" lIns="0" tIns="0" rIns="0" bIns="0" rtlCol="0" anchor="ctr"/>
          <a:lstStyle/>
          <a:p>
            <a:pPr algn="ctr" indent="0" marL="0">
              <a:buNone/>
            </a:pPr>
            <a:r>
              <a:rPr lang="en-US" sz="1050" b="1" dirty="0">
                <a:solidFill>
                  <a:srgbClr val="1E2330"/>
                </a:solidFill>
                <a:latin typeface="BIZ UDPGothic" pitchFamily="34" charset="0"/>
                <a:ea typeface="BIZ UDPGothic" pitchFamily="34" charset="-122"/>
                <a:cs typeface="BIZ UDPGothic" pitchFamily="34" charset="-120"/>
              </a:rPr>
              <a:t>Windows Firewall</a:t>
            </a:r>
            <a:endParaRPr lang="en-US" sz="1050" dirty="0"/>
          </a:p>
        </p:txBody>
      </p:sp>
      <p:sp>
        <p:nvSpPr>
          <p:cNvPr id="43" name="Text 41"/>
          <p:cNvSpPr txBox="1"/>
          <p:nvPr/>
        </p:nvSpPr>
        <p:spPr>
          <a:xfrm>
            <a:off x="7708392" y="4873752"/>
            <a:ext cx="1545336" cy="347472"/>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Offline userの</a:t>
            </a:r>
            <a:endParaRPr lang="en-US" sz="900" dirty="0"/>
          </a:p>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外向き通信を遮断</a:t>
            </a:r>
            <a:endParaRPr lang="en-US" sz="900" dirty="0"/>
          </a:p>
        </p:txBody>
      </p:sp>
      <p:sp>
        <p:nvSpPr>
          <p:cNvPr id="44" name="Shape 42"/>
          <p:cNvSpPr/>
          <p:nvPr/>
        </p:nvSpPr>
        <p:spPr>
          <a:xfrm>
            <a:off x="7269480" y="4892040"/>
            <a:ext cx="365760" cy="914"/>
          </a:xfrm>
          <a:prstGeom prst="line">
            <a:avLst/>
          </a:prstGeom>
          <a:noFill/>
          <a:ln w="19050">
            <a:solidFill>
              <a:srgbClr val="B83A3A"/>
            </a:solidFill>
            <a:prstDash val="solid"/>
            <a:tailEnd type="triangle"/>
          </a:ln>
        </p:spPr>
      </p:sp>
      <p:pic>
        <p:nvPicPr>
          <p:cNvPr id="45" name="Image 0" descr="preencoded.png">    </p:cNvPr>
          <p:cNvPicPr>
            <a:picLocks noChangeAspect="1"/>
          </p:cNvPicPr>
          <p:nvPr/>
        </p:nvPicPr>
        <p:blipFill>
          <a:blip r:embed="rId1"/>
          <a:stretch>
            <a:fillRect/>
          </a:stretch>
        </p:blipFill>
        <p:spPr>
          <a:xfrm>
            <a:off x="7635240" y="5413248"/>
            <a:ext cx="182880" cy="182880"/>
          </a:xfrm>
          <a:prstGeom prst="rect">
            <a:avLst/>
          </a:prstGeom>
        </p:spPr>
      </p:pic>
      <p:sp>
        <p:nvSpPr>
          <p:cNvPr id="46" name="Text 43"/>
          <p:cNvSpPr txBox="1"/>
          <p:nvPr/>
        </p:nvSpPr>
        <p:spPr>
          <a:xfrm>
            <a:off x="7863840" y="5349240"/>
            <a:ext cx="1554480" cy="566928"/>
          </a:xfrm>
          <a:prstGeom prst="rect">
            <a:avLst/>
          </a:prstGeom>
          <a:noFill/>
          <a:ln/>
        </p:spPr>
        <p:txBody>
          <a:bodyPr wrap="square" lIns="0" tIns="0" rIns="0" bIns="0" rtlCol="0" anchor="t"/>
          <a:lstStyle/>
          <a:p>
            <a:pPr indent="0" marL="0">
              <a:buNone/>
            </a:pPr>
            <a:r>
              <a:rPr lang="en-US" sz="900" b="1" dirty="0">
                <a:solidFill>
                  <a:srgbClr val="9A6A12"/>
                </a:solidFill>
                <a:latin typeface="BIZ UDPGothic" pitchFamily="34" charset="0"/>
                <a:ea typeface="BIZ UDPGothic" pitchFamily="34" charset="-122"/>
                <a:cs typeface="BIZ UDPGothic" pitchFamily="34" charset="-120"/>
              </a:rPr>
              <a:t>proxy経路・</a:t>
            </a:r>
            <a:pPr indent="0" marL="0">
              <a:buNone/>
            </a:pPr>
            <a:r>
              <a:rPr lang="en-US" sz="900" b="1" dirty="0">
                <a:solidFill>
                  <a:srgbClr val="9A6A12"/>
                </a:solidFill>
                <a:latin typeface="Consolas" pitchFamily="34" charset="0"/>
                <a:ea typeface="Consolas" pitchFamily="34" charset="-122"/>
                <a:cs typeface="Consolas" pitchFamily="34" charset="-120"/>
              </a:rPr>
              <a:t>deny</a:t>
            </a:r>
            <a:pPr indent="0" marL="0">
              <a:buNone/>
            </a:pPr>
            <a:r>
              <a:rPr lang="en-US" sz="900" b="1" dirty="0">
                <a:solidFill>
                  <a:srgbClr val="9A6A12"/>
                </a:solidFill>
                <a:latin typeface="BIZ UDPGothic" pitchFamily="34" charset="0"/>
                <a:ea typeface="BIZ UDPGothic" pitchFamily="34" charset="-122"/>
                <a:cs typeface="BIZ UDPGothic" pitchFamily="34" charset="-120"/>
              </a:rPr>
              <a:t>の</a:t>
            </a:r>
            <a:endParaRPr lang="en-US" sz="900" dirty="0"/>
          </a:p>
          <a:p>
            <a:pPr indent="0" marL="0">
              <a:buNone/>
            </a:pPr>
            <a:r>
              <a:rPr lang="en-US" sz="900" b="1" dirty="0">
                <a:solidFill>
                  <a:srgbClr val="9A6A12"/>
                </a:solidFill>
                <a:latin typeface="BIZ UDPGothic" pitchFamily="34" charset="0"/>
                <a:ea typeface="BIZ UDPGothic" pitchFamily="34" charset="-122"/>
                <a:cs typeface="BIZ UDPGothic" pitchFamily="34" charset="-120"/>
              </a:rPr>
              <a:t>Windows適用は要実機確認</a:t>
            </a:r>
            <a:endParaRPr lang="en-US" sz="900" dirty="0"/>
          </a:p>
        </p:txBody>
      </p:sp>
      <p:sp>
        <p:nvSpPr>
          <p:cNvPr id="47" name="Shape 44"/>
          <p:cNvSpPr/>
          <p:nvPr/>
        </p:nvSpPr>
        <p:spPr>
          <a:xfrm>
            <a:off x="9646920" y="1645920"/>
            <a:ext cx="1993392" cy="658368"/>
          </a:xfrm>
          <a:prstGeom prst="roundRect">
            <a:avLst>
              <a:gd name="adj" fmla="val 6944"/>
            </a:avLst>
          </a:prstGeom>
          <a:solidFill>
            <a:srgbClr val="FFFFFF"/>
          </a:solidFill>
          <a:ln w="12700">
            <a:solidFill>
              <a:srgbClr val="DDE1E8"/>
            </a:solidFill>
            <a:prstDash val="solid"/>
          </a:ln>
        </p:spPr>
      </p:sp>
      <p:sp>
        <p:nvSpPr>
          <p:cNvPr id="48" name="Text 45"/>
          <p:cNvSpPr txBox="1"/>
          <p:nvPr/>
        </p:nvSpPr>
        <p:spPr>
          <a:xfrm>
            <a:off x="9720072" y="1700784"/>
            <a:ext cx="1847088" cy="292608"/>
          </a:xfrm>
          <a:prstGeom prst="rect">
            <a:avLst/>
          </a:prstGeom>
          <a:noFill/>
          <a:ln/>
        </p:spPr>
        <p:txBody>
          <a:bodyPr wrap="square" lIns="0" tIns="0" rIns="0" bIns="0" rtlCol="0" anchor="ctr"/>
          <a:lstStyle/>
          <a:p>
            <a:pPr algn="ctr" indent="0" marL="0">
              <a:buNone/>
            </a:pPr>
            <a:r>
              <a:rPr lang="en-US" sz="1050" b="1" dirty="0">
                <a:solidFill>
                  <a:srgbClr val="1E2330"/>
                </a:solidFill>
                <a:latin typeface="BIZ UDPGothic" pitchFamily="34" charset="0"/>
                <a:ea typeface="BIZ UDPGothic" pitchFamily="34" charset="-122"/>
                <a:cs typeface="BIZ UDPGothic" pitchFamily="34" charset="-120"/>
              </a:rPr>
              <a:t>OpenAI API</a:t>
            </a:r>
            <a:endParaRPr lang="en-US" sz="1050" dirty="0"/>
          </a:p>
        </p:txBody>
      </p:sp>
      <p:sp>
        <p:nvSpPr>
          <p:cNvPr id="49" name="Text 46"/>
          <p:cNvSpPr txBox="1"/>
          <p:nvPr/>
        </p:nvSpPr>
        <p:spPr>
          <a:xfrm>
            <a:off x="9720072" y="1993392"/>
            <a:ext cx="1847088" cy="274320"/>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モデル推論</a:t>
            </a:r>
            <a:endParaRPr lang="en-US" sz="900" dirty="0"/>
          </a:p>
        </p:txBody>
      </p:sp>
      <p:sp>
        <p:nvSpPr>
          <p:cNvPr id="50" name="Shape 47"/>
          <p:cNvSpPr/>
          <p:nvPr/>
        </p:nvSpPr>
        <p:spPr>
          <a:xfrm>
            <a:off x="9646920" y="2560320"/>
            <a:ext cx="1993392" cy="658368"/>
          </a:xfrm>
          <a:prstGeom prst="roundRect">
            <a:avLst>
              <a:gd name="adj" fmla="val 6944"/>
            </a:avLst>
          </a:prstGeom>
          <a:solidFill>
            <a:srgbClr val="FFFFFF"/>
          </a:solidFill>
          <a:ln w="12700">
            <a:solidFill>
              <a:srgbClr val="DDE1E8"/>
            </a:solidFill>
            <a:prstDash val="solid"/>
          </a:ln>
        </p:spPr>
      </p:sp>
      <p:sp>
        <p:nvSpPr>
          <p:cNvPr id="51" name="Text 48"/>
          <p:cNvSpPr txBox="1"/>
          <p:nvPr/>
        </p:nvSpPr>
        <p:spPr>
          <a:xfrm>
            <a:off x="9720072" y="2615184"/>
            <a:ext cx="1847088" cy="292608"/>
          </a:xfrm>
          <a:prstGeom prst="rect">
            <a:avLst/>
          </a:prstGeom>
          <a:noFill/>
          <a:ln/>
        </p:spPr>
        <p:txBody>
          <a:bodyPr wrap="square" lIns="0" tIns="0" rIns="0" bIns="0" rtlCol="0" anchor="ctr"/>
          <a:lstStyle/>
          <a:p>
            <a:pPr algn="ctr" indent="0" marL="0">
              <a:buNone/>
            </a:pPr>
            <a:r>
              <a:rPr lang="en-US" sz="1050" b="1" dirty="0">
                <a:solidFill>
                  <a:srgbClr val="1E2330"/>
                </a:solidFill>
                <a:latin typeface="BIZ UDPGothic" pitchFamily="34" charset="0"/>
                <a:ea typeface="BIZ UDPGothic" pitchFamily="34" charset="-122"/>
                <a:cs typeface="BIZ UDPGothic" pitchFamily="34" charset="-120"/>
              </a:rPr>
              <a:t>Internet</a:t>
            </a:r>
            <a:endParaRPr lang="en-US" sz="1050" dirty="0"/>
          </a:p>
        </p:txBody>
      </p:sp>
      <p:sp>
        <p:nvSpPr>
          <p:cNvPr id="52" name="Text 49"/>
          <p:cNvSpPr txBox="1"/>
          <p:nvPr/>
        </p:nvSpPr>
        <p:spPr>
          <a:xfrm>
            <a:off x="9720072" y="2907792"/>
            <a:ext cx="1847088" cy="274320"/>
          </a:xfrm>
          <a:prstGeom prst="rect">
            <a:avLst/>
          </a:prstGeom>
          <a:noFill/>
          <a:ln/>
        </p:spPr>
        <p:txBody>
          <a:bodyPr wrap="square" lIns="0" tIns="0" rIns="0" bIns="0" rtlCol="0" anchor="t"/>
          <a:lstStyle/>
          <a:p>
            <a:pPr algn="ctr" indent="0" marL="0">
              <a:lnSpc>
                <a:spcPct val="100000"/>
              </a:lnSpc>
              <a:buNone/>
            </a:pPr>
            <a:r>
              <a:rPr lang="en-US" sz="900" dirty="0">
                <a:solidFill>
                  <a:srgbClr val="5A6272"/>
                </a:solidFill>
                <a:latin typeface="BIZ UDPGothic" pitchFamily="34" charset="0"/>
                <a:ea typeface="BIZ UDPGothic" pitchFamily="34" charset="-122"/>
                <a:cs typeface="BIZ UDPGothic" pitchFamily="34" charset="-120"/>
              </a:rPr>
              <a:t>外部サイト / registry</a:t>
            </a:r>
            <a:endParaRPr lang="en-US" sz="900" dirty="0"/>
          </a:p>
        </p:txBody>
      </p:sp>
      <p:sp>
        <p:nvSpPr>
          <p:cNvPr id="53" name="Shape 50"/>
          <p:cNvSpPr/>
          <p:nvPr/>
        </p:nvSpPr>
        <p:spPr>
          <a:xfrm flipV="1">
            <a:off x="7406640" y="1975104"/>
            <a:ext cx="2240280" cy="128016"/>
          </a:xfrm>
          <a:prstGeom prst="line">
            <a:avLst/>
          </a:prstGeom>
          <a:noFill/>
          <a:ln w="19050">
            <a:solidFill>
              <a:srgbClr val="8A92A3"/>
            </a:solidFill>
            <a:prstDash val="solid"/>
            <a:tailEnd type="triangle"/>
          </a:ln>
        </p:spPr>
      </p:sp>
      <p:sp>
        <p:nvSpPr>
          <p:cNvPr id="54" name="Shape 51"/>
          <p:cNvSpPr/>
          <p:nvPr/>
        </p:nvSpPr>
        <p:spPr>
          <a:xfrm flipV="1">
            <a:off x="7269480" y="2889504"/>
            <a:ext cx="2377440" cy="402336"/>
          </a:xfrm>
          <a:prstGeom prst="line">
            <a:avLst/>
          </a:prstGeom>
          <a:noFill/>
          <a:ln w="19050">
            <a:solidFill>
              <a:srgbClr val="2E7D5B"/>
            </a:solidFill>
            <a:prstDash val="solid"/>
            <a:tailEnd type="triangle"/>
          </a:ln>
        </p:spPr>
      </p:sp>
      <p:sp>
        <p:nvSpPr>
          <p:cNvPr id="55" name="Text 52"/>
          <p:cNvSpPr txBox="1"/>
          <p:nvPr/>
        </p:nvSpPr>
        <p:spPr>
          <a:xfrm>
            <a:off x="8229600" y="2788920"/>
            <a:ext cx="1371600" cy="228600"/>
          </a:xfrm>
          <a:prstGeom prst="rect">
            <a:avLst/>
          </a:prstGeom>
          <a:noFill/>
          <a:ln/>
        </p:spPr>
        <p:txBody>
          <a:bodyPr wrap="square" lIns="0" tIns="0" rIns="0" bIns="0" rtlCol="0" anchor="t"/>
          <a:lstStyle/>
          <a:p>
            <a:pPr indent="0" marL="0">
              <a:buNone/>
            </a:pPr>
            <a:r>
              <a:rPr lang="en-US" sz="900" b="1" dirty="0">
                <a:solidFill>
                  <a:srgbClr val="2E7D5B"/>
                </a:solidFill>
                <a:latin typeface="BIZ UDPGothic" pitchFamily="34" charset="0"/>
                <a:ea typeface="BIZ UDPGothic" pitchFamily="34" charset="-122"/>
                <a:cs typeface="BIZ UDPGothic" pitchFamily="34" charset="-120"/>
              </a:rPr>
              <a:t>許可hostのみ</a:t>
            </a:r>
            <a:endParaRPr lang="en-US" sz="900" dirty="0"/>
          </a:p>
        </p:txBody>
      </p:sp>
      <p:sp>
        <p:nvSpPr>
          <p:cNvPr id="56" name="Shape 53"/>
          <p:cNvSpPr/>
          <p:nvPr/>
        </p:nvSpPr>
        <p:spPr>
          <a:xfrm>
            <a:off x="9646920" y="3429000"/>
            <a:ext cx="1993392" cy="2834640"/>
          </a:xfrm>
          <a:prstGeom prst="roundRect">
            <a:avLst>
              <a:gd name="adj" fmla="val 2752"/>
            </a:avLst>
          </a:prstGeom>
          <a:solidFill>
            <a:srgbClr val="1B1F2A"/>
          </a:solidFill>
          <a:ln/>
        </p:spPr>
      </p:sp>
      <p:sp>
        <p:nvSpPr>
          <p:cNvPr id="57" name="Text 54"/>
          <p:cNvSpPr txBox="1"/>
          <p:nvPr/>
        </p:nvSpPr>
        <p:spPr>
          <a:xfrm>
            <a:off x="9784080" y="3520440"/>
            <a:ext cx="1719072" cy="274320"/>
          </a:xfrm>
          <a:prstGeom prst="rect">
            <a:avLst/>
          </a:prstGeom>
          <a:noFill/>
          <a:ln/>
        </p:spPr>
        <p:txBody>
          <a:bodyPr wrap="square" lIns="0" tIns="0" rIns="0" bIns="0" rtlCol="0" anchor="ctr"/>
          <a:lstStyle/>
          <a:p>
            <a:pPr indent="0" marL="0">
              <a:buNone/>
            </a:pPr>
            <a:r>
              <a:rPr lang="en-US" sz="1100" b="1" dirty="0">
                <a:solidFill>
                  <a:srgbClr val="E8A589"/>
                </a:solidFill>
                <a:latin typeface="BIZ UDPGothic" pitchFamily="34" charset="0"/>
                <a:ea typeface="BIZ UDPGothic" pitchFamily="34" charset="-122"/>
                <a:cs typeface="BIZ UDPGothic" pitchFamily="34" charset="-120"/>
              </a:rPr>
              <a:t>読み取るべき点</a:t>
            </a:r>
            <a:endParaRPr lang="en-US" sz="1100" dirty="0"/>
          </a:p>
        </p:txBody>
      </p:sp>
      <p:sp>
        <p:nvSpPr>
          <p:cNvPr id="58" name="Text 55"/>
          <p:cNvSpPr txBox="1"/>
          <p:nvPr/>
        </p:nvSpPr>
        <p:spPr>
          <a:xfrm>
            <a:off x="9784080" y="3886200"/>
            <a:ext cx="1719072" cy="716280"/>
          </a:xfrm>
          <a:prstGeom prst="rect">
            <a:avLst/>
          </a:prstGeom>
          <a:noFill/>
          <a:ln/>
        </p:spPr>
        <p:txBody>
          <a:bodyPr wrap="square" lIns="0" tIns="0" rIns="0" bIns="0" rtlCol="0" anchor="t"/>
          <a:lstStyle/>
          <a:p>
            <a:pPr indent="0" marL="0">
              <a:lnSpc>
                <a:spcPct val="105000"/>
              </a:lnSpc>
              <a:buNone/>
            </a:pPr>
            <a:r>
              <a:rPr lang="en-US" sz="1000" dirty="0">
                <a:solidFill>
                  <a:srgbClr val="FFFFFF"/>
                </a:solidFill>
                <a:latin typeface="BIZ UDPGothic" pitchFamily="34" charset="0"/>
                <a:ea typeface="BIZ UDPGothic" pitchFamily="34" charset="-122"/>
                <a:cs typeface="BIZ UDPGothic" pitchFamily="34" charset="-120"/>
              </a:rPr>
              <a:t>隔離の中心は書込。読取はほぼ全域に開いている</a:t>
            </a:r>
            <a:endParaRPr lang="en-US" sz="1000" dirty="0"/>
          </a:p>
        </p:txBody>
      </p:sp>
      <p:sp>
        <p:nvSpPr>
          <p:cNvPr id="59" name="Text 56"/>
          <p:cNvSpPr txBox="1"/>
          <p:nvPr/>
        </p:nvSpPr>
        <p:spPr>
          <a:xfrm>
            <a:off x="9784080" y="4648200"/>
            <a:ext cx="1719072" cy="716280"/>
          </a:xfrm>
          <a:prstGeom prst="rect">
            <a:avLst/>
          </a:prstGeom>
          <a:noFill/>
          <a:ln/>
        </p:spPr>
        <p:txBody>
          <a:bodyPr wrap="square" lIns="0" tIns="0" rIns="0" bIns="0" rtlCol="0" anchor="t"/>
          <a:lstStyle/>
          <a:p>
            <a:pPr indent="0" marL="0">
              <a:lnSpc>
                <a:spcPct val="105000"/>
              </a:lnSpc>
              <a:buNone/>
            </a:pPr>
            <a:r>
              <a:rPr lang="en-US" sz="1000" dirty="0">
                <a:solidFill>
                  <a:srgbClr val="FFFFFF"/>
                </a:solidFill>
                <a:latin typeface="BIZ UDPGothic" pitchFamily="34" charset="0"/>
                <a:ea typeface="BIZ UDPGothic" pitchFamily="34" charset="-122"/>
                <a:cs typeface="BIZ UDPGothic" pitchFamily="34" charset="-120"/>
              </a:rPr>
              <a:t>Online userはFirewallの対象外。ドメイン制限はproxy頼み</a:t>
            </a:r>
            <a:endParaRPr lang="en-US" sz="1000" dirty="0"/>
          </a:p>
        </p:txBody>
      </p:sp>
      <p:sp>
        <p:nvSpPr>
          <p:cNvPr id="60" name="Text 57"/>
          <p:cNvSpPr txBox="1"/>
          <p:nvPr/>
        </p:nvSpPr>
        <p:spPr>
          <a:xfrm>
            <a:off x="9784080" y="5410200"/>
            <a:ext cx="1719072" cy="716280"/>
          </a:xfrm>
          <a:prstGeom prst="rect">
            <a:avLst/>
          </a:prstGeom>
          <a:noFill/>
          <a:ln/>
        </p:spPr>
        <p:txBody>
          <a:bodyPr wrap="square" lIns="0" tIns="0" rIns="0" bIns="0" rtlCol="0" anchor="t"/>
          <a:lstStyle/>
          <a:p>
            <a:pPr indent="0" marL="0">
              <a:lnSpc>
                <a:spcPct val="105000"/>
              </a:lnSpc>
              <a:buNone/>
            </a:pPr>
            <a:r>
              <a:rPr lang="en-US" sz="1000" dirty="0">
                <a:solidFill>
                  <a:srgbClr val="FFFFFF"/>
                </a:solidFill>
                <a:latin typeface="BIZ UDPGothic" pitchFamily="34" charset="0"/>
                <a:ea typeface="BIZ UDPGothic" pitchFamily="34" charset="-122"/>
                <a:cs typeface="BIZ UDPGothic" pitchFamily="34" charset="-120"/>
              </a:rPr>
              <a:t>Web検索 / MCP等はSandboxを通らない</a:t>
            </a:r>
            <a:endParaRPr lang="en-US" sz="1000" dirty="0"/>
          </a:p>
        </p:txBody>
      </p:sp>
      <p:sp>
        <p:nvSpPr>
          <p:cNvPr id="61" name="Text 58"/>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OpenAI Codex Docs “Windows sandbox”, “Permissions”; OpenAI “Building a safe, effective sandbox to enable Codex on Windows”</a:t>
            </a:r>
            <a:endParaRPr lang="en-US" sz="900" dirty="0"/>
          </a:p>
        </p:txBody>
      </p:sp>
      <p:sp>
        <p:nvSpPr>
          <p:cNvPr id="62" name="Text 59"/>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ECF0FB"/>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3A55B4"/>
                </a:solidFill>
                <a:latin typeface="BIZ UDPGothic" pitchFamily="34" charset="0"/>
                <a:ea typeface="BIZ UDPGothic" pitchFamily="34" charset="-122"/>
                <a:cs typeface="BIZ UDPGothic" pitchFamily="34" charset="-120"/>
              </a:rPr>
              <a:t>Codex</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Codex: どこに設定するか</a:t>
            </a:r>
            <a:endParaRPr lang="en-US" sz="2800" dirty="0"/>
          </a:p>
        </p:txBody>
      </p:sp>
      <p:sp>
        <p:nvSpPr>
          <p:cNvPr id="6" name="Text 4"/>
          <p:cNvSpPr txBox="1"/>
          <p:nvPr/>
        </p:nvSpPr>
        <p:spPr>
          <a:xfrm>
            <a:off x="548640" y="1207008"/>
            <a:ext cx="11094415" cy="329184"/>
          </a:xfrm>
          <a:prstGeom prst="rect">
            <a:avLst/>
          </a:prstGeom>
          <a:noFill/>
          <a:ln/>
        </p:spPr>
        <p:txBody>
          <a:bodyPr wrap="square" lIns="0" tIns="0" rIns="0" bIns="0" rtlCol="0" anchor="ctr"/>
          <a:lstStyle/>
          <a:p>
            <a:pPr indent="0" marL="0">
              <a:buNone/>
            </a:pPr>
            <a:r>
              <a:rPr lang="en-US" sz="1400" dirty="0">
                <a:solidFill>
                  <a:srgbClr val="5A6272"/>
                </a:solidFill>
                <a:latin typeface="BIZ UDPGothic" pitchFamily="34" charset="0"/>
                <a:ea typeface="BIZ UDPGothic" pitchFamily="34" charset="-122"/>
                <a:cs typeface="BIZ UDPGothic" pitchFamily="34" charset="-120"/>
              </a:rPr>
              <a:t>強制したい項目は requirements.toml に書く。managed_config.toml と config.toml は既定値でしかない</a:t>
            </a:r>
            <a:endParaRPr lang="en-US" sz="1400" dirty="0"/>
          </a:p>
        </p:txBody>
      </p:sp>
      <p:sp>
        <p:nvSpPr>
          <p:cNvPr id="7" name="Text 5"/>
          <p:cNvSpPr txBox="1"/>
          <p:nvPr/>
        </p:nvSpPr>
        <p:spPr>
          <a:xfrm>
            <a:off x="548640" y="1664208"/>
            <a:ext cx="1828800" cy="274320"/>
          </a:xfrm>
          <a:prstGeom prst="rect">
            <a:avLst/>
          </a:prstGeom>
          <a:noFill/>
          <a:ln/>
        </p:spPr>
        <p:txBody>
          <a:bodyPr wrap="square" lIns="0" tIns="0" rIns="0" bIns="0" rtlCol="0" anchor="ctr"/>
          <a:lstStyle/>
          <a:p>
            <a:pPr indent="0" marL="0">
              <a:buNone/>
            </a:pPr>
            <a:r>
              <a:rPr lang="en-US" sz="1100" b="1" dirty="0">
                <a:solidFill>
                  <a:srgbClr val="8A92A3"/>
                </a:solidFill>
                <a:latin typeface="BIZ UDPGothic" pitchFamily="34" charset="0"/>
                <a:ea typeface="BIZ UDPGothic" pitchFamily="34" charset="-122"/>
                <a:cs typeface="BIZ UDPGothic" pitchFamily="34" charset="-120"/>
              </a:rPr>
              <a:t>誰が・どう配る</a:t>
            </a:r>
            <a:endParaRPr lang="en-US" sz="1100" dirty="0"/>
          </a:p>
        </p:txBody>
      </p:sp>
      <p:sp>
        <p:nvSpPr>
          <p:cNvPr id="8" name="Text 6"/>
          <p:cNvSpPr txBox="1"/>
          <p:nvPr/>
        </p:nvSpPr>
        <p:spPr>
          <a:xfrm>
            <a:off x="2697480" y="1664208"/>
            <a:ext cx="5029200" cy="274320"/>
          </a:xfrm>
          <a:prstGeom prst="rect">
            <a:avLst/>
          </a:prstGeom>
          <a:noFill/>
          <a:ln/>
        </p:spPr>
        <p:txBody>
          <a:bodyPr wrap="square" lIns="0" tIns="0" rIns="0" bIns="0" rtlCol="0" anchor="ctr"/>
          <a:lstStyle/>
          <a:p>
            <a:pPr indent="0" marL="0">
              <a:buNone/>
            </a:pPr>
            <a:r>
              <a:rPr lang="en-US" sz="1100" b="1" dirty="0">
                <a:solidFill>
                  <a:srgbClr val="8A92A3"/>
                </a:solidFill>
                <a:latin typeface="BIZ UDPGothic" pitchFamily="34" charset="0"/>
                <a:ea typeface="BIZ UDPGothic" pitchFamily="34" charset="-122"/>
                <a:cs typeface="BIZ UDPGothic" pitchFamily="34" charset="-120"/>
              </a:rPr>
              <a:t>端末上の置き場所（パス / キー）</a:t>
            </a:r>
            <a:endParaRPr lang="en-US" sz="1100" dirty="0"/>
          </a:p>
        </p:txBody>
      </p:sp>
      <p:sp>
        <p:nvSpPr>
          <p:cNvPr id="9" name="Text 7"/>
          <p:cNvSpPr txBox="1"/>
          <p:nvPr/>
        </p:nvSpPr>
        <p:spPr>
          <a:xfrm>
            <a:off x="8046720" y="1664208"/>
            <a:ext cx="3596335" cy="274320"/>
          </a:xfrm>
          <a:prstGeom prst="rect">
            <a:avLst/>
          </a:prstGeom>
          <a:noFill/>
          <a:ln/>
        </p:spPr>
        <p:txBody>
          <a:bodyPr wrap="square" lIns="0" tIns="0" rIns="0" bIns="0" rtlCol="0" anchor="ctr"/>
          <a:lstStyle/>
          <a:p>
            <a:pPr indent="0" marL="0">
              <a:buNone/>
            </a:pPr>
            <a:r>
              <a:rPr lang="en-US" sz="1100" b="1" dirty="0">
                <a:solidFill>
                  <a:srgbClr val="8A92A3"/>
                </a:solidFill>
                <a:latin typeface="BIZ UDPGothic" pitchFamily="34" charset="0"/>
                <a:ea typeface="BIZ UDPGothic" pitchFamily="34" charset="-122"/>
                <a:cs typeface="BIZ UDPGothic" pitchFamily="34" charset="-120"/>
              </a:rPr>
              <a:t>効き方・注意</a:t>
            </a:r>
            <a:endParaRPr lang="en-US" sz="1100" dirty="0"/>
          </a:p>
        </p:txBody>
      </p:sp>
      <p:sp>
        <p:nvSpPr>
          <p:cNvPr id="10" name="Shape 8"/>
          <p:cNvSpPr/>
          <p:nvPr/>
        </p:nvSpPr>
        <p:spPr>
          <a:xfrm>
            <a:off x="548640" y="1993392"/>
            <a:ext cx="1828800" cy="726948"/>
          </a:xfrm>
          <a:prstGeom prst="roundRect">
            <a:avLst>
              <a:gd name="adj" fmla="val 7547"/>
            </a:avLst>
          </a:prstGeom>
          <a:solidFill>
            <a:srgbClr val="F4F6F9"/>
          </a:solidFill>
          <a:ln/>
        </p:spPr>
      </p:sp>
      <p:sp>
        <p:nvSpPr>
          <p:cNvPr id="11" name="Text 9"/>
          <p:cNvSpPr txBox="1"/>
          <p:nvPr/>
        </p:nvSpPr>
        <p:spPr>
          <a:xfrm>
            <a:off x="685800" y="1993392"/>
            <a:ext cx="1600200" cy="726948"/>
          </a:xfrm>
          <a:prstGeom prst="rect">
            <a:avLst/>
          </a:prstGeom>
          <a:noFill/>
          <a:ln/>
        </p:spPr>
        <p:txBody>
          <a:bodyPr wrap="square" lIns="0" tIns="0" rIns="0" bIns="0" rtlCol="0" anchor="ctr"/>
          <a:lstStyle/>
          <a:p>
            <a:pPr indent="0" marL="0">
              <a:buNone/>
            </a:pPr>
            <a:r>
              <a:rPr lang="en-US" sz="1200" b="1" dirty="0">
                <a:solidFill>
                  <a:srgbClr val="1E2330"/>
                </a:solidFill>
                <a:latin typeface="BIZ UDPGothic" pitchFamily="34" charset="0"/>
                <a:ea typeface="BIZ UDPGothic" pitchFamily="34" charset="-122"/>
                <a:cs typeface="BIZ UDPGothic" pitchFamily="34" charset="-120"/>
              </a:rPr>
              <a:t>ChatGPT Enterprise</a:t>
            </a:r>
            <a:endParaRPr lang="en-US" sz="1200" dirty="0"/>
          </a:p>
          <a:p>
            <a:pPr indent="0" marL="0">
              <a:buNone/>
            </a:pPr>
            <a:r>
              <a:rPr lang="en-US" sz="1200" b="1" dirty="0">
                <a:solidFill>
                  <a:srgbClr val="1E2330"/>
                </a:solidFill>
                <a:latin typeface="BIZ UDPGothic" pitchFamily="34" charset="0"/>
                <a:ea typeface="BIZ UDPGothic" pitchFamily="34" charset="-122"/>
                <a:cs typeface="BIZ UDPGothic" pitchFamily="34" charset="-120"/>
              </a:rPr>
              <a:t>管理画面</a:t>
            </a:r>
            <a:endParaRPr lang="en-US" sz="1200" dirty="0"/>
          </a:p>
        </p:txBody>
      </p:sp>
      <p:sp>
        <p:nvSpPr>
          <p:cNvPr id="12" name="Shape 10"/>
          <p:cNvSpPr/>
          <p:nvPr/>
        </p:nvSpPr>
        <p:spPr>
          <a:xfrm>
            <a:off x="2377440" y="2356866"/>
            <a:ext cx="320040" cy="914"/>
          </a:xfrm>
          <a:prstGeom prst="line">
            <a:avLst/>
          </a:prstGeom>
          <a:noFill/>
          <a:ln w="19050">
            <a:solidFill>
              <a:srgbClr val="8A92A3"/>
            </a:solidFill>
            <a:prstDash val="solid"/>
            <a:tailEnd type="triangle"/>
          </a:ln>
        </p:spPr>
      </p:sp>
      <p:sp>
        <p:nvSpPr>
          <p:cNvPr id="13" name="Shape 11"/>
          <p:cNvSpPr/>
          <p:nvPr/>
        </p:nvSpPr>
        <p:spPr>
          <a:xfrm>
            <a:off x="2697480" y="1993392"/>
            <a:ext cx="5029200" cy="726948"/>
          </a:xfrm>
          <a:prstGeom prst="roundRect">
            <a:avLst>
              <a:gd name="adj" fmla="val 7547"/>
            </a:avLst>
          </a:prstGeom>
          <a:solidFill>
            <a:srgbClr val="FFFFFF"/>
          </a:solidFill>
          <a:ln w="12700">
            <a:solidFill>
              <a:srgbClr val="DDE1E8"/>
            </a:solidFill>
            <a:prstDash val="solid"/>
          </a:ln>
        </p:spPr>
      </p:sp>
      <p:sp>
        <p:nvSpPr>
          <p:cNvPr id="14" name="Text 12"/>
          <p:cNvSpPr txBox="1"/>
          <p:nvPr/>
        </p:nvSpPr>
        <p:spPr>
          <a:xfrm>
            <a:off x="2834640" y="1993392"/>
            <a:ext cx="4754880" cy="726948"/>
          </a:xfrm>
          <a:prstGeom prst="rect">
            <a:avLst/>
          </a:prstGeom>
          <a:noFill/>
          <a:ln/>
        </p:spPr>
        <p:txBody>
          <a:bodyPr wrap="square" lIns="0" tIns="0" rIns="0" bIns="0" rtlCol="0" anchor="ctr"/>
          <a:lstStyle/>
          <a:p>
            <a:pPr indent="0" marL="0">
              <a:lnSpc>
                <a:spcPct val="105000"/>
              </a:lnSpc>
              <a:spcAft>
                <a:spcPts val="200"/>
              </a:spcAft>
              <a:buNone/>
            </a:pPr>
            <a:r>
              <a:rPr lang="en-US" sz="1100" dirty="0">
                <a:solidFill>
                  <a:srgbClr val="1E2330"/>
                </a:solidFill>
                <a:latin typeface="BIZ UDPGothic" pitchFamily="34" charset="0"/>
                <a:ea typeface="BIZ UDPGothic" pitchFamily="34" charset="-122"/>
                <a:cs typeface="BIZ UDPGothic" pitchFamily="34" charset="-120"/>
              </a:rPr>
              <a:t>cloud-managed requirements（workspaceから配信）</a:t>
            </a:r>
            <a:endParaRPr lang="en-US" sz="1100" dirty="0"/>
          </a:p>
          <a:p>
            <a:pPr indent="0" marL="0">
              <a:lnSpc>
                <a:spcPct val="105000"/>
              </a:lnSpc>
              <a:spcAft>
                <a:spcPts val="200"/>
              </a:spcAft>
              <a:buNone/>
            </a:pPr>
            <a:r>
              <a:rPr lang="en-US" sz="1100" dirty="0">
                <a:solidFill>
                  <a:srgbClr val="1E2330"/>
                </a:solidFill>
                <a:latin typeface="BIZ UDPGothic" pitchFamily="34" charset="0"/>
                <a:ea typeface="BIZ UDPGothic" pitchFamily="34" charset="-122"/>
                <a:cs typeface="BIZ UDPGothic" pitchFamily="34" charset="-120"/>
              </a:rPr>
              <a:t>書式は requirements.toml と同じ</a:t>
            </a:r>
            <a:endParaRPr lang="en-US" sz="1100" dirty="0"/>
          </a:p>
        </p:txBody>
      </p:sp>
      <p:sp>
        <p:nvSpPr>
          <p:cNvPr id="15" name="Shape 13"/>
          <p:cNvSpPr/>
          <p:nvPr/>
        </p:nvSpPr>
        <p:spPr>
          <a:xfrm>
            <a:off x="7726680" y="2356866"/>
            <a:ext cx="320040" cy="914"/>
          </a:xfrm>
          <a:prstGeom prst="line">
            <a:avLst/>
          </a:prstGeom>
          <a:noFill/>
          <a:ln w="19050">
            <a:solidFill>
              <a:srgbClr val="8A92A3"/>
            </a:solidFill>
            <a:prstDash val="solid"/>
            <a:tailEnd type="triangle"/>
          </a:ln>
        </p:spPr>
      </p:sp>
      <p:pic>
        <p:nvPicPr>
          <p:cNvPr id="16" name="Image 0" descr="preencoded.png">    </p:cNvPr>
          <p:cNvPicPr>
            <a:picLocks noChangeAspect="1"/>
          </p:cNvPicPr>
          <p:nvPr/>
        </p:nvPicPr>
        <p:blipFill>
          <a:blip r:embed="rId1"/>
          <a:stretch>
            <a:fillRect/>
          </a:stretch>
        </p:blipFill>
        <p:spPr>
          <a:xfrm>
            <a:off x="8046720" y="2247138"/>
            <a:ext cx="219456" cy="219456"/>
          </a:xfrm>
          <a:prstGeom prst="rect">
            <a:avLst/>
          </a:prstGeom>
        </p:spPr>
      </p:pic>
      <p:sp>
        <p:nvSpPr>
          <p:cNvPr id="17" name="Text 14"/>
          <p:cNvSpPr txBox="1"/>
          <p:nvPr/>
        </p:nvSpPr>
        <p:spPr>
          <a:xfrm>
            <a:off x="8339328" y="1993392"/>
            <a:ext cx="3303727" cy="726948"/>
          </a:xfrm>
          <a:prstGeom prst="rect">
            <a:avLst/>
          </a:prstGeom>
          <a:noFill/>
          <a:ln/>
        </p:spPr>
        <p:txBody>
          <a:bodyPr wrap="square" lIns="0" tIns="0" rIns="0" bIns="0" rtlCol="0" anchor="ctr"/>
          <a:lstStyle/>
          <a:p>
            <a:pPr indent="0" marL="0">
              <a:lnSpc>
                <a:spcPct val="105000"/>
              </a:lnSpc>
              <a:buNone/>
            </a:pPr>
            <a:r>
              <a:rPr lang="en-US" sz="1100" dirty="0">
                <a:solidFill>
                  <a:srgbClr val="1E2330"/>
                </a:solidFill>
                <a:latin typeface="BIZ UDPGothic" pitchFamily="34" charset="0"/>
                <a:ea typeface="BIZ UDPGothic" pitchFamily="34" charset="-122"/>
                <a:cs typeface="BIZ UDPGothic" pitchFamily="34" charset="-120"/>
              </a:rPr>
              <a:t>取得できず有効なキャッシュもない場合、Codexは起動しない</a:t>
            </a:r>
            <a:endParaRPr lang="en-US" sz="1100" dirty="0"/>
          </a:p>
        </p:txBody>
      </p:sp>
      <p:sp>
        <p:nvSpPr>
          <p:cNvPr id="18" name="Shape 15"/>
          <p:cNvSpPr/>
          <p:nvPr/>
        </p:nvSpPr>
        <p:spPr>
          <a:xfrm>
            <a:off x="548640" y="2830068"/>
            <a:ext cx="1828800" cy="726948"/>
          </a:xfrm>
          <a:prstGeom prst="roundRect">
            <a:avLst>
              <a:gd name="adj" fmla="val 7547"/>
            </a:avLst>
          </a:prstGeom>
          <a:solidFill>
            <a:srgbClr val="3A55B4"/>
          </a:solidFill>
          <a:ln/>
        </p:spPr>
      </p:sp>
      <p:sp>
        <p:nvSpPr>
          <p:cNvPr id="19" name="Text 16"/>
          <p:cNvSpPr txBox="1"/>
          <p:nvPr/>
        </p:nvSpPr>
        <p:spPr>
          <a:xfrm>
            <a:off x="685800" y="2830068"/>
            <a:ext cx="1600200" cy="726948"/>
          </a:xfrm>
          <a:prstGeom prst="rect">
            <a:avLst/>
          </a:prstGeom>
          <a:noFill/>
          <a:ln/>
        </p:spPr>
        <p:txBody>
          <a:bodyPr wrap="square" lIns="0" tIns="0" rIns="0" bIns="0" rtlCol="0" anchor="ct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Intune / GPO</a:t>
            </a:r>
            <a:endParaRPr lang="en-US" sz="1200" dirty="0"/>
          </a:p>
          <a:p>
            <a:pPr indent="0" marL="0">
              <a:buNone/>
            </a:pPr>
            <a:r>
              <a:rPr lang="en-US" sz="1200" b="1" dirty="0">
                <a:solidFill>
                  <a:srgbClr val="FFFFFF"/>
                </a:solidFill>
                <a:latin typeface="BIZ UDPGothic" pitchFamily="34" charset="0"/>
                <a:ea typeface="BIZ UDPGothic" pitchFamily="34" charset="-122"/>
                <a:cs typeface="BIZ UDPGothic" pitchFamily="34" charset="-120"/>
              </a:rPr>
              <a:t>（ファイル配布）</a:t>
            </a:r>
            <a:endParaRPr lang="en-US" sz="1200" dirty="0"/>
          </a:p>
        </p:txBody>
      </p:sp>
      <p:sp>
        <p:nvSpPr>
          <p:cNvPr id="20" name="Shape 17"/>
          <p:cNvSpPr/>
          <p:nvPr/>
        </p:nvSpPr>
        <p:spPr>
          <a:xfrm>
            <a:off x="2377440" y="3193542"/>
            <a:ext cx="320040" cy="914"/>
          </a:xfrm>
          <a:prstGeom prst="line">
            <a:avLst/>
          </a:prstGeom>
          <a:noFill/>
          <a:ln w="19050">
            <a:solidFill>
              <a:srgbClr val="8A92A3"/>
            </a:solidFill>
            <a:prstDash val="solid"/>
            <a:tailEnd type="triangle"/>
          </a:ln>
        </p:spPr>
      </p:sp>
      <p:sp>
        <p:nvSpPr>
          <p:cNvPr id="21" name="Shape 18"/>
          <p:cNvSpPr/>
          <p:nvPr/>
        </p:nvSpPr>
        <p:spPr>
          <a:xfrm>
            <a:off x="2697480" y="2830068"/>
            <a:ext cx="5029200" cy="726948"/>
          </a:xfrm>
          <a:prstGeom prst="roundRect">
            <a:avLst>
              <a:gd name="adj" fmla="val 7547"/>
            </a:avLst>
          </a:prstGeom>
          <a:solidFill>
            <a:srgbClr val="ECF0FB"/>
          </a:solidFill>
          <a:ln w="19050">
            <a:solidFill>
              <a:srgbClr val="3A55B4"/>
            </a:solidFill>
            <a:prstDash val="solid"/>
          </a:ln>
        </p:spPr>
      </p:sp>
      <p:sp>
        <p:nvSpPr>
          <p:cNvPr id="22" name="Text 19"/>
          <p:cNvSpPr txBox="1"/>
          <p:nvPr/>
        </p:nvSpPr>
        <p:spPr>
          <a:xfrm>
            <a:off x="2834640" y="2830068"/>
            <a:ext cx="3977640" cy="726948"/>
          </a:xfrm>
          <a:prstGeom prst="rect">
            <a:avLst/>
          </a:prstGeom>
          <a:noFill/>
          <a:ln/>
        </p:spPr>
        <p:txBody>
          <a:bodyPr wrap="square" lIns="0" tIns="0" rIns="0" bIns="0" rtlCol="0" anchor="ctr"/>
          <a:lstStyle/>
          <a:p>
            <a:pPr indent="0" marL="0">
              <a:lnSpc>
                <a:spcPct val="105000"/>
              </a:lnSpc>
              <a:spcAft>
                <a:spcPts val="200"/>
              </a:spcAft>
              <a:buNone/>
            </a:pPr>
            <a:r>
              <a:rPr lang="en-US" sz="1100" dirty="0">
                <a:solidFill>
                  <a:srgbClr val="1E2330"/>
                </a:solidFill>
                <a:latin typeface="Consolas" pitchFamily="34" charset="0"/>
                <a:ea typeface="Consolas" pitchFamily="34" charset="-122"/>
                <a:cs typeface="Consolas" pitchFamily="34" charset="-120"/>
              </a:rPr>
              <a:t>%ProgramData%\OpenAI\Codex\requirements.toml</a:t>
            </a:r>
            <a:endParaRPr lang="en-US" sz="1100" dirty="0"/>
          </a:p>
        </p:txBody>
      </p:sp>
      <p:sp>
        <p:nvSpPr>
          <p:cNvPr id="23" name="Shape 20"/>
          <p:cNvSpPr/>
          <p:nvPr/>
        </p:nvSpPr>
        <p:spPr>
          <a:xfrm>
            <a:off x="6885432" y="3056382"/>
            <a:ext cx="731520" cy="274320"/>
          </a:xfrm>
          <a:prstGeom prst="roundRect">
            <a:avLst>
              <a:gd name="adj" fmla="val 50000"/>
            </a:avLst>
          </a:prstGeom>
          <a:solidFill>
            <a:srgbClr val="3A55B4"/>
          </a:solidFill>
          <a:ln/>
        </p:spPr>
      </p:sp>
      <p:sp>
        <p:nvSpPr>
          <p:cNvPr id="24" name="Text 21"/>
          <p:cNvSpPr txBox="1"/>
          <p:nvPr/>
        </p:nvSpPr>
        <p:spPr>
          <a:xfrm>
            <a:off x="6885432" y="3056382"/>
            <a:ext cx="7315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BIZ UDPGothic" pitchFamily="34" charset="0"/>
                <a:ea typeface="BIZ UDPGothic" pitchFamily="34" charset="-122"/>
                <a:cs typeface="BIZ UDPGothic" pitchFamily="34" charset="-120"/>
              </a:rPr>
              <a:t>推奨</a:t>
            </a:r>
            <a:endParaRPr lang="en-US" sz="950" dirty="0"/>
          </a:p>
        </p:txBody>
      </p:sp>
      <p:sp>
        <p:nvSpPr>
          <p:cNvPr id="25" name="Shape 22"/>
          <p:cNvSpPr/>
          <p:nvPr/>
        </p:nvSpPr>
        <p:spPr>
          <a:xfrm>
            <a:off x="7726680" y="3193542"/>
            <a:ext cx="320040" cy="914"/>
          </a:xfrm>
          <a:prstGeom prst="line">
            <a:avLst/>
          </a:prstGeom>
          <a:noFill/>
          <a:ln w="19050">
            <a:solidFill>
              <a:srgbClr val="8A92A3"/>
            </a:solidFill>
            <a:prstDash val="solid"/>
            <a:tailEnd type="triangle"/>
          </a:ln>
        </p:spPr>
      </p:sp>
      <p:pic>
        <p:nvPicPr>
          <p:cNvPr id="26" name="Image 1" descr="preencoded.png">    </p:cNvPr>
          <p:cNvPicPr>
            <a:picLocks noChangeAspect="1"/>
          </p:cNvPicPr>
          <p:nvPr/>
        </p:nvPicPr>
        <p:blipFill>
          <a:blip r:embed="rId2"/>
          <a:stretch>
            <a:fillRect/>
          </a:stretch>
        </p:blipFill>
        <p:spPr>
          <a:xfrm>
            <a:off x="8046720" y="3083814"/>
            <a:ext cx="219456" cy="219456"/>
          </a:xfrm>
          <a:prstGeom prst="rect">
            <a:avLst/>
          </a:prstGeom>
        </p:spPr>
      </p:pic>
      <p:sp>
        <p:nvSpPr>
          <p:cNvPr id="27" name="Text 23"/>
          <p:cNvSpPr txBox="1"/>
          <p:nvPr/>
        </p:nvSpPr>
        <p:spPr>
          <a:xfrm>
            <a:off x="8339328" y="2830068"/>
            <a:ext cx="3303727" cy="726948"/>
          </a:xfrm>
          <a:prstGeom prst="rect">
            <a:avLst/>
          </a:prstGeom>
          <a:noFill/>
          <a:ln/>
        </p:spPr>
        <p:txBody>
          <a:bodyPr wrap="square" lIns="0" tIns="0" rIns="0" bIns="0" rtlCol="0" anchor="ctr"/>
          <a:lstStyle/>
          <a:p>
            <a:pPr indent="0" marL="0">
              <a:lnSpc>
                <a:spcPct val="105000"/>
              </a:lnSpc>
              <a:buNone/>
            </a:pPr>
            <a:r>
              <a:rPr lang="en-US" sz="1100" dirty="0">
                <a:solidFill>
                  <a:srgbClr val="1E2330"/>
                </a:solidFill>
                <a:latin typeface="BIZ UDPGothic" pitchFamily="34" charset="0"/>
                <a:ea typeface="BIZ UDPGothic" pitchFamily="34" charset="-122"/>
                <a:cs typeface="BIZ UDPGothic" pitchFamily="34" charset="-120"/>
              </a:rPr>
              <a:t>強制。ユーザーは上書きできない（許可リスト外の値は選べない）</a:t>
            </a:r>
            <a:endParaRPr lang="en-US" sz="1100" dirty="0"/>
          </a:p>
        </p:txBody>
      </p:sp>
      <p:sp>
        <p:nvSpPr>
          <p:cNvPr id="28" name="Shape 24"/>
          <p:cNvSpPr/>
          <p:nvPr/>
        </p:nvSpPr>
        <p:spPr>
          <a:xfrm>
            <a:off x="548640" y="3666744"/>
            <a:ext cx="1828800" cy="726948"/>
          </a:xfrm>
          <a:prstGeom prst="roundRect">
            <a:avLst>
              <a:gd name="adj" fmla="val 7547"/>
            </a:avLst>
          </a:prstGeom>
          <a:solidFill>
            <a:srgbClr val="F4F6F9"/>
          </a:solidFill>
          <a:ln/>
        </p:spPr>
      </p:sp>
      <p:sp>
        <p:nvSpPr>
          <p:cNvPr id="29" name="Text 25"/>
          <p:cNvSpPr txBox="1"/>
          <p:nvPr/>
        </p:nvSpPr>
        <p:spPr>
          <a:xfrm>
            <a:off x="685800" y="3666744"/>
            <a:ext cx="1600200" cy="726948"/>
          </a:xfrm>
          <a:prstGeom prst="rect">
            <a:avLst/>
          </a:prstGeom>
          <a:noFill/>
          <a:ln/>
        </p:spPr>
        <p:txBody>
          <a:bodyPr wrap="square" lIns="0" tIns="0" rIns="0" bIns="0" rtlCol="0" anchor="ctr"/>
          <a:lstStyle/>
          <a:p>
            <a:pPr indent="0" marL="0">
              <a:buNone/>
            </a:pPr>
            <a:r>
              <a:rPr lang="en-US" sz="1200" b="1" dirty="0">
                <a:solidFill>
                  <a:srgbClr val="1E2330"/>
                </a:solidFill>
                <a:latin typeface="BIZ UDPGothic" pitchFamily="34" charset="0"/>
                <a:ea typeface="BIZ UDPGothic" pitchFamily="34" charset="-122"/>
                <a:cs typeface="BIZ UDPGothic" pitchFamily="34" charset="-120"/>
              </a:rPr>
              <a:t>管理者（任意）</a:t>
            </a:r>
            <a:endParaRPr lang="en-US" sz="1200" dirty="0"/>
          </a:p>
        </p:txBody>
      </p:sp>
      <p:sp>
        <p:nvSpPr>
          <p:cNvPr id="30" name="Shape 26"/>
          <p:cNvSpPr/>
          <p:nvPr/>
        </p:nvSpPr>
        <p:spPr>
          <a:xfrm>
            <a:off x="2377440" y="4030218"/>
            <a:ext cx="320040" cy="914"/>
          </a:xfrm>
          <a:prstGeom prst="line">
            <a:avLst/>
          </a:prstGeom>
          <a:noFill/>
          <a:ln w="19050">
            <a:solidFill>
              <a:srgbClr val="8A92A3"/>
            </a:solidFill>
            <a:prstDash val="solid"/>
            <a:tailEnd type="triangle"/>
          </a:ln>
        </p:spPr>
      </p:sp>
      <p:sp>
        <p:nvSpPr>
          <p:cNvPr id="31" name="Shape 27"/>
          <p:cNvSpPr/>
          <p:nvPr/>
        </p:nvSpPr>
        <p:spPr>
          <a:xfrm>
            <a:off x="2697480" y="3666744"/>
            <a:ext cx="5029200" cy="726948"/>
          </a:xfrm>
          <a:prstGeom prst="roundRect">
            <a:avLst>
              <a:gd name="adj" fmla="val 7547"/>
            </a:avLst>
          </a:prstGeom>
          <a:solidFill>
            <a:srgbClr val="FFFFFF"/>
          </a:solidFill>
          <a:ln w="12700">
            <a:solidFill>
              <a:srgbClr val="DDE1E8"/>
            </a:solidFill>
            <a:prstDash val="solid"/>
          </a:ln>
        </p:spPr>
      </p:sp>
      <p:sp>
        <p:nvSpPr>
          <p:cNvPr id="32" name="Text 28"/>
          <p:cNvSpPr txBox="1"/>
          <p:nvPr/>
        </p:nvSpPr>
        <p:spPr>
          <a:xfrm>
            <a:off x="2834640" y="3666744"/>
            <a:ext cx="3977640" cy="726948"/>
          </a:xfrm>
          <a:prstGeom prst="rect">
            <a:avLst/>
          </a:prstGeom>
          <a:noFill/>
          <a:ln/>
        </p:spPr>
        <p:txBody>
          <a:bodyPr wrap="square" lIns="0" tIns="0" rIns="0" bIns="0" rtlCol="0" anchor="ctr"/>
          <a:lstStyle/>
          <a:p>
            <a:pPr indent="0" marL="0">
              <a:lnSpc>
                <a:spcPct val="105000"/>
              </a:lnSpc>
              <a:spcAft>
                <a:spcPts val="200"/>
              </a:spcAft>
              <a:buNone/>
            </a:pPr>
            <a:r>
              <a:rPr lang="en-US" sz="1100" dirty="0">
                <a:solidFill>
                  <a:srgbClr val="1E2330"/>
                </a:solidFill>
                <a:latin typeface="Consolas" pitchFamily="34" charset="0"/>
                <a:ea typeface="Consolas" pitchFamily="34" charset="-122"/>
                <a:cs typeface="Consolas" pitchFamily="34" charset="-120"/>
              </a:rPr>
              <a:t>~/.codex/managed_config.toml</a:t>
            </a:r>
            <a:pPr indent="0" marL="0">
              <a:lnSpc>
                <a:spcPct val="105000"/>
              </a:lnSpc>
              <a:spcAft>
                <a:spcPts val="200"/>
              </a:spcAft>
              <a:buNone/>
            </a:pPr>
            <a:r>
              <a:rPr lang="en-US" sz="1100" dirty="0">
                <a:solidFill>
                  <a:srgbClr val="1E2330"/>
                </a:solidFill>
                <a:latin typeface="BIZ UDPGothic" pitchFamily="34" charset="0"/>
                <a:ea typeface="BIZ UDPGothic" pitchFamily="34" charset="-122"/>
                <a:cs typeface="BIZ UDPGothic" pitchFamily="34" charset="-120"/>
              </a:rPr>
              <a:t>（Windowsではユーザー配下）</a:t>
            </a:r>
            <a:endParaRPr lang="en-US" sz="1100" dirty="0"/>
          </a:p>
        </p:txBody>
      </p:sp>
      <p:sp>
        <p:nvSpPr>
          <p:cNvPr id="33" name="Shape 29"/>
          <p:cNvSpPr/>
          <p:nvPr/>
        </p:nvSpPr>
        <p:spPr>
          <a:xfrm>
            <a:off x="6885432" y="3893058"/>
            <a:ext cx="731520" cy="274320"/>
          </a:xfrm>
          <a:prstGeom prst="roundRect">
            <a:avLst>
              <a:gd name="adj" fmla="val 50000"/>
            </a:avLst>
          </a:prstGeom>
          <a:solidFill>
            <a:srgbClr val="FBF4E4"/>
          </a:solidFill>
          <a:ln/>
        </p:spPr>
      </p:sp>
      <p:sp>
        <p:nvSpPr>
          <p:cNvPr id="34" name="Text 30"/>
          <p:cNvSpPr txBox="1"/>
          <p:nvPr/>
        </p:nvSpPr>
        <p:spPr>
          <a:xfrm>
            <a:off x="6885432" y="3893058"/>
            <a:ext cx="731520" cy="274320"/>
          </a:xfrm>
          <a:prstGeom prst="rect">
            <a:avLst/>
          </a:prstGeom>
          <a:noFill/>
          <a:ln/>
        </p:spPr>
        <p:txBody>
          <a:bodyPr wrap="square" lIns="0" tIns="0" rIns="0" bIns="0" rtlCol="0" anchor="ctr"/>
          <a:lstStyle/>
          <a:p>
            <a:pPr algn="ctr" indent="0" marL="0">
              <a:buNone/>
            </a:pPr>
            <a:r>
              <a:rPr lang="en-US" sz="950" b="1" dirty="0">
                <a:solidFill>
                  <a:srgbClr val="9A6A12"/>
                </a:solidFill>
                <a:latin typeface="BIZ UDPGothic" pitchFamily="34" charset="0"/>
                <a:ea typeface="BIZ UDPGothic" pitchFamily="34" charset="-122"/>
                <a:cs typeface="BIZ UDPGothic" pitchFamily="34" charset="-120"/>
              </a:rPr>
              <a:t>注意</a:t>
            </a:r>
            <a:endParaRPr lang="en-US" sz="950" dirty="0"/>
          </a:p>
        </p:txBody>
      </p:sp>
      <p:sp>
        <p:nvSpPr>
          <p:cNvPr id="35" name="Shape 31"/>
          <p:cNvSpPr/>
          <p:nvPr/>
        </p:nvSpPr>
        <p:spPr>
          <a:xfrm>
            <a:off x="7726680" y="4030218"/>
            <a:ext cx="320040" cy="914"/>
          </a:xfrm>
          <a:prstGeom prst="line">
            <a:avLst/>
          </a:prstGeom>
          <a:noFill/>
          <a:ln w="19050">
            <a:solidFill>
              <a:srgbClr val="8A92A3"/>
            </a:solidFill>
            <a:prstDash val="solid"/>
            <a:tailEnd type="triangle"/>
          </a:ln>
        </p:spPr>
      </p:sp>
      <p:pic>
        <p:nvPicPr>
          <p:cNvPr id="36" name="Image 2" descr="preencoded.png">    </p:cNvPr>
          <p:cNvPicPr>
            <a:picLocks noChangeAspect="1"/>
          </p:cNvPicPr>
          <p:nvPr/>
        </p:nvPicPr>
        <p:blipFill>
          <a:blip r:embed="rId3"/>
          <a:stretch>
            <a:fillRect/>
          </a:stretch>
        </p:blipFill>
        <p:spPr>
          <a:xfrm>
            <a:off x="8046720" y="3920490"/>
            <a:ext cx="219456" cy="219456"/>
          </a:xfrm>
          <a:prstGeom prst="rect">
            <a:avLst/>
          </a:prstGeom>
        </p:spPr>
      </p:pic>
      <p:sp>
        <p:nvSpPr>
          <p:cNvPr id="37" name="Text 32"/>
          <p:cNvSpPr txBox="1"/>
          <p:nvPr/>
        </p:nvSpPr>
        <p:spPr>
          <a:xfrm>
            <a:off x="8339328" y="3666744"/>
            <a:ext cx="3303727" cy="726948"/>
          </a:xfrm>
          <a:prstGeom prst="rect">
            <a:avLst/>
          </a:prstGeom>
          <a:noFill/>
          <a:ln/>
        </p:spPr>
        <p:txBody>
          <a:bodyPr wrap="square" lIns="0" tIns="0" rIns="0" bIns="0" rtlCol="0" anchor="ctr"/>
          <a:lstStyle/>
          <a:p>
            <a:pPr indent="0" marL="0">
              <a:lnSpc>
                <a:spcPct val="105000"/>
              </a:lnSpc>
              <a:buNone/>
            </a:pPr>
            <a:r>
              <a:rPr lang="en-US" sz="1100" dirty="0">
                <a:solidFill>
                  <a:srgbClr val="1E2330"/>
                </a:solidFill>
                <a:latin typeface="BIZ UDPGothic" pitchFamily="34" charset="0"/>
                <a:ea typeface="BIZ UDPGothic" pitchFamily="34" charset="-122"/>
                <a:cs typeface="BIZ UDPGothic" pitchFamily="34" charset="-120"/>
              </a:rPr>
              <a:t>起動時の既定値のみ。セッション中に変更できるため統制には使わない</a:t>
            </a:r>
            <a:endParaRPr lang="en-US" sz="1100" dirty="0"/>
          </a:p>
        </p:txBody>
      </p:sp>
      <p:sp>
        <p:nvSpPr>
          <p:cNvPr id="38" name="Shape 33"/>
          <p:cNvSpPr/>
          <p:nvPr/>
        </p:nvSpPr>
        <p:spPr>
          <a:xfrm>
            <a:off x="548640" y="4503420"/>
            <a:ext cx="1828800" cy="726948"/>
          </a:xfrm>
          <a:prstGeom prst="roundRect">
            <a:avLst>
              <a:gd name="adj" fmla="val 7547"/>
            </a:avLst>
          </a:prstGeom>
          <a:solidFill>
            <a:srgbClr val="F4F6F9"/>
          </a:solidFill>
          <a:ln/>
        </p:spPr>
      </p:sp>
      <p:sp>
        <p:nvSpPr>
          <p:cNvPr id="39" name="Text 34"/>
          <p:cNvSpPr txBox="1"/>
          <p:nvPr/>
        </p:nvSpPr>
        <p:spPr>
          <a:xfrm>
            <a:off x="685800" y="4503420"/>
            <a:ext cx="1600200" cy="726948"/>
          </a:xfrm>
          <a:prstGeom prst="rect">
            <a:avLst/>
          </a:prstGeom>
          <a:noFill/>
          <a:ln/>
        </p:spPr>
        <p:txBody>
          <a:bodyPr wrap="square" lIns="0" tIns="0" rIns="0" bIns="0" rtlCol="0" anchor="ctr"/>
          <a:lstStyle/>
          <a:p>
            <a:pPr indent="0" marL="0">
              <a:buNone/>
            </a:pPr>
            <a:r>
              <a:rPr lang="en-US" sz="1200" b="1" dirty="0">
                <a:solidFill>
                  <a:srgbClr val="1E2330"/>
                </a:solidFill>
                <a:latin typeface="BIZ UDPGothic" pitchFamily="34" charset="0"/>
                <a:ea typeface="BIZ UDPGothic" pitchFamily="34" charset="-122"/>
                <a:cs typeface="BIZ UDPGothic" pitchFamily="34" charset="-120"/>
              </a:rPr>
              <a:t>開発者</a:t>
            </a:r>
            <a:endParaRPr lang="en-US" sz="1200" dirty="0"/>
          </a:p>
        </p:txBody>
      </p:sp>
      <p:sp>
        <p:nvSpPr>
          <p:cNvPr id="40" name="Shape 35"/>
          <p:cNvSpPr/>
          <p:nvPr/>
        </p:nvSpPr>
        <p:spPr>
          <a:xfrm>
            <a:off x="2377440" y="4866894"/>
            <a:ext cx="320040" cy="914"/>
          </a:xfrm>
          <a:prstGeom prst="line">
            <a:avLst/>
          </a:prstGeom>
          <a:noFill/>
          <a:ln w="19050">
            <a:solidFill>
              <a:srgbClr val="8A92A3"/>
            </a:solidFill>
            <a:prstDash val="solid"/>
            <a:tailEnd type="triangle"/>
          </a:ln>
        </p:spPr>
      </p:sp>
      <p:sp>
        <p:nvSpPr>
          <p:cNvPr id="41" name="Shape 36"/>
          <p:cNvSpPr/>
          <p:nvPr/>
        </p:nvSpPr>
        <p:spPr>
          <a:xfrm>
            <a:off x="2697480" y="4503420"/>
            <a:ext cx="5029200" cy="726948"/>
          </a:xfrm>
          <a:prstGeom prst="roundRect">
            <a:avLst>
              <a:gd name="adj" fmla="val 7547"/>
            </a:avLst>
          </a:prstGeom>
          <a:solidFill>
            <a:srgbClr val="FFFFFF"/>
          </a:solidFill>
          <a:ln w="12700">
            <a:solidFill>
              <a:srgbClr val="DDE1E8"/>
            </a:solidFill>
            <a:prstDash val="solid"/>
          </a:ln>
        </p:spPr>
      </p:sp>
      <p:sp>
        <p:nvSpPr>
          <p:cNvPr id="42" name="Text 37"/>
          <p:cNvSpPr txBox="1"/>
          <p:nvPr/>
        </p:nvSpPr>
        <p:spPr>
          <a:xfrm>
            <a:off x="2834640" y="4503420"/>
            <a:ext cx="4754880" cy="726948"/>
          </a:xfrm>
          <a:prstGeom prst="rect">
            <a:avLst/>
          </a:prstGeom>
          <a:noFill/>
          <a:ln/>
        </p:spPr>
        <p:txBody>
          <a:bodyPr wrap="square" lIns="0" tIns="0" rIns="0" bIns="0" rtlCol="0" anchor="ctr"/>
          <a:lstStyle/>
          <a:p>
            <a:pPr indent="0" marL="0">
              <a:lnSpc>
                <a:spcPct val="105000"/>
              </a:lnSpc>
              <a:spcAft>
                <a:spcPts val="200"/>
              </a:spcAft>
              <a:buNone/>
            </a:pPr>
            <a:r>
              <a:rPr lang="en-US" sz="1100" dirty="0">
                <a:solidFill>
                  <a:srgbClr val="1E2330"/>
                </a:solidFill>
                <a:latin typeface="Consolas" pitchFamily="34" charset="0"/>
                <a:ea typeface="Consolas" pitchFamily="34" charset="-122"/>
                <a:cs typeface="Consolas" pitchFamily="34" charset="-120"/>
              </a:rPr>
              <a:t>~/.codex/config.toml</a:t>
            </a:r>
            <a:pPr indent="0" marL="0">
              <a:lnSpc>
                <a:spcPct val="105000"/>
              </a:lnSpc>
              <a:spcAft>
                <a:spcPts val="200"/>
              </a:spcAft>
              <a:buNone/>
            </a:pPr>
            <a:r>
              <a:rPr lang="en-US" sz="1100" dirty="0">
                <a:solidFill>
                  <a:srgbClr val="1E2330"/>
                </a:solidFill>
                <a:latin typeface="BIZ UDPGothic" pitchFamily="34" charset="0"/>
                <a:ea typeface="BIZ UDPGothic" pitchFamily="34" charset="-122"/>
                <a:cs typeface="BIZ UDPGothic" pitchFamily="34" charset="-120"/>
              </a:rPr>
              <a:t>（例：</a:t>
            </a:r>
            <a:pPr indent="0" marL="0">
              <a:lnSpc>
                <a:spcPct val="105000"/>
              </a:lnSpc>
              <a:spcAft>
                <a:spcPts val="200"/>
              </a:spcAft>
              <a:buNone/>
            </a:pPr>
            <a:r>
              <a:rPr lang="en-US" sz="1100" dirty="0">
                <a:solidFill>
                  <a:srgbClr val="1E2330"/>
                </a:solidFill>
                <a:latin typeface="Consolas" pitchFamily="34" charset="0"/>
                <a:ea typeface="Consolas" pitchFamily="34" charset="-122"/>
                <a:cs typeface="Consolas" pitchFamily="34" charset="-120"/>
              </a:rPr>
              <a:t>[windows] sandbox = "elevated"</a:t>
            </a:r>
            <a:pPr indent="0" marL="0">
              <a:lnSpc>
                <a:spcPct val="105000"/>
              </a:lnSpc>
              <a:spcAft>
                <a:spcPts val="200"/>
              </a:spcAft>
              <a:buNone/>
            </a:pPr>
            <a:r>
              <a:rPr lang="en-US" sz="1100" dirty="0">
                <a:solidFill>
                  <a:srgbClr val="1E2330"/>
                </a:solidFill>
                <a:latin typeface="BIZ UDPGothic" pitchFamily="34" charset="0"/>
                <a:ea typeface="BIZ UDPGothic" pitchFamily="34" charset="-122"/>
                <a:cs typeface="BIZ UDPGothic" pitchFamily="34" charset="-120"/>
              </a:rPr>
              <a:t>）</a:t>
            </a:r>
            <a:endParaRPr lang="en-US" sz="1100" dirty="0"/>
          </a:p>
        </p:txBody>
      </p:sp>
      <p:sp>
        <p:nvSpPr>
          <p:cNvPr id="43" name="Shape 38"/>
          <p:cNvSpPr/>
          <p:nvPr/>
        </p:nvSpPr>
        <p:spPr>
          <a:xfrm>
            <a:off x="7726680" y="4866894"/>
            <a:ext cx="320040" cy="914"/>
          </a:xfrm>
          <a:prstGeom prst="line">
            <a:avLst/>
          </a:prstGeom>
          <a:noFill/>
          <a:ln w="19050">
            <a:solidFill>
              <a:srgbClr val="8A92A3"/>
            </a:solidFill>
            <a:prstDash val="solid"/>
            <a:tailEnd type="triangle"/>
          </a:ln>
        </p:spPr>
      </p:sp>
      <p:pic>
        <p:nvPicPr>
          <p:cNvPr id="44" name="Image 3" descr="preencoded.png">    </p:cNvPr>
          <p:cNvPicPr>
            <a:picLocks noChangeAspect="1"/>
          </p:cNvPicPr>
          <p:nvPr/>
        </p:nvPicPr>
        <p:blipFill>
          <a:blip r:embed="rId4"/>
          <a:stretch>
            <a:fillRect/>
          </a:stretch>
        </p:blipFill>
        <p:spPr>
          <a:xfrm>
            <a:off x="8046720" y="4757166"/>
            <a:ext cx="219456" cy="219456"/>
          </a:xfrm>
          <a:prstGeom prst="rect">
            <a:avLst/>
          </a:prstGeom>
        </p:spPr>
      </p:pic>
      <p:sp>
        <p:nvSpPr>
          <p:cNvPr id="45" name="Text 39"/>
          <p:cNvSpPr txBox="1"/>
          <p:nvPr/>
        </p:nvSpPr>
        <p:spPr>
          <a:xfrm>
            <a:off x="8339328" y="4503420"/>
            <a:ext cx="3303727" cy="726948"/>
          </a:xfrm>
          <a:prstGeom prst="rect">
            <a:avLst/>
          </a:prstGeom>
          <a:noFill/>
          <a:ln/>
        </p:spPr>
        <p:txBody>
          <a:bodyPr wrap="square" lIns="0" tIns="0" rIns="0" bIns="0" rtlCol="0" anchor="ctr"/>
          <a:lstStyle/>
          <a:p>
            <a:pPr indent="0" marL="0">
              <a:lnSpc>
                <a:spcPct val="105000"/>
              </a:lnSpc>
              <a:buNone/>
            </a:pPr>
            <a:r>
              <a:rPr lang="en-US" sz="1100" dirty="0">
                <a:solidFill>
                  <a:srgbClr val="1E2330"/>
                </a:solidFill>
                <a:latin typeface="BIZ UDPGothic" pitchFamily="34" charset="0"/>
                <a:ea typeface="BIZ UDPGothic" pitchFamily="34" charset="-122"/>
                <a:cs typeface="BIZ UDPGothic" pitchFamily="34" charset="-120"/>
              </a:rPr>
              <a:t>個人設定。requirementsで許された範囲内でのみ有効</a:t>
            </a:r>
            <a:endParaRPr lang="en-US" sz="1100" dirty="0"/>
          </a:p>
        </p:txBody>
      </p:sp>
      <p:sp>
        <p:nvSpPr>
          <p:cNvPr id="46" name="Text 40"/>
          <p:cNvSpPr txBox="1"/>
          <p:nvPr/>
        </p:nvSpPr>
        <p:spPr>
          <a:xfrm>
            <a:off x="548640" y="5394960"/>
            <a:ext cx="1463040" cy="384048"/>
          </a:xfrm>
          <a:prstGeom prst="rect">
            <a:avLst/>
          </a:prstGeom>
          <a:noFill/>
          <a:ln/>
        </p:spPr>
        <p:txBody>
          <a:bodyPr wrap="square" lIns="0" tIns="0" rIns="0" bIns="0" rtlCol="0" anchor="ctr"/>
          <a:lstStyle/>
          <a:p>
            <a:pPr indent="0" marL="0">
              <a:buNone/>
            </a:pPr>
            <a:r>
              <a:rPr lang="en-US" sz="1100" b="1" dirty="0">
                <a:solidFill>
                  <a:srgbClr val="5A6272"/>
                </a:solidFill>
                <a:latin typeface="BIZ UDPGothic" pitchFamily="34" charset="0"/>
                <a:ea typeface="BIZ UDPGothic" pitchFamily="34" charset="-122"/>
                <a:cs typeface="BIZ UDPGothic" pitchFamily="34" charset="-120"/>
              </a:rPr>
              <a:t>強制の優先順位</a:t>
            </a:r>
            <a:endParaRPr lang="en-US" sz="1100" dirty="0"/>
          </a:p>
        </p:txBody>
      </p:sp>
      <p:sp>
        <p:nvSpPr>
          <p:cNvPr id="47" name="Shape 41"/>
          <p:cNvSpPr/>
          <p:nvPr/>
        </p:nvSpPr>
        <p:spPr>
          <a:xfrm>
            <a:off x="2011680" y="5394960"/>
            <a:ext cx="3076346" cy="384048"/>
          </a:xfrm>
          <a:prstGeom prst="roundRect">
            <a:avLst>
              <a:gd name="adj" fmla="val 14286"/>
            </a:avLst>
          </a:prstGeom>
          <a:solidFill>
            <a:srgbClr val="1B1F2A"/>
          </a:solidFill>
          <a:ln/>
        </p:spPr>
      </p:sp>
      <p:sp>
        <p:nvSpPr>
          <p:cNvPr id="48" name="Text 42"/>
          <p:cNvSpPr txBox="1"/>
          <p:nvPr/>
        </p:nvSpPr>
        <p:spPr>
          <a:xfrm>
            <a:off x="2057400" y="5394960"/>
            <a:ext cx="2984906"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Gothic" pitchFamily="34" charset="0"/>
                <a:ea typeface="BIZ UDPGothic" pitchFamily="34" charset="-122"/>
                <a:cs typeface="BIZ UDPGothic" pitchFamily="34" charset="-120"/>
              </a:rPr>
              <a:t>cloud-managed requirements</a:t>
            </a:r>
            <a:endParaRPr lang="en-US" sz="1000" dirty="0"/>
          </a:p>
        </p:txBody>
      </p:sp>
      <p:sp>
        <p:nvSpPr>
          <p:cNvPr id="49" name="Text 43"/>
          <p:cNvSpPr txBox="1"/>
          <p:nvPr/>
        </p:nvSpPr>
        <p:spPr>
          <a:xfrm>
            <a:off x="5088026" y="5394960"/>
            <a:ext cx="201168" cy="384048"/>
          </a:xfrm>
          <a:prstGeom prst="rect">
            <a:avLst/>
          </a:prstGeom>
          <a:noFill/>
          <a:ln/>
        </p:spPr>
        <p:txBody>
          <a:bodyPr wrap="square" lIns="0" tIns="0" rIns="0" bIns="0" rtlCol="0" anchor="ctr"/>
          <a:lstStyle/>
          <a:p>
            <a:pPr algn="ctr" indent="0" marL="0">
              <a:buNone/>
            </a:pPr>
            <a:r>
              <a:rPr lang="en-US" sz="1200" b="1" dirty="0">
                <a:solidFill>
                  <a:srgbClr val="8A92A3"/>
                </a:solidFill>
                <a:latin typeface="BIZ UDPGothic" pitchFamily="34" charset="0"/>
                <a:ea typeface="BIZ UDPGothic" pitchFamily="34" charset="-122"/>
                <a:cs typeface="BIZ UDPGothic" pitchFamily="34" charset="-120"/>
              </a:rPr>
              <a:t>＞</a:t>
            </a:r>
            <a:endParaRPr lang="en-US" sz="1200" dirty="0"/>
          </a:p>
        </p:txBody>
      </p:sp>
      <p:sp>
        <p:nvSpPr>
          <p:cNvPr id="50" name="Shape 44"/>
          <p:cNvSpPr/>
          <p:nvPr/>
        </p:nvSpPr>
        <p:spPr>
          <a:xfrm>
            <a:off x="5289194" y="5394960"/>
            <a:ext cx="3076346" cy="384048"/>
          </a:xfrm>
          <a:prstGeom prst="roundRect">
            <a:avLst>
              <a:gd name="adj" fmla="val 14286"/>
            </a:avLst>
          </a:prstGeom>
          <a:solidFill>
            <a:srgbClr val="F4F6F9"/>
          </a:solidFill>
          <a:ln/>
        </p:spPr>
      </p:sp>
      <p:sp>
        <p:nvSpPr>
          <p:cNvPr id="51" name="Text 45"/>
          <p:cNvSpPr txBox="1"/>
          <p:nvPr/>
        </p:nvSpPr>
        <p:spPr>
          <a:xfrm>
            <a:off x="5334914" y="5394960"/>
            <a:ext cx="2984906" cy="384048"/>
          </a:xfrm>
          <a:prstGeom prst="rect">
            <a:avLst/>
          </a:prstGeom>
          <a:noFill/>
          <a:ln/>
        </p:spPr>
        <p:txBody>
          <a:bodyPr wrap="square" lIns="0" tIns="0" rIns="0" bIns="0" rtlCol="0" anchor="ctr"/>
          <a:lstStyle/>
          <a:p>
            <a:pPr algn="ctr" indent="0" marL="0">
              <a:buNone/>
            </a:pPr>
            <a:r>
              <a:rPr lang="en-US" sz="1000" dirty="0">
                <a:solidFill>
                  <a:srgbClr val="1E2330"/>
                </a:solidFill>
                <a:latin typeface="Consolas" pitchFamily="34" charset="0"/>
                <a:ea typeface="Consolas" pitchFamily="34" charset="-122"/>
                <a:cs typeface="Consolas" pitchFamily="34" charset="-120"/>
              </a:rPr>
              <a:t>requirements.toml</a:t>
            </a:r>
            <a:endParaRPr lang="en-US" sz="1000" dirty="0"/>
          </a:p>
        </p:txBody>
      </p:sp>
      <p:sp>
        <p:nvSpPr>
          <p:cNvPr id="52" name="Text 46"/>
          <p:cNvSpPr txBox="1"/>
          <p:nvPr/>
        </p:nvSpPr>
        <p:spPr>
          <a:xfrm>
            <a:off x="8365541" y="5394960"/>
            <a:ext cx="201168" cy="384048"/>
          </a:xfrm>
          <a:prstGeom prst="rect">
            <a:avLst/>
          </a:prstGeom>
          <a:noFill/>
          <a:ln/>
        </p:spPr>
        <p:txBody>
          <a:bodyPr wrap="square" lIns="0" tIns="0" rIns="0" bIns="0" rtlCol="0" anchor="ctr"/>
          <a:lstStyle/>
          <a:p>
            <a:pPr algn="ctr" indent="0" marL="0">
              <a:buNone/>
            </a:pPr>
            <a:r>
              <a:rPr lang="en-US" sz="1200" b="1" dirty="0">
                <a:solidFill>
                  <a:srgbClr val="8A92A3"/>
                </a:solidFill>
                <a:latin typeface="BIZ UDPGothic" pitchFamily="34" charset="0"/>
                <a:ea typeface="BIZ UDPGothic" pitchFamily="34" charset="-122"/>
                <a:cs typeface="BIZ UDPGothic" pitchFamily="34" charset="-120"/>
              </a:rPr>
              <a:t>＞</a:t>
            </a:r>
            <a:endParaRPr lang="en-US" sz="1200" dirty="0"/>
          </a:p>
        </p:txBody>
      </p:sp>
      <p:sp>
        <p:nvSpPr>
          <p:cNvPr id="53" name="Shape 47"/>
          <p:cNvSpPr/>
          <p:nvPr/>
        </p:nvSpPr>
        <p:spPr>
          <a:xfrm>
            <a:off x="8566709" y="5394960"/>
            <a:ext cx="3076346" cy="384048"/>
          </a:xfrm>
          <a:prstGeom prst="roundRect">
            <a:avLst>
              <a:gd name="adj" fmla="val 14286"/>
            </a:avLst>
          </a:prstGeom>
          <a:solidFill>
            <a:srgbClr val="F4F6F9"/>
          </a:solidFill>
          <a:ln/>
        </p:spPr>
      </p:sp>
      <p:sp>
        <p:nvSpPr>
          <p:cNvPr id="54" name="Text 48"/>
          <p:cNvSpPr txBox="1"/>
          <p:nvPr/>
        </p:nvSpPr>
        <p:spPr>
          <a:xfrm>
            <a:off x="8612429" y="5394960"/>
            <a:ext cx="2984906" cy="384048"/>
          </a:xfrm>
          <a:prstGeom prst="rect">
            <a:avLst/>
          </a:prstGeom>
          <a:noFill/>
          <a:ln/>
        </p:spPr>
        <p:txBody>
          <a:bodyPr wrap="square" lIns="0" tIns="0" rIns="0" bIns="0" rtlCol="0" anchor="ctr"/>
          <a:lstStyle/>
          <a:p>
            <a:pPr algn="ctr" indent="0" marL="0">
              <a:buNone/>
            </a:pPr>
            <a:r>
              <a:rPr lang="en-US" sz="1000" dirty="0">
                <a:solidFill>
                  <a:srgbClr val="1E2330"/>
                </a:solidFill>
                <a:latin typeface="BIZ UDPGothic" pitchFamily="34" charset="0"/>
                <a:ea typeface="BIZ UDPGothic" pitchFamily="34" charset="-122"/>
                <a:cs typeface="BIZ UDPGothic" pitchFamily="34" charset="-120"/>
              </a:rPr>
              <a:t>旧 </a:t>
            </a:r>
            <a:pPr algn="ctr" indent="0" marL="0">
              <a:buNone/>
            </a:pPr>
            <a:r>
              <a:rPr lang="en-US" sz="1000" dirty="0">
                <a:solidFill>
                  <a:srgbClr val="1E2330"/>
                </a:solidFill>
                <a:latin typeface="Consolas" pitchFamily="34" charset="0"/>
                <a:ea typeface="Consolas" pitchFamily="34" charset="-122"/>
                <a:cs typeface="Consolas" pitchFamily="34" charset="-120"/>
              </a:rPr>
              <a:t>managed_config.toml</a:t>
            </a:r>
            <a:pPr algn="ctr" indent="0" marL="0">
              <a:buNone/>
            </a:pPr>
            <a:r>
              <a:rPr lang="en-US" sz="1000" dirty="0">
                <a:solidFill>
                  <a:srgbClr val="1E2330"/>
                </a:solidFill>
                <a:latin typeface="BIZ UDPGothic" pitchFamily="34" charset="0"/>
                <a:ea typeface="BIZ UDPGothic" pitchFamily="34" charset="-122"/>
                <a:cs typeface="BIZ UDPGothic" pitchFamily="34" charset="-120"/>
              </a:rPr>
              <a:t> の制約項目</a:t>
            </a:r>
            <a:endParaRPr lang="en-US" sz="1000" dirty="0"/>
          </a:p>
        </p:txBody>
      </p:sp>
      <p:sp>
        <p:nvSpPr>
          <p:cNvPr id="55" name="Text 49"/>
          <p:cNvSpPr txBox="1"/>
          <p:nvPr/>
        </p:nvSpPr>
        <p:spPr>
          <a:xfrm>
            <a:off x="548640" y="5897880"/>
            <a:ext cx="11094415" cy="320040"/>
          </a:xfrm>
          <a:prstGeom prst="rect">
            <a:avLst/>
          </a:prstGeom>
          <a:noFill/>
          <a:ln/>
        </p:spPr>
        <p:txBody>
          <a:bodyPr wrap="square" lIns="0" tIns="0" rIns="0" bIns="0" rtlCol="0" anchor="ctr"/>
          <a:lstStyle/>
          <a:p>
            <a:pPr indent="0" marL="0">
              <a:buNone/>
            </a:pPr>
            <a:r>
              <a:rPr lang="en-US" sz="1050" dirty="0">
                <a:solidFill>
                  <a:srgbClr val="5A6272"/>
                </a:solidFill>
                <a:latin typeface="BIZ UDPGothic" pitchFamily="34" charset="0"/>
                <a:ea typeface="BIZ UDPGothic" pitchFamily="34" charset="-122"/>
                <a:cs typeface="BIZ UDPGothic" pitchFamily="34" charset="-120"/>
              </a:rPr>
              <a:t>既定値の優先順位：</a:t>
            </a:r>
            <a:pPr indent="0" marL="0">
              <a:buNone/>
            </a:pPr>
            <a:r>
              <a:rPr lang="en-US" sz="1050" dirty="0">
                <a:solidFill>
                  <a:srgbClr val="5A6272"/>
                </a:solidFill>
                <a:latin typeface="Consolas" pitchFamily="34" charset="0"/>
                <a:ea typeface="Consolas" pitchFamily="34" charset="-122"/>
                <a:cs typeface="Consolas" pitchFamily="34" charset="-120"/>
              </a:rPr>
              <a:t>managed_config.toml</a:t>
            </a:r>
            <a:pPr indent="0" marL="0">
              <a:buNone/>
            </a:pPr>
            <a:r>
              <a:rPr lang="en-US" sz="1050" dirty="0">
                <a:solidFill>
                  <a:srgbClr val="5A6272"/>
                </a:solidFill>
                <a:latin typeface="BIZ UDPGothic" pitchFamily="34" charset="0"/>
                <a:ea typeface="BIZ UDPGothic" pitchFamily="34" charset="-122"/>
                <a:cs typeface="BIZ UDPGothic" pitchFamily="34" charset="-120"/>
              </a:rPr>
              <a:t> ＞ </a:t>
            </a:r>
            <a:pPr indent="0" marL="0">
              <a:buNone/>
            </a:pPr>
            <a:r>
              <a:rPr lang="en-US" sz="1050" dirty="0">
                <a:solidFill>
                  <a:srgbClr val="5A6272"/>
                </a:solidFill>
                <a:latin typeface="Consolas" pitchFamily="34" charset="0"/>
                <a:ea typeface="Consolas" pitchFamily="34" charset="-122"/>
                <a:cs typeface="Consolas" pitchFamily="34" charset="-120"/>
              </a:rPr>
              <a:t>config.toml</a:t>
            </a:r>
            <a:pPr indent="0" marL="0">
              <a:buNone/>
            </a:pPr>
            <a:r>
              <a:rPr lang="en-US" sz="1050" dirty="0">
                <a:solidFill>
                  <a:srgbClr val="5A6272"/>
                </a:solidFill>
                <a:latin typeface="BIZ UDPGothic" pitchFamily="34" charset="0"/>
                <a:ea typeface="BIZ UDPGothic" pitchFamily="34" charset="-122"/>
                <a:cs typeface="BIZ UDPGothic" pitchFamily="34" charset="-120"/>
              </a:rPr>
              <a:t> ＞ </a:t>
            </a:r>
            <a:pPr indent="0" marL="0">
              <a:buNone/>
            </a:pPr>
            <a:r>
              <a:rPr lang="en-US" sz="1050" dirty="0">
                <a:solidFill>
                  <a:srgbClr val="5A6272"/>
                </a:solidFill>
                <a:latin typeface="Consolas" pitchFamily="34" charset="0"/>
                <a:ea typeface="Consolas" pitchFamily="34" charset="-122"/>
                <a:cs typeface="Consolas" pitchFamily="34" charset="-120"/>
              </a:rPr>
              <a:t>--config</a:t>
            </a:r>
            <a:pPr indent="0" marL="0">
              <a:buNone/>
            </a:pPr>
            <a:r>
              <a:rPr lang="en-US" sz="1050" dirty="0">
                <a:solidFill>
                  <a:srgbClr val="5A6272"/>
                </a:solidFill>
                <a:latin typeface="BIZ UDPGothic" pitchFamily="34" charset="0"/>
                <a:ea typeface="BIZ UDPGothic" pitchFamily="34" charset="-122"/>
                <a:cs typeface="BIZ UDPGothic" pitchFamily="34" charset="-120"/>
              </a:rPr>
              <a:t>。 旧 </a:t>
            </a:r>
            <a:pPr indent="0" marL="0">
              <a:buNone/>
            </a:pPr>
            <a:r>
              <a:rPr lang="en-US" sz="1050" dirty="0">
                <a:solidFill>
                  <a:srgbClr val="5A6272"/>
                </a:solidFill>
                <a:latin typeface="Consolas" pitchFamily="34" charset="0"/>
                <a:ea typeface="Consolas" pitchFamily="34" charset="-122"/>
                <a:cs typeface="Consolas" pitchFamily="34" charset="-120"/>
              </a:rPr>
              <a:t>sandbox_mode</a:t>
            </a:r>
            <a:pPr indent="0" marL="0">
              <a:buNone/>
            </a:pPr>
            <a:r>
              <a:rPr lang="en-US" sz="1050" dirty="0">
                <a:solidFill>
                  <a:srgbClr val="5A6272"/>
                </a:solidFill>
                <a:latin typeface="BIZ UDPGothic" pitchFamily="34" charset="0"/>
                <a:ea typeface="BIZ UDPGothic" pitchFamily="34" charset="-122"/>
                <a:cs typeface="BIZ UDPGothic" pitchFamily="34" charset="-120"/>
              </a:rPr>
              <a:t> などを </a:t>
            </a:r>
            <a:pPr indent="0" marL="0">
              <a:buNone/>
            </a:pPr>
            <a:r>
              <a:rPr lang="en-US" sz="1050" dirty="0">
                <a:solidFill>
                  <a:srgbClr val="5A6272"/>
                </a:solidFill>
                <a:latin typeface="Consolas" pitchFamily="34" charset="0"/>
                <a:ea typeface="Consolas" pitchFamily="34" charset="-122"/>
                <a:cs typeface="Consolas" pitchFamily="34" charset="-120"/>
              </a:rPr>
              <a:t>managed_config.toml</a:t>
            </a:r>
            <a:pPr indent="0" marL="0">
              <a:buNone/>
            </a:pPr>
            <a:r>
              <a:rPr lang="en-US" sz="1050" dirty="0">
                <a:solidFill>
                  <a:srgbClr val="5A6272"/>
                </a:solidFill>
                <a:latin typeface="BIZ UDPGothic" pitchFamily="34" charset="0"/>
                <a:ea typeface="BIZ UDPGothic" pitchFamily="34" charset="-122"/>
                <a:cs typeface="BIZ UDPGothic" pitchFamily="34" charset="-120"/>
              </a:rPr>
              <a:t> に書いた場合は制約として扱われる</a:t>
            </a:r>
            <a:endParaRPr lang="en-US" sz="1050" dirty="0"/>
          </a:p>
        </p:txBody>
      </p:sp>
      <p:sp>
        <p:nvSpPr>
          <p:cNvPr id="56" name="Text 50"/>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OpenAI Codex Docs “Managed configuration”, “Windows sandbox”, “Permissions”</a:t>
            </a:r>
            <a:endParaRPr lang="en-US" sz="900" dirty="0"/>
          </a:p>
        </p:txBody>
      </p:sp>
      <p:sp>
        <p:nvSpPr>
          <p:cNvPr id="57" name="Text 51"/>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ECF0FB"/>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3A55B4"/>
                </a:solidFill>
                <a:latin typeface="BIZ UDPGothic" pitchFamily="34" charset="0"/>
                <a:ea typeface="BIZ UDPGothic" pitchFamily="34" charset="-122"/>
                <a:cs typeface="BIZ UDPGothic" pitchFamily="34" charset="-120"/>
              </a:rPr>
              <a:t>Codex</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Codex: 評価プロファイル（1/2）Sandbox・権限・通信</a:t>
            </a:r>
            <a:endParaRPr lang="en-US" sz="2800" dirty="0"/>
          </a:p>
        </p:txBody>
      </p:sp>
      <p:sp>
        <p:nvSpPr>
          <p:cNvPr id="6" name="Text 4"/>
          <p:cNvSpPr txBox="1"/>
          <p:nvPr/>
        </p:nvSpPr>
        <p:spPr>
          <a:xfrm>
            <a:off x="548640" y="1188720"/>
            <a:ext cx="11094415" cy="347472"/>
          </a:xfrm>
          <a:prstGeom prst="rect">
            <a:avLst/>
          </a:prstGeom>
          <a:noFill/>
          <a:ln/>
        </p:spPr>
        <p:txBody>
          <a:bodyPr wrap="square" lIns="0" tIns="0" rIns="0" bIns="0" rtlCol="0" anchor="ctr"/>
          <a:lstStyle/>
          <a:p>
            <a:pPr indent="0" marL="0">
              <a:buNone/>
            </a:pPr>
            <a:r>
              <a:rPr lang="en-US" sz="1400" b="1" dirty="0">
                <a:solidFill>
                  <a:srgbClr val="5A6272"/>
                </a:solidFill>
                <a:latin typeface="BIZ UDPGothic" pitchFamily="34" charset="0"/>
                <a:ea typeface="BIZ UDPGothic" pitchFamily="34" charset="-122"/>
                <a:cs typeface="BIZ UDPGothic" pitchFamily="34" charset="-120"/>
              </a:rPr>
              <a:t>記載先：</a:t>
            </a:r>
            <a:pPr indent="0" marL="0">
              <a:buNone/>
            </a:pPr>
            <a:r>
              <a:rPr lang="en-US" sz="1400" b="1" dirty="0">
                <a:solidFill>
                  <a:srgbClr val="3A55B4"/>
                </a:solidFill>
                <a:latin typeface="Consolas" pitchFamily="34" charset="0"/>
                <a:ea typeface="Consolas" pitchFamily="34" charset="-122"/>
                <a:cs typeface="Consolas" pitchFamily="34" charset="-120"/>
              </a:rPr>
              <a:t>requirements.toml</a:t>
            </a:r>
            <a:pPr indent="0" marL="0">
              <a:buNone/>
            </a:pPr>
            <a:r>
              <a:rPr lang="en-US" sz="1400" b="1" dirty="0">
                <a:solidFill>
                  <a:srgbClr val="5A6272"/>
                </a:solidFill>
                <a:latin typeface="BIZ UDPGothic" pitchFamily="34" charset="0"/>
                <a:ea typeface="BIZ UDPGothic" pitchFamily="34" charset="-122"/>
                <a:cs typeface="BIZ UDPGothic" pitchFamily="34" charset="-120"/>
              </a:rPr>
              <a:t>（またはcloud-managed requirements）</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914400"/>
                <a:gridCol w="3749040"/>
                <a:gridCol w="2743200"/>
                <a:gridCol w="2956255"/>
                <a:gridCol w="731520"/>
              </a:tblGrid>
              <a:tr h="365760">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層</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設定キー</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評価値</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ねらい</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リスク</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r>
              <a:tr h="365760">
                <a:tc rowSpan="6">
                  <a:txBody>
                    <a:bodyPr/>
                    <a:lstStyle/>
                    <a:p>
                      <a:pPr algn="ctr" indent="0" marL="0">
                        <a:buNone/>
                      </a:pPr>
                      <a:r>
                        <a:rPr lang="en-US" sz="1200" b="1" dirty="0">
                          <a:solidFill>
                            <a:srgbClr val="5A6272"/>
                          </a:solidFill>
                          <a:latin typeface="BIZ UDPGothic" pitchFamily="34" charset="0"/>
                          <a:ea typeface="BIZ UDPGothic" pitchFamily="34" charset="-122"/>
                          <a:cs typeface="BIZ UDPGothic" pitchFamily="34" charset="-120"/>
                        </a:rPr>
                        <a:t>権限</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[windows] allowed_sandbox_implementations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3A55B4"/>
                          </a:solidFill>
                          <a:latin typeface="Consolas" pitchFamily="34" charset="0"/>
                          <a:ea typeface="Consolas" pitchFamily="34" charset="-122"/>
                          <a:cs typeface="Consolas" pitchFamily="34" charset="-120"/>
                        </a:rPr>
                        <a:t>["elevated"]</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unelevatedへのfallbackを禁止</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R6</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365760">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[allowed_permission_profiles]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1E2330"/>
                          </a:solidFill>
                          <a:latin typeface="BIZ UDPGothic" pitchFamily="34" charset="0"/>
                          <a:ea typeface="BIZ UDPGothic" pitchFamily="34" charset="-122"/>
                          <a:cs typeface="BIZ UDPGothic" pitchFamily="34" charset="-120"/>
                        </a:rPr>
                        <a:t>評価用profileのみ </a:t>
                      </a:r>
                      <a:pPr indent="0" marL="0">
                        <a:buNone/>
                      </a:pPr>
                      <a:r>
                        <a:rPr lang="en-US" sz="1050" dirty="0">
                          <a:solidFill>
                            <a:srgbClr val="3A55B4"/>
                          </a:solidFill>
                          <a:latin typeface="Consolas" pitchFamily="34" charset="0"/>
                          <a:ea typeface="Consolas" pitchFamily="34" charset="-122"/>
                          <a:cs typeface="Consolas" pitchFamily="34" charset="-120"/>
                        </a:rPr>
                        <a:t>true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Consolas" pitchFamily="34" charset="0"/>
                          <a:ea typeface="Consolas" pitchFamily="34" charset="-122"/>
                          <a:cs typeface="Consolas" pitchFamily="34" charset="-120"/>
                        </a:rPr>
                        <a:t>:danger-full-access</a:t>
                      </a:r>
                      <a:pPr indent="0" marL="0">
                        <a:buNone/>
                      </a:pPr>
                      <a:r>
                        <a:rPr lang="en-US" sz="1200" dirty="0">
                          <a:solidFill>
                            <a:srgbClr val="1E2330"/>
                          </a:solidFill>
                          <a:latin typeface="BIZ UDPGothic" pitchFamily="34" charset="0"/>
                          <a:ea typeface="BIZ UDPGothic" pitchFamily="34" charset="-122"/>
                          <a:cs typeface="BIZ UDPGothic" pitchFamily="34" charset="-120"/>
                        </a:rPr>
                        <a:t>を禁止</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R6</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365760">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default_permissions</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1E2330"/>
                          </a:solidFill>
                          <a:latin typeface="Consolas" pitchFamily="34" charset="0"/>
                          <a:ea typeface="Consolas" pitchFamily="34" charset="-122"/>
                          <a:cs typeface="Consolas" pitchFamily="34" charset="-120"/>
                        </a:rPr>
                        <a:t>[permissions.fi_eval]</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3A55B4"/>
                          </a:solidFill>
                          <a:latin typeface="Consolas" pitchFamily="34" charset="0"/>
                          <a:ea typeface="Consolas" pitchFamily="34" charset="-122"/>
                          <a:cs typeface="Consolas" pitchFamily="34" charset="-120"/>
                        </a:rPr>
                        <a:t>:workspace</a:t>
                      </a:r>
                      <a:pPr indent="0" marL="0">
                        <a:buNone/>
                      </a:pPr>
                      <a:r>
                        <a:rPr lang="en-US" sz="1050" dirty="0">
                          <a:solidFill>
                            <a:srgbClr val="1E2330"/>
                          </a:solidFill>
                          <a:latin typeface="BIZ UDPGothic" pitchFamily="34" charset="0"/>
                          <a:ea typeface="BIZ UDPGothic" pitchFamily="34" charset="-122"/>
                          <a:cs typeface="BIZ UDPGothic" pitchFamily="34" charset="-120"/>
                        </a:rPr>
                        <a:t>を継承＋</a:t>
                      </a:r>
                      <a:pPr indent="0" marL="0">
                        <a:buNone/>
                      </a:pPr>
                      <a:r>
                        <a:rPr lang="en-US" sz="1050" dirty="0">
                          <a:solidFill>
                            <a:srgbClr val="3A55B4"/>
                          </a:solidFill>
                          <a:latin typeface="Consolas" pitchFamily="34" charset="0"/>
                          <a:ea typeface="Consolas" pitchFamily="34" charset="-122"/>
                          <a:cs typeface="Consolas" pitchFamily="34" charset="-120"/>
                        </a:rPr>
                        <a:t>.env</a:t>
                      </a:r>
                      <a:pPr indent="0" marL="0">
                        <a:buNone/>
                      </a:pPr>
                      <a:r>
                        <a:rPr lang="en-US" sz="1050" dirty="0">
                          <a:solidFill>
                            <a:srgbClr val="1E2330"/>
                          </a:solidFill>
                          <a:latin typeface="BIZ UDPGothic" pitchFamily="34" charset="0"/>
                          <a:ea typeface="BIZ UDPGothic" pitchFamily="34" charset="-122"/>
                          <a:cs typeface="BIZ UDPGothic" pitchFamily="34" charset="-120"/>
                        </a:rPr>
                        <a:t>を</a:t>
                      </a:r>
                      <a:pPr indent="0" marL="0">
                        <a:buNone/>
                      </a:pPr>
                      <a:r>
                        <a:rPr lang="en-US" sz="1050" dirty="0">
                          <a:solidFill>
                            <a:srgbClr val="3A55B4"/>
                          </a:solidFill>
                          <a:latin typeface="Consolas" pitchFamily="34" charset="0"/>
                          <a:ea typeface="Consolas" pitchFamily="34" charset="-122"/>
                          <a:cs typeface="Consolas" pitchFamily="34" charset="-120"/>
                        </a:rPr>
                        <a:t>deny</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評価用profileを既定にする</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R2 R3</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365760">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[permissions.filesystem] deny_read</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3A55B4"/>
                          </a:solidFill>
                          <a:latin typeface="Consolas" pitchFamily="34" charset="0"/>
                          <a:ea typeface="Consolas" pitchFamily="34" charset="-122"/>
                          <a:cs typeface="Consolas" pitchFamily="34" charset="-120"/>
                        </a:rPr>
                        <a:t>~/.ssh</a:t>
                      </a:r>
                      <a:pPr indent="0" marL="0">
                        <a:buNone/>
                      </a:pPr>
                      <a:r>
                        <a:rPr lang="en-US" sz="1050" dirty="0">
                          <a:solidFill>
                            <a:srgbClr val="1E2330"/>
                          </a:solidFill>
                          <a:latin typeface="BIZ UDPGothic" pitchFamily="34" charset="0"/>
                          <a:ea typeface="BIZ UDPGothic" pitchFamily="34" charset="-122"/>
                          <a:cs typeface="BIZ UDPGothic" pitchFamily="34" charset="-120"/>
                        </a:rPr>
                        <a:t>・</a:t>
                      </a:r>
                      <a:pPr indent="0" marL="0">
                        <a:buNone/>
                      </a:pPr>
                      <a:r>
                        <a:rPr lang="en-US" sz="1050" dirty="0">
                          <a:solidFill>
                            <a:srgbClr val="3A55B4"/>
                          </a:solidFill>
                          <a:latin typeface="Consolas" pitchFamily="34" charset="0"/>
                          <a:ea typeface="Consolas" pitchFamily="34" charset="-122"/>
                          <a:cs typeface="Consolas" pitchFamily="34" charset="-120"/>
                        </a:rPr>
                        <a:t>~/.aws</a:t>
                      </a:r>
                      <a:pPr indent="0" marL="0">
                        <a:buNone/>
                      </a:pPr>
                      <a:r>
                        <a:rPr lang="en-US" sz="1050" dirty="0">
                          <a:solidFill>
                            <a:srgbClr val="1E2330"/>
                          </a:solidFill>
                          <a:latin typeface="BIZ UDPGothic" pitchFamily="34" charset="0"/>
                          <a:ea typeface="BIZ UDPGothic" pitchFamily="34" charset="-122"/>
                          <a:cs typeface="BIZ UDPGothic" pitchFamily="34" charset="-120"/>
                        </a:rPr>
                        <a:t>・</a:t>
                      </a:r>
                      <a:pPr indent="0" marL="0">
                        <a:buNone/>
                      </a:pPr>
                      <a:r>
                        <a:rPr lang="en-US" sz="1050" dirty="0">
                          <a:solidFill>
                            <a:srgbClr val="3A55B4"/>
                          </a:solidFill>
                          <a:latin typeface="Consolas" pitchFamily="34" charset="0"/>
                          <a:ea typeface="Consolas" pitchFamily="34" charset="-122"/>
                          <a:cs typeface="Consolas" pitchFamily="34" charset="-120"/>
                        </a:rPr>
                        <a:t>/**/*.env</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秘密ファイルの読取を遮断</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R1 R3</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365760">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allowed_approval_policies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3A55B4"/>
                          </a:solidFill>
                          <a:latin typeface="Consolas" pitchFamily="34" charset="0"/>
                          <a:ea typeface="Consolas" pitchFamily="34" charset="-122"/>
                          <a:cs typeface="Consolas" pitchFamily="34" charset="-120"/>
                        </a:rPr>
                        <a:t>["on-request"]</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承認なし実行（</a:t>
                      </a:r>
                      <a:pPr indent="0" marL="0">
                        <a:buNone/>
                      </a:pPr>
                      <a:r>
                        <a:rPr lang="en-US" sz="1200" dirty="0">
                          <a:solidFill>
                            <a:srgbClr val="1E2330"/>
                          </a:solidFill>
                          <a:latin typeface="Consolas" pitchFamily="34" charset="0"/>
                          <a:ea typeface="Consolas" pitchFamily="34" charset="-122"/>
                          <a:cs typeface="Consolas" pitchFamily="34" charset="-120"/>
                        </a:rPr>
                        <a:t>never</a:t>
                      </a:r>
                      <a:pPr indent="0" marL="0">
                        <a:buNone/>
                      </a:pPr>
                      <a:r>
                        <a:rPr lang="en-US" sz="1200" dirty="0">
                          <a:solidFill>
                            <a:srgbClr val="1E2330"/>
                          </a:solidFill>
                          <a:latin typeface="BIZ UDPGothic" pitchFamily="34" charset="0"/>
                          <a:ea typeface="BIZ UDPGothic" pitchFamily="34" charset="-122"/>
                          <a:cs typeface="BIZ UDPGothic" pitchFamily="34" charset="-120"/>
                        </a:rPr>
                        <a:t>）を禁止</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R5 R6</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365760">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[rules] prefix_rules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1E2330"/>
                          </a:solidFill>
                          <a:latin typeface="BIZ UDPGothic" pitchFamily="34" charset="0"/>
                          <a:ea typeface="BIZ UDPGothic" pitchFamily="34" charset="-122"/>
                          <a:cs typeface="BIZ UDPGothic" pitchFamily="34" charset="-120"/>
                        </a:rPr>
                        <a:t>例：</a:t>
                      </a:r>
                      <a:pPr indent="0" marL="0">
                        <a:buNone/>
                      </a:pPr>
                      <a:r>
                        <a:rPr lang="en-US" sz="1050" dirty="0">
                          <a:solidFill>
                            <a:srgbClr val="3A55B4"/>
                          </a:solidFill>
                          <a:latin typeface="Consolas" pitchFamily="34" charset="0"/>
                          <a:ea typeface="Consolas" pitchFamily="34" charset="-122"/>
                          <a:cs typeface="Consolas" pitchFamily="34" charset="-120"/>
                        </a:rPr>
                        <a:t>rm</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3A55B4"/>
                          </a:solidFill>
                          <a:latin typeface="Consolas" pitchFamily="34" charset="0"/>
                          <a:ea typeface="Consolas" pitchFamily="34" charset="-122"/>
                          <a:cs typeface="Consolas" pitchFamily="34" charset="-120"/>
                        </a:rPr>
                        <a:t>forbidden</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危険コマンドを禁止・要承認に</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R5</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365760">
                <a:tc rowSpan="3">
                  <a:txBody>
                    <a:bodyPr/>
                    <a:lstStyle/>
                    <a:p>
                      <a:pPr algn="ctr" indent="0" marL="0">
                        <a:buNone/>
                      </a:pPr>
                      <a:r>
                        <a:rPr lang="en-US" sz="1200" b="1" dirty="0">
                          <a:solidFill>
                            <a:srgbClr val="5A6272"/>
                          </a:solidFill>
                          <a:latin typeface="BIZ UDPGothic" pitchFamily="34" charset="0"/>
                          <a:ea typeface="BIZ UDPGothic" pitchFamily="34" charset="-122"/>
                          <a:cs typeface="BIZ UDPGothic" pitchFamily="34" charset="-120"/>
                        </a:rPr>
                        <a:t>通信</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[experimental_network]</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3A55B4"/>
                          </a:solidFill>
                          <a:latin typeface="Consolas" pitchFamily="34" charset="0"/>
                          <a:ea typeface="Consolas" pitchFamily="34" charset="-122"/>
                          <a:cs typeface="Consolas" pitchFamily="34" charset="-120"/>
                        </a:rPr>
                        <a:t>managed_allowed_domains_only=true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許可ドメインは管理者のみ（Experimental）</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R4</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365760">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[experimental_network.domains]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1E2330"/>
                          </a:solidFill>
                          <a:latin typeface="BIZ UDPGothic" pitchFamily="34" charset="0"/>
                          <a:ea typeface="BIZ UDPGothic" pitchFamily="34" charset="-122"/>
                          <a:cs typeface="BIZ UDPGothic" pitchFamily="34" charset="-120"/>
                        </a:rPr>
                        <a:t>社内Git・ミラーのみ </a:t>
                      </a:r>
                      <a:pPr indent="0" marL="0">
                        <a:buNone/>
                      </a:pPr>
                      <a:r>
                        <a:rPr lang="en-US" sz="1050" dirty="0">
                          <a:solidFill>
                            <a:srgbClr val="3A55B4"/>
                          </a:solidFill>
                          <a:latin typeface="Consolas" pitchFamily="34" charset="0"/>
                          <a:ea typeface="Consolas" pitchFamily="34" charset="-122"/>
                          <a:cs typeface="Consolas" pitchFamily="34" charset="-120"/>
                        </a:rPr>
                        <a:t>allow</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通信先を限定</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R4</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365760">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[features] network_proxy</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3A55B4"/>
                          </a:solidFill>
                          <a:latin typeface="Consolas" pitchFamily="34" charset="0"/>
                          <a:ea typeface="Consolas" pitchFamily="34" charset="-122"/>
                          <a:cs typeface="Consolas" pitchFamily="34" charset="-120"/>
                        </a:rPr>
                        <a:t>true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domain rulesを強制（固定可否は要確認）</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R4</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bl>
          </a:graphicData>
        </a:graphic>
      </p:graphicFrame>
      <p:sp>
        <p:nvSpPr>
          <p:cNvPr id="8" name="Shape 5"/>
          <p:cNvSpPr/>
          <p:nvPr/>
        </p:nvSpPr>
        <p:spPr>
          <a:xfrm>
            <a:off x="548640" y="5669280"/>
            <a:ext cx="11094415" cy="566928"/>
          </a:xfrm>
          <a:prstGeom prst="roundRect">
            <a:avLst>
              <a:gd name="adj" fmla="val 9677"/>
            </a:avLst>
          </a:prstGeom>
          <a:solidFill>
            <a:srgbClr val="FBF4E4"/>
          </a:solidFill>
          <a:ln/>
        </p:spPr>
      </p:sp>
      <p:pic>
        <p:nvPicPr>
          <p:cNvPr id="9" name="Image 0" descr="preencoded.png">    </p:cNvPr>
          <p:cNvPicPr>
            <a:picLocks noChangeAspect="1"/>
          </p:cNvPicPr>
          <p:nvPr/>
        </p:nvPicPr>
        <p:blipFill>
          <a:blip r:embed="rId1"/>
          <a:stretch>
            <a:fillRect/>
          </a:stretch>
        </p:blipFill>
        <p:spPr>
          <a:xfrm>
            <a:off x="731520" y="5843016"/>
            <a:ext cx="219456" cy="219456"/>
          </a:xfrm>
          <a:prstGeom prst="rect">
            <a:avLst/>
          </a:prstGeom>
        </p:spPr>
      </p:pic>
      <p:sp>
        <p:nvSpPr>
          <p:cNvPr id="10" name="Text 6"/>
          <p:cNvSpPr txBox="1"/>
          <p:nvPr/>
        </p:nvSpPr>
        <p:spPr>
          <a:xfrm>
            <a:off x="1097280" y="5669280"/>
            <a:ext cx="10362895" cy="566928"/>
          </a:xfrm>
          <a:prstGeom prst="rect">
            <a:avLst/>
          </a:prstGeom>
          <a:noFill/>
          <a:ln/>
        </p:spPr>
        <p:txBody>
          <a:bodyPr wrap="square" lIns="0" tIns="0" rIns="0" bIns="0" rtlCol="0" anchor="ct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要実機確認：Windows sandbox上で </a:t>
            </a:r>
            <a:pPr indent="0" marL="0">
              <a:buNone/>
            </a:pPr>
            <a:r>
              <a:rPr lang="en-US" sz="1200" dirty="0">
                <a:solidFill>
                  <a:srgbClr val="1E2330"/>
                </a:solidFill>
                <a:latin typeface="Consolas" pitchFamily="34" charset="0"/>
                <a:ea typeface="Consolas" pitchFamily="34" charset="-122"/>
                <a:cs typeface="Consolas" pitchFamily="34" charset="-120"/>
              </a:rPr>
              <a:t>deny_read</a:t>
            </a:r>
            <a:pPr indent="0" marL="0">
              <a:buNone/>
            </a:pPr>
            <a:r>
              <a:rPr lang="en-US" sz="1200" dirty="0">
                <a:solidFill>
                  <a:srgbClr val="1E2330"/>
                </a:solidFill>
                <a:latin typeface="BIZ UDPGothic" pitchFamily="34" charset="0"/>
                <a:ea typeface="BIZ UDPGothic" pitchFamily="34" charset="-122"/>
                <a:cs typeface="BIZ UDPGothic" pitchFamily="34" charset="-120"/>
              </a:rPr>
              <a:t> とproxy経路が効くか ／ </a:t>
            </a:r>
            <a:pPr indent="0" marL="0">
              <a:buNone/>
            </a:pPr>
            <a:r>
              <a:rPr lang="en-US" sz="1200" dirty="0">
                <a:solidFill>
                  <a:srgbClr val="1E2330"/>
                </a:solidFill>
                <a:latin typeface="Consolas" pitchFamily="34" charset="0"/>
                <a:ea typeface="Consolas" pitchFamily="34" charset="-122"/>
                <a:cs typeface="Consolas" pitchFamily="34" charset="-120"/>
              </a:rPr>
              <a:t>experimental_network</a:t>
            </a:r>
            <a:pPr indent="0" marL="0">
              <a:buNone/>
            </a:pPr>
            <a:r>
              <a:rPr lang="en-US" sz="1200" dirty="0">
                <a:solidFill>
                  <a:srgbClr val="1E2330"/>
                </a:solidFill>
                <a:latin typeface="BIZ UDPGothic" pitchFamily="34" charset="0"/>
                <a:ea typeface="BIZ UDPGothic" pitchFamily="34" charset="-122"/>
                <a:cs typeface="BIZ UDPGothic" pitchFamily="34" charset="-120"/>
              </a:rPr>
              <a:t> はExperimental</a:t>
            </a:r>
            <a:endParaRPr lang="en-US" sz="1200" dirty="0"/>
          </a:p>
        </p:txBody>
      </p:sp>
      <p:sp>
        <p:nvSpPr>
          <p:cNvPr id="11" name="Text 7"/>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OpenAI Codex Docs “Managed configuration”, “Windows sandbox”, “Permissions”</a:t>
            </a:r>
            <a:endParaRPr lang="en-US" sz="900" dirty="0"/>
          </a:p>
        </p:txBody>
      </p:sp>
      <p:sp>
        <p:nvSpPr>
          <p:cNvPr id="12" name="Text 8"/>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ECF0FB"/>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3A55B4"/>
                </a:solidFill>
                <a:latin typeface="BIZ UDPGothic" pitchFamily="34" charset="0"/>
                <a:ea typeface="BIZ UDPGothic" pitchFamily="34" charset="-122"/>
                <a:cs typeface="BIZ UDPGothic" pitchFamily="34" charset="-120"/>
              </a:rPr>
              <a:t>Codex</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Codex: 評価プロファイル（2/2）Profile外の機能・利用者</a:t>
            </a:r>
            <a:endParaRPr lang="en-US" sz="2800" dirty="0"/>
          </a:p>
        </p:txBody>
      </p:sp>
      <p:sp>
        <p:nvSpPr>
          <p:cNvPr id="6" name="Text 4"/>
          <p:cNvSpPr txBox="1"/>
          <p:nvPr/>
        </p:nvSpPr>
        <p:spPr>
          <a:xfrm>
            <a:off x="548640" y="1188720"/>
            <a:ext cx="11094415" cy="347472"/>
          </a:xfrm>
          <a:prstGeom prst="rect">
            <a:avLst/>
          </a:prstGeom>
          <a:noFill/>
          <a:ln/>
        </p:spPr>
        <p:txBody>
          <a:bodyPr wrap="square" lIns="0" tIns="0" rIns="0" bIns="0" rtlCol="0" anchor="ctr"/>
          <a:lstStyle/>
          <a:p>
            <a:pPr indent="0" marL="0">
              <a:buNone/>
            </a:pPr>
            <a:r>
              <a:rPr lang="en-US" sz="1400" b="1" dirty="0">
                <a:solidFill>
                  <a:srgbClr val="5A6272"/>
                </a:solidFill>
                <a:latin typeface="BIZ UDPGothic" pitchFamily="34" charset="0"/>
                <a:ea typeface="BIZ UDPGothic" pitchFamily="34" charset="-122"/>
                <a:cs typeface="BIZ UDPGothic" pitchFamily="34" charset="-120"/>
              </a:rPr>
              <a:t>記載先：同じ </a:t>
            </a:r>
            <a:pPr indent="0" marL="0">
              <a:buNone/>
            </a:pPr>
            <a:r>
              <a:rPr lang="en-US" sz="1400" b="1" dirty="0">
                <a:solidFill>
                  <a:srgbClr val="3A55B4"/>
                </a:solidFill>
                <a:latin typeface="Consolas" pitchFamily="34" charset="0"/>
                <a:ea typeface="Consolas" pitchFamily="34" charset="-122"/>
                <a:cs typeface="Consolas" pitchFamily="34" charset="-120"/>
              </a:rPr>
              <a:t>requirements.toml</a:t>
            </a:r>
            <a:pPr indent="0" marL="0">
              <a:buNone/>
            </a:pPr>
            <a:r>
              <a:rPr lang="en-US" sz="1400" b="1" dirty="0">
                <a:solidFill>
                  <a:srgbClr val="5A6272"/>
                </a:solidFill>
                <a:latin typeface="BIZ UDPGothic" pitchFamily="34" charset="0"/>
                <a:ea typeface="BIZ UDPGothic" pitchFamily="34" charset="-122"/>
                <a:cs typeface="BIZ UDPGothic" pitchFamily="34" charset="-120"/>
              </a:rPr>
              <a:t>。Permission Profileでは制御できない機能をここで止める</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914400"/>
                <a:gridCol w="3749040"/>
                <a:gridCol w="2743200"/>
                <a:gridCol w="2956255"/>
                <a:gridCol w="731520"/>
              </a:tblGrid>
              <a:tr h="365760">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層</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設定キー</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評価値</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ねらい</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リスク</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r>
              <a:tr h="475488">
                <a:tc rowSpan="4">
                  <a:txBody>
                    <a:bodyPr/>
                    <a:lstStyle/>
                    <a:p>
                      <a:pPr algn="ctr" indent="0" marL="0">
                        <a:buNone/>
                      </a:pPr>
                      <a:r>
                        <a:rPr lang="en-US" sz="1200" b="1" dirty="0">
                          <a:solidFill>
                            <a:srgbClr val="5A6272"/>
                          </a:solidFill>
                          <a:latin typeface="BIZ UDPGothic" pitchFamily="34" charset="0"/>
                          <a:ea typeface="BIZ UDPGothic" pitchFamily="34" charset="-122"/>
                          <a:cs typeface="BIZ UDPGothic" pitchFamily="34" charset="-120"/>
                        </a:rPr>
                        <a:t>Profile</a:t>
                      </a:r>
                      <a:endParaRPr lang="en-US" sz="1200" dirty="0">
                        <a:latin typeface="BIZ UDPGothic" charset="0"/>
                        <a:ea typeface="BIZ UDPGothic" charset="0"/>
                        <a:cs typeface="BIZ UDPGothic" charset="0"/>
                      </a:endParaRPr>
                    </a:p>
                    <a:p>
                      <a:pPr algn="ctr" indent="0" marL="0">
                        <a:buNone/>
                      </a:pPr>
                      <a:r>
                        <a:rPr lang="en-US" sz="1200" b="1" dirty="0">
                          <a:solidFill>
                            <a:srgbClr val="5A6272"/>
                          </a:solidFill>
                          <a:latin typeface="BIZ UDPGothic" pitchFamily="34" charset="0"/>
                          <a:ea typeface="BIZ UDPGothic" pitchFamily="34" charset="-122"/>
                          <a:cs typeface="BIZ UDPGothic" pitchFamily="34" charset="-120"/>
                        </a:rPr>
                        <a:t>外</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allowed_web_search_modes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3A55B4"/>
                          </a:solidFill>
                          <a:latin typeface="Consolas" pitchFamily="34" charset="0"/>
                          <a:ea typeface="Consolas" pitchFamily="34" charset="-122"/>
                          <a:cs typeface="Consolas" pitchFamily="34" charset="-120"/>
                        </a:rPr>
                        <a:t>["cached"]</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live検索を禁止</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R7</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75488">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[mcp_servers]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1E2330"/>
                          </a:solidFill>
                          <a:latin typeface="BIZ UDPGothic" pitchFamily="34" charset="0"/>
                          <a:ea typeface="BIZ UDPGothic" pitchFamily="34" charset="-122"/>
                          <a:cs typeface="BIZ UDPGothic" pitchFamily="34" charset="-120"/>
                        </a:rPr>
                        <a:t>空テーブル</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MCPを全面禁止（必要な分だけidentity指定）</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R7</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75488">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[features] browser_use</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1E2330"/>
                          </a:solidFill>
                          <a:latin typeface="Consolas" pitchFamily="34" charset="0"/>
                          <a:ea typeface="Consolas" pitchFamily="34" charset="-122"/>
                          <a:cs typeface="Consolas" pitchFamily="34" charset="-120"/>
                        </a:rPr>
                        <a:t>computer_use</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1E2330"/>
                          </a:solidFill>
                          <a:latin typeface="Consolas" pitchFamily="34" charset="0"/>
                          <a:ea typeface="Consolas" pitchFamily="34" charset="-122"/>
                          <a:cs typeface="Consolas" pitchFamily="34" charset="-120"/>
                        </a:rPr>
                        <a:t>plugins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3A55B4"/>
                          </a:solidFill>
                          <a:latin typeface="Consolas" pitchFamily="34" charset="0"/>
                          <a:ea typeface="Consolas" pitchFamily="34" charset="-122"/>
                          <a:cs typeface="Consolas" pitchFamily="34" charset="-120"/>
                        </a:rPr>
                        <a:t>false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ブラウザ・PC操作・pluginを無効化</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R7</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75488">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allow_remote_control</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3A55B4"/>
                          </a:solidFill>
                          <a:latin typeface="Consolas" pitchFamily="34" charset="0"/>
                          <a:ea typeface="Consolas" pitchFamily="34" charset="-122"/>
                          <a:cs typeface="Consolas" pitchFamily="34" charset="-120"/>
                        </a:rPr>
                        <a:t>false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外部端末からの遠隔操作を無効化</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R7</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75488">
                <a:tc rowSpan="2">
                  <a:txBody>
                    <a:bodyPr/>
                    <a:lstStyle/>
                    <a:p>
                      <a:pPr algn="ctr" indent="0" marL="0">
                        <a:buNone/>
                      </a:pPr>
                      <a:r>
                        <a:rPr lang="en-US" sz="1200" b="1" dirty="0">
                          <a:solidFill>
                            <a:srgbClr val="5A6272"/>
                          </a:solidFill>
                          <a:latin typeface="BIZ UDPGothic" pitchFamily="34" charset="0"/>
                          <a:ea typeface="BIZ UDPGothic" pitchFamily="34" charset="-122"/>
                          <a:cs typeface="BIZ UDPGothic" pitchFamily="34" charset="-120"/>
                        </a:rPr>
                        <a:t>利用者</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allowed_login_methods</a:t>
                      </a:r>
                      <a:pPr indent="0" marL="0">
                        <a:buNone/>
                      </a:pPr>
                      <a:r>
                        <a:rPr lang="en-US" sz="1050" dirty="0">
                          <a:solidFill>
                            <a:srgbClr val="1E2330"/>
                          </a:solidFill>
                          <a:latin typeface="BIZ UDPGothic" pitchFamily="34" charset="0"/>
                          <a:ea typeface="BIZ UDPGothic" pitchFamily="34" charset="-122"/>
                          <a:cs typeface="BIZ UDPGothic" pitchFamily="34" charset="-120"/>
                        </a:rPr>
                        <a:t> / </a:t>
                      </a:r>
                      <a:pPr indent="0" marL="0">
                        <a:buNone/>
                      </a:pPr>
                      <a:r>
                        <a:rPr lang="en-US" sz="1050" dirty="0">
                          <a:solidFill>
                            <a:srgbClr val="1E2330"/>
                          </a:solidFill>
                          <a:latin typeface="Consolas" pitchFamily="34" charset="0"/>
                          <a:ea typeface="Consolas" pitchFamily="34" charset="-122"/>
                          <a:cs typeface="Consolas" pitchFamily="34" charset="-120"/>
                        </a:rPr>
                        <a:t>allowed_chatgpt_workspaces</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3A55B4"/>
                          </a:solidFill>
                          <a:latin typeface="Consolas" pitchFamily="34" charset="0"/>
                          <a:ea typeface="Consolas" pitchFamily="34" charset="-122"/>
                          <a:cs typeface="Consolas" pitchFamily="34" charset="-120"/>
                        </a:rPr>
                        <a:t>["chatgpt"]</a:t>
                      </a:r>
                      <a:pPr indent="0" marL="0">
                        <a:buNone/>
                      </a:pPr>
                      <a:r>
                        <a:rPr lang="en-US" sz="1050" dirty="0">
                          <a:solidFill>
                            <a:srgbClr val="1E2330"/>
                          </a:solidFill>
                          <a:latin typeface="BIZ UDPGothic" pitchFamily="34" charset="0"/>
                          <a:ea typeface="BIZ UDPGothic" pitchFamily="34" charset="-122"/>
                          <a:cs typeface="BIZ UDPGothic" pitchFamily="34" charset="-120"/>
                        </a:rPr>
                        <a:t> / 自社workspace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私用アカウントでの利用を防ぐ</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全体</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475488">
                <a:tc vMerge="1">
                  <a:tcPr/>
                </a:tc>
                <a:tc>
                  <a:txBody>
                    <a:bodyPr/>
                    <a:lstStyle/>
                    <a:p>
                      <a:pPr indent="0" marL="0">
                        <a:buNone/>
                      </a:pPr>
                      <a:r>
                        <a:rPr lang="en-US" sz="1050" dirty="0">
                          <a:solidFill>
                            <a:srgbClr val="1E2330"/>
                          </a:solidFill>
                          <a:latin typeface="Consolas" pitchFamily="34" charset="0"/>
                          <a:ea typeface="Consolas" pitchFamily="34" charset="-122"/>
                          <a:cs typeface="Consolas" pitchFamily="34" charset="-120"/>
                        </a:rPr>
                        <a:t>cli_auth_credentials_store</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050" dirty="0">
                          <a:solidFill>
                            <a:srgbClr val="3A55B4"/>
                          </a:solidFill>
                          <a:latin typeface="Consolas" pitchFamily="34" charset="0"/>
                          <a:ea typeface="Consolas" pitchFamily="34" charset="-122"/>
                          <a:cs typeface="Consolas" pitchFamily="34" charset="-120"/>
                        </a:rPr>
                        <a:t>"keyring"</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200" dirty="0">
                          <a:solidFill>
                            <a:srgbClr val="1E2330"/>
                          </a:solidFill>
                          <a:latin typeface="BIZ UDPGothic" pitchFamily="34" charset="0"/>
                          <a:ea typeface="BIZ UDPGothic" pitchFamily="34" charset="-122"/>
                          <a:cs typeface="BIZ UDPGothic" pitchFamily="34" charset="-120"/>
                        </a:rPr>
                        <a:t>認証情報をOSの資格情報ストアに保存</a:t>
                      </a:r>
                      <a:endParaRPr lang="en-US" sz="12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R3</a:t>
                      </a:r>
                      <a:endParaRPr lang="en-US" sz="1100" dirty="0">
                        <a:latin typeface="BIZ UDPGothic" charset="0"/>
                        <a:ea typeface="BIZ UDPGothic" charset="0"/>
                        <a:cs typeface="BIZ UDPGothic" charset="0"/>
                      </a:endParaRPr>
                    </a:p>
                  </a:txBody>
                  <a:tcPr marL="109728" marR="109728" marT="27432" marB="27432"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bl>
          </a:graphicData>
        </a:graphic>
      </p:graphicFrame>
      <p:sp>
        <p:nvSpPr>
          <p:cNvPr id="8" name="Shape 5"/>
          <p:cNvSpPr/>
          <p:nvPr/>
        </p:nvSpPr>
        <p:spPr>
          <a:xfrm>
            <a:off x="548640" y="5669280"/>
            <a:ext cx="11094415" cy="566928"/>
          </a:xfrm>
          <a:prstGeom prst="roundRect">
            <a:avLst>
              <a:gd name="adj" fmla="val 9677"/>
            </a:avLst>
          </a:prstGeom>
          <a:solidFill>
            <a:srgbClr val="FBF4E4"/>
          </a:solidFill>
          <a:ln/>
        </p:spPr>
      </p:sp>
      <p:pic>
        <p:nvPicPr>
          <p:cNvPr id="9" name="Image 0" descr="preencoded.png">    </p:cNvPr>
          <p:cNvPicPr>
            <a:picLocks noChangeAspect="1"/>
          </p:cNvPicPr>
          <p:nvPr/>
        </p:nvPicPr>
        <p:blipFill>
          <a:blip r:embed="rId1"/>
          <a:stretch>
            <a:fillRect/>
          </a:stretch>
        </p:blipFill>
        <p:spPr>
          <a:xfrm>
            <a:off x="731520" y="5843016"/>
            <a:ext cx="219456" cy="219456"/>
          </a:xfrm>
          <a:prstGeom prst="rect">
            <a:avLst/>
          </a:prstGeom>
        </p:spPr>
      </p:pic>
      <p:sp>
        <p:nvSpPr>
          <p:cNvPr id="10" name="Text 6"/>
          <p:cNvSpPr txBox="1"/>
          <p:nvPr/>
        </p:nvSpPr>
        <p:spPr>
          <a:xfrm>
            <a:off x="1097280" y="5669280"/>
            <a:ext cx="10362895" cy="566928"/>
          </a:xfrm>
          <a:prstGeom prst="rect">
            <a:avLst/>
          </a:prstGeom>
          <a:noFill/>
          <a:ln/>
        </p:spPr>
        <p:txBody>
          <a:bodyPr wrap="square" lIns="0" tIns="0" rIns="0" bIns="0" rtlCol="0" anchor="ctr"/>
          <a:lstStyle/>
          <a:p>
            <a:pPr indent="0" marL="0">
              <a:buNone/>
            </a:pPr>
            <a:r>
              <a:rPr lang="en-US" sz="1200" dirty="0">
                <a:solidFill>
                  <a:srgbClr val="1E2330"/>
                </a:solidFill>
                <a:latin typeface="Consolas" pitchFamily="34" charset="0"/>
                <a:ea typeface="Consolas" pitchFamily="34" charset="-122"/>
                <a:cs typeface="Consolas" pitchFamily="34" charset="-120"/>
              </a:rPr>
              <a:t>allowed_web_search_modes</a:t>
            </a:r>
            <a:pPr indent="0" marL="0">
              <a:buNone/>
            </a:pPr>
            <a:r>
              <a:rPr lang="en-US" sz="1200" dirty="0">
                <a:solidFill>
                  <a:srgbClr val="1E2330"/>
                </a:solidFill>
                <a:latin typeface="BIZ UDPGothic" pitchFamily="34" charset="0"/>
                <a:ea typeface="BIZ UDPGothic" pitchFamily="34" charset="-122"/>
                <a:cs typeface="BIZ UDPGothic" pitchFamily="34" charset="-120"/>
              </a:rPr>
              <a:t> に書かなくても </a:t>
            </a:r>
            <a:pPr indent="0" marL="0">
              <a:buNone/>
            </a:pPr>
            <a:r>
              <a:rPr lang="en-US" sz="1200" dirty="0">
                <a:solidFill>
                  <a:srgbClr val="1E2330"/>
                </a:solidFill>
                <a:latin typeface="Consolas" pitchFamily="34" charset="0"/>
                <a:ea typeface="Consolas" pitchFamily="34" charset="-122"/>
                <a:cs typeface="Consolas" pitchFamily="34" charset="-120"/>
              </a:rPr>
              <a:t>disabled</a:t>
            </a:r>
            <a:pPr indent="0" marL="0">
              <a:buNone/>
            </a:pPr>
            <a:r>
              <a:rPr lang="en-US" sz="1200" dirty="0">
                <a:solidFill>
                  <a:srgbClr val="1E2330"/>
                </a:solidFill>
                <a:latin typeface="BIZ UDPGothic" pitchFamily="34" charset="0"/>
                <a:ea typeface="BIZ UDPGothic" pitchFamily="34" charset="-122"/>
                <a:cs typeface="BIZ UDPGothic" pitchFamily="34" charset="-120"/>
              </a:rPr>
              <a:t> は常に選べる。</a:t>
            </a:r>
            <a:pPr indent="0" marL="0">
              <a:buNone/>
            </a:pPr>
            <a:r>
              <a:rPr lang="en-US" sz="1200" dirty="0">
                <a:solidFill>
                  <a:srgbClr val="1E2330"/>
                </a:solidFill>
                <a:latin typeface="Consolas" pitchFamily="34" charset="0"/>
                <a:ea typeface="Consolas" pitchFamily="34" charset="-122"/>
                <a:cs typeface="Consolas" pitchFamily="34" charset="-120"/>
              </a:rPr>
              <a:t>managed_config.toml</a:t>
            </a:r>
            <a:pPr indent="0" marL="0">
              <a:buNone/>
            </a:pPr>
            <a:r>
              <a:rPr lang="en-US" sz="1200" dirty="0">
                <a:solidFill>
                  <a:srgbClr val="1E2330"/>
                </a:solidFill>
                <a:latin typeface="BIZ UDPGothic" pitchFamily="34" charset="0"/>
                <a:ea typeface="BIZ UDPGothic" pitchFamily="34" charset="-122"/>
                <a:cs typeface="BIZ UDPGothic" pitchFamily="34" charset="-120"/>
              </a:rPr>
              <a:t> はユーザーが変更できるので統制に使わない</a:t>
            </a:r>
            <a:endParaRPr lang="en-US" sz="1200" dirty="0"/>
          </a:p>
        </p:txBody>
      </p:sp>
      <p:sp>
        <p:nvSpPr>
          <p:cNvPr id="11" name="Text 7"/>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OpenAI Codex Docs “Managed configuration”</a:t>
            </a:r>
            <a:endParaRPr lang="en-US" sz="900" dirty="0"/>
          </a:p>
        </p:txBody>
      </p:sp>
      <p:sp>
        <p:nvSpPr>
          <p:cNvPr id="12" name="Text 8"/>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ECF0FB"/>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3A55B4"/>
                </a:solidFill>
                <a:latin typeface="BIZ UDPGothic" pitchFamily="34" charset="0"/>
                <a:ea typeface="BIZ UDPGothic" pitchFamily="34" charset="-122"/>
                <a:cs typeface="BIZ UDPGothic" pitchFamily="34" charset="-120"/>
              </a:rPr>
              <a:t>Codex</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Codex: 実機テスト設計</a:t>
            </a:r>
            <a:endParaRPr lang="en-US" sz="2800" dirty="0"/>
          </a:p>
        </p:txBody>
      </p:sp>
      <p:sp>
        <p:nvSpPr>
          <p:cNvPr id="6" name="Text 4"/>
          <p:cNvSpPr txBox="1"/>
          <p:nvPr/>
        </p:nvSpPr>
        <p:spPr>
          <a:xfrm>
            <a:off x="548640" y="1207008"/>
            <a:ext cx="11094415" cy="329184"/>
          </a:xfrm>
          <a:prstGeom prst="rect">
            <a:avLst/>
          </a:prstGeom>
          <a:noFill/>
          <a:ln/>
        </p:spPr>
        <p:txBody>
          <a:bodyPr wrap="square" lIns="0" tIns="0" rIns="0" bIns="0" rtlCol="0" anchor="ctr"/>
          <a:lstStyle/>
          <a:p>
            <a:pPr indent="0" marL="0">
              <a:buNone/>
            </a:pPr>
            <a:r>
              <a:rPr lang="en-US" sz="1400" dirty="0">
                <a:solidFill>
                  <a:srgbClr val="5A6272"/>
                </a:solidFill>
                <a:latin typeface="BIZ UDPGothic" pitchFamily="34" charset="0"/>
                <a:ea typeface="BIZ UDPGothic" pitchFamily="34" charset="-122"/>
                <a:cs typeface="BIZ UDPGothic" pitchFamily="34" charset="-120"/>
              </a:rPr>
              <a:t>Claude Codeと同じリスクで確認し、設定ミス時の差分も測る</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685800"/>
                <a:gridCol w="1783080"/>
                <a:gridCol w="3566160"/>
                <a:gridCol w="5059375"/>
              </a:tblGrid>
              <a:tr h="402336">
                <a:tc>
                  <a:txBody>
                    <a:bodyP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ID</a:t>
                      </a:r>
                      <a:endParaRPr lang="en-US" sz="120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c>
                  <a:txBody>
                    <a:bodyPr/>
                    <a:lstStyle/>
                    <a:p>
                      <a:pPr algn="l" indent="0" marL="0">
                        <a:buNone/>
                      </a:pPr>
                      <a:r>
                        <a:rPr lang="en-US" sz="1200" b="1" dirty="0">
                          <a:solidFill>
                            <a:srgbClr val="FFFFFF"/>
                          </a:solidFill>
                          <a:latin typeface="BIZ UDPGothic" pitchFamily="34" charset="0"/>
                          <a:ea typeface="BIZ UDPGothic" pitchFamily="34" charset="-122"/>
                          <a:cs typeface="BIZ UDPGothic" pitchFamily="34" charset="-120"/>
                        </a:rPr>
                        <a:t>試験観点</a:t>
                      </a:r>
                      <a:endParaRPr lang="en-US" sz="120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c>
                  <a:txBody>
                    <a:bodyPr/>
                    <a:lstStyle/>
                    <a:p>
                      <a:pPr algn="l" indent="0" marL="0">
                        <a:buNone/>
                      </a:pPr>
                      <a:r>
                        <a:rPr lang="en-US" sz="1200" b="1" dirty="0">
                          <a:solidFill>
                            <a:srgbClr val="FFFFFF"/>
                          </a:solidFill>
                          <a:latin typeface="BIZ UDPGothic" pitchFamily="34" charset="0"/>
                          <a:ea typeface="BIZ UDPGothic" pitchFamily="34" charset="-122"/>
                          <a:cs typeface="BIZ UDPGothic" pitchFamily="34" charset="-120"/>
                        </a:rPr>
                        <a:t>代表試験</a:t>
                      </a:r>
                      <a:endParaRPr lang="en-US" sz="120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c>
                  <a:txBody>
                    <a:bodyPr/>
                    <a:lstStyle/>
                    <a:p>
                      <a:pPr algn="l" indent="0" marL="0">
                        <a:buNone/>
                      </a:pPr>
                      <a:r>
                        <a:rPr lang="en-US" sz="1200" b="1" dirty="0">
                          <a:solidFill>
                            <a:srgbClr val="FFFFFF"/>
                          </a:solidFill>
                          <a:latin typeface="BIZ UDPGothic" pitchFamily="34" charset="0"/>
                          <a:ea typeface="BIZ UDPGothic" pitchFamily="34" charset="-122"/>
                          <a:cs typeface="BIZ UDPGothic" pitchFamily="34" charset="-120"/>
                        </a:rPr>
                        <a:t>期待挙動（Permission Profile時）</a:t>
                      </a:r>
                      <a:endParaRPr lang="en-US" sz="120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r>
              <a:tr h="493776">
                <a:tc>
                  <a:txBody>
                    <a:bodyPr/>
                    <a:lstStyle/>
                    <a:p>
                      <a:pPr algn="ctr" indent="0" marL="0">
                        <a:buNone/>
                      </a:pPr>
                      <a:r>
                        <a:rPr lang="en-US" sz="1150" b="1" dirty="0">
                          <a:solidFill>
                            <a:srgbClr val="1E2330"/>
                          </a:solidFill>
                          <a:latin typeface="BIZ UDPGothic" pitchFamily="34" charset="0"/>
                          <a:ea typeface="BIZ UDPGothic" pitchFamily="34" charset="-122"/>
                          <a:cs typeface="BIZ UDPGothic" pitchFamily="34" charset="-120"/>
                        </a:rPr>
                        <a:t>R1</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b="1" dirty="0">
                          <a:solidFill>
                            <a:srgbClr val="1E2330"/>
                          </a:solidFill>
                          <a:latin typeface="BIZ UDPGothic" pitchFamily="34" charset="0"/>
                          <a:ea typeface="BIZ UDPGothic" pitchFamily="34" charset="-122"/>
                          <a:cs typeface="BIZ UDPGothic" pitchFamily="34" charset="-120"/>
                        </a:rPr>
                        <a:t>Workspace外読取</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cat ~/other/.env</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profile deny / minimal readにより拒否</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r>
              <a:tr h="493776">
                <a:tc>
                  <a:txBody>
                    <a:bodyPr/>
                    <a:lstStyle/>
                    <a:p>
                      <a:pPr algn="ctr" indent="0" marL="0">
                        <a:buNone/>
                      </a:pPr>
                      <a:r>
                        <a:rPr lang="en-US" sz="1150" b="1" dirty="0">
                          <a:solidFill>
                            <a:srgbClr val="1E2330"/>
                          </a:solidFill>
                          <a:latin typeface="BIZ UDPGothic" pitchFamily="34" charset="0"/>
                          <a:ea typeface="BIZ UDPGothic" pitchFamily="34" charset="-122"/>
                          <a:cs typeface="BIZ UDPGothic" pitchFamily="34" charset="-120"/>
                        </a:rPr>
                        <a:t>R2</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b="1" dirty="0">
                          <a:solidFill>
                            <a:srgbClr val="1E2330"/>
                          </a:solidFill>
                          <a:latin typeface="BIZ UDPGothic" pitchFamily="34" charset="0"/>
                          <a:ea typeface="BIZ UDPGothic" pitchFamily="34" charset="-122"/>
                          <a:cs typeface="BIZ UDPGothic" pitchFamily="34" charset="-120"/>
                        </a:rPr>
                        <a:t>Workspace外書込</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echo x &gt;&gt; ~/.bashrc</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workspace roots外のwrite不可</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r>
              <a:tr h="493776">
                <a:tc>
                  <a:txBody>
                    <a:bodyPr/>
                    <a:lstStyle/>
                    <a:p>
                      <a:pPr algn="ctr" indent="0" marL="0">
                        <a:buNone/>
                      </a:pPr>
                      <a:r>
                        <a:rPr lang="en-US" sz="1150" b="1" dirty="0">
                          <a:solidFill>
                            <a:srgbClr val="1E2330"/>
                          </a:solidFill>
                          <a:latin typeface="BIZ UDPGothic" pitchFamily="34" charset="0"/>
                          <a:ea typeface="BIZ UDPGothic" pitchFamily="34" charset="-122"/>
                          <a:cs typeface="BIZ UDPGothic" pitchFamily="34" charset="-120"/>
                        </a:rPr>
                        <a:t>R3</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b="1" dirty="0">
                          <a:solidFill>
                            <a:srgbClr val="1E2330"/>
                          </a:solidFill>
                          <a:latin typeface="BIZ UDPGothic" pitchFamily="34" charset="0"/>
                          <a:ea typeface="BIZ UDPGothic" pitchFamily="34" charset="-122"/>
                          <a:cs typeface="BIZ UDPGothic" pitchFamily="34" charset="-120"/>
                        </a:rPr>
                        <a:t>秘密情報</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cat .env</a:t>
                      </a:r>
                      <a:pPr indent="0" marL="0">
                        <a:buNone/>
                      </a:pPr>
                      <a:r>
                        <a:rPr lang="en-US" sz="1150" dirty="0">
                          <a:solidFill>
                            <a:srgbClr val="1E2330"/>
                          </a:solidFill>
                          <a:latin typeface="BIZ UDPGothic" pitchFamily="34" charset="0"/>
                          <a:ea typeface="BIZ UDPGothic" pitchFamily="34" charset="-122"/>
                          <a:cs typeface="BIZ UDPGothic" pitchFamily="34" charset="-120"/>
                        </a:rPr>
                        <a:t> / </a:t>
                      </a:r>
                      <a:pPr indent="0" marL="0">
                        <a:buNone/>
                      </a:pPr>
                      <a:r>
                        <a:rPr lang="en-US" sz="1150" dirty="0">
                          <a:solidFill>
                            <a:srgbClr val="1E2330"/>
                          </a:solidFill>
                          <a:latin typeface="Consolas" pitchFamily="34" charset="0"/>
                          <a:ea typeface="Consolas" pitchFamily="34" charset="-122"/>
                          <a:cs typeface="Consolas" pitchFamily="34" charset="-120"/>
                        </a:rPr>
                        <a:t>env</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.env</a:t>
                      </a:r>
                      <a:pPr indent="0" marL="0">
                        <a:buNone/>
                      </a:pPr>
                      <a:r>
                        <a:rPr lang="en-US" sz="1150" dirty="0">
                          <a:solidFill>
                            <a:srgbClr val="1E2330"/>
                          </a:solidFill>
                          <a:latin typeface="BIZ UDPGothic" pitchFamily="34" charset="0"/>
                          <a:ea typeface="BIZ UDPGothic" pitchFamily="34" charset="-122"/>
                          <a:cs typeface="BIZ UDPGothic" pitchFamily="34" charset="-120"/>
                        </a:rPr>
                        <a:t> deny。環境変数注入は別途実値有無を確認</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r>
              <a:tr h="493776">
                <a:tc>
                  <a:txBody>
                    <a:bodyPr/>
                    <a:lstStyle/>
                    <a:p>
                      <a:pPr algn="ctr" indent="0" marL="0">
                        <a:buNone/>
                      </a:pPr>
                      <a:r>
                        <a:rPr lang="en-US" sz="1150" b="1" dirty="0">
                          <a:solidFill>
                            <a:srgbClr val="1E2330"/>
                          </a:solidFill>
                          <a:latin typeface="BIZ UDPGothic" pitchFamily="34" charset="0"/>
                          <a:ea typeface="BIZ UDPGothic" pitchFamily="34" charset="-122"/>
                          <a:cs typeface="BIZ UDPGothic" pitchFamily="34" charset="-120"/>
                        </a:rPr>
                        <a:t>R4</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b="1" dirty="0">
                          <a:solidFill>
                            <a:srgbClr val="1E2330"/>
                          </a:solidFill>
                          <a:latin typeface="BIZ UDPGothic" pitchFamily="34" charset="0"/>
                          <a:ea typeface="BIZ UDPGothic" pitchFamily="34" charset="-122"/>
                          <a:cs typeface="BIZ UDPGothic" pitchFamily="34" charset="-120"/>
                        </a:rPr>
                        <a:t>外部通信</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許可外hostへ</a:t>
                      </a:r>
                      <a:pPr indent="0" marL="0">
                        <a:buNone/>
                      </a:pPr>
                      <a:r>
                        <a:rPr lang="en-US" sz="1150" dirty="0">
                          <a:solidFill>
                            <a:srgbClr val="1E2330"/>
                          </a:solidFill>
                          <a:latin typeface="Consolas" pitchFamily="34" charset="0"/>
                          <a:ea typeface="Consolas" pitchFamily="34" charset="-122"/>
                          <a:cs typeface="Consolas" pitchFamily="34" charset="-120"/>
                        </a:rPr>
                        <a:t>curl</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proxy ONで拒否。proxy OFF時は直接通信にならないか確認</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r>
              <a:tr h="493776">
                <a:tc>
                  <a:txBody>
                    <a:bodyPr/>
                    <a:lstStyle/>
                    <a:p>
                      <a:pPr algn="ctr" indent="0" marL="0">
                        <a:buNone/>
                      </a:pPr>
                      <a:r>
                        <a:rPr lang="en-US" sz="1150" b="1" dirty="0">
                          <a:solidFill>
                            <a:srgbClr val="1E2330"/>
                          </a:solidFill>
                          <a:latin typeface="BIZ UDPGothic" pitchFamily="34" charset="0"/>
                          <a:ea typeface="BIZ UDPGothic" pitchFamily="34" charset="-122"/>
                          <a:cs typeface="BIZ UDPGothic" pitchFamily="34" charset="-120"/>
                        </a:rPr>
                        <a:t>R5</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b="1" dirty="0">
                          <a:solidFill>
                            <a:srgbClr val="1E2330"/>
                          </a:solidFill>
                          <a:latin typeface="BIZ UDPGothic" pitchFamily="34" charset="0"/>
                          <a:ea typeface="BIZ UDPGothic" pitchFamily="34" charset="-122"/>
                          <a:cs typeface="BIZ UDPGothic" pitchFamily="34" charset="-120"/>
                        </a:rPr>
                        <a:t>危険コマンド</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削除 / 権限変更 / 外部実行</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境界内のみ。境界外は承認要求または拒否</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FFFFF"/>
                    </a:solidFill>
                  </a:tcPr>
                </a:tc>
              </a:tr>
              <a:tr h="493776">
                <a:tc>
                  <a:txBody>
                    <a:bodyPr/>
                    <a:lstStyle/>
                    <a:p>
                      <a:pPr algn="ctr" indent="0" marL="0">
                        <a:buNone/>
                      </a:pPr>
                      <a:r>
                        <a:rPr lang="en-US" sz="1150" b="1" dirty="0">
                          <a:solidFill>
                            <a:srgbClr val="1E2330"/>
                          </a:solidFill>
                          <a:latin typeface="BIZ UDPGothic" pitchFamily="34" charset="0"/>
                          <a:ea typeface="BIZ UDPGothic" pitchFamily="34" charset="-122"/>
                          <a:cs typeface="BIZ UDPGothic" pitchFamily="34" charset="-120"/>
                        </a:rPr>
                        <a:t>R6</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b="1" dirty="0">
                          <a:solidFill>
                            <a:srgbClr val="1E2330"/>
                          </a:solidFill>
                          <a:latin typeface="BIZ UDPGothic" pitchFamily="34" charset="0"/>
                          <a:ea typeface="BIZ UDPGothic" pitchFamily="34" charset="-122"/>
                          <a:cs typeface="BIZ UDPGothic" pitchFamily="34" charset="-120"/>
                        </a:rPr>
                        <a:t>権限拡張</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追加file / network access要求</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approval policyで記録・拒否できるか確認</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r>
              <a:tr h="493776">
                <a:tc>
                  <a:txBody>
                    <a:bodyPr/>
                    <a:lstStyle/>
                    <a:p>
                      <a:pPr algn="ctr" indent="0" marL="0">
                        <a:buNone/>
                      </a:pPr>
                      <a:r>
                        <a:rPr lang="en-US" sz="1150" b="1" dirty="0">
                          <a:solidFill>
                            <a:srgbClr val="B83A3A"/>
                          </a:solidFill>
                          <a:latin typeface="BIZ UDPGothic" pitchFamily="34" charset="0"/>
                          <a:ea typeface="BIZ UDPGothic" pitchFamily="34" charset="-122"/>
                          <a:cs typeface="BIZ UDPGothic" pitchFamily="34" charset="-120"/>
                        </a:rPr>
                        <a:t>R7</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BECEC"/>
                    </a:solidFill>
                  </a:tcPr>
                </a:tc>
                <a:tc>
                  <a:txBody>
                    <a:bodyPr/>
                    <a:lstStyle/>
                    <a:p>
                      <a:pPr indent="0" marL="0">
                        <a:buNone/>
                      </a:pPr>
                      <a:r>
                        <a:rPr lang="en-US" sz="1150" b="1" dirty="0">
                          <a:solidFill>
                            <a:srgbClr val="1E2330"/>
                          </a:solidFill>
                          <a:latin typeface="BIZ UDPGothic" pitchFamily="34" charset="0"/>
                          <a:ea typeface="BIZ UDPGothic" pitchFamily="34" charset="-122"/>
                          <a:cs typeface="BIZ UDPGothic" pitchFamily="34" charset="-120"/>
                        </a:rPr>
                        <a:t>外部ツール</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BECEC"/>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MCP / Browser / Cloud側操作</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BECEC"/>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Permission Profile外。別のfeature / workspace policyを確認</a:t>
                      </a:r>
                      <a:endParaRPr lang="en-US" sz="1150" dirty="0">
                        <a:latin typeface="BIZ UDPGothic" charset="0"/>
                        <a:ea typeface="BIZ UDPGothic" charset="0"/>
                        <a:cs typeface="BIZ UDPGothic" charset="0"/>
                      </a:endParaRPr>
                    </a:p>
                  </a:txBody>
                  <a:tcPr marL="109728" marR="109728"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BECEC"/>
                    </a:solidFill>
                  </a:tcPr>
                </a:tc>
              </a:tr>
            </a:tbl>
          </a:graphicData>
        </a:graphic>
      </p:graphicFrame>
      <p:sp>
        <p:nvSpPr>
          <p:cNvPr id="8" name="Shape 5"/>
          <p:cNvSpPr/>
          <p:nvPr/>
        </p:nvSpPr>
        <p:spPr>
          <a:xfrm>
            <a:off x="548640" y="5715000"/>
            <a:ext cx="5432908" cy="530352"/>
          </a:xfrm>
          <a:prstGeom prst="roundRect">
            <a:avLst>
              <a:gd name="adj" fmla="val 13793"/>
            </a:avLst>
          </a:prstGeom>
          <a:solidFill>
            <a:srgbClr val="E8F4EE"/>
          </a:solidFill>
          <a:ln/>
        </p:spPr>
      </p:sp>
      <p:sp>
        <p:nvSpPr>
          <p:cNvPr id="9" name="Text 6"/>
          <p:cNvSpPr txBox="1"/>
          <p:nvPr/>
        </p:nvSpPr>
        <p:spPr>
          <a:xfrm>
            <a:off x="822960" y="5715000"/>
            <a:ext cx="4975708" cy="530352"/>
          </a:xfrm>
          <a:prstGeom prst="rect">
            <a:avLst/>
          </a:prstGeom>
          <a:noFill/>
          <a:ln/>
        </p:spPr>
        <p:txBody>
          <a:bodyPr wrap="square" lIns="0" tIns="0" rIns="0" bIns="0" rtlCol="0" anchor="ctr"/>
          <a:lstStyle/>
          <a:p>
            <a:pPr indent="0" marL="0">
              <a:buNone/>
            </a:pPr>
            <a:r>
              <a:rPr lang="en-US" sz="1300" b="1" dirty="0">
                <a:solidFill>
                  <a:srgbClr val="2E7D5B"/>
                </a:solidFill>
                <a:latin typeface="BIZ UDPGothic" pitchFamily="34" charset="0"/>
                <a:ea typeface="BIZ UDPGothic" pitchFamily="34" charset="-122"/>
                <a:cs typeface="BIZ UDPGothic" pitchFamily="34" charset="-120"/>
              </a:rPr>
              <a:t>通常試験　</a:t>
            </a:r>
            <a:pPr indent="0" marL="0">
              <a:buNone/>
            </a:pPr>
            <a:r>
              <a:rPr lang="en-US" sz="1300" dirty="0">
                <a:solidFill>
                  <a:srgbClr val="1E2330"/>
                </a:solidFill>
                <a:latin typeface="Consolas" pitchFamily="34" charset="0"/>
                <a:ea typeface="Consolas" pitchFamily="34" charset="-122"/>
                <a:cs typeface="Consolas" pitchFamily="34" charset="-120"/>
              </a:rPr>
              <a:t>Permission Profile + network_proxy ON</a:t>
            </a:r>
            <a:endParaRPr lang="en-US" sz="1300" dirty="0"/>
          </a:p>
        </p:txBody>
      </p:sp>
      <p:sp>
        <p:nvSpPr>
          <p:cNvPr id="10" name="Shape 7"/>
          <p:cNvSpPr/>
          <p:nvPr/>
        </p:nvSpPr>
        <p:spPr>
          <a:xfrm>
            <a:off x="6210148" y="5715000"/>
            <a:ext cx="5432908" cy="530352"/>
          </a:xfrm>
          <a:prstGeom prst="roundRect">
            <a:avLst>
              <a:gd name="adj" fmla="val 13793"/>
            </a:avLst>
          </a:prstGeom>
          <a:solidFill>
            <a:srgbClr val="FBF4E4"/>
          </a:solidFill>
          <a:ln/>
        </p:spPr>
      </p:sp>
      <p:sp>
        <p:nvSpPr>
          <p:cNvPr id="11" name="Text 8"/>
          <p:cNvSpPr txBox="1"/>
          <p:nvPr/>
        </p:nvSpPr>
        <p:spPr>
          <a:xfrm>
            <a:off x="6484468" y="5715000"/>
            <a:ext cx="4975708" cy="530352"/>
          </a:xfrm>
          <a:prstGeom prst="rect">
            <a:avLst/>
          </a:prstGeom>
          <a:noFill/>
          <a:ln/>
        </p:spPr>
        <p:txBody>
          <a:bodyPr wrap="square" lIns="0" tIns="0" rIns="0" bIns="0" rtlCol="0" anchor="ctr"/>
          <a:lstStyle/>
          <a:p>
            <a:pPr indent="0" marL="0">
              <a:buNone/>
            </a:pPr>
            <a:r>
              <a:rPr lang="en-US" sz="1300" b="1" dirty="0">
                <a:solidFill>
                  <a:srgbClr val="9A6A12"/>
                </a:solidFill>
                <a:latin typeface="BIZ UDPGothic" pitchFamily="34" charset="0"/>
                <a:ea typeface="BIZ UDPGothic" pitchFamily="34" charset="-122"/>
                <a:cs typeface="BIZ UDPGothic" pitchFamily="34" charset="-120"/>
              </a:rPr>
              <a:t>誤設定試験　</a:t>
            </a:r>
            <a:pPr indent="0" marL="0">
              <a:buNone/>
            </a:pPr>
            <a:r>
              <a:rPr lang="en-US" sz="1300" dirty="0">
                <a:solidFill>
                  <a:srgbClr val="1E2330"/>
                </a:solidFill>
                <a:latin typeface="Consolas" pitchFamily="34" charset="0"/>
                <a:ea typeface="Consolas" pitchFamily="34" charset="-122"/>
                <a:cs typeface="Consolas" pitchFamily="34" charset="-120"/>
              </a:rPr>
              <a:t>network.enabled ON / network_proxy OFF</a:t>
            </a:r>
            <a:endParaRPr lang="en-US" sz="1300" dirty="0"/>
          </a:p>
        </p:txBody>
      </p:sp>
      <p:sp>
        <p:nvSpPr>
          <p:cNvPr id="12" name="Text 9"/>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OpenAI Codex permissions / agent approvals docs</a:t>
            </a:r>
            <a:endParaRPr lang="en-US" sz="900" dirty="0"/>
          </a:p>
        </p:txBody>
      </p:sp>
      <p:sp>
        <p:nvSpPr>
          <p:cNvPr id="13" name="Text 10"/>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F4F6F9"/>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共通</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Claude Code / Codex 比較</a:t>
            </a:r>
            <a:endParaRPr lang="en-US" sz="2800" dirty="0"/>
          </a:p>
        </p:txBody>
      </p:sp>
      <p:sp>
        <p:nvSpPr>
          <p:cNvPr id="6" name="Text 4"/>
          <p:cNvSpPr txBox="1"/>
          <p:nvPr/>
        </p:nvSpPr>
        <p:spPr>
          <a:xfrm>
            <a:off x="548640" y="1207008"/>
            <a:ext cx="11094415" cy="329184"/>
          </a:xfrm>
          <a:prstGeom prst="rect">
            <a:avLst/>
          </a:prstGeom>
          <a:noFill/>
          <a:ln/>
        </p:spPr>
        <p:txBody>
          <a:bodyPr wrap="square" lIns="0" tIns="0" rIns="0" bIns="0" rtlCol="0" anchor="ctr"/>
          <a:lstStyle/>
          <a:p>
            <a:pPr indent="0" marL="0">
              <a:buNone/>
            </a:pPr>
            <a:r>
              <a:rPr lang="en-US" sz="1400" dirty="0">
                <a:solidFill>
                  <a:srgbClr val="5A6272"/>
                </a:solidFill>
                <a:latin typeface="BIZ UDPGothic" pitchFamily="34" charset="0"/>
                <a:ea typeface="BIZ UDPGothic" pitchFamily="34" charset="-122"/>
                <a:cs typeface="BIZ UDPGothic" pitchFamily="34" charset="-120"/>
              </a:rPr>
              <a:t>金融機関向け評価プロファイルを適用した場合の見方</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737360"/>
                <a:gridCol w="4678528"/>
                <a:gridCol w="4678528"/>
              </a:tblGrid>
              <a:tr h="384048">
                <a:tc>
                  <a:txBody>
                    <a:bodyPr/>
                    <a:lstStyle/>
                    <a:p>
                      <a:pPr indent="0" marL="0">
                        <a:buNone/>
                      </a:pPr>
                      <a:r>
                        <a:rPr lang="en-US" sz="1200" b="1" dirty="0">
                          <a:solidFill>
                            <a:srgbClr val="5A6272"/>
                          </a:solidFill>
                          <a:latin typeface="BIZ UDPGothic" pitchFamily="34" charset="0"/>
                          <a:ea typeface="BIZ UDPGothic" pitchFamily="34" charset="-122"/>
                          <a:cs typeface="BIZ UDPGothic" pitchFamily="34" charset="-120"/>
                        </a:rPr>
                        <a:t>観点</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Claude Code</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C15F3C"/>
                    </a:solidFill>
                  </a:tcPr>
                </a:tc>
                <a:tc>
                  <a:txBody>
                    <a:bodyPr/>
                    <a:lstStyle/>
                    <a:p>
                      <a:pPr indent="0" marL="0">
                        <a:buNone/>
                      </a:pPr>
                      <a:r>
                        <a:rPr lang="en-US" sz="1200" b="1" dirty="0">
                          <a:solidFill>
                            <a:srgbClr val="FFFFFF"/>
                          </a:solidFill>
                          <a:latin typeface="BIZ UDPGothic" pitchFamily="34" charset="0"/>
                          <a:ea typeface="BIZ UDPGothic" pitchFamily="34" charset="-122"/>
                          <a:cs typeface="BIZ UDPGothic" pitchFamily="34" charset="-120"/>
                        </a:rPr>
                        <a:t>Codex</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3A55B4"/>
                    </a:solidFill>
                  </a:tcPr>
                </a:tc>
              </a:tr>
              <a:tr h="548640">
                <a:tc>
                  <a:txBody>
                    <a:bodyPr/>
                    <a:lstStyle/>
                    <a:p>
                      <a:pPr indent="0" marL="0">
                        <a:buNone/>
                      </a:pPr>
                      <a:r>
                        <a:rPr lang="en-US" sz="1200" b="1" dirty="0">
                          <a:solidFill>
                            <a:srgbClr val="1E2330"/>
                          </a:solidFill>
                          <a:latin typeface="BIZ UDPGothic" pitchFamily="34" charset="0"/>
                          <a:ea typeface="BIZ UDPGothic" pitchFamily="34" charset="-122"/>
                          <a:cs typeface="BIZ UDPGothic" pitchFamily="34" charset="-120"/>
                        </a:rPr>
                        <a:t>制御の中心</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Sandboxed Bash tool + permission rules。OS境界と許可ルールの二層</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Permission Profiles + approval policy。旧sandbox_modeとは分けて設計</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548640">
                <a:tc>
                  <a:txBody>
                    <a:bodyPr/>
                    <a:lstStyle/>
                    <a:p>
                      <a:pPr indent="0" marL="0">
                        <a:buNone/>
                      </a:pPr>
                      <a:r>
                        <a:rPr lang="en-US" sz="1200" b="1" dirty="0">
                          <a:solidFill>
                            <a:srgbClr val="1E2330"/>
                          </a:solidFill>
                          <a:latin typeface="BIZ UDPGothic" pitchFamily="34" charset="0"/>
                          <a:ea typeface="BIZ UDPGothic" pitchFamily="34" charset="-122"/>
                          <a:cs typeface="BIZ UDPGothic" pitchFamily="34" charset="-120"/>
                        </a:rPr>
                        <a:t>Workspace外読取</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denyRead</a:t>
                      </a:r>
                      <a:pPr indent="0" marL="0">
                        <a:buNone/>
                      </a:pPr>
                      <a:r>
                        <a:rPr lang="en-US" sz="1150" dirty="0">
                          <a:solidFill>
                            <a:srgbClr val="1E2330"/>
                          </a:solidFill>
                          <a:latin typeface="BIZ UDPGothic" pitchFamily="34" charset="0"/>
                          <a:ea typeface="BIZ UDPGothic" pitchFamily="34" charset="-122"/>
                          <a:cs typeface="BIZ UDPGothic" pitchFamily="34" charset="-120"/>
                        </a:rPr>
                        <a:t> / </a:t>
                      </a:r>
                      <a:pPr indent="0" marL="0">
                        <a:buNone/>
                      </a:pPr>
                      <a:r>
                        <a:rPr lang="en-US" sz="1150" dirty="0">
                          <a:solidFill>
                            <a:srgbClr val="1E2330"/>
                          </a:solidFill>
                          <a:latin typeface="Consolas" pitchFamily="34" charset="0"/>
                          <a:ea typeface="Consolas" pitchFamily="34" charset="-122"/>
                          <a:cs typeface="Consolas" pitchFamily="34" charset="-120"/>
                        </a:rPr>
                        <a:t>allowRead</a:t>
                      </a:r>
                      <a:pPr indent="0" marL="0">
                        <a:buNone/>
                      </a:pPr>
                      <a:r>
                        <a:rPr lang="en-US" sz="1150" dirty="0">
                          <a:solidFill>
                            <a:srgbClr val="1E2330"/>
                          </a:solidFill>
                          <a:latin typeface="BIZ UDPGothic" pitchFamily="34" charset="0"/>
                          <a:ea typeface="BIZ UDPGothic" pitchFamily="34" charset="-122"/>
                          <a:cs typeface="BIZ UDPGothic" pitchFamily="34" charset="-120"/>
                        </a:rPr>
                        <a:t>。管理者固定には</a:t>
                      </a:r>
                      <a:pPr indent="0" marL="0">
                        <a:buNone/>
                      </a:pPr>
                      <a:r>
                        <a:rPr lang="en-US" sz="1150" dirty="0">
                          <a:solidFill>
                            <a:srgbClr val="1E2330"/>
                          </a:solidFill>
                          <a:latin typeface="Consolas" pitchFamily="34" charset="0"/>
                          <a:ea typeface="Consolas" pitchFamily="34" charset="-122"/>
                          <a:cs typeface="Consolas" pitchFamily="34" charset="-120"/>
                        </a:rPr>
                        <a:t>allowManagedReadPathsOnly</a:t>
                      </a:r>
                      <a:pPr indent="0" marL="0">
                        <a:buNone/>
                      </a:pPr>
                      <a:r>
                        <a:rPr lang="en-US" sz="1150" dirty="0">
                          <a:solidFill>
                            <a:srgbClr val="1E2330"/>
                          </a:solidFill>
                          <a:latin typeface="BIZ UDPGothic" pitchFamily="34" charset="0"/>
                          <a:ea typeface="BIZ UDPGothic" pitchFamily="34" charset="-122"/>
                          <a:cs typeface="BIZ UDPGothic" pitchFamily="34" charset="-120"/>
                        </a:rPr>
                        <a:t>も確認</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:minimal</a:t>
                      </a:r>
                      <a:pPr indent="0" marL="0">
                        <a:buNone/>
                      </a:pPr>
                      <a:r>
                        <a:rPr lang="en-US" sz="1150" dirty="0">
                          <a:solidFill>
                            <a:srgbClr val="1E2330"/>
                          </a:solidFill>
                          <a:latin typeface="BIZ UDPGothic" pitchFamily="34" charset="0"/>
                          <a:ea typeface="BIZ UDPGothic" pitchFamily="34" charset="-122"/>
                          <a:cs typeface="BIZ UDPGothic" pitchFamily="34" charset="-120"/>
                        </a:rPr>
                        <a:t> + </a:t>
                      </a:r>
                      <a:pPr indent="0" marL="0">
                        <a:buNone/>
                      </a:pPr>
                      <a:r>
                        <a:rPr lang="en-US" sz="1150" dirty="0">
                          <a:solidFill>
                            <a:srgbClr val="1E2330"/>
                          </a:solidFill>
                          <a:latin typeface="Consolas" pitchFamily="34" charset="0"/>
                          <a:ea typeface="Consolas" pitchFamily="34" charset="-122"/>
                          <a:cs typeface="Consolas" pitchFamily="34" charset="-120"/>
                        </a:rPr>
                        <a:t>:workspace_roots</a:t>
                      </a:r>
                      <a:pPr indent="0" marL="0">
                        <a:buNone/>
                      </a:pPr>
                      <a:r>
                        <a:rPr lang="en-US" sz="1150" dirty="0">
                          <a:solidFill>
                            <a:srgbClr val="1E2330"/>
                          </a:solidFill>
                          <a:latin typeface="BIZ UDPGothic" pitchFamily="34" charset="0"/>
                          <a:ea typeface="BIZ UDPGothic" pitchFamily="34" charset="-122"/>
                          <a:cs typeface="BIZ UDPGothic" pitchFamily="34" charset="-120"/>
                        </a:rPr>
                        <a:t> + </a:t>
                      </a:r>
                      <a:pPr indent="0" marL="0">
                        <a:buNone/>
                      </a:pPr>
                      <a:r>
                        <a:rPr lang="en-US" sz="1150" dirty="0">
                          <a:solidFill>
                            <a:srgbClr val="1E2330"/>
                          </a:solidFill>
                          <a:latin typeface="Consolas" pitchFamily="34" charset="0"/>
                          <a:ea typeface="Consolas" pitchFamily="34" charset="-122"/>
                          <a:cs typeface="Consolas" pitchFamily="34" charset="-120"/>
                        </a:rPr>
                        <a:t>deny</a:t>
                      </a:r>
                      <a:pPr indent="0" marL="0">
                        <a:buNone/>
                      </a:pPr>
                      <a:r>
                        <a:rPr lang="en-US" sz="1150" dirty="0">
                          <a:solidFill>
                            <a:srgbClr val="1E2330"/>
                          </a:solidFill>
                          <a:latin typeface="BIZ UDPGothic" pitchFamily="34" charset="0"/>
                          <a:ea typeface="BIZ UDPGothic" pitchFamily="34" charset="-122"/>
                          <a:cs typeface="BIZ UDPGothic" pitchFamily="34" charset="-120"/>
                        </a:rPr>
                        <a:t>。</a:t>
                      </a:r>
                      <a:pPr indent="0" marL="0">
                        <a:buNone/>
                      </a:pPr>
                      <a:r>
                        <a:rPr lang="en-US" sz="1150" dirty="0">
                          <a:solidFill>
                            <a:srgbClr val="1E2330"/>
                          </a:solidFill>
                          <a:latin typeface="Consolas" pitchFamily="34" charset="0"/>
                          <a:ea typeface="Consolas" pitchFamily="34" charset="-122"/>
                          <a:cs typeface="Consolas" pitchFamily="34" charset="-120"/>
                        </a:rPr>
                        <a:t>.env</a:t>
                      </a:r>
                      <a:pPr indent="0" marL="0">
                        <a:buNone/>
                      </a:pPr>
                      <a:r>
                        <a:rPr lang="en-US" sz="1150" dirty="0">
                          <a:solidFill>
                            <a:srgbClr val="1E2330"/>
                          </a:solidFill>
                          <a:latin typeface="BIZ UDPGothic" pitchFamily="34" charset="0"/>
                          <a:ea typeface="BIZ UDPGothic" pitchFamily="34" charset="-122"/>
                          <a:cs typeface="BIZ UDPGothic" pitchFamily="34" charset="-120"/>
                        </a:rPr>
                        <a:t>等はglob denyで遮断</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548640">
                <a:tc>
                  <a:txBody>
                    <a:bodyPr/>
                    <a:lstStyle/>
                    <a:p>
                      <a:pPr indent="0" marL="0">
                        <a:buNone/>
                      </a:pPr>
                      <a:r>
                        <a:rPr lang="en-US" sz="1200" b="1" dirty="0">
                          <a:solidFill>
                            <a:srgbClr val="1E2330"/>
                          </a:solidFill>
                          <a:latin typeface="BIZ UDPGothic" pitchFamily="34" charset="0"/>
                          <a:ea typeface="BIZ UDPGothic" pitchFamily="34" charset="-122"/>
                          <a:cs typeface="BIZ UDPGothic" pitchFamily="34" charset="-120"/>
                        </a:rPr>
                        <a:t>秘密情報</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sandbox.credentials</a:t>
                      </a:r>
                      <a:pPr indent="0" marL="0">
                        <a:buNone/>
                      </a:pPr>
                      <a:r>
                        <a:rPr lang="en-US" sz="1150" dirty="0">
                          <a:solidFill>
                            <a:srgbClr val="1E2330"/>
                          </a:solidFill>
                          <a:latin typeface="BIZ UDPGothic" pitchFamily="34" charset="0"/>
                          <a:ea typeface="BIZ UDPGothic" pitchFamily="34" charset="-122"/>
                          <a:cs typeface="BIZ UDPGothic" pitchFamily="34" charset="-120"/>
                        </a:rPr>
                        <a:t>でdeny/mask。maskはproxy/TLS終端/host許可とセット</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ファイルは</a:t>
                      </a:r>
                      <a:pPr indent="0" marL="0">
                        <a:buNone/>
                      </a:pPr>
                      <a:r>
                        <a:rPr lang="en-US" sz="1150" dirty="0">
                          <a:solidFill>
                            <a:srgbClr val="1E2330"/>
                          </a:solidFill>
                          <a:latin typeface="Consolas" pitchFamily="34" charset="0"/>
                          <a:ea typeface="Consolas" pitchFamily="34" charset="-122"/>
                          <a:cs typeface="Consolas" pitchFamily="34" charset="-120"/>
                        </a:rPr>
                        <a:t>deny</a:t>
                      </a:r>
                      <a:pPr indent="0" marL="0">
                        <a:buNone/>
                      </a:pPr>
                      <a:r>
                        <a:rPr lang="en-US" sz="1150" dirty="0">
                          <a:solidFill>
                            <a:srgbClr val="1E2330"/>
                          </a:solidFill>
                          <a:latin typeface="BIZ UDPGothic" pitchFamily="34" charset="0"/>
                          <a:ea typeface="BIZ UDPGothic" pitchFamily="34" charset="-122"/>
                          <a:cs typeface="BIZ UDPGothic" pitchFamily="34" charset="-120"/>
                        </a:rPr>
                        <a:t>。環境変数・connector資格情報は別境界として確認</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548640">
                <a:tc>
                  <a:txBody>
                    <a:bodyPr/>
                    <a:lstStyle/>
                    <a:p>
                      <a:pPr indent="0" marL="0">
                        <a:buNone/>
                      </a:pPr>
                      <a:r>
                        <a:rPr lang="en-US" sz="1200" b="1" dirty="0">
                          <a:solidFill>
                            <a:srgbClr val="1E2330"/>
                          </a:solidFill>
                          <a:latin typeface="BIZ UDPGothic" pitchFamily="34" charset="0"/>
                          <a:ea typeface="BIZ UDPGothic" pitchFamily="34" charset="-122"/>
                          <a:cs typeface="BIZ UDPGothic" pitchFamily="34" charset="-120"/>
                        </a:rPr>
                        <a:t>外部通信</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allowedDomains</a:t>
                      </a:r>
                      <a:pPr indent="0" marL="0">
                        <a:buNone/>
                      </a:pPr>
                      <a:r>
                        <a:rPr lang="en-US" sz="1150" dirty="0">
                          <a:solidFill>
                            <a:srgbClr val="1E2330"/>
                          </a:solidFill>
                          <a:latin typeface="BIZ UDPGothic" pitchFamily="34" charset="0"/>
                          <a:ea typeface="BIZ UDPGothic" pitchFamily="34" charset="-122"/>
                          <a:cs typeface="BIZ UDPGothic" pitchFamily="34" charset="-120"/>
                        </a:rPr>
                        <a:t> + </a:t>
                      </a:r>
                      <a:pPr indent="0" marL="0">
                        <a:buNone/>
                      </a:pPr>
                      <a:r>
                        <a:rPr lang="en-US" sz="1150" dirty="0">
                          <a:solidFill>
                            <a:srgbClr val="1E2330"/>
                          </a:solidFill>
                          <a:latin typeface="Consolas" pitchFamily="34" charset="0"/>
                          <a:ea typeface="Consolas" pitchFamily="34" charset="-122"/>
                          <a:cs typeface="Consolas" pitchFamily="34" charset="-120"/>
                        </a:rPr>
                        <a:t>strictAllowlist</a:t>
                      </a:r>
                      <a:pPr indent="0" marL="0">
                        <a:buNone/>
                      </a:pPr>
                      <a:r>
                        <a:rPr lang="en-US" sz="1150" dirty="0">
                          <a:solidFill>
                            <a:srgbClr val="1E2330"/>
                          </a:solidFill>
                          <a:latin typeface="BIZ UDPGothic" pitchFamily="34" charset="0"/>
                          <a:ea typeface="BIZ UDPGothic" pitchFamily="34" charset="-122"/>
                          <a:cs typeface="BIZ UDPGothic" pitchFamily="34" charset="-120"/>
                        </a:rPr>
                        <a:t>。強保証にはcustom proxy/TLS検査が必要になる場合あり</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network.enabled</a:t>
                      </a:r>
                      <a:pPr indent="0" marL="0">
                        <a:buNone/>
                      </a:pPr>
                      <a:r>
                        <a:rPr lang="en-US" sz="1150" dirty="0">
                          <a:solidFill>
                            <a:srgbClr val="1E2330"/>
                          </a:solidFill>
                          <a:latin typeface="BIZ UDPGothic" pitchFamily="34" charset="0"/>
                          <a:ea typeface="BIZ UDPGothic" pitchFamily="34" charset="-122"/>
                          <a:cs typeface="BIZ UDPGothic" pitchFamily="34" charset="-120"/>
                        </a:rPr>
                        <a:t> + </a:t>
                      </a:r>
                      <a:pPr indent="0" marL="0">
                        <a:buNone/>
                      </a:pPr>
                      <a:r>
                        <a:rPr lang="en-US" sz="1150" dirty="0">
                          <a:solidFill>
                            <a:srgbClr val="1E2330"/>
                          </a:solidFill>
                          <a:latin typeface="Consolas" pitchFamily="34" charset="0"/>
                          <a:ea typeface="Consolas" pitchFamily="34" charset="-122"/>
                          <a:cs typeface="Consolas" pitchFamily="34" charset="-120"/>
                        </a:rPr>
                        <a:t>features.network_proxy</a:t>
                      </a:r>
                      <a:pPr indent="0" marL="0">
                        <a:buNone/>
                      </a:pPr>
                      <a:r>
                        <a:rPr lang="en-US" sz="1150" dirty="0">
                          <a:solidFill>
                            <a:srgbClr val="1E2330"/>
                          </a:solidFill>
                          <a:latin typeface="BIZ UDPGothic" pitchFamily="34" charset="0"/>
                          <a:ea typeface="BIZ UDPGothic" pitchFamily="34" charset="-122"/>
                          <a:cs typeface="BIZ UDPGothic" pitchFamily="34" charset="-120"/>
                        </a:rPr>
                        <a:t> + domain rules。proxyなしではdomain rules非強制</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548640">
                <a:tc>
                  <a:txBody>
                    <a:bodyPr/>
                    <a:lstStyle/>
                    <a:p>
                      <a:pPr indent="0" marL="0">
                        <a:buNone/>
                      </a:pPr>
                      <a:r>
                        <a:rPr lang="en-US" sz="1200" b="1" dirty="0">
                          <a:solidFill>
                            <a:srgbClr val="1E2330"/>
                          </a:solidFill>
                          <a:latin typeface="BIZ UDPGothic" pitchFamily="34" charset="0"/>
                          <a:ea typeface="BIZ UDPGothic" pitchFamily="34" charset="-122"/>
                          <a:cs typeface="BIZ UDPGothic" pitchFamily="34" charset="-120"/>
                        </a:rPr>
                        <a:t>解除・例外</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allowUnsandboxedCommands=false</a:t>
                      </a:r>
                      <a:pPr indent="0" marL="0">
                        <a:buNone/>
                      </a:pPr>
                      <a:r>
                        <a:rPr lang="en-US" sz="1150" dirty="0">
                          <a:solidFill>
                            <a:srgbClr val="1E2330"/>
                          </a:solidFill>
                          <a:latin typeface="BIZ UDPGothic" pitchFamily="34" charset="0"/>
                          <a:ea typeface="BIZ UDPGothic" pitchFamily="34" charset="-122"/>
                          <a:cs typeface="BIZ UDPGothic" pitchFamily="34" charset="-120"/>
                        </a:rPr>
                        <a:t>。ただしshell-modeや</a:t>
                      </a:r>
                      <a:pPr indent="0" marL="0">
                        <a:buNone/>
                      </a:pPr>
                      <a:r>
                        <a:rPr lang="en-US" sz="1150" dirty="0">
                          <a:solidFill>
                            <a:srgbClr val="1E2330"/>
                          </a:solidFill>
                          <a:latin typeface="Consolas" pitchFamily="34" charset="0"/>
                          <a:ea typeface="Consolas" pitchFamily="34" charset="-122"/>
                          <a:cs typeface="Consolas" pitchFamily="34" charset="-120"/>
                        </a:rPr>
                        <a:t>excludedCommands</a:t>
                      </a:r>
                      <a:pPr indent="0" marL="0">
                        <a:buNone/>
                      </a:pPr>
                      <a:r>
                        <a:rPr lang="en-US" sz="1150" dirty="0">
                          <a:solidFill>
                            <a:srgbClr val="1E2330"/>
                          </a:solidFill>
                          <a:latin typeface="BIZ UDPGothic" pitchFamily="34" charset="0"/>
                          <a:ea typeface="BIZ UDPGothic" pitchFamily="34" charset="-122"/>
                          <a:cs typeface="BIZ UDPGothic" pitchFamily="34" charset="-120"/>
                        </a:rPr>
                        <a:t>の扱いを記録</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150" dirty="0">
                          <a:solidFill>
                            <a:srgbClr val="1E2330"/>
                          </a:solidFill>
                          <a:latin typeface="Consolas" pitchFamily="34" charset="0"/>
                          <a:ea typeface="Consolas" pitchFamily="34" charset="-122"/>
                          <a:cs typeface="Consolas" pitchFamily="34" charset="-120"/>
                        </a:rPr>
                        <a:t>:danger-full-access</a:t>
                      </a:r>
                      <a:pPr indent="0" marL="0">
                        <a:buNone/>
                      </a:pPr>
                      <a:r>
                        <a:rPr lang="en-US" sz="1150" dirty="0">
                          <a:solidFill>
                            <a:srgbClr val="1E2330"/>
                          </a:solidFill>
                          <a:latin typeface="BIZ UDPGothic" pitchFamily="34" charset="0"/>
                          <a:ea typeface="BIZ UDPGothic" pitchFamily="34" charset="-122"/>
                          <a:cs typeface="BIZ UDPGothic" pitchFamily="34" charset="-120"/>
                        </a:rPr>
                        <a:t> / </a:t>
                      </a:r>
                      <a:pPr indent="0" marL="0">
                        <a:buNone/>
                      </a:pPr>
                      <a:r>
                        <a:rPr lang="en-US" sz="1150" dirty="0">
                          <a:solidFill>
                            <a:srgbClr val="1E2330"/>
                          </a:solidFill>
                          <a:latin typeface="Consolas" pitchFamily="34" charset="0"/>
                          <a:ea typeface="Consolas" pitchFamily="34" charset="-122"/>
                          <a:cs typeface="Consolas" pitchFamily="34" charset="-120"/>
                        </a:rPr>
                        <a:t>--yolo</a:t>
                      </a:r>
                      <a:pPr indent="0" marL="0">
                        <a:buNone/>
                      </a:pPr>
                      <a:r>
                        <a:rPr lang="en-US" sz="1150" dirty="0">
                          <a:solidFill>
                            <a:srgbClr val="1E2330"/>
                          </a:solidFill>
                          <a:latin typeface="BIZ UDPGothic" pitchFamily="34" charset="0"/>
                          <a:ea typeface="BIZ UDPGothic" pitchFamily="34" charset="-122"/>
                          <a:cs typeface="BIZ UDPGothic" pitchFamily="34" charset="-120"/>
                        </a:rPr>
                        <a:t>をallowlist外に。追加権限要求はapproval policyで確認</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r h="548640">
                <a:tc>
                  <a:txBody>
                    <a:bodyPr/>
                    <a:lstStyle/>
                    <a:p>
                      <a:pPr indent="0" marL="0">
                        <a:buNone/>
                      </a:pPr>
                      <a:r>
                        <a:rPr lang="en-US" sz="1200" b="1" dirty="0">
                          <a:solidFill>
                            <a:srgbClr val="1E2330"/>
                          </a:solidFill>
                          <a:latin typeface="BIZ UDPGothic" pitchFamily="34" charset="0"/>
                          <a:ea typeface="BIZ UDPGothic" pitchFamily="34" charset="-122"/>
                          <a:cs typeface="BIZ UDPGothic" pitchFamily="34" charset="-120"/>
                        </a:rPr>
                        <a:t>OS / 対象範囲</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solidFill>
                      <a:srgbClr val="F4F6F9"/>
                    </a:solidFill>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macOS / Linux / WSL2。native Windows非対応。主にlocal subprocess</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c>
                  <a:txBody>
                    <a:bodyPr/>
                    <a:lstStyle/>
                    <a:p>
                      <a:pPr indent="0" marL="0">
                        <a:buNone/>
                      </a:pPr>
                      <a:r>
                        <a:rPr lang="en-US" sz="1150" dirty="0">
                          <a:solidFill>
                            <a:srgbClr val="1E2330"/>
                          </a:solidFill>
                          <a:latin typeface="BIZ UDPGothic" pitchFamily="34" charset="0"/>
                          <a:ea typeface="BIZ UDPGothic" pitchFamily="34" charset="-122"/>
                          <a:cs typeface="BIZ UDPGothic" pitchFamily="34" charset="-120"/>
                        </a:rPr>
                        <a:t>macOS / Linux / WSL / native Windows。local command以外は別feature / workspace policy</a:t>
                      </a:r>
                      <a:endParaRPr lang="en-US" sz="1200" dirty="0">
                        <a:latin typeface="BIZ UDPGothic" charset="0"/>
                        <a:ea typeface="BIZ UDPGothic" charset="0"/>
                        <a:cs typeface="BIZ UDPGothic" charset="0"/>
                      </a:endParaRPr>
                    </a:p>
                  </a:txBody>
                  <a:tcPr marL="128016" marR="128016" marT="36576" marB="36576" anchor="ctr">
                    <a:lnL w="9525" cap="flat" cmpd="sng" algn="ctr">
                      <a:solidFill>
                        <a:srgbClr val="DDE1E8"/>
                      </a:solidFill>
                      <a:prstDash val="solid"/>
                      <a:round/>
                      <a:headEnd type="none" w="med" len="med"/>
                      <a:tailEnd type="none" w="med" len="med"/>
                    </a:lnL>
                    <a:lnR w="9525" cap="flat" cmpd="sng" algn="ctr">
                      <a:solidFill>
                        <a:srgbClr val="DDE1E8"/>
                      </a:solidFill>
                      <a:prstDash val="solid"/>
                      <a:round/>
                      <a:headEnd type="none" w="med" len="med"/>
                      <a:tailEnd type="none" w="med" len="med"/>
                    </a:lnR>
                    <a:lnT w="9525" cap="flat" cmpd="sng" algn="ctr">
                      <a:solidFill>
                        <a:srgbClr val="DDE1E8"/>
                      </a:solidFill>
                      <a:prstDash val="solid"/>
                      <a:round/>
                      <a:headEnd type="none" w="med" len="med"/>
                      <a:tailEnd type="none" w="med" len="med"/>
                    </a:lnT>
                    <a:lnB w="9525" cap="flat" cmpd="sng" algn="ctr">
                      <a:solidFill>
                        <a:srgbClr val="DDE1E8"/>
                      </a:solidFill>
                      <a:prstDash val="solid"/>
                      <a:round/>
                      <a:headEnd type="none" w="med" len="med"/>
                      <a:tailEnd type="none" w="med" len="med"/>
                    </a:lnB>
                  </a:tcPr>
                </a:tc>
              </a:tr>
            </a:tbl>
          </a:graphicData>
        </a:graphic>
      </p:graphicFrame>
      <p:sp>
        <p:nvSpPr>
          <p:cNvPr id="8" name="Shape 5"/>
          <p:cNvSpPr/>
          <p:nvPr/>
        </p:nvSpPr>
        <p:spPr>
          <a:xfrm>
            <a:off x="548640" y="5650992"/>
            <a:ext cx="11094415" cy="585216"/>
          </a:xfrm>
          <a:prstGeom prst="roundRect">
            <a:avLst>
              <a:gd name="adj" fmla="val 9375"/>
            </a:avLst>
          </a:prstGeom>
          <a:solidFill>
            <a:srgbClr val="1B1F2A"/>
          </a:solidFill>
          <a:ln/>
        </p:spPr>
      </p:sp>
      <p:sp>
        <p:nvSpPr>
          <p:cNvPr id="9" name="Text 6"/>
          <p:cNvSpPr txBox="1"/>
          <p:nvPr/>
        </p:nvSpPr>
        <p:spPr>
          <a:xfrm>
            <a:off x="822960" y="5650992"/>
            <a:ext cx="10545775" cy="585216"/>
          </a:xfrm>
          <a:prstGeom prst="rect">
            <a:avLst/>
          </a:prstGeom>
          <a:noFill/>
          <a:ln/>
        </p:spPr>
        <p:txBody>
          <a:bodyPr wrap="square" lIns="0" tIns="0" rIns="0" bIns="0" rtlCol="0" anchor="ctr"/>
          <a:lstStyle/>
          <a:p>
            <a:pPr indent="0" marL="0">
              <a:buNone/>
            </a:pPr>
            <a:r>
              <a:rPr lang="en-US" sz="1350" b="1" dirty="0">
                <a:solidFill>
                  <a:srgbClr val="E8A589"/>
                </a:solidFill>
                <a:latin typeface="BIZ UDPGothic" pitchFamily="34" charset="0"/>
                <a:ea typeface="BIZ UDPGothic" pitchFamily="34" charset="-122"/>
                <a:cs typeface="BIZ UDPGothic" pitchFamily="34" charset="-120"/>
              </a:rPr>
              <a:t>比較の結論　</a:t>
            </a:r>
            <a:pPr indent="0" marL="0">
              <a:buNone/>
            </a:pPr>
            <a:r>
              <a:rPr lang="en-US" sz="1350" dirty="0">
                <a:solidFill>
                  <a:srgbClr val="FFFFFF"/>
                </a:solidFill>
                <a:latin typeface="BIZ UDPGothic" pitchFamily="34" charset="0"/>
                <a:ea typeface="BIZ UDPGothic" pitchFamily="34" charset="-122"/>
                <a:cs typeface="BIZ UDPGothic" pitchFamily="34" charset="-120"/>
              </a:rPr>
              <a:t>両者とも「Sandbox単体」では完結しない。local command境界と外部ツール境界を分けて評価する</a:t>
            </a:r>
            <a:endParaRPr lang="en-US" sz="1350" dirty="0"/>
          </a:p>
        </p:txBody>
      </p:sp>
      <p:sp>
        <p:nvSpPr>
          <p:cNvPr id="10" name="Text 7"/>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Anthropic / OpenAI official docs</a:t>
            </a:r>
            <a:endParaRPr lang="en-US" sz="900" dirty="0"/>
          </a:p>
        </p:txBody>
      </p:sp>
      <p:sp>
        <p:nvSpPr>
          <p:cNvPr id="11" name="Text 8"/>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000" dirty="0">
                <a:solidFill>
                  <a:srgbClr val="8A92A3"/>
                </a:solidFill>
                <a:latin typeface="BIZ UDPGothic" pitchFamily="34" charset="0"/>
                <a:ea typeface="BIZ UDPGothic" pitchFamily="34" charset="-122"/>
                <a:cs typeface="BIZ UDPGothic" pitchFamily="34" charset="-120"/>
              </a:rPr>
              <a:t>Claude Code / Codex Sandbox調査　|　金融機関向け設定・Windows PC前提</a:t>
            </a:r>
            <a:endParaRPr lang="en-US" sz="1000" dirty="0"/>
          </a:p>
        </p:txBody>
      </p:sp>
      <p:sp>
        <p:nvSpPr>
          <p:cNvPr id="3" name="Shape 1"/>
          <p:cNvSpPr/>
          <p:nvPr/>
        </p:nvSpPr>
        <p:spPr>
          <a:xfrm>
            <a:off x="10180015" y="329184"/>
            <a:ext cx="1463040" cy="310896"/>
          </a:xfrm>
          <a:prstGeom prst="roundRect">
            <a:avLst>
              <a:gd name="adj" fmla="val 50000"/>
            </a:avLst>
          </a:prstGeom>
          <a:solidFill>
            <a:srgbClr val="F4F6F9"/>
          </a:solidFill>
          <a:ln/>
        </p:spPr>
      </p:sp>
      <p:sp>
        <p:nvSpPr>
          <p:cNvPr id="4" name="Text 2"/>
          <p:cNvSpPr txBox="1"/>
          <p:nvPr/>
        </p:nvSpPr>
        <p:spPr>
          <a:xfrm>
            <a:off x="10180015" y="329184"/>
            <a:ext cx="1463040" cy="310896"/>
          </a:xfrm>
          <a:prstGeom prst="rect">
            <a:avLst/>
          </a:prstGeom>
          <a:noFill/>
          <a:ln/>
        </p:spPr>
        <p:txBody>
          <a:bodyPr wrap="square" lIns="0" tIns="0" rIns="0" bIns="0" rtlCol="0" anchor="ctr"/>
          <a:lstStyle/>
          <a:p>
            <a:pPr algn="ctr" indent="0" marL="0">
              <a:buNone/>
            </a:pPr>
            <a:r>
              <a:rPr lang="en-US" sz="1100" b="1" dirty="0">
                <a:solidFill>
                  <a:srgbClr val="5A6272"/>
                </a:solidFill>
                <a:latin typeface="BIZ UDPGothic" pitchFamily="34" charset="0"/>
                <a:ea typeface="BIZ UDPGothic" pitchFamily="34" charset="-122"/>
                <a:cs typeface="BIZ UDPGothic" pitchFamily="34" charset="-120"/>
              </a:rPr>
              <a:t>共通</a:t>
            </a:r>
            <a:endParaRPr lang="en-US" sz="1100" dirty="0"/>
          </a:p>
        </p:txBody>
      </p:sp>
      <p:sp>
        <p:nvSpPr>
          <p:cNvPr id="5" name="Text 3"/>
          <p:cNvSpPr txBox="1"/>
          <p:nvPr/>
        </p:nvSpPr>
        <p:spPr>
          <a:xfrm>
            <a:off x="548640" y="658368"/>
            <a:ext cx="11094415" cy="548640"/>
          </a:xfrm>
          <a:prstGeom prst="rect">
            <a:avLst/>
          </a:prstGeom>
          <a:noFill/>
          <a:ln/>
        </p:spPr>
        <p:txBody>
          <a:bodyPr wrap="square" lIns="0" tIns="0" rIns="0" bIns="0" rtlCol="0" anchor="ctr"/>
          <a:lstStyle/>
          <a:p>
            <a:pPr indent="0" marL="0">
              <a:buNone/>
            </a:pPr>
            <a:r>
              <a:rPr lang="en-US" sz="2800" b="1" dirty="0">
                <a:solidFill>
                  <a:srgbClr val="1E2330"/>
                </a:solidFill>
                <a:latin typeface="BIZ UDPGothic" pitchFamily="34" charset="0"/>
                <a:ea typeface="BIZ UDPGothic" pitchFamily="34" charset="-122"/>
                <a:cs typeface="BIZ UDPGothic" pitchFamily="34" charset="-120"/>
              </a:rPr>
              <a:t>確認結果: Sandboxで見る範囲 / 残す範囲</a:t>
            </a:r>
            <a:endParaRPr lang="en-US" sz="2800" dirty="0"/>
          </a:p>
        </p:txBody>
      </p:sp>
      <p:sp>
        <p:nvSpPr>
          <p:cNvPr id="6" name="Text 4"/>
          <p:cNvSpPr txBox="1"/>
          <p:nvPr/>
        </p:nvSpPr>
        <p:spPr>
          <a:xfrm>
            <a:off x="548640" y="1207008"/>
            <a:ext cx="11094415" cy="329184"/>
          </a:xfrm>
          <a:prstGeom prst="rect">
            <a:avLst/>
          </a:prstGeom>
          <a:noFill/>
          <a:ln/>
        </p:spPr>
        <p:txBody>
          <a:bodyPr wrap="square" lIns="0" tIns="0" rIns="0" bIns="0" rtlCol="0" anchor="ctr"/>
          <a:lstStyle/>
          <a:p>
            <a:pPr indent="0" marL="0">
              <a:buNone/>
            </a:pPr>
            <a:r>
              <a:rPr lang="en-US" sz="1400" dirty="0">
                <a:solidFill>
                  <a:srgbClr val="5A6272"/>
                </a:solidFill>
                <a:latin typeface="BIZ UDPGothic" pitchFamily="34" charset="0"/>
                <a:ea typeface="BIZ UDPGothic" pitchFamily="34" charset="-122"/>
                <a:cs typeface="BIZ UDPGothic" pitchFamily="34" charset="-120"/>
              </a:rPr>
              <a:t>PowerPoint版の到達点と、実機検証で埋める項目</a:t>
            </a:r>
            <a:endParaRPr lang="en-US" sz="1400" dirty="0"/>
          </a:p>
        </p:txBody>
      </p:sp>
      <p:sp>
        <p:nvSpPr>
          <p:cNvPr id="7" name="Shape 5"/>
          <p:cNvSpPr/>
          <p:nvPr/>
        </p:nvSpPr>
        <p:spPr>
          <a:xfrm>
            <a:off x="548640" y="1737360"/>
            <a:ext cx="5410048" cy="2240280"/>
          </a:xfrm>
          <a:prstGeom prst="roundRect">
            <a:avLst>
              <a:gd name="adj" fmla="val 3265"/>
            </a:avLst>
          </a:prstGeom>
          <a:solidFill>
            <a:srgbClr val="E8F4EE"/>
          </a:solidFill>
          <a:ln/>
        </p:spPr>
      </p:sp>
      <p:pic>
        <p:nvPicPr>
          <p:cNvPr id="8" name="Image 0" descr="preencoded.png">    </p:cNvPr>
          <p:cNvPicPr>
            <a:picLocks noChangeAspect="1"/>
          </p:cNvPicPr>
          <p:nvPr/>
        </p:nvPicPr>
        <p:blipFill>
          <a:blip r:embed="rId1"/>
          <a:stretch>
            <a:fillRect/>
          </a:stretch>
        </p:blipFill>
        <p:spPr>
          <a:xfrm>
            <a:off x="822960" y="1984248"/>
            <a:ext cx="274320" cy="274320"/>
          </a:xfrm>
          <a:prstGeom prst="rect">
            <a:avLst/>
          </a:prstGeom>
        </p:spPr>
      </p:pic>
      <p:sp>
        <p:nvSpPr>
          <p:cNvPr id="9" name="Text 6"/>
          <p:cNvSpPr txBox="1"/>
          <p:nvPr/>
        </p:nvSpPr>
        <p:spPr>
          <a:xfrm>
            <a:off x="1234440" y="1938528"/>
            <a:ext cx="4495648" cy="365760"/>
          </a:xfrm>
          <a:prstGeom prst="rect">
            <a:avLst/>
          </a:prstGeom>
          <a:noFill/>
          <a:ln/>
        </p:spPr>
        <p:txBody>
          <a:bodyPr wrap="square" lIns="0" tIns="0" rIns="0" bIns="0" rtlCol="0" anchor="ctr"/>
          <a:lstStyle/>
          <a:p>
            <a:pPr indent="0" marL="0">
              <a:buNone/>
            </a:pPr>
            <a:r>
              <a:rPr lang="en-US" sz="1600" b="1" dirty="0">
                <a:solidFill>
                  <a:srgbClr val="2E7D5B"/>
                </a:solidFill>
                <a:latin typeface="BIZ UDPGothic" pitchFamily="34" charset="0"/>
                <a:ea typeface="BIZ UDPGothic" pitchFamily="34" charset="-122"/>
                <a:cs typeface="BIZ UDPGothic" pitchFamily="34" charset="-120"/>
              </a:rPr>
              <a:t>Sandboxで主に確認できる</a:t>
            </a:r>
            <a:endParaRPr lang="en-US" sz="1600" dirty="0"/>
          </a:p>
        </p:txBody>
      </p:sp>
      <p:sp>
        <p:nvSpPr>
          <p:cNvPr id="10" name="Text 7"/>
          <p:cNvSpPr txBox="1"/>
          <p:nvPr/>
        </p:nvSpPr>
        <p:spPr>
          <a:xfrm>
            <a:off x="868680" y="2514600"/>
            <a:ext cx="4769968" cy="13258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E2330"/>
                </a:solidFill>
                <a:latin typeface="BIZ UDPGothic" pitchFamily="34" charset="0"/>
                <a:ea typeface="BIZ UDPGothic" pitchFamily="34" charset="-122"/>
                <a:cs typeface="BIZ UDPGothic" pitchFamily="34" charset="-120"/>
              </a:rPr>
              <a:t>ローカルコマンドのファイル読取 / 書込範囲</a:t>
            </a:r>
            <a:endParaRPr lang="en-US" sz="1350" dirty="0"/>
          </a:p>
          <a:p>
            <a:pPr marL="177800" indent="-177800">
              <a:spcAft>
                <a:spcPts val="600"/>
              </a:spcAft>
              <a:buSzPct val="100000"/>
              <a:buChar char="•"/>
            </a:pPr>
            <a:r>
              <a:rPr lang="en-US" sz="1350" dirty="0">
                <a:solidFill>
                  <a:srgbClr val="1E2330"/>
                </a:solidFill>
                <a:latin typeface="BIZ UDPGothic" pitchFamily="34" charset="0"/>
                <a:ea typeface="BIZ UDPGothic" pitchFamily="34" charset="-122"/>
                <a:cs typeface="BIZ UDPGothic" pitchFamily="34" charset="-120"/>
              </a:rPr>
              <a:t>コマンドからの外部通信先</a:t>
            </a:r>
            <a:endParaRPr lang="en-US" sz="1350" dirty="0"/>
          </a:p>
          <a:p>
            <a:pPr marL="177800" indent="-177800">
              <a:spcAft>
                <a:spcPts val="600"/>
              </a:spcAft>
              <a:buSzPct val="100000"/>
              <a:buChar char="•"/>
            </a:pPr>
            <a:r>
              <a:rPr lang="en-US" sz="1350" dirty="0">
                <a:solidFill>
                  <a:srgbClr val="1E2330"/>
                </a:solidFill>
                <a:latin typeface="BIZ UDPGothic" pitchFamily="34" charset="0"/>
                <a:ea typeface="BIZ UDPGothic" pitchFamily="34" charset="-122"/>
                <a:cs typeface="BIZ UDPGothic" pitchFamily="34" charset="-120"/>
              </a:rPr>
              <a:t>一部Credentialのdeny / mask</a:t>
            </a:r>
            <a:endParaRPr lang="en-US" sz="1350" dirty="0"/>
          </a:p>
          <a:p>
            <a:pPr marL="177800" indent="-177800">
              <a:spcAft>
                <a:spcPts val="600"/>
              </a:spcAft>
              <a:buSzPct val="100000"/>
              <a:buChar char="•"/>
            </a:pPr>
            <a:r>
              <a:rPr lang="en-US" sz="1350" dirty="0">
                <a:solidFill>
                  <a:srgbClr val="1E2330"/>
                </a:solidFill>
                <a:latin typeface="BIZ UDPGothic" pitchFamily="34" charset="0"/>
                <a:ea typeface="BIZ UDPGothic" pitchFamily="34" charset="-122"/>
                <a:cs typeface="BIZ UDPGothic" pitchFamily="34" charset="-120"/>
              </a:rPr>
              <a:t>Sandbox外実行・追加権限要求</a:t>
            </a:r>
            <a:endParaRPr lang="en-US" sz="1350" dirty="0"/>
          </a:p>
        </p:txBody>
      </p:sp>
      <p:sp>
        <p:nvSpPr>
          <p:cNvPr id="11" name="Shape 8"/>
          <p:cNvSpPr/>
          <p:nvPr/>
        </p:nvSpPr>
        <p:spPr>
          <a:xfrm>
            <a:off x="6233008" y="1737360"/>
            <a:ext cx="5410048" cy="2240280"/>
          </a:xfrm>
          <a:prstGeom prst="roundRect">
            <a:avLst>
              <a:gd name="adj" fmla="val 3265"/>
            </a:avLst>
          </a:prstGeom>
          <a:solidFill>
            <a:srgbClr val="FBECEC"/>
          </a:solidFill>
          <a:ln/>
        </p:spPr>
      </p:sp>
      <p:pic>
        <p:nvPicPr>
          <p:cNvPr id="12" name="Image 1" descr="preencoded.png">    </p:cNvPr>
          <p:cNvPicPr>
            <a:picLocks noChangeAspect="1"/>
          </p:cNvPicPr>
          <p:nvPr/>
        </p:nvPicPr>
        <p:blipFill>
          <a:blip r:embed="rId2"/>
          <a:stretch>
            <a:fillRect/>
          </a:stretch>
        </p:blipFill>
        <p:spPr>
          <a:xfrm>
            <a:off x="6507328" y="1984248"/>
            <a:ext cx="274320" cy="274320"/>
          </a:xfrm>
          <a:prstGeom prst="rect">
            <a:avLst/>
          </a:prstGeom>
        </p:spPr>
      </p:pic>
      <p:sp>
        <p:nvSpPr>
          <p:cNvPr id="13" name="Text 9"/>
          <p:cNvSpPr txBox="1"/>
          <p:nvPr/>
        </p:nvSpPr>
        <p:spPr>
          <a:xfrm>
            <a:off x="6918808" y="1938528"/>
            <a:ext cx="4495648" cy="365760"/>
          </a:xfrm>
          <a:prstGeom prst="rect">
            <a:avLst/>
          </a:prstGeom>
          <a:noFill/>
          <a:ln/>
        </p:spPr>
        <p:txBody>
          <a:bodyPr wrap="square" lIns="0" tIns="0" rIns="0" bIns="0" rtlCol="0" anchor="ctr"/>
          <a:lstStyle/>
          <a:p>
            <a:pPr indent="0" marL="0">
              <a:buNone/>
            </a:pPr>
            <a:r>
              <a:rPr lang="en-US" sz="1600" b="1" dirty="0">
                <a:solidFill>
                  <a:srgbClr val="B83A3A"/>
                </a:solidFill>
                <a:latin typeface="BIZ UDPGothic" pitchFamily="34" charset="0"/>
                <a:ea typeface="BIZ UDPGothic" pitchFamily="34" charset="-122"/>
                <a:cs typeface="BIZ UDPGothic" pitchFamily="34" charset="-120"/>
              </a:rPr>
              <a:t>Sandbox外として残す（別境界でテスト）</a:t>
            </a:r>
            <a:endParaRPr lang="en-US" sz="1600" dirty="0"/>
          </a:p>
        </p:txBody>
      </p:sp>
      <p:sp>
        <p:nvSpPr>
          <p:cNvPr id="14" name="Text 10"/>
          <p:cNvSpPr txBox="1"/>
          <p:nvPr/>
        </p:nvSpPr>
        <p:spPr>
          <a:xfrm>
            <a:off x="6553048" y="2514600"/>
            <a:ext cx="4769968" cy="13258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E2330"/>
                </a:solidFill>
                <a:latin typeface="BIZ UDPGothic" pitchFamily="34" charset="0"/>
                <a:ea typeface="BIZ UDPGothic" pitchFamily="34" charset="-122"/>
                <a:cs typeface="BIZ UDPGothic" pitchFamily="34" charset="-120"/>
              </a:rPr>
              <a:t>MCP / connector / Web検索 / Browser</a:t>
            </a:r>
            <a:endParaRPr lang="en-US" sz="1350" dirty="0"/>
          </a:p>
          <a:p>
            <a:pPr marL="177800" indent="-177800">
              <a:spcAft>
                <a:spcPts val="600"/>
              </a:spcAft>
              <a:buSzPct val="100000"/>
              <a:buChar char="•"/>
            </a:pPr>
            <a:r>
              <a:rPr lang="en-US" sz="1350" dirty="0">
                <a:solidFill>
                  <a:srgbClr val="1E2330"/>
                </a:solidFill>
                <a:latin typeface="BIZ UDPGothic" pitchFamily="34" charset="0"/>
                <a:ea typeface="BIZ UDPGothic" pitchFamily="34" charset="-122"/>
                <a:cs typeface="BIZ UDPGothic" pitchFamily="34" charset="-120"/>
              </a:rPr>
              <a:t>Computer Use / Cloud task</a:t>
            </a:r>
            <a:endParaRPr lang="en-US" sz="1350" dirty="0"/>
          </a:p>
          <a:p>
            <a:pPr marL="177800" indent="-177800">
              <a:spcAft>
                <a:spcPts val="600"/>
              </a:spcAft>
              <a:buSzPct val="100000"/>
              <a:buChar char="•"/>
            </a:pPr>
            <a:r>
              <a:rPr lang="en-US" sz="1350" dirty="0">
                <a:solidFill>
                  <a:srgbClr val="1E2330"/>
                </a:solidFill>
                <a:latin typeface="BIZ UDPGothic" pitchFamily="34" charset="0"/>
                <a:ea typeface="BIZ UDPGothic" pitchFamily="34" charset="-122"/>
                <a:cs typeface="BIZ UDPGothic" pitchFamily="34" charset="-120"/>
              </a:rPr>
              <a:t>許可ドメイン内への送信リスク</a:t>
            </a:r>
            <a:endParaRPr lang="en-US" sz="1350" dirty="0"/>
          </a:p>
          <a:p>
            <a:pPr marL="177800" indent="-177800">
              <a:spcAft>
                <a:spcPts val="600"/>
              </a:spcAft>
              <a:buSzPct val="100000"/>
              <a:buChar char="•"/>
            </a:pPr>
            <a:r>
              <a:rPr lang="en-US" sz="1350" dirty="0">
                <a:solidFill>
                  <a:srgbClr val="1E2330"/>
                </a:solidFill>
                <a:latin typeface="BIZ UDPGothic" pitchFamily="34" charset="0"/>
                <a:ea typeface="BIZ UDPGothic" pitchFamily="34" charset="-122"/>
                <a:cs typeface="BIZ UDPGothic" pitchFamily="34" charset="-120"/>
              </a:rPr>
              <a:t>ユーザー手動操作・例外コマンド</a:t>
            </a:r>
            <a:endParaRPr lang="en-US" sz="1350" dirty="0"/>
          </a:p>
        </p:txBody>
      </p:sp>
      <p:sp>
        <p:nvSpPr>
          <p:cNvPr id="15" name="Text 11"/>
          <p:cNvSpPr txBox="1"/>
          <p:nvPr/>
        </p:nvSpPr>
        <p:spPr>
          <a:xfrm>
            <a:off x="548640" y="4206240"/>
            <a:ext cx="6035040" cy="274320"/>
          </a:xfrm>
          <a:prstGeom prst="rect">
            <a:avLst/>
          </a:prstGeom>
          <a:noFill/>
          <a:ln/>
        </p:spPr>
        <p:txBody>
          <a:bodyPr wrap="square" lIns="0" tIns="0" rIns="0" bIns="0" rtlCol="0" anchor="t"/>
          <a:lstStyle/>
          <a:p>
            <a:pPr indent="0" marL="0">
              <a:buNone/>
            </a:pPr>
            <a:r>
              <a:rPr lang="en-US" sz="1200" b="1" dirty="0">
                <a:solidFill>
                  <a:srgbClr val="8A92A3"/>
                </a:solidFill>
                <a:latin typeface="BIZ UDPGothic" pitchFamily="34" charset="0"/>
                <a:ea typeface="BIZ UDPGothic" pitchFamily="34" charset="-122"/>
                <a:cs typeface="BIZ UDPGothic" pitchFamily="34" charset="-120"/>
              </a:rPr>
              <a:t>本版の立場</a:t>
            </a:r>
            <a:endParaRPr lang="en-US" sz="1200" dirty="0"/>
          </a:p>
        </p:txBody>
      </p:sp>
      <p:sp>
        <p:nvSpPr>
          <p:cNvPr id="16" name="Text 12"/>
          <p:cNvSpPr txBox="1"/>
          <p:nvPr/>
        </p:nvSpPr>
        <p:spPr>
          <a:xfrm>
            <a:off x="548640" y="4526280"/>
            <a:ext cx="6035040" cy="822960"/>
          </a:xfrm>
          <a:prstGeom prst="rect">
            <a:avLst/>
          </a:prstGeom>
          <a:noFill/>
          <a:ln/>
        </p:spPr>
        <p:txBody>
          <a:bodyPr wrap="square" lIns="0" tIns="0" rIns="0" bIns="0" rtlCol="0" anchor="t"/>
          <a:lstStyle/>
          <a:p>
            <a:pPr indent="0" marL="0">
              <a:lnSpc>
                <a:spcPct val="115000"/>
              </a:lnSpc>
              <a:buNone/>
            </a:pPr>
            <a:r>
              <a:rPr lang="en-US" sz="1250" dirty="0">
                <a:solidFill>
                  <a:srgbClr val="1E2330"/>
                </a:solidFill>
                <a:latin typeface="BIZ UDPGothic" pitchFamily="34" charset="0"/>
                <a:ea typeface="BIZ UDPGothic" pitchFamily="34" charset="-122"/>
                <a:cs typeface="BIZ UDPGothic" pitchFamily="34" charset="-120"/>
              </a:rPr>
              <a:t>デフォルト比較ではなく、金融機関向け評価プロファイルで比較する。Claude Code / CodexともSandboxは有効だが、MCP・Web・Browser・Cloudは別境界としてテスト表に残す。</a:t>
            </a:r>
            <a:endParaRPr lang="en-US" sz="1250" dirty="0"/>
          </a:p>
        </p:txBody>
      </p:sp>
      <p:sp>
        <p:nvSpPr>
          <p:cNvPr id="17" name="Shape 13"/>
          <p:cNvSpPr/>
          <p:nvPr/>
        </p:nvSpPr>
        <p:spPr>
          <a:xfrm>
            <a:off x="548640" y="5440680"/>
            <a:ext cx="6035040" cy="777240"/>
          </a:xfrm>
          <a:prstGeom prst="roundRect">
            <a:avLst>
              <a:gd name="adj" fmla="val 7059"/>
            </a:avLst>
          </a:prstGeom>
          <a:solidFill>
            <a:srgbClr val="FBF4E4"/>
          </a:solidFill>
          <a:ln/>
        </p:spPr>
      </p:sp>
      <p:sp>
        <p:nvSpPr>
          <p:cNvPr id="18" name="Text 14"/>
          <p:cNvSpPr txBox="1"/>
          <p:nvPr/>
        </p:nvSpPr>
        <p:spPr>
          <a:xfrm>
            <a:off x="777240" y="5440680"/>
            <a:ext cx="5577840" cy="777240"/>
          </a:xfrm>
          <a:prstGeom prst="rect">
            <a:avLst/>
          </a:prstGeom>
          <a:noFill/>
          <a:ln/>
        </p:spPr>
        <p:txBody>
          <a:bodyPr wrap="square" lIns="0" tIns="0" rIns="0" bIns="0" rtlCol="0" anchor="ctr"/>
          <a:lstStyle/>
          <a:p>
            <a:pPr indent="0" marL="0">
              <a:lnSpc>
                <a:spcPct val="110000"/>
              </a:lnSpc>
              <a:buNone/>
            </a:pPr>
            <a:r>
              <a:rPr lang="en-US" sz="1200" b="1" dirty="0">
                <a:solidFill>
                  <a:srgbClr val="9A6A12"/>
                </a:solidFill>
                <a:latin typeface="BIZ UDPGothic" pitchFamily="34" charset="0"/>
                <a:ea typeface="BIZ UDPGothic" pitchFamily="34" charset="-122"/>
                <a:cs typeface="BIZ UDPGothic" pitchFamily="34" charset="-120"/>
              </a:rPr>
              <a:t>次のアクション（実機検証）
</a:t>
            </a:r>
            <a:pPr indent="0" marL="0">
              <a:lnSpc>
                <a:spcPct val="110000"/>
              </a:lnSpc>
              <a:buNone/>
            </a:pPr>
            <a:r>
              <a:rPr lang="en-US" sz="1200" dirty="0">
                <a:solidFill>
                  <a:srgbClr val="1E2330"/>
                </a:solidFill>
                <a:latin typeface="BIZ UDPGothic" pitchFamily="34" charset="0"/>
                <a:ea typeface="BIZ UDPGothic" pitchFamily="34" charset="-122"/>
                <a:cs typeface="BIZ UDPGothic" pitchFamily="34" charset="-120"/>
              </a:rPr>
              <a:t>9ページ（Claude Code）/ 14ページ（Codex）の「期待挙動」に、実測結果・ログ・設定ファイル名を追記</a:t>
            </a:r>
            <a:endParaRPr lang="en-US" sz="1200" dirty="0"/>
          </a:p>
        </p:txBody>
      </p:sp>
      <p:sp>
        <p:nvSpPr>
          <p:cNvPr id="19" name="Text 15"/>
          <p:cNvSpPr txBox="1"/>
          <p:nvPr/>
        </p:nvSpPr>
        <p:spPr>
          <a:xfrm>
            <a:off x="6949440" y="4206240"/>
            <a:ext cx="4693615" cy="274320"/>
          </a:xfrm>
          <a:prstGeom prst="rect">
            <a:avLst/>
          </a:prstGeom>
          <a:noFill/>
          <a:ln/>
        </p:spPr>
        <p:txBody>
          <a:bodyPr wrap="square" lIns="0" tIns="0" rIns="0" bIns="0" rtlCol="0" anchor="t"/>
          <a:lstStyle/>
          <a:p>
            <a:pPr indent="0" marL="0">
              <a:buNone/>
            </a:pPr>
            <a:r>
              <a:rPr lang="en-US" sz="1200" b="1" dirty="0">
                <a:solidFill>
                  <a:srgbClr val="8A92A3"/>
                </a:solidFill>
                <a:latin typeface="BIZ UDPGothic" pitchFamily="34" charset="0"/>
                <a:ea typeface="BIZ UDPGothic" pitchFamily="34" charset="-122"/>
                <a:cs typeface="BIZ UDPGothic" pitchFamily="34" charset="-120"/>
              </a:rPr>
              <a:t>主要参照元</a:t>
            </a:r>
            <a:endParaRPr lang="en-US" sz="1200" dirty="0"/>
          </a:p>
        </p:txBody>
      </p:sp>
      <p:pic>
        <p:nvPicPr>
          <p:cNvPr id="20" name="Image 2" descr="preencoded.png">    </p:cNvPr>
          <p:cNvPicPr>
            <a:picLocks noChangeAspect="1"/>
          </p:cNvPicPr>
          <p:nvPr/>
        </p:nvPicPr>
        <p:blipFill>
          <a:blip r:embed="rId3"/>
          <a:stretch>
            <a:fillRect/>
          </a:stretch>
        </p:blipFill>
        <p:spPr>
          <a:xfrm>
            <a:off x="6949440" y="4617720"/>
            <a:ext cx="182880" cy="182880"/>
          </a:xfrm>
          <a:prstGeom prst="rect">
            <a:avLst/>
          </a:prstGeom>
        </p:spPr>
      </p:pic>
      <p:sp>
        <p:nvSpPr>
          <p:cNvPr id="21" name="Text 16"/>
          <p:cNvSpPr txBox="1"/>
          <p:nvPr/>
        </p:nvSpPr>
        <p:spPr>
          <a:xfrm>
            <a:off x="7242048" y="4572000"/>
            <a:ext cx="4401007" cy="530352"/>
          </a:xfrm>
          <a:prstGeom prst="rect">
            <a:avLst/>
          </a:prstGeom>
          <a:noFill/>
          <a:ln/>
        </p:spPr>
        <p:txBody>
          <a:bodyPr wrap="square" lIns="0" tIns="0" rIns="0" bIns="0" rtlCol="0" anchor="t"/>
          <a:lstStyle/>
          <a:p>
            <a:pPr indent="0" marL="0">
              <a:buNone/>
            </a:pPr>
            <a:r>
              <a:rPr lang="en-US" sz="1100" b="1" dirty="0">
                <a:solidFill>
                  <a:srgbClr val="1E2330"/>
                </a:solidFill>
                <a:latin typeface="BIZ UDPGothic" pitchFamily="34" charset="0"/>
                <a:ea typeface="BIZ UDPGothic" pitchFamily="34" charset="-122"/>
                <a:cs typeface="BIZ UDPGothic" pitchFamily="34" charset="-120"/>
              </a:rPr>
              <a:t>Anthropic Claude Code Docs：</a:t>
            </a:r>
            <a:pPr indent="0" marL="0">
              <a:buNone/>
            </a:pPr>
            <a:r>
              <a:rPr lang="en-US" sz="1100" dirty="0">
                <a:solidFill>
                  <a:srgbClr val="1E2330"/>
                </a:solidFill>
                <a:latin typeface="BIZ UDPGothic" pitchFamily="34" charset="0"/>
                <a:ea typeface="BIZ UDPGothic" pitchFamily="34" charset="-122"/>
                <a:cs typeface="BIZ UDPGothic" pitchFamily="34" charset="-120"/>
              </a:rPr>
              <a:t>Configure the sandboxed Bash tool
</a:t>
            </a:r>
            <a:pPr indent="0" marL="0">
              <a:buNone/>
            </a:pPr>
            <a:r>
              <a:rPr lang="en-US" sz="1100" dirty="0">
                <a:solidFill>
                  <a:srgbClr val="3A55B4"/>
                </a:solidFill>
                <a:latin typeface="Consolas" pitchFamily="34" charset="0"/>
                <a:ea typeface="Consolas" pitchFamily="34" charset="-122"/>
                <a:cs typeface="Consolas" pitchFamily="34" charset="-120"/>
              </a:rPr>
              <a:t>code.claude.com/docs/en/sandboxing</a:t>
            </a:r>
            <a:endParaRPr lang="en-US" sz="1100" dirty="0"/>
          </a:p>
        </p:txBody>
      </p:sp>
      <p:pic>
        <p:nvPicPr>
          <p:cNvPr id="22" name="Image 3" descr="preencoded.png">    </p:cNvPr>
          <p:cNvPicPr>
            <a:picLocks noChangeAspect="1"/>
          </p:cNvPicPr>
          <p:nvPr/>
        </p:nvPicPr>
        <p:blipFill>
          <a:blip r:embed="rId4"/>
          <a:stretch>
            <a:fillRect/>
          </a:stretch>
        </p:blipFill>
        <p:spPr>
          <a:xfrm>
            <a:off x="6949440" y="5184648"/>
            <a:ext cx="182880" cy="182880"/>
          </a:xfrm>
          <a:prstGeom prst="rect">
            <a:avLst/>
          </a:prstGeom>
        </p:spPr>
      </p:pic>
      <p:sp>
        <p:nvSpPr>
          <p:cNvPr id="23" name="Text 17"/>
          <p:cNvSpPr txBox="1"/>
          <p:nvPr/>
        </p:nvSpPr>
        <p:spPr>
          <a:xfrm>
            <a:off x="7242048" y="5138928"/>
            <a:ext cx="4401007" cy="530352"/>
          </a:xfrm>
          <a:prstGeom prst="rect">
            <a:avLst/>
          </a:prstGeom>
          <a:noFill/>
          <a:ln/>
        </p:spPr>
        <p:txBody>
          <a:bodyPr wrap="square" lIns="0" tIns="0" rIns="0" bIns="0" rtlCol="0" anchor="t"/>
          <a:lstStyle/>
          <a:p>
            <a:pPr indent="0" marL="0">
              <a:buNone/>
            </a:pPr>
            <a:r>
              <a:rPr lang="en-US" sz="1100" b="1" dirty="0">
                <a:solidFill>
                  <a:srgbClr val="1E2330"/>
                </a:solidFill>
                <a:latin typeface="BIZ UDPGothic" pitchFamily="34" charset="0"/>
                <a:ea typeface="BIZ UDPGothic" pitchFamily="34" charset="-122"/>
                <a:cs typeface="BIZ UDPGothic" pitchFamily="34" charset="-120"/>
              </a:rPr>
              <a:t>OpenAI Codex Docs：</a:t>
            </a:r>
            <a:pPr indent="0" marL="0">
              <a:buNone/>
            </a:pPr>
            <a:r>
              <a:rPr lang="en-US" sz="1100" dirty="0">
                <a:solidFill>
                  <a:srgbClr val="1E2330"/>
                </a:solidFill>
                <a:latin typeface="BIZ UDPGothic" pitchFamily="34" charset="0"/>
                <a:ea typeface="BIZ UDPGothic" pitchFamily="34" charset="-122"/>
                <a:cs typeface="BIZ UDPGothic" pitchFamily="34" charset="-120"/>
              </a:rPr>
              <a:t>Windows sandbox / Agent approvals / Permissions
</a:t>
            </a:r>
            <a:pPr indent="0" marL="0">
              <a:buNone/>
            </a:pPr>
            <a:r>
              <a:rPr lang="en-US" sz="1100" dirty="0">
                <a:solidFill>
                  <a:srgbClr val="3A55B4"/>
                </a:solidFill>
                <a:latin typeface="Consolas" pitchFamily="34" charset="0"/>
                <a:ea typeface="Consolas" pitchFamily="34" charset="-122"/>
                <a:cs typeface="Consolas" pitchFamily="34" charset="-120"/>
              </a:rPr>
              <a:t>learn.chatgpt.com/docs/</a:t>
            </a:r>
            <a:endParaRPr lang="en-US" sz="1100" dirty="0"/>
          </a:p>
        </p:txBody>
      </p:sp>
      <p:pic>
        <p:nvPicPr>
          <p:cNvPr id="24" name="Image 4" descr="preencoded.png">    </p:cNvPr>
          <p:cNvPicPr>
            <a:picLocks noChangeAspect="1"/>
          </p:cNvPicPr>
          <p:nvPr/>
        </p:nvPicPr>
        <p:blipFill>
          <a:blip r:embed="rId5"/>
          <a:stretch>
            <a:fillRect/>
          </a:stretch>
        </p:blipFill>
        <p:spPr>
          <a:xfrm>
            <a:off x="6949440" y="5751576"/>
            <a:ext cx="182880" cy="182880"/>
          </a:xfrm>
          <a:prstGeom prst="rect">
            <a:avLst/>
          </a:prstGeom>
        </p:spPr>
      </p:pic>
      <p:sp>
        <p:nvSpPr>
          <p:cNvPr id="25" name="Text 18"/>
          <p:cNvSpPr txBox="1"/>
          <p:nvPr/>
        </p:nvSpPr>
        <p:spPr>
          <a:xfrm>
            <a:off x="7242048" y="5705856"/>
            <a:ext cx="4401007" cy="530352"/>
          </a:xfrm>
          <a:prstGeom prst="rect">
            <a:avLst/>
          </a:prstGeom>
          <a:noFill/>
          <a:ln/>
        </p:spPr>
        <p:txBody>
          <a:bodyPr wrap="square" lIns="0" tIns="0" rIns="0" bIns="0" rtlCol="0" anchor="t"/>
          <a:lstStyle/>
          <a:p>
            <a:pPr indent="0" marL="0">
              <a:buNone/>
            </a:pPr>
            <a:r>
              <a:rPr lang="en-US" sz="1100" b="1" dirty="0">
                <a:solidFill>
                  <a:srgbClr val="1E2330"/>
                </a:solidFill>
                <a:latin typeface="BIZ UDPGothic" pitchFamily="34" charset="0"/>
                <a:ea typeface="BIZ UDPGothic" pitchFamily="34" charset="-122"/>
                <a:cs typeface="BIZ UDPGothic" pitchFamily="34" charset="-120"/>
              </a:rPr>
              <a:t>OpenAI Codex Docs：</a:t>
            </a:r>
            <a:pPr indent="0" marL="0">
              <a:buNone/>
            </a:pPr>
            <a:r>
              <a:rPr lang="en-US" sz="1100" dirty="0">
                <a:solidFill>
                  <a:srgbClr val="1E2330"/>
                </a:solidFill>
                <a:latin typeface="BIZ UDPGothic" pitchFamily="34" charset="0"/>
                <a:ea typeface="BIZ UDPGothic" pitchFamily="34" charset="-122"/>
                <a:cs typeface="BIZ UDPGothic" pitchFamily="34" charset="-120"/>
              </a:rPr>
              <a:t>Permissions
</a:t>
            </a:r>
            <a:pPr indent="0" marL="0">
              <a:buNone/>
            </a:pPr>
            <a:r>
              <a:rPr lang="en-US" sz="1100" dirty="0">
                <a:solidFill>
                  <a:srgbClr val="3A55B4"/>
                </a:solidFill>
                <a:latin typeface="Consolas" pitchFamily="34" charset="0"/>
                <a:ea typeface="Consolas" pitchFamily="34" charset="-122"/>
                <a:cs typeface="Consolas" pitchFamily="34" charset="-120"/>
              </a:rPr>
              <a:t>learn.chatgpt.com/docs/permissions</a:t>
            </a:r>
            <a:endParaRPr lang="en-US" sz="1100" dirty="0"/>
          </a:p>
        </p:txBody>
      </p:sp>
      <p:sp>
        <p:nvSpPr>
          <p:cNvPr id="26" name="Text 19"/>
          <p:cNvSpPr txBox="1"/>
          <p:nvPr/>
        </p:nvSpPr>
        <p:spPr>
          <a:xfrm>
            <a:off x="548640" y="6400800"/>
            <a:ext cx="10180015" cy="228600"/>
          </a:xfrm>
          <a:prstGeom prst="rect">
            <a:avLst/>
          </a:prstGeom>
          <a:noFill/>
          <a:ln/>
        </p:spPr>
        <p:txBody>
          <a:bodyPr wrap="square" lIns="0" tIns="0" rIns="0" bIns="0" rtlCol="0" anchor="ctr"/>
          <a:lstStyle/>
          <a:p>
            <a:pPr indent="0" marL="0">
              <a:buNone/>
            </a:pPr>
            <a:r>
              <a:rPr lang="en-US" sz="900" dirty="0">
                <a:solidFill>
                  <a:srgbClr val="8A92A3"/>
                </a:solidFill>
                <a:latin typeface="BIZ UDPGothic" pitchFamily="34" charset="0"/>
                <a:ea typeface="BIZ UDPGothic" pitchFamily="34" charset="-122"/>
                <a:cs typeface="BIZ UDPGothic" pitchFamily="34" charset="-120"/>
              </a:rPr>
              <a:t>Sources verified on 2026-09-22: official Anthropic / OpenAI documentation</a:t>
            </a:r>
            <a:endParaRPr lang="en-US" sz="900" dirty="0"/>
          </a:p>
        </p:txBody>
      </p:sp>
      <p:sp>
        <p:nvSpPr>
          <p:cNvPr id="27" name="Text 20"/>
          <p:cNvSpPr txBox="1"/>
          <p:nvPr/>
        </p:nvSpPr>
        <p:spPr>
          <a:xfrm>
            <a:off x="11094415" y="6400800"/>
            <a:ext cx="548640" cy="228600"/>
          </a:xfrm>
          <a:prstGeom prst="rect">
            <a:avLst/>
          </a:prstGeom>
          <a:noFill/>
          <a:ln/>
        </p:spPr>
        <p:txBody>
          <a:bodyPr wrap="square" lIns="0" tIns="0" rIns="0" bIns="0" rtlCol="0" anchor="ctr"/>
          <a:lstStyle/>
          <a:p>
            <a:pPr algn="r" indent="0" marL="0">
              <a:buNone/>
            </a:pPr>
            <a:r>
              <a:rPr lang="en-US" sz="1000" dirty="0">
                <a:solidFill>
                  <a:srgbClr val="8A92A3"/>
                </a:solidFill>
                <a:latin typeface="BIZ UDPGothic" pitchFamily="34" charset="0"/>
                <a:ea typeface="BIZ UDPGothic" pitchFamily="34" charset="-122"/>
                <a:cs typeface="BIZ UDPGothic"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 Codex Sandbox機能調査</dc:title>
  <dc:subject>PptxGenJS Presentation</dc:subject>
  <dc:creator>PptxGenJS</dc:creator>
  <cp:lastModifiedBy>PptxGenJS</cp:lastModifiedBy>
  <cp:revision>1</cp:revision>
  <dcterms:created xsi:type="dcterms:W3CDTF">2026-09-22T14:42:02Z</dcterms:created>
  <dcterms:modified xsi:type="dcterms:W3CDTF">2026-09-22T14:42:02Z</dcterms:modified>
</cp:coreProperties>
</file>